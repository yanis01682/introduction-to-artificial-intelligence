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1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notesMasterIdLst>
    <p:notesMasterId r:id="rId23"/>
  </p:notesMasterIdLst>
  <p:handoutMasterIdLst>
    <p:handoutMasterId r:id="rId24"/>
  </p:handoutMasterIdLst>
  <p:sldIdLst>
    <p:sldId id="685" r:id="rId2"/>
    <p:sldId id="761" r:id="rId3"/>
    <p:sldId id="689" r:id="rId4"/>
    <p:sldId id="690" r:id="rId5"/>
    <p:sldId id="691" r:id="rId6"/>
    <p:sldId id="692" r:id="rId7"/>
    <p:sldId id="763" r:id="rId8"/>
    <p:sldId id="694" r:id="rId9"/>
    <p:sldId id="695" r:id="rId10"/>
    <p:sldId id="309" r:id="rId11"/>
    <p:sldId id="696" r:id="rId12"/>
    <p:sldId id="697" r:id="rId13"/>
    <p:sldId id="680" r:id="rId14"/>
    <p:sldId id="311" r:id="rId15"/>
    <p:sldId id="764" r:id="rId16"/>
    <p:sldId id="698" r:id="rId17"/>
    <p:sldId id="699" r:id="rId18"/>
    <p:sldId id="700" r:id="rId19"/>
    <p:sldId id="701" r:id="rId20"/>
    <p:sldId id="754" r:id="rId21"/>
    <p:sldId id="75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第九堂课第二节" id="{60E192AF-5B56-734E-9848-5814ECDE3DD1}">
          <p14:sldIdLst>
            <p14:sldId id="685"/>
            <p14:sldId id="761"/>
            <p14:sldId id="689"/>
            <p14:sldId id="690"/>
            <p14:sldId id="691"/>
            <p14:sldId id="692"/>
            <p14:sldId id="763"/>
            <p14:sldId id="694"/>
            <p14:sldId id="695"/>
            <p14:sldId id="309"/>
            <p14:sldId id="696"/>
            <p14:sldId id="697"/>
            <p14:sldId id="680"/>
            <p14:sldId id="311"/>
            <p14:sldId id="764"/>
          </p14:sldIdLst>
        </p14:section>
        <p14:section name="第十堂课第一节" id="{2CBA1FBB-A18E-6740-B8B5-D20DC245A93A}">
          <p14:sldIdLst>
            <p14:sldId id="698"/>
            <p14:sldId id="699"/>
            <p14:sldId id="700"/>
            <p14:sldId id="701"/>
            <p14:sldId id="754"/>
            <p14:sldId id="7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F260"/>
    <a:srgbClr val="2B11EF"/>
    <a:srgbClr val="FB81E1"/>
    <a:srgbClr val="119F14"/>
    <a:srgbClr val="EFF343"/>
    <a:srgbClr val="FFFF00"/>
    <a:srgbClr val="FEC200"/>
    <a:srgbClr val="9900CC"/>
    <a:srgbClr val="00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183" autoAdjust="0"/>
    <p:restoredTop sz="96110" autoAdjust="0"/>
  </p:normalViewPr>
  <p:slideViewPr>
    <p:cSldViewPr snapToGrid="0">
      <p:cViewPr varScale="1">
        <p:scale>
          <a:sx n="150" d="100"/>
          <a:sy n="150" d="100"/>
        </p:scale>
        <p:origin x="192" y="32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-3870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5A66E1-596A-496E-B96E-FE454130F19C}" type="datetimeFigureOut">
              <a:rPr lang="zh-CN" altLang="en-US" smtClean="0"/>
              <a:pPr/>
              <a:t>2026/6/15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53B57A-208D-4E21-8008-BCE8E94FCB4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4863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02705F-8347-41A8-82E6-B2920132BF3D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0AF6DD-051E-413B-8808-23D5AB3BD9E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78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87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22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340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抽盲盒</a:t>
            </a:r>
            <a:endParaRPr kumimoji="1" lang="en-US" altLang="zh-CN" dirty="0"/>
          </a:p>
          <a:p>
            <a:r>
              <a:rPr kumimoji="1" lang="zh-CN" altLang="en-US" dirty="0"/>
              <a:t>想要一个皮卡丘的玩偶，但有好几个系列，每个系列的概率不同</a:t>
            </a:r>
            <a:endParaRPr kumimoji="1" lang="en-US" altLang="zh-CN" dirty="0"/>
          </a:p>
          <a:p>
            <a:r>
              <a:rPr kumimoji="1" lang="zh-CN" altLang="en-US" dirty="0"/>
              <a:t>我一开始可能想都抽抽看（探索没有充分了解的节点）</a:t>
            </a:r>
            <a:endParaRPr kumimoji="1" lang="en-US" altLang="zh-CN" dirty="0"/>
          </a:p>
          <a:p>
            <a:r>
              <a:rPr kumimoji="1" lang="zh-CN" altLang="en-US" dirty="0"/>
              <a:t>抽的多了以后，我发现有的好像概率更高（挑更有希望的节点）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篮球队组队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看体育分数，看校队，（探索没有充分了解的节点）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让大家进行实际热身赛测试（挑更有希望的节点）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3603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9E5B9E-BEE9-F13B-E73F-45E50373C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09F89C6-0C5A-7644-AC2F-D40020E4B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2A34AE2-1B26-9AA2-748B-DB404B26E4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D6B588A-1059-E6F1-6BC2-01C2C0FC47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52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20220425 </a:t>
            </a:r>
            <a:r>
              <a:rPr lang="zh-CN" altLang="en-US" dirty="0"/>
              <a:t>导论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4341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874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9</a:t>
            </a:r>
            <a:r>
              <a:rPr lang="zh-CN" altLang="en-US" dirty="0"/>
              <a:t>堂课第二节结束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0AF6DD-051E-413B-8808-23D5AB3BD9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564577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BECF8-5A82-45F3-0B97-A417E1166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9C8F66-DDA6-CF69-6D3D-24B0942AE1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18C749-F2C4-150D-335E-DFDE664EB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49C9EA-AA88-F8CB-436B-B6680BFD45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236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altLang="zh-CN" dirty="0" err="1">
                <a:ea typeface="黑体" pitchFamily="49" charset="-122"/>
              </a:rPr>
              <a:t>TreePolicy</a:t>
            </a:r>
            <a:r>
              <a:rPr lang="zh-CN" altLang="en-US" dirty="0">
                <a:ea typeface="黑体" pitchFamily="49" charset="-122"/>
              </a:rPr>
              <a:t>返回可以探索的节点（及该节点还有子节点未探索）</a:t>
            </a:r>
            <a:endParaRPr lang="en-US" altLang="zh-CN" dirty="0">
              <a:ea typeface="黑体" pitchFamily="49" charset="-122"/>
            </a:endParaRPr>
          </a:p>
          <a:p>
            <a:r>
              <a:rPr lang="en-US" altLang="zh-CN" dirty="0" err="1">
                <a:ea typeface="黑体" pitchFamily="49" charset="-122"/>
              </a:rPr>
              <a:t>DefaultPolicy</a:t>
            </a:r>
            <a:r>
              <a:rPr lang="zh-CN" altLang="en-US" dirty="0">
                <a:ea typeface="黑体" pitchFamily="49" charset="-122"/>
              </a:rPr>
              <a:t>通过模拟计算收益</a:t>
            </a:r>
            <a:endParaRPr lang="en-US" altLang="zh-CN" dirty="0">
              <a:ea typeface="黑体" pitchFamily="49" charset="-122"/>
            </a:endParaRPr>
          </a:p>
          <a:p>
            <a:endParaRPr lang="en-US" altLang="zh-CN" dirty="0">
              <a:ea typeface="黑体" pitchFamily="49" charset="-122"/>
            </a:endParaRPr>
          </a:p>
          <a:p>
            <a:r>
              <a:rPr lang="zh-CN" altLang="en-US" dirty="0">
                <a:ea typeface="黑体" pitchFamily="49" charset="-122"/>
              </a:rPr>
              <a:t>如果一个节点还可以扩展，就扩展，然后模拟。否则从其子节点中按照信心值选择一个节点，循环。（</a:t>
            </a:r>
            <a:r>
              <a:rPr lang="en-US" altLang="zh-CN" dirty="0">
                <a:ea typeface="黑体" pitchFamily="49" charset="-122"/>
              </a:rPr>
              <a:t>TREEPOLICY</a:t>
            </a:r>
            <a:r>
              <a:rPr lang="zh-CN" altLang="en-US" dirty="0">
                <a:ea typeface="黑体" pitchFamily="49" charset="-122"/>
              </a:rPr>
              <a:t>的功能）</a:t>
            </a: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29C5A57-A73E-44FF-BCD6-2FD47ED26125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黑体" pitchFamily="49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黑体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3157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模拟总次数：本节点被模拟的次数，及它的子节点被模拟的次数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每个节点，均从其本身立场考虑，记录胜利次数。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选择每次都是选下面胜率最大的点，为什么呢？</a:t>
            </a:r>
            <a:endParaRPr lang="en-US" altLang="zh-CN" dirty="0"/>
          </a:p>
          <a:p>
            <a:r>
              <a:rPr lang="zh-CN" altLang="en-US" dirty="0"/>
              <a:t>为什么不是我下的节点选胜率最大，别人下的节点选胜率最小的？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0AF6DD-051E-413B-8808-23D5AB3BD9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1758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业余段数最高好像是</a:t>
            </a:r>
            <a:r>
              <a:rPr kumimoji="1" lang="en-US" altLang="zh-CN" dirty="0"/>
              <a:t>6</a:t>
            </a:r>
            <a:r>
              <a:rPr kumimoji="1" lang="zh-CN" altLang="en-US" dirty="0"/>
              <a:t>、</a:t>
            </a:r>
            <a:r>
              <a:rPr kumimoji="1" lang="en-US" altLang="zh-CN" dirty="0"/>
              <a:t>7</a:t>
            </a:r>
            <a:r>
              <a:rPr kumimoji="1" lang="zh-CN" altLang="en-US" dirty="0"/>
              <a:t>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0AF6DD-051E-413B-8808-23D5AB3BD9E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657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</a:t>
            </a:r>
            <a:r>
              <a:rPr lang="zh-CN" altLang="en-US" dirty="0"/>
              <a:t>没有子节点：如果</a:t>
            </a:r>
            <a:r>
              <a:rPr lang="en-US" altLang="zh-CN" dirty="0"/>
              <a:t>B</a:t>
            </a:r>
            <a:r>
              <a:rPr lang="zh-CN" altLang="en-US" dirty="0"/>
              <a:t>有未模拟的子节点（</a:t>
            </a:r>
            <a:r>
              <a:rPr lang="en-US" altLang="zh-CN" dirty="0"/>
              <a:t>UCT</a:t>
            </a:r>
            <a:r>
              <a:rPr lang="zh-CN" altLang="en-US" dirty="0"/>
              <a:t>里的后半部分），那一定会优先扩展</a:t>
            </a:r>
            <a:r>
              <a:rPr lang="en-US" altLang="zh-CN" dirty="0"/>
              <a:t>B</a:t>
            </a:r>
            <a:r>
              <a:rPr lang="zh-CN" altLang="en-US" dirty="0"/>
              <a:t>，模拟</a:t>
            </a:r>
            <a:r>
              <a:rPr lang="en-US" altLang="zh-CN" dirty="0"/>
              <a:t>B</a:t>
            </a:r>
            <a:r>
              <a:rPr lang="zh-CN" altLang="en-US" dirty="0"/>
              <a:t>的子节点，就不会选</a:t>
            </a:r>
            <a:r>
              <a:rPr lang="en-US" altLang="zh-CN" dirty="0"/>
              <a:t>D</a:t>
            </a:r>
            <a:r>
              <a:rPr lang="zh-CN" altLang="en-US" dirty="0"/>
              <a:t>进行扩展，也就不会发现</a:t>
            </a:r>
            <a:r>
              <a:rPr lang="en-US" altLang="zh-CN" dirty="0"/>
              <a:t>E</a:t>
            </a:r>
            <a:r>
              <a:rPr lang="zh-CN" altLang="en-US" dirty="0"/>
              <a:t>。既然</a:t>
            </a:r>
            <a:r>
              <a:rPr lang="en-US" altLang="zh-CN" dirty="0"/>
              <a:t>E</a:t>
            </a:r>
            <a:r>
              <a:rPr lang="zh-CN" altLang="en-US" dirty="0"/>
              <a:t>已经被发现，那说明</a:t>
            </a:r>
            <a:r>
              <a:rPr lang="en-US" altLang="zh-CN" dirty="0"/>
              <a:t>D</a:t>
            </a:r>
            <a:r>
              <a:rPr lang="zh-CN" altLang="en-US" dirty="0"/>
              <a:t>已经被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0AF6DD-051E-413B-8808-23D5AB3BD9E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285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3" name="Rounded Rectangle 12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101B3-0010-49BE-8236-66B90211FF04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909" y="1449304"/>
            <a:ext cx="12028716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0" name="Rectangle 9"/>
          <p:cNvSpPr/>
          <p:nvPr/>
        </p:nvSpPr>
        <p:spPr>
          <a:xfrm>
            <a:off x="83909" y="1396720"/>
            <a:ext cx="12028716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1" name="Rectangle 10"/>
          <p:cNvSpPr/>
          <p:nvPr/>
        </p:nvSpPr>
        <p:spPr>
          <a:xfrm>
            <a:off x="83909" y="2976649"/>
            <a:ext cx="12028716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b="1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94328-A6FB-477A-B9C5-7FEFDBDE1042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>
            <a:lvl1pPr>
              <a:buFontTx/>
              <a:buBlip>
                <a:blip r:embed="rId2"/>
              </a:buBlip>
              <a:defRPr/>
            </a:lvl1pPr>
            <a:lvl2pPr>
              <a:buClr>
                <a:srgbClr val="503DDB"/>
              </a:buClr>
              <a:buSzPct val="45000"/>
              <a:buFont typeface="Wingdings" pitchFamily="2" charset="2"/>
              <a:buChar char="q"/>
              <a:defRPr/>
            </a:lvl2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pic>
        <p:nvPicPr>
          <p:cNvPr id="302081" name="Picture 1" descr="E:\resume\logo-tsinghua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35414" y="90152"/>
            <a:ext cx="2727375" cy="643813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10" name="Rounded Rectangle 9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29C65-C267-4342-9116-A00B6E7C55AD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92550" y="2376830"/>
            <a:ext cx="120180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8" name="Rectangle 7"/>
          <p:cNvSpPr/>
          <p:nvPr/>
        </p:nvSpPr>
        <p:spPr>
          <a:xfrm>
            <a:off x="92195" y="2341476"/>
            <a:ext cx="12018375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9" name="Rectangle 8"/>
          <p:cNvSpPr/>
          <p:nvPr/>
        </p:nvSpPr>
        <p:spPr>
          <a:xfrm>
            <a:off x="91075" y="2468880"/>
            <a:ext cx="12019495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8BA6D-2268-450C-9E6F-6553A2809D14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976173-FFAF-40B2-BD71-0C474124F5CA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EAAC5F-3C7D-47E2-8137-0D0E13270C17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44C75-2845-4A49-8407-B10E57DDCB66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9" name="Rounded Rectangle 8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D93C6-C0E5-4C94-83B0-EBE524181AA9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A46CFF-7119-486E-A242-14937EB72380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91076" y="4683555"/>
            <a:ext cx="1200912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2" name="Rectangle 11"/>
          <p:cNvSpPr/>
          <p:nvPr/>
        </p:nvSpPr>
        <p:spPr>
          <a:xfrm>
            <a:off x="91345" y="4650475"/>
            <a:ext cx="12008852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13" name="Rectangle 12"/>
          <p:cNvSpPr/>
          <p:nvPr/>
        </p:nvSpPr>
        <p:spPr>
          <a:xfrm>
            <a:off x="91348" y="4773225"/>
            <a:ext cx="12008849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7D574-52BE-4187-8AF7-E201A70CB6DC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6442-F0BB-4DBA-B030-4A0192701801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 sz="1800"/>
          </a:p>
        </p:txBody>
      </p:sp>
      <p:sp useBgFill="1">
        <p:nvSpPr>
          <p:cNvPr id="8" name="Rounded Rectangle 7"/>
          <p:cNvSpPr/>
          <p:nvPr/>
        </p:nvSpPr>
        <p:spPr>
          <a:xfrm>
            <a:off x="85344" y="69755"/>
            <a:ext cx="12017829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103632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917F057F-A64E-4BDF-9C5A-7B9C1755BBD0}" type="datetime1">
              <a:rPr lang="en-US" altLang="zh-CN" smtClean="0"/>
              <a:pPr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5501D8D0-7646-4D22-887C-459A4F2FE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hyperlink" Target="https://su-my.github.io/Test-page/" TargetMode="External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jpeg"/><Relationship Id="rId9" Type="http://schemas.openxmlformats.org/officeDocument/2006/relationships/image" Target="../media/image16.gi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w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wmf"/><Relationship Id="rId3" Type="http://schemas.openxmlformats.org/officeDocument/2006/relationships/image" Target="../media/image28.png"/><Relationship Id="rId7" Type="http://schemas.openxmlformats.org/officeDocument/2006/relationships/oleObject" Target="../embeddings/oleObject5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1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32.tmp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24.wmf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oleObject" Target="../embeddings/oleObject5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18" Type="http://schemas.openxmlformats.org/officeDocument/2006/relationships/tags" Target="../tags/tag37.xml"/><Relationship Id="rId3" Type="http://schemas.openxmlformats.org/officeDocument/2006/relationships/tags" Target="../tags/tag22.xml"/><Relationship Id="rId21" Type="http://schemas.openxmlformats.org/officeDocument/2006/relationships/tags" Target="../tags/tag40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17" Type="http://schemas.openxmlformats.org/officeDocument/2006/relationships/tags" Target="../tags/tag36.xml"/><Relationship Id="rId2" Type="http://schemas.openxmlformats.org/officeDocument/2006/relationships/tags" Target="../tags/tag21.xml"/><Relationship Id="rId16" Type="http://schemas.openxmlformats.org/officeDocument/2006/relationships/tags" Target="../tags/tag35.xml"/><Relationship Id="rId20" Type="http://schemas.openxmlformats.org/officeDocument/2006/relationships/tags" Target="../tags/tag39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tags" Target="../tags/tag34.xml"/><Relationship Id="rId23" Type="http://schemas.openxmlformats.org/officeDocument/2006/relationships/image" Target="../media/image32.tmp"/><Relationship Id="rId10" Type="http://schemas.openxmlformats.org/officeDocument/2006/relationships/tags" Target="../tags/tag29.xml"/><Relationship Id="rId19" Type="http://schemas.openxmlformats.org/officeDocument/2006/relationships/tags" Target="../tags/tag38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Relationship Id="rId2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3.4 </a:t>
            </a:r>
            <a:r>
              <a:rPr lang="zh-CN" altLang="en-US" dirty="0"/>
              <a:t>蒙特卡洛方法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648101"/>
            <a:ext cx="10363200" cy="4572000"/>
          </a:xfrm>
        </p:spPr>
        <p:txBody>
          <a:bodyPr/>
          <a:lstStyle/>
          <a:p>
            <a:pPr lvl="0"/>
            <a:r>
              <a:rPr lang="zh-CN" altLang="en-US" dirty="0"/>
              <a:t>二十世纪</a:t>
            </a:r>
            <a:r>
              <a:rPr lang="en-US" altLang="zh-CN" dirty="0"/>
              <a:t>40</a:t>
            </a:r>
            <a:r>
              <a:rPr lang="zh-CN" altLang="en-US" dirty="0"/>
              <a:t>年代中期</a:t>
            </a:r>
            <a:r>
              <a:rPr lang="en-US" altLang="zh-CN" dirty="0"/>
              <a:t>S.M.</a:t>
            </a:r>
            <a:r>
              <a:rPr lang="zh-CN" altLang="en-US" dirty="0"/>
              <a:t>乌拉姆和</a:t>
            </a:r>
            <a:r>
              <a:rPr lang="en-US" altLang="zh-CN" dirty="0"/>
              <a:t>J.</a:t>
            </a:r>
            <a:r>
              <a:rPr lang="zh-CN" altLang="en-US" dirty="0"/>
              <a:t>冯</a:t>
            </a:r>
            <a:r>
              <a:rPr lang="en-US" altLang="zh-CN" dirty="0"/>
              <a:t>·</a:t>
            </a:r>
            <a:r>
              <a:rPr lang="zh-CN" altLang="en-US" dirty="0"/>
              <a:t>诺伊曼提出的一种随机模拟方法用于美国曼哈顿计划</a:t>
            </a:r>
            <a:endParaRPr lang="en-US" altLang="zh-CN" dirty="0"/>
          </a:p>
          <a:p>
            <a:pPr lvl="1"/>
            <a:r>
              <a:rPr lang="zh-CN" altLang="en-US" dirty="0"/>
              <a:t>多重积分</a:t>
            </a:r>
            <a:endParaRPr lang="en-US" altLang="zh-CN" dirty="0"/>
          </a:p>
          <a:p>
            <a:pPr lvl="1"/>
            <a:r>
              <a:rPr lang="zh-CN" altLang="en-US" dirty="0"/>
              <a:t>矩阵求逆</a:t>
            </a:r>
            <a:endParaRPr lang="en-US" altLang="zh-CN" dirty="0"/>
          </a:p>
          <a:p>
            <a:pPr lvl="1"/>
            <a:r>
              <a:rPr lang="zh-CN" altLang="en-US" dirty="0"/>
              <a:t>线性方程组求解</a:t>
            </a:r>
            <a:endParaRPr lang="en-US" altLang="zh-CN" dirty="0"/>
          </a:p>
          <a:p>
            <a:pPr lvl="1"/>
            <a:r>
              <a:rPr lang="zh-CN" altLang="en-US" dirty="0"/>
              <a:t>积分方程求解</a:t>
            </a:r>
            <a:endParaRPr lang="en-US" altLang="zh-CN" dirty="0"/>
          </a:p>
          <a:p>
            <a:pPr lvl="1"/>
            <a:r>
              <a:rPr lang="zh-CN" altLang="en-US" dirty="0"/>
              <a:t>偏微分方程求解</a:t>
            </a:r>
            <a:endParaRPr lang="en-US" altLang="zh-CN" dirty="0"/>
          </a:p>
          <a:p>
            <a:pPr lvl="1"/>
            <a:r>
              <a:rPr lang="zh-CN" altLang="en-US" dirty="0"/>
              <a:t>随机性问题模拟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Picture 2" descr="Monaco Monte Carlo 1.jpg">
            <a:extLst>
              <a:ext uri="{FF2B5EF4-FFF2-40B4-BE49-F238E27FC236}">
                <a16:creationId xmlns:a16="http://schemas.microsoft.com/office/drawing/2014/main" id="{9FA6FD57-FEF7-82A1-2D30-F6A2E5115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194" y="2700331"/>
            <a:ext cx="5731606" cy="3287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2432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5C651-05C8-80CE-DDB6-5E5567E28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蒙特卡洛仿真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D842C6-0BC9-B8EF-9846-2AE9B6C9432E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err="1"/>
              <a:t>对于数学期望的数值解法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707313-5EC5-12B3-F7A0-3C85FE0F74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249" y="1854531"/>
            <a:ext cx="4109969" cy="4109969"/>
          </a:xfrm>
          <a:prstGeom prst="rect">
            <a:avLst/>
          </a:prstGeom>
        </p:spPr>
      </p:pic>
      <p:pic>
        <p:nvPicPr>
          <p:cNvPr id="5" name="Picture 2" descr="https://upload.wikimedia.org/wikipedia/commons/4/43/Buffon_needle_experiment_compressed.gif">
            <a:extLst>
              <a:ext uri="{FF2B5EF4-FFF2-40B4-BE49-F238E27FC236}">
                <a16:creationId xmlns:a16="http://schemas.microsoft.com/office/drawing/2014/main" id="{8A114A0D-3671-1197-FCA5-C00DFF32AD6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102" y="1848816"/>
            <a:ext cx="5512438" cy="4134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1878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棋局的蒙特卡洛评估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从当前局面的所有可落子点中</a:t>
            </a:r>
            <a:r>
              <a:rPr lang="zh-CN" altLang="en-US" dirty="0">
                <a:solidFill>
                  <a:srgbClr val="FF0000"/>
                </a:solidFill>
              </a:rPr>
              <a:t>随机</a:t>
            </a:r>
            <a:r>
              <a:rPr lang="zh-CN" altLang="en-US" dirty="0"/>
              <a:t>选择一个点落子</a:t>
            </a:r>
            <a:endParaRPr lang="en-US" altLang="zh-CN" dirty="0"/>
          </a:p>
          <a:p>
            <a:r>
              <a:rPr lang="zh-CN" altLang="en-US" dirty="0"/>
              <a:t>重复以上过程</a:t>
            </a:r>
            <a:endParaRPr lang="en-US" altLang="zh-CN" dirty="0"/>
          </a:p>
          <a:p>
            <a:r>
              <a:rPr lang="zh-CN" altLang="en-US" dirty="0"/>
              <a:t>直到胜负可判断为止</a:t>
            </a:r>
            <a:endParaRPr lang="en-US" altLang="zh-CN" dirty="0"/>
          </a:p>
          <a:p>
            <a:r>
              <a:rPr lang="zh-CN" altLang="en-US" dirty="0"/>
              <a:t>经多次模拟后，选择胜率最大的点落子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4555" y="3829595"/>
            <a:ext cx="3708219" cy="247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433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蒙特卡洛树搜索（</a:t>
            </a:r>
            <a:r>
              <a:rPr lang="en-US" altLang="zh-CN" b="0" dirty="0"/>
              <a:t>MCTS: Monte Carlo Tree Search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149531" y="1752600"/>
            <a:ext cx="5181600" cy="4572000"/>
          </a:xfrm>
        </p:spPr>
        <p:txBody>
          <a:bodyPr/>
          <a:lstStyle/>
          <a:p>
            <a:pPr lvl="0">
              <a:buClr>
                <a:srgbClr val="D34817"/>
              </a:buClr>
            </a:pPr>
            <a:r>
              <a:rPr lang="zh-CN" altLang="en-US" dirty="0">
                <a:solidFill>
                  <a:prstClr val="black"/>
                </a:solidFill>
              </a:rPr>
              <a:t>基本思想：</a:t>
            </a:r>
            <a:endParaRPr lang="en-US" altLang="zh-CN" dirty="0">
              <a:solidFill>
                <a:prstClr val="black"/>
              </a:solidFill>
            </a:endParaRPr>
          </a:p>
          <a:p>
            <a:pPr lvl="1"/>
            <a:r>
              <a:rPr lang="zh-CN" altLang="en-US" dirty="0">
                <a:solidFill>
                  <a:prstClr val="black"/>
                </a:solidFill>
              </a:rPr>
              <a:t>将可能出现的状态转移过程用状态树表示</a:t>
            </a:r>
            <a:endParaRPr lang="en-US" altLang="zh-CN" dirty="0">
              <a:solidFill>
                <a:prstClr val="black"/>
              </a:solidFill>
            </a:endParaRPr>
          </a:p>
          <a:p>
            <a:pPr lvl="1"/>
            <a:r>
              <a:rPr lang="zh-CN" altLang="en-US" dirty="0">
                <a:solidFill>
                  <a:prstClr val="black"/>
                </a:solidFill>
              </a:rPr>
              <a:t>从初始状态开始重复抽样，逐步扩展树中的节点</a:t>
            </a:r>
            <a:endParaRPr lang="en-US" altLang="zh-CN" dirty="0">
              <a:solidFill>
                <a:prstClr val="black"/>
              </a:solidFill>
            </a:endParaRPr>
          </a:p>
          <a:p>
            <a:pPr lvl="1"/>
            <a:r>
              <a:rPr lang="zh-CN" altLang="en-US" dirty="0">
                <a:solidFill>
                  <a:prstClr val="black"/>
                </a:solidFill>
              </a:rPr>
              <a:t>父节点可以利用子节点的模拟结果，提高了效率</a:t>
            </a:r>
            <a:endParaRPr lang="en-US" altLang="zh-CN" dirty="0">
              <a:solidFill>
                <a:prstClr val="black"/>
              </a:solidFill>
            </a:endParaRPr>
          </a:p>
          <a:p>
            <a:pPr lvl="1"/>
            <a:r>
              <a:rPr lang="zh-CN" altLang="en-US" dirty="0">
                <a:solidFill>
                  <a:prstClr val="black"/>
                </a:solidFill>
              </a:rPr>
              <a:t>在搜索过程中可以随时得到行为的评价</a:t>
            </a:r>
            <a:endParaRPr lang="en-US" altLang="zh-CN" dirty="0">
              <a:solidFill>
                <a:prstClr val="black"/>
              </a:solidFill>
            </a:endParaRPr>
          </a:p>
          <a:p>
            <a:r>
              <a:rPr lang="zh-CN" altLang="en-US" b="1" dirty="0">
                <a:solidFill>
                  <a:srgbClr val="FF0000"/>
                </a:solidFill>
              </a:rPr>
              <a:t>推理时的搜索算法</a:t>
            </a:r>
          </a:p>
          <a:p>
            <a:endParaRPr lang="zh-CN" altLang="en-US" dirty="0"/>
          </a:p>
        </p:txBody>
      </p:sp>
      <p:pic>
        <p:nvPicPr>
          <p:cNvPr id="68" name="图片 6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6227" y="1959428"/>
            <a:ext cx="4888449" cy="2891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27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蒙特卡洛树搜索过程</a:t>
            </a:r>
          </a:p>
        </p:txBody>
      </p:sp>
      <p:pic>
        <p:nvPicPr>
          <p:cNvPr id="4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4801" y="1825902"/>
            <a:ext cx="8887952" cy="440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/>
          <p:cNvSpPr txBox="1"/>
          <p:nvPr/>
        </p:nvSpPr>
        <p:spPr>
          <a:xfrm>
            <a:off x="2362833" y="1759534"/>
            <a:ext cx="1128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选 择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405483" y="1759534"/>
            <a:ext cx="1128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扩 展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448133" y="1779463"/>
            <a:ext cx="1128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模 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158947" y="1764715"/>
            <a:ext cx="171819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回 传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775787" y="4473238"/>
            <a:ext cx="112825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448133" y="4473238"/>
            <a:ext cx="112825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随机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模拟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2488193" y="3562202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913006" y="259854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796315" y="409595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611961" y="3107785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968011" y="3815259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882711" y="221457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18042" y="222921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69402" y="313785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190079" y="2472872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56995" y="389876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12258" y="5696208"/>
            <a:ext cx="748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收益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E40A334-3C73-1CD5-C576-9DFE27034127}"/>
              </a:ext>
            </a:extLst>
          </p:cNvPr>
          <p:cNvGrpSpPr/>
          <p:nvPr/>
        </p:nvGrpSpPr>
        <p:grpSpPr>
          <a:xfrm>
            <a:off x="2362833" y="3946172"/>
            <a:ext cx="2103120" cy="1034897"/>
            <a:chOff x="2362833" y="3946172"/>
            <a:chExt cx="2103120" cy="10348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A2D202E-B3D9-9711-9FAD-FCCAC69FEE4C}"/>
                </a:ext>
              </a:extLst>
            </p:cNvPr>
            <p:cNvSpPr txBox="1"/>
            <p:nvPr/>
          </p:nvSpPr>
          <p:spPr>
            <a:xfrm>
              <a:off x="2362833" y="4611737"/>
              <a:ext cx="2103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tree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</a:rPr>
                <a:t>policy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CD8104C0-97FC-3670-09DF-ADACC03B5EAB}"/>
                </a:ext>
              </a:extLst>
            </p:cNvPr>
            <p:cNvCxnSpPr/>
            <p:nvPr/>
          </p:nvCxnSpPr>
          <p:spPr>
            <a:xfrm flipV="1">
              <a:off x="2775786" y="3946172"/>
              <a:ext cx="0" cy="6655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31AC544B-6CE9-1CFD-C403-BD4B426606B1}"/>
              </a:ext>
            </a:extLst>
          </p:cNvPr>
          <p:cNvGrpSpPr/>
          <p:nvPr/>
        </p:nvGrpSpPr>
        <p:grpSpPr>
          <a:xfrm>
            <a:off x="7386501" y="4611737"/>
            <a:ext cx="2622054" cy="369332"/>
            <a:chOff x="7386501" y="4611737"/>
            <a:chExt cx="2622054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01D78AAF-EF6B-E645-231F-474C73EA106F}"/>
                </a:ext>
              </a:extLst>
            </p:cNvPr>
            <p:cNvSpPr txBox="1"/>
            <p:nvPr/>
          </p:nvSpPr>
          <p:spPr>
            <a:xfrm>
              <a:off x="7905435" y="4611737"/>
              <a:ext cx="2103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roll-out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</a:rPr>
                <a:t>policy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F2A6F3-8A4C-5C03-FAF7-E986A67EB8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6501" y="4799749"/>
              <a:ext cx="51893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4353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4" dur="2000" fill="hold"/>
                                        <p:tgtEl>
                                          <p:spTgt spid="25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选择策略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zh-CN" altLang="en-US" dirty="0"/>
              <a:t>两方面的因素</a:t>
            </a:r>
            <a:endParaRPr lang="en-US" altLang="zh-CN" dirty="0"/>
          </a:p>
          <a:p>
            <a:pPr lvl="1"/>
            <a:r>
              <a:rPr lang="zh-CN" altLang="en-US" dirty="0"/>
              <a:t>对尚未充分了解的节点的探索</a:t>
            </a:r>
            <a:endParaRPr lang="en-US" altLang="zh-CN" dirty="0"/>
          </a:p>
          <a:p>
            <a:pPr lvl="1"/>
            <a:r>
              <a:rPr lang="zh-CN" altLang="en-US" dirty="0"/>
              <a:t>对当前具有较大希望节点的利用</a:t>
            </a:r>
          </a:p>
        </p:txBody>
      </p:sp>
      <p:pic>
        <p:nvPicPr>
          <p:cNvPr id="7" name="Picture 2" descr="The Multi-Armed Bandit Problem and Its Solutions">
            <a:extLst>
              <a:ext uri="{FF2B5EF4-FFF2-40B4-BE49-F238E27FC236}">
                <a16:creationId xmlns:a16="http://schemas.microsoft.com/office/drawing/2014/main" id="{C0B56981-62A7-EB14-C3C3-E07D222879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225" y="3578868"/>
            <a:ext cx="4075549" cy="2471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2619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B7A2A-CA84-CD78-7BB5-A7FB1A533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F610BC-6FFB-E469-9156-38F9304D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选择策略：多臂老虎机模型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C6E01A-78BA-8BDA-CE3B-641EFC4C4FD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19200" y="1656806"/>
            <a:ext cx="10206446" cy="4572000"/>
          </a:xfrm>
        </p:spPr>
        <p:txBody>
          <a:bodyPr/>
          <a:lstStyle/>
          <a:p>
            <a:r>
              <a:rPr lang="en-US" altLang="zh-CN" dirty="0"/>
              <a:t>1952</a:t>
            </a:r>
            <a:r>
              <a:rPr lang="zh-CN" altLang="en-US" dirty="0"/>
              <a:t>年</a:t>
            </a:r>
            <a:r>
              <a:rPr lang="en-US" altLang="zh-CN" dirty="0"/>
              <a:t>Robbins</a:t>
            </a:r>
            <a:r>
              <a:rPr lang="zh-CN" altLang="en-US" dirty="0"/>
              <a:t>提出的一个统计决策模型</a:t>
            </a:r>
            <a:endParaRPr lang="en-US" altLang="zh-CN" dirty="0"/>
          </a:p>
          <a:p>
            <a:r>
              <a:rPr lang="zh-CN" altLang="en-US" dirty="0"/>
              <a:t>多臂老虎机</a:t>
            </a:r>
            <a:endParaRPr lang="en-US" altLang="zh-CN" dirty="0"/>
          </a:p>
          <a:p>
            <a:pPr lvl="1" algn="just"/>
            <a:r>
              <a:rPr lang="zh-CN" altLang="en-US" dirty="0"/>
              <a:t>多臂老虎机拥有</a:t>
            </a:r>
            <a:r>
              <a:rPr lang="en-US" altLang="zh-CN" dirty="0"/>
              <a:t>k</a:t>
            </a:r>
            <a:r>
              <a:rPr lang="zh-CN" altLang="en-US" dirty="0"/>
              <a:t>个拉杆，拉动每个拉杆所获得的收益遵循一定的概率且互不相关，如何找到一个策略，使得拉动拉杆获得的收益最大化。</a:t>
            </a:r>
            <a:endParaRPr lang="en-US" altLang="zh-CN" dirty="0"/>
          </a:p>
          <a:p>
            <a:endParaRPr lang="en-US" altLang="zh-CN" sz="2400" dirty="0"/>
          </a:p>
          <a:p>
            <a:endParaRPr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E61B1E-C5D3-89CC-8D46-1B3921B350A3}"/>
              </a:ext>
            </a:extLst>
          </p:cNvPr>
          <p:cNvGrpSpPr/>
          <p:nvPr/>
        </p:nvGrpSpPr>
        <p:grpSpPr>
          <a:xfrm>
            <a:off x="7109542" y="823814"/>
            <a:ext cx="4989648" cy="686659"/>
            <a:chOff x="5873170" y="179906"/>
            <a:chExt cx="4989648" cy="68665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5B2C5C1-74F7-C8E1-2CB4-3161899E5E7C}"/>
                </a:ext>
              </a:extLst>
            </p:cNvPr>
            <p:cNvSpPr txBox="1"/>
            <p:nvPr/>
          </p:nvSpPr>
          <p:spPr>
            <a:xfrm>
              <a:off x="7146086" y="273983"/>
              <a:ext cx="371673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 </a:t>
              </a:r>
              <a:r>
                <a:rPr lang="en-US" dirty="0">
                  <a:hlinkClick r:id="rId3"/>
                </a:rPr>
                <a:t>https://su-my.github.io/Test-page/</a:t>
              </a:r>
              <a:r>
                <a:rPr lang="zh-CN" altLang="en-US" dirty="0"/>
                <a:t> </a:t>
              </a:r>
              <a:endParaRPr lang="en-US" dirty="0"/>
            </a:p>
          </p:txBody>
        </p:sp>
        <p:pic>
          <p:nvPicPr>
            <p:cNvPr id="7" name="Picture 2" descr="Game Time (Online)">
              <a:extLst>
                <a:ext uri="{FF2B5EF4-FFF2-40B4-BE49-F238E27FC236}">
                  <a16:creationId xmlns:a16="http://schemas.microsoft.com/office/drawing/2014/main" id="{10DFE9E3-C099-D816-225E-1367A8D897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21029832">
              <a:off x="5873170" y="179906"/>
              <a:ext cx="1273440" cy="6866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E70A60E-236F-970E-F36D-D03A5F451836}"/>
              </a:ext>
            </a:extLst>
          </p:cNvPr>
          <p:cNvGrpSpPr/>
          <p:nvPr/>
        </p:nvGrpSpPr>
        <p:grpSpPr>
          <a:xfrm>
            <a:off x="1779648" y="3842699"/>
            <a:ext cx="8211932" cy="858253"/>
            <a:chOff x="1779648" y="3842699"/>
            <a:chExt cx="8211932" cy="858253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FA6153F-261B-3A25-CA3D-3F51A8FCCB33}"/>
                </a:ext>
              </a:extLst>
            </p:cNvPr>
            <p:cNvGrpSpPr/>
            <p:nvPr/>
          </p:nvGrpSpPr>
          <p:grpSpPr>
            <a:xfrm>
              <a:off x="4448904" y="3842699"/>
              <a:ext cx="5542676" cy="858253"/>
              <a:chOff x="2753185" y="2261705"/>
              <a:chExt cx="5542676" cy="858253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18D33C06-48A3-A25A-4078-9C07B0050B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3185" y="2482079"/>
                <a:ext cx="980688" cy="637879"/>
              </a:xfrm>
              <a:prstGeom prst="rect">
                <a:avLst/>
              </a:prstGeom>
            </p:spPr>
          </p:pic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67ED9EBA-CB8F-EBAF-6D1C-E393FE51A6E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273858" y="2451845"/>
                <a:ext cx="1010835" cy="668113"/>
              </a:xfrm>
              <a:prstGeom prst="rect">
                <a:avLst/>
              </a:prstGeom>
            </p:spPr>
          </p:pic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1B1D30D0-5207-C6D4-D058-DAA53BCB97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68850" y="2478685"/>
                <a:ext cx="953921" cy="641273"/>
              </a:xfrm>
              <a:prstGeom prst="rect">
                <a:avLst/>
              </a:prstGeom>
            </p:spPr>
          </p:pic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2B4B94-F453-C10D-10D0-E951DFA67AA5}"/>
                  </a:ext>
                </a:extLst>
              </p:cNvPr>
              <p:cNvSpPr txBox="1"/>
              <p:nvPr/>
            </p:nvSpPr>
            <p:spPr>
              <a:xfrm>
                <a:off x="5888383" y="2261705"/>
                <a:ext cx="240747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/>
                  <a:t>…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5319F14-2583-C900-BD30-FC34C34133FA}"/>
                </a:ext>
              </a:extLst>
            </p:cNvPr>
            <p:cNvGrpSpPr/>
            <p:nvPr/>
          </p:nvGrpSpPr>
          <p:grpSpPr>
            <a:xfrm>
              <a:off x="1779648" y="3992889"/>
              <a:ext cx="2305771" cy="659282"/>
              <a:chOff x="388729" y="2500243"/>
              <a:chExt cx="2305771" cy="659282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DD6716A-D730-AB04-C838-FE96EB277EE0}"/>
                  </a:ext>
                </a:extLst>
              </p:cNvPr>
              <p:cNvSpPr txBox="1"/>
              <p:nvPr/>
            </p:nvSpPr>
            <p:spPr>
              <a:xfrm>
                <a:off x="388729" y="2500243"/>
                <a:ext cx="23057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Reward distribution</a:t>
                </a:r>
              </a:p>
            </p:txBody>
          </p:sp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F1F55CEA-E9F9-F0FF-2517-1094EE750B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45459" y="2850370"/>
                <a:ext cx="1303827" cy="309155"/>
              </a:xfrm>
              <a:prstGeom prst="rect">
                <a:avLst/>
              </a:prstGeom>
            </p:spPr>
          </p:pic>
        </p:grp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22BCE79-2D71-1184-B9B3-E672EDF9B0E1}"/>
              </a:ext>
            </a:extLst>
          </p:cNvPr>
          <p:cNvGrpSpPr/>
          <p:nvPr/>
        </p:nvGrpSpPr>
        <p:grpSpPr>
          <a:xfrm>
            <a:off x="1779649" y="4801271"/>
            <a:ext cx="8357174" cy="1375049"/>
            <a:chOff x="1779649" y="4801271"/>
            <a:chExt cx="8357174" cy="1375049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15B7CA2C-9621-D053-F127-13F36E5D1697}"/>
                </a:ext>
              </a:extLst>
            </p:cNvPr>
            <p:cNvGrpSpPr/>
            <p:nvPr/>
          </p:nvGrpSpPr>
          <p:grpSpPr>
            <a:xfrm>
              <a:off x="4282539" y="4801271"/>
              <a:ext cx="5854284" cy="1375049"/>
              <a:chOff x="2586820" y="3220277"/>
              <a:chExt cx="5854284" cy="1375049"/>
            </a:xfrm>
          </p:grpSpPr>
          <p:pic>
            <p:nvPicPr>
              <p:cNvPr id="14" name="Picture 4" descr="Image result for bandit machine">
                <a:extLst>
                  <a:ext uri="{FF2B5EF4-FFF2-40B4-BE49-F238E27FC236}">
                    <a16:creationId xmlns:a16="http://schemas.microsoft.com/office/drawing/2014/main" id="{67254F84-ECBC-7C0A-848A-1B7DCC9EEA7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86820" y="3220277"/>
                <a:ext cx="1344127" cy="13441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4" descr="Image result for bandit machine">
                <a:extLst>
                  <a:ext uri="{FF2B5EF4-FFF2-40B4-BE49-F238E27FC236}">
                    <a16:creationId xmlns:a16="http://schemas.microsoft.com/office/drawing/2014/main" id="{DD58CB35-8C8A-3B6A-7092-C4204265FC2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190333" y="3220277"/>
                <a:ext cx="1344127" cy="13441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6" name="Picture 4" descr="Image result for bandit machine">
                <a:extLst>
                  <a:ext uri="{FF2B5EF4-FFF2-40B4-BE49-F238E27FC236}">
                    <a16:creationId xmlns:a16="http://schemas.microsoft.com/office/drawing/2014/main" id="{C108F41B-EB8B-B51F-4776-697466E746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96977" y="3251199"/>
                <a:ext cx="1344127" cy="134412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89B8CD4-1D26-4D08-D0E7-0E078E08420A}"/>
                  </a:ext>
                </a:extLst>
              </p:cNvPr>
              <p:cNvSpPr txBox="1"/>
              <p:nvPr/>
            </p:nvSpPr>
            <p:spPr>
              <a:xfrm>
                <a:off x="5892800" y="3423479"/>
                <a:ext cx="2407478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4000" b="1" dirty="0"/>
                  <a:t>…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CC9C7772-2384-E344-7B4A-6B5632C68D68}"/>
                </a:ext>
              </a:extLst>
            </p:cNvPr>
            <p:cNvGrpSpPr/>
            <p:nvPr/>
          </p:nvGrpSpPr>
          <p:grpSpPr>
            <a:xfrm>
              <a:off x="1779649" y="5304854"/>
              <a:ext cx="2445748" cy="720790"/>
              <a:chOff x="388730" y="3812208"/>
              <a:chExt cx="2445748" cy="720790"/>
            </a:xfrm>
          </p:grpSpPr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B5E7E25E-7A51-8BDF-1CF6-03B25E4CADBF}"/>
                  </a:ext>
                </a:extLst>
              </p:cNvPr>
              <p:cNvSpPr txBox="1"/>
              <p:nvPr/>
            </p:nvSpPr>
            <p:spPr>
              <a:xfrm>
                <a:off x="388730" y="3812208"/>
                <a:ext cx="12898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Actions</a:t>
                </a:r>
              </a:p>
            </p:txBody>
          </p:sp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90AE89A9-FCD5-5D9A-2B9C-B9EB4D98BF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00333" y="4184104"/>
                <a:ext cx="2434145" cy="348894"/>
              </a:xfrm>
              <a:prstGeom prst="rect">
                <a:avLst/>
              </a:prstGeom>
            </p:spPr>
          </p:pic>
        </p:grp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9B640CD-6873-4EA6-E0AB-0CFADF96F2A0}"/>
              </a:ext>
            </a:extLst>
          </p:cNvPr>
          <p:cNvSpPr txBox="1"/>
          <p:nvPr/>
        </p:nvSpPr>
        <p:spPr>
          <a:xfrm>
            <a:off x="4136670" y="3476661"/>
            <a:ext cx="51103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Goal: </a:t>
            </a:r>
            <a:r>
              <a:rPr lang="en-US" dirty="0"/>
              <a:t>maximize the accumulated reward over T rounds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35BC3ED-E934-6E07-E689-02521CA6934D}"/>
              </a:ext>
            </a:extLst>
          </p:cNvPr>
          <p:cNvGrpSpPr/>
          <p:nvPr/>
        </p:nvGrpSpPr>
        <p:grpSpPr>
          <a:xfrm>
            <a:off x="1727946" y="6350846"/>
            <a:ext cx="8528680" cy="369332"/>
            <a:chOff x="1727946" y="6350846"/>
            <a:chExt cx="8528680" cy="3693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B3153F5-A327-AACB-CA07-E04CE514D587}"/>
                </a:ext>
              </a:extLst>
            </p:cNvPr>
            <p:cNvSpPr txBox="1"/>
            <p:nvPr/>
          </p:nvSpPr>
          <p:spPr>
            <a:xfrm>
              <a:off x="1727946" y="6350846"/>
              <a:ext cx="64226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/>
                <a:t>(Pseudo) Regret: </a:t>
              </a:r>
              <a:r>
                <a:rPr lang="en-US" dirty="0"/>
                <a:t>expected</a:t>
              </a:r>
              <a:r>
                <a:rPr lang="en-US" b="1" dirty="0"/>
                <a:t> </a:t>
              </a:r>
              <a:r>
                <a:rPr lang="en-US" dirty="0"/>
                <a:t>loss due to not playing the best arm </a:t>
              </a:r>
              <a:endParaRPr lang="en-US" b="1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4DA48D35-6854-E9D5-6750-2FF24959F7D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7368601" y="6394506"/>
              <a:ext cx="2888025" cy="2932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612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信心上限算法（</a:t>
            </a:r>
            <a:r>
              <a:rPr lang="en-US" altLang="zh-CN" dirty="0"/>
              <a:t>UCB</a:t>
            </a:r>
            <a:r>
              <a:rPr lang="zh-CN" altLang="en-US" dirty="0"/>
              <a:t>：</a:t>
            </a:r>
            <a:r>
              <a:rPr lang="en-US" altLang="zh-CN" dirty="0"/>
              <a:t>Upper Confidence Bound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03383" y="1713049"/>
            <a:ext cx="7772400" cy="41148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UCB1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for each </a:t>
            </a:r>
            <a:r>
              <a:rPr lang="zh-CN" altLang="en-US" dirty="0"/>
              <a:t>拉杆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j: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/>
              <a:t>                   </a:t>
            </a:r>
            <a:r>
              <a:rPr lang="zh-CN" altLang="zh-CN" dirty="0"/>
              <a:t>访问该</a:t>
            </a:r>
            <a:r>
              <a:rPr lang="zh-CN" altLang="en-US" dirty="0"/>
              <a:t>拉杆</a:t>
            </a:r>
            <a:r>
              <a:rPr lang="zh-CN" altLang="zh-CN" dirty="0"/>
              <a:t>并记录收益</a:t>
            </a:r>
          </a:p>
          <a:p>
            <a:pPr marL="0" indent="0">
              <a:buNone/>
              <a:defRPr/>
            </a:pPr>
            <a:r>
              <a:rPr lang="en-US" altLang="zh-CN" dirty="0"/>
              <a:t>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for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/>
              <a:t>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lang="zh-CN" altLang="zh-CN" dirty="0"/>
              <a:t>尚未达到访问次数限制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CN" dirty="0"/>
              <a:t>:</a:t>
            </a:r>
            <a:endParaRPr lang="zh-CN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            </a:t>
            </a:r>
            <a:r>
              <a:rPr lang="zh-CN" altLang="zh-CN" dirty="0"/>
              <a:t>计算每个</a:t>
            </a:r>
            <a:r>
              <a:rPr lang="zh-CN" altLang="en-US" dirty="0"/>
              <a:t>拉杆</a:t>
            </a:r>
            <a:r>
              <a:rPr lang="zh-CN" altLang="zh-CN" dirty="0"/>
              <a:t>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UCB1</a:t>
            </a:r>
            <a:r>
              <a:rPr lang="zh-CN" altLang="zh-CN" dirty="0"/>
              <a:t>信心上界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CN" altLang="zh-CN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/>
              <a:t>                    </a:t>
            </a:r>
            <a:r>
              <a:rPr lang="zh-CN" altLang="zh-CN" dirty="0"/>
              <a:t>访问信心上界最大的</a:t>
            </a:r>
            <a:r>
              <a:rPr lang="zh-CN" altLang="en-US" dirty="0"/>
              <a:t>拉杆</a:t>
            </a:r>
            <a:endParaRPr lang="zh-CN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while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0C79A9-B589-40D7-97B6-1A3ADCAB9DB2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黑体" pitchFamily="49" charset="-122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黑体" pitchFamily="49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46526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信心上限的计算</a:t>
            </a:r>
          </a:p>
        </p:txBody>
      </p:sp>
      <p:sp>
        <p:nvSpPr>
          <p:cNvPr id="2054" name="内容占位符 2"/>
          <p:cNvSpPr>
            <a:spLocks noGrp="1"/>
          </p:cNvSpPr>
          <p:nvPr>
            <p:ph idx="1"/>
          </p:nvPr>
        </p:nvSpPr>
        <p:spPr>
          <a:xfrm>
            <a:off x="1372275" y="2712325"/>
            <a:ext cx="8178800" cy="33782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zh-CN" altLang="zh-CN" dirty="0"/>
              <a:t>其中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       </a:t>
            </a:r>
            <a:r>
              <a:rPr lang="zh-CN" altLang="zh-CN" dirty="0"/>
              <a:t>是</a:t>
            </a:r>
            <a:r>
              <a:rPr lang="zh-CN" altLang="en-US" dirty="0"/>
              <a:t>拉杆</a:t>
            </a:r>
            <a:r>
              <a:rPr lang="en-US" altLang="zh-CN" dirty="0"/>
              <a:t>j</a:t>
            </a:r>
            <a:r>
              <a:rPr lang="zh-CN" altLang="zh-CN" dirty="0"/>
              <a:t>所获得回报的均值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n</a:t>
            </a:r>
            <a:r>
              <a:rPr lang="zh-CN" altLang="zh-CN" dirty="0"/>
              <a:t>是到当前这一时刻为止所访问的总次数</a:t>
            </a:r>
            <a:endParaRPr lang="en-US" altLang="zh-CN" dirty="0"/>
          </a:p>
          <a:p>
            <a:pPr>
              <a:defRPr/>
            </a:pPr>
            <a:r>
              <a:rPr lang="en-US" altLang="zh-CN" dirty="0"/>
              <a:t>          </a:t>
            </a:r>
            <a:r>
              <a:rPr lang="zh-CN" altLang="zh-CN" dirty="0"/>
              <a:t>是</a:t>
            </a:r>
            <a:r>
              <a:rPr lang="zh-CN" altLang="en-US" dirty="0"/>
              <a:t>拉杆</a:t>
            </a:r>
            <a:r>
              <a:rPr lang="en-US" altLang="zh-CN" dirty="0"/>
              <a:t>j</a:t>
            </a:r>
            <a:r>
              <a:rPr lang="zh-CN" altLang="zh-CN" dirty="0"/>
              <a:t>到目前为止所访问的次数</a:t>
            </a:r>
            <a:endParaRPr lang="en-US" altLang="zh-CN" dirty="0"/>
          </a:p>
          <a:p>
            <a:pPr>
              <a:defRPr/>
            </a:pPr>
            <a:endParaRPr lang="en-US" altLang="zh-CN" dirty="0"/>
          </a:p>
          <a:p>
            <a:pPr>
              <a:defRPr/>
            </a:pPr>
            <a:r>
              <a:rPr lang="zh-CN" altLang="en-US" dirty="0"/>
              <a:t>上式考虑了“利用”和“探索”间的平衡</a:t>
            </a:r>
            <a:endParaRPr lang="zh-CN" altLang="zh-CN" dirty="0"/>
          </a:p>
          <a:p>
            <a:pPr>
              <a:defRPr/>
            </a:pPr>
            <a:endParaRPr lang="zh-CN" altLang="en-US" dirty="0"/>
          </a:p>
        </p:txBody>
      </p:sp>
      <p:sp>
        <p:nvSpPr>
          <p:cNvPr id="2055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B930C4-2E04-4FB4-B758-4082B51D842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黑体" pitchFamily="49" charset="-122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黑体" pitchFamily="49" charset="-122"/>
              <a:cs typeface="+mj-cs"/>
            </a:endParaRPr>
          </a:p>
        </p:txBody>
      </p:sp>
      <p:graphicFrame>
        <p:nvGraphicFramePr>
          <p:cNvPr id="2050" name="Object 3"/>
          <p:cNvGraphicFramePr>
            <a:graphicFrameLocks noChangeAspect="1"/>
          </p:cNvGraphicFramePr>
          <p:nvPr/>
        </p:nvGraphicFramePr>
        <p:xfrm>
          <a:off x="2712221" y="1507763"/>
          <a:ext cx="2749454" cy="1140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193760" imgH="495000" progId="Equation.3">
                  <p:embed/>
                </p:oleObj>
              </mc:Choice>
              <mc:Fallback>
                <p:oleObj name="公式" r:id="rId3" imgW="1193760" imgH="495000" progId="Equation.3">
                  <p:embed/>
                  <p:pic>
                    <p:nvPicPr>
                      <p:cNvPr id="205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2221" y="1507763"/>
                        <a:ext cx="2749454" cy="11401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4"/>
          <p:cNvGraphicFramePr>
            <a:graphicFrameLocks noChangeAspect="1"/>
          </p:cNvGraphicFramePr>
          <p:nvPr/>
        </p:nvGraphicFramePr>
        <p:xfrm>
          <a:off x="1785796" y="3201724"/>
          <a:ext cx="3889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15640" imgH="253800" progId="Equation.3">
                  <p:embed/>
                </p:oleObj>
              </mc:Choice>
              <mc:Fallback>
                <p:oleObj name="公式" r:id="rId5" imgW="215640" imgH="253800" progId="Equation.3">
                  <p:embed/>
                  <p:pic>
                    <p:nvPicPr>
                      <p:cNvPr id="205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796" y="3201724"/>
                        <a:ext cx="388938" cy="457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" name="Object 5"/>
          <p:cNvGraphicFramePr>
            <a:graphicFrameLocks noChangeAspect="1"/>
          </p:cNvGraphicFramePr>
          <p:nvPr/>
        </p:nvGraphicFramePr>
        <p:xfrm>
          <a:off x="1655005" y="4212705"/>
          <a:ext cx="7556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368280" imgH="241200" progId="Equation.3">
                  <p:embed/>
                </p:oleObj>
              </mc:Choice>
              <mc:Fallback>
                <p:oleObj name="公式" r:id="rId7" imgW="368280" imgH="241200" progId="Equation.3">
                  <p:embed/>
                  <p:pic>
                    <p:nvPicPr>
                      <p:cNvPr id="205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5005" y="4212705"/>
                        <a:ext cx="755650" cy="495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40657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71A0-4FDC-1531-4662-1E7F4468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Tail bounds</a:t>
            </a:r>
            <a:r>
              <a:rPr lang="zh-CN" altLang="en-US" dirty="0"/>
              <a:t> （尾部概率界限）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DB5F3-6A5D-221E-B93A-B39EE9F078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0791" cy="4351338"/>
          </a:xfrm>
        </p:spPr>
        <p:txBody>
          <a:bodyPr/>
          <a:lstStyle/>
          <a:p>
            <a:r>
              <a:rPr lang="en-US" dirty="0" err="1">
                <a:latin typeface="Songti TC" panose="02010600040101010101" pitchFamily="2" charset="-120"/>
                <a:ea typeface="Songti TC" panose="02010600040101010101" pitchFamily="2" charset="-120"/>
              </a:rPr>
              <a:t>大数定律</a:t>
            </a:r>
            <a:endParaRPr lang="en-US" dirty="0">
              <a:latin typeface="Songti TC" panose="02010600040101010101" pitchFamily="2" charset="-120"/>
              <a:ea typeface="Songti TC" panose="02010600040101010101" pitchFamily="2" charset="-120"/>
            </a:endParaRPr>
          </a:p>
          <a:p>
            <a:pPr lvl="1"/>
            <a:r>
              <a:rPr lang="ja-JP" altLang="en-US">
                <a:latin typeface="Songti TC" panose="02010600040101010101" pitchFamily="2" charset="-120"/>
                <a:ea typeface="Songti TC" panose="02010600040101010101" pitchFamily="2" charset="-120"/>
              </a:rPr>
              <a:t>随着试验次数的增加，随机变量的算术平均值会趋近于其期望值</a:t>
            </a:r>
            <a:endParaRPr lang="en-US" dirty="0">
              <a:latin typeface="Songti TC" panose="02010600040101010101" pitchFamily="2" charset="-120"/>
              <a:ea typeface="Songti TC" panose="02010600040101010101" pitchFamily="2" charset="-120"/>
            </a:endParaRPr>
          </a:p>
        </p:txBody>
      </p:sp>
      <p:pic>
        <p:nvPicPr>
          <p:cNvPr id="1026" name="Picture 2" descr="Law of Large Numbers and the Gamblers Fallacy | by Devansh | Medium">
            <a:extLst>
              <a:ext uri="{FF2B5EF4-FFF2-40B4-BE49-F238E27FC236}">
                <a16:creationId xmlns:a16="http://schemas.microsoft.com/office/drawing/2014/main" id="{20A96CD8-5AD6-EBB8-1803-022955D41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22" y="3021160"/>
            <a:ext cx="5015567" cy="3343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he Law of Large Numbers and Casino Earnings -">
            <a:extLst>
              <a:ext uri="{FF2B5EF4-FFF2-40B4-BE49-F238E27FC236}">
                <a16:creationId xmlns:a16="http://schemas.microsoft.com/office/drawing/2014/main" id="{74092E7C-5F44-9670-74BE-E39C5A492C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86" b="3071"/>
          <a:stretch/>
        </p:blipFill>
        <p:spPr bwMode="auto">
          <a:xfrm>
            <a:off x="6102816" y="2900413"/>
            <a:ext cx="5015567" cy="3411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0475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信心上限树算法</a:t>
            </a:r>
            <a:r>
              <a:rPr lang="en-US" altLang="zh-CN" dirty="0"/>
              <a:t>UCT</a:t>
            </a:r>
            <a:endParaRPr lang="zh-CN" altLang="en-US" dirty="0"/>
          </a:p>
        </p:txBody>
      </p:sp>
      <p:sp>
        <p:nvSpPr>
          <p:cNvPr id="3076" name="内容占位符 2"/>
          <p:cNvSpPr>
            <a:spLocks noGrp="1"/>
          </p:cNvSpPr>
          <p:nvPr>
            <p:ph idx="1"/>
          </p:nvPr>
        </p:nvSpPr>
        <p:spPr>
          <a:xfrm>
            <a:off x="703213" y="1807027"/>
            <a:ext cx="6507484" cy="4114800"/>
          </a:xfrm>
        </p:spPr>
        <p:txBody>
          <a:bodyPr/>
          <a:lstStyle/>
          <a:p>
            <a:r>
              <a:rPr lang="zh-CN" altLang="en-US" dirty="0"/>
              <a:t>将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UCB1</a:t>
            </a:r>
            <a:r>
              <a:rPr lang="zh-CN" altLang="en-US" dirty="0"/>
              <a:t>算法应用于蒙特卡洛树搜索中，用于选择可落子点</a:t>
            </a:r>
            <a:endParaRPr lang="en-US" altLang="zh-CN" dirty="0"/>
          </a:p>
          <a:p>
            <a:pPr lvl="1"/>
            <a:r>
              <a:rPr lang="zh-CN" altLang="en-US" dirty="0"/>
              <a:t>节点不是随机选择，而是根据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UCB1</a:t>
            </a:r>
            <a:r>
              <a:rPr lang="zh-CN" altLang="en-US" dirty="0"/>
              <a:t>选择信心上限值最大的节点</a:t>
            </a:r>
            <a:endParaRPr lang="en-US" altLang="zh-CN" dirty="0"/>
          </a:p>
          <a:p>
            <a:pPr lvl="1"/>
            <a:r>
              <a:rPr lang="zh-CN" altLang="en-US" dirty="0"/>
              <a:t>实际计算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UCB1</a:t>
            </a:r>
            <a:r>
              <a:rPr lang="zh-CN" altLang="en-US" dirty="0"/>
              <a:t>时，加一个参数</a:t>
            </a:r>
            <a:r>
              <a:rPr lang="en-US" altLang="zh-CN" dirty="0"/>
              <a:t>c</a:t>
            </a:r>
            <a:r>
              <a:rPr lang="zh-CN" altLang="en-US" dirty="0"/>
              <a:t>进行调节：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077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AADCC8-CF6E-484B-A86A-ED7F1474CE5D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黑体" pitchFamily="49" charset="-122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黑体" pitchFamily="49" charset="-122"/>
              <a:cs typeface="+mj-cs"/>
            </a:endParaRPr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/>
        </p:nvGraphicFramePr>
        <p:xfrm>
          <a:off x="1416409" y="4173763"/>
          <a:ext cx="3514462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57120" imgH="495000" progId="Equation.3">
                  <p:embed/>
                </p:oleObj>
              </mc:Choice>
              <mc:Fallback>
                <p:oleObj name="公式" r:id="rId3" imgW="1257120" imgH="495000" progId="Equation.3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6409" y="4173763"/>
                        <a:ext cx="3514462" cy="1384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tx1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984" y="2573257"/>
            <a:ext cx="4889416" cy="289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93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25465" y="299252"/>
            <a:ext cx="10363200" cy="1143000"/>
          </a:xfrm>
        </p:spPr>
        <p:txBody>
          <a:bodyPr/>
          <a:lstStyle/>
          <a:p>
            <a:r>
              <a:rPr lang="zh-CN" altLang="en-US" dirty="0"/>
              <a:t>信心上限树算法示例</a:t>
            </a:r>
          </a:p>
        </p:txBody>
      </p:sp>
      <p:sp>
        <p:nvSpPr>
          <p:cNvPr id="4" name="椭圆 3"/>
          <p:cNvSpPr/>
          <p:nvPr/>
        </p:nvSpPr>
        <p:spPr>
          <a:xfrm>
            <a:off x="5830400" y="1645915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5033558" y="2564391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椭圆 5"/>
          <p:cNvSpPr/>
          <p:nvPr/>
        </p:nvSpPr>
        <p:spPr>
          <a:xfrm>
            <a:off x="5830400" y="2573376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6731731" y="2573376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" name="直接箭头连接符 10"/>
          <p:cNvCxnSpPr>
            <a:stCxn id="4" idx="4"/>
            <a:endCxn id="5" idx="0"/>
          </p:cNvCxnSpPr>
          <p:nvPr/>
        </p:nvCxnSpPr>
        <p:spPr>
          <a:xfrm flipH="1">
            <a:off x="5159558" y="1897915"/>
            <a:ext cx="796842" cy="6664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>
            <a:stCxn id="4" idx="4"/>
            <a:endCxn id="6" idx="0"/>
          </p:cNvCxnSpPr>
          <p:nvPr/>
        </p:nvCxnSpPr>
        <p:spPr>
          <a:xfrm>
            <a:off x="5956400" y="1897915"/>
            <a:ext cx="0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4" idx="4"/>
            <a:endCxn id="7" idx="0"/>
          </p:cNvCxnSpPr>
          <p:nvPr/>
        </p:nvCxnSpPr>
        <p:spPr>
          <a:xfrm>
            <a:off x="5956400" y="1897915"/>
            <a:ext cx="901331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785314" y="3869001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1" name="直接箭头连接符 20"/>
          <p:cNvCxnSpPr>
            <a:stCxn id="5" idx="4"/>
            <a:endCxn id="20" idx="0"/>
          </p:cNvCxnSpPr>
          <p:nvPr/>
        </p:nvCxnSpPr>
        <p:spPr>
          <a:xfrm>
            <a:off x="5159558" y="2816391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582147" y="3873348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6" name="直接箭头连接符 25"/>
          <p:cNvCxnSpPr>
            <a:endCxn id="25" idx="0"/>
          </p:cNvCxnSpPr>
          <p:nvPr/>
        </p:nvCxnSpPr>
        <p:spPr>
          <a:xfrm>
            <a:off x="5956391" y="2820738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6483487" y="3912483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28" name="直接箭头连接符 27"/>
          <p:cNvCxnSpPr>
            <a:endCxn id="27" idx="0"/>
          </p:cNvCxnSpPr>
          <p:nvPr/>
        </p:nvCxnSpPr>
        <p:spPr>
          <a:xfrm>
            <a:off x="6857731" y="2859873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椭圆 28"/>
          <p:cNvSpPr/>
          <p:nvPr/>
        </p:nvSpPr>
        <p:spPr>
          <a:xfrm>
            <a:off x="4236717" y="3474426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033559" y="3483411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5934890" y="3483411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32" name="直接箭头连接符 31"/>
          <p:cNvCxnSpPr>
            <a:endCxn id="29" idx="0"/>
          </p:cNvCxnSpPr>
          <p:nvPr/>
        </p:nvCxnSpPr>
        <p:spPr>
          <a:xfrm flipH="1">
            <a:off x="4362717" y="2807950"/>
            <a:ext cx="796842" cy="6664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30" idx="0"/>
          </p:cNvCxnSpPr>
          <p:nvPr/>
        </p:nvCxnSpPr>
        <p:spPr>
          <a:xfrm>
            <a:off x="5159559" y="2807950"/>
            <a:ext cx="0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>
            <a:endCxn id="31" idx="0"/>
          </p:cNvCxnSpPr>
          <p:nvPr/>
        </p:nvCxnSpPr>
        <p:spPr>
          <a:xfrm>
            <a:off x="5159559" y="2807950"/>
            <a:ext cx="901331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文本框 34"/>
          <p:cNvSpPr txBox="1"/>
          <p:nvPr/>
        </p:nvSpPr>
        <p:spPr>
          <a:xfrm>
            <a:off x="3988473" y="4779036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6" name="直接箭头连接符 35"/>
          <p:cNvCxnSpPr>
            <a:stCxn id="29" idx="4"/>
            <a:endCxn id="35" idx="0"/>
          </p:cNvCxnSpPr>
          <p:nvPr/>
        </p:nvCxnSpPr>
        <p:spPr>
          <a:xfrm>
            <a:off x="4362717" y="3726426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文本框 36"/>
          <p:cNvSpPr txBox="1"/>
          <p:nvPr/>
        </p:nvSpPr>
        <p:spPr>
          <a:xfrm>
            <a:off x="4785306" y="4783383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38" name="直接箭头连接符 37"/>
          <p:cNvCxnSpPr>
            <a:endCxn id="37" idx="0"/>
          </p:cNvCxnSpPr>
          <p:nvPr/>
        </p:nvCxnSpPr>
        <p:spPr>
          <a:xfrm>
            <a:off x="5159550" y="3730773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5686646" y="4822518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40" name="直接箭头连接符 39"/>
          <p:cNvCxnSpPr>
            <a:endCxn id="39" idx="0"/>
          </p:cNvCxnSpPr>
          <p:nvPr/>
        </p:nvCxnSpPr>
        <p:spPr>
          <a:xfrm>
            <a:off x="6060890" y="3769908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椭圆 41"/>
          <p:cNvSpPr/>
          <p:nvPr/>
        </p:nvSpPr>
        <p:spPr>
          <a:xfrm>
            <a:off x="6740506" y="3511132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7641837" y="3511132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45" name="直接箭头连接符 44"/>
          <p:cNvCxnSpPr>
            <a:endCxn id="42" idx="0"/>
          </p:cNvCxnSpPr>
          <p:nvPr/>
        </p:nvCxnSpPr>
        <p:spPr>
          <a:xfrm>
            <a:off x="6866506" y="2835671"/>
            <a:ext cx="0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endCxn id="43" idx="0"/>
          </p:cNvCxnSpPr>
          <p:nvPr/>
        </p:nvCxnSpPr>
        <p:spPr>
          <a:xfrm>
            <a:off x="6866506" y="2835671"/>
            <a:ext cx="901331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6492253" y="4811104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0" name="直接箭头连接符 49"/>
          <p:cNvCxnSpPr>
            <a:endCxn id="49" idx="0"/>
          </p:cNvCxnSpPr>
          <p:nvPr/>
        </p:nvCxnSpPr>
        <p:spPr>
          <a:xfrm>
            <a:off x="6866497" y="3758494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7393593" y="4850239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52" name="直接箭头连接符 51"/>
          <p:cNvCxnSpPr>
            <a:endCxn id="51" idx="0"/>
          </p:cNvCxnSpPr>
          <p:nvPr/>
        </p:nvCxnSpPr>
        <p:spPr>
          <a:xfrm>
            <a:off x="7767837" y="3797629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7" name="椭圆 56"/>
          <p:cNvSpPr/>
          <p:nvPr/>
        </p:nvSpPr>
        <p:spPr>
          <a:xfrm>
            <a:off x="4247475" y="4401887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8" name="椭圆 57"/>
          <p:cNvSpPr/>
          <p:nvPr/>
        </p:nvSpPr>
        <p:spPr>
          <a:xfrm>
            <a:off x="5044317" y="4410872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9" name="椭圆 58"/>
          <p:cNvSpPr/>
          <p:nvPr/>
        </p:nvSpPr>
        <p:spPr>
          <a:xfrm>
            <a:off x="5945648" y="4410872"/>
            <a:ext cx="252000" cy="2520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60" name="直接箭头连接符 59"/>
          <p:cNvCxnSpPr>
            <a:endCxn id="57" idx="0"/>
          </p:cNvCxnSpPr>
          <p:nvPr/>
        </p:nvCxnSpPr>
        <p:spPr>
          <a:xfrm flipH="1">
            <a:off x="4373475" y="3735411"/>
            <a:ext cx="796842" cy="6664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58" idx="0"/>
          </p:cNvCxnSpPr>
          <p:nvPr/>
        </p:nvCxnSpPr>
        <p:spPr>
          <a:xfrm>
            <a:off x="5170317" y="3735411"/>
            <a:ext cx="0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endCxn id="59" idx="0"/>
          </p:cNvCxnSpPr>
          <p:nvPr/>
        </p:nvCxnSpPr>
        <p:spPr>
          <a:xfrm>
            <a:off x="5170317" y="3735411"/>
            <a:ext cx="901331" cy="6754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3999231" y="5706497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4" name="直接箭头连接符 63"/>
          <p:cNvCxnSpPr>
            <a:stCxn id="57" idx="4"/>
            <a:endCxn id="63" idx="0"/>
          </p:cNvCxnSpPr>
          <p:nvPr/>
        </p:nvCxnSpPr>
        <p:spPr>
          <a:xfrm>
            <a:off x="4373475" y="4653887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5" name="文本框 64"/>
          <p:cNvSpPr txBox="1"/>
          <p:nvPr/>
        </p:nvSpPr>
        <p:spPr>
          <a:xfrm>
            <a:off x="4796064" y="5710844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6" name="直接箭头连接符 65"/>
          <p:cNvCxnSpPr>
            <a:endCxn id="65" idx="0"/>
          </p:cNvCxnSpPr>
          <p:nvPr/>
        </p:nvCxnSpPr>
        <p:spPr>
          <a:xfrm>
            <a:off x="5170308" y="4658234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5697404" y="5749979"/>
            <a:ext cx="7484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△</a:t>
            </a: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68" name="直接箭头连接符 67"/>
          <p:cNvCxnSpPr>
            <a:endCxn id="67" idx="0"/>
          </p:cNvCxnSpPr>
          <p:nvPr/>
        </p:nvCxnSpPr>
        <p:spPr>
          <a:xfrm>
            <a:off x="6071648" y="4697369"/>
            <a:ext cx="0" cy="1052610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椭圆 47"/>
          <p:cNvSpPr/>
          <p:nvPr/>
        </p:nvSpPr>
        <p:spPr>
          <a:xfrm>
            <a:off x="5830400" y="1643511"/>
            <a:ext cx="252000" cy="25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5033549" y="2568738"/>
            <a:ext cx="252000" cy="25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5" name="椭圆 54"/>
          <p:cNvSpPr/>
          <p:nvPr/>
        </p:nvSpPr>
        <p:spPr>
          <a:xfrm>
            <a:off x="6731731" y="2577624"/>
            <a:ext cx="252000" cy="25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5029467" y="3481241"/>
            <a:ext cx="252000" cy="2520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372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7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1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xit" presetSubtype="0" fill="hold" grpId="1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grpId="1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7" fill="hold">
                      <p:stCondLst>
                        <p:cond delay="indefinite"/>
                      </p:stCondLst>
                      <p:childTnLst>
                        <p:par>
                          <p:cTn id="208" fill="hold">
                            <p:stCondLst>
                              <p:cond delay="0"/>
                            </p:stCondLst>
                            <p:childTnLst>
                              <p:par>
                                <p:cTn id="2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xit" presetSubtype="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1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grpId="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7" fill="hold">
                      <p:stCondLst>
                        <p:cond delay="indefinite"/>
                      </p:stCondLst>
                      <p:childTnLst>
                        <p:par>
                          <p:cTn id="248" fill="hold">
                            <p:stCondLst>
                              <p:cond delay="0"/>
                            </p:stCondLst>
                            <p:childTnLst>
                              <p:par>
                                <p:cTn id="2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9" fill="hold">
                      <p:stCondLst>
                        <p:cond delay="indefinite"/>
                      </p:stCondLst>
                      <p:childTnLst>
                        <p:par>
                          <p:cTn id="260" fill="hold">
                            <p:stCondLst>
                              <p:cond delay="0"/>
                            </p:stCondLst>
                            <p:childTnLst>
                              <p:par>
                                <p:cTn id="26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xit" presetSubtype="0" fill="hold" grpId="17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7" presetID="1" presetClass="exit" presetSubtype="0" fill="hold" grpId="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1" fill="hold">
                      <p:stCondLst>
                        <p:cond delay="indefinite"/>
                      </p:stCondLst>
                      <p:childTnLst>
                        <p:par>
                          <p:cTn id="272" fill="hold">
                            <p:stCondLst>
                              <p:cond delay="0"/>
                            </p:stCondLst>
                            <p:childTnLst>
                              <p:par>
                                <p:cTn id="273" presetID="1" presetClass="entr" presetSubtype="0" fill="hold" grpId="18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>
                      <p:stCondLst>
                        <p:cond delay="indefinite"/>
                      </p:stCondLst>
                      <p:childTnLst>
                        <p:par>
                          <p:cTn id="276" fill="hold">
                            <p:stCondLst>
                              <p:cond delay="0"/>
                            </p:stCondLst>
                            <p:childTnLst>
                              <p:par>
                                <p:cTn id="277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9" fill="hold">
                      <p:stCondLst>
                        <p:cond delay="indefinite"/>
                      </p:stCondLst>
                      <p:childTnLst>
                        <p:par>
                          <p:cTn id="280" fill="hold">
                            <p:stCondLst>
                              <p:cond delay="0"/>
                            </p:stCondLst>
                            <p:childTnLst>
                              <p:par>
                                <p:cTn id="2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5" fill="hold">
                      <p:stCondLst>
                        <p:cond delay="indefinite"/>
                      </p:stCondLst>
                      <p:childTnLst>
                        <p:par>
                          <p:cTn id="286" fill="hold">
                            <p:stCondLst>
                              <p:cond delay="0"/>
                            </p:stCondLst>
                            <p:childTnLst>
                              <p:par>
                                <p:cTn id="2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1" fill="hold">
                      <p:stCondLst>
                        <p:cond delay="indefinite"/>
                      </p:stCondLst>
                      <p:childTnLst>
                        <p:par>
                          <p:cTn id="292" fill="hold">
                            <p:stCondLst>
                              <p:cond delay="0"/>
                            </p:stCondLst>
                            <p:childTnLst>
                              <p:par>
                                <p:cTn id="2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7" presetID="1" presetClass="exit" presetSubtype="0" fill="hold" grpId="19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1" fill="hold">
                      <p:stCondLst>
                        <p:cond delay="indefinite"/>
                      </p:stCondLst>
                      <p:childTnLst>
                        <p:par>
                          <p:cTn id="302" fill="hold">
                            <p:stCondLst>
                              <p:cond delay="0"/>
                            </p:stCondLst>
                            <p:childTnLst>
                              <p:par>
                                <p:cTn id="303" presetID="1" presetClass="entr" presetSubtype="0" fill="hold" grpId="2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5" fill="hold">
                      <p:stCondLst>
                        <p:cond delay="indefinite"/>
                      </p:stCondLst>
                      <p:childTnLst>
                        <p:par>
                          <p:cTn id="306" fill="hold">
                            <p:stCondLst>
                              <p:cond delay="0"/>
                            </p:stCondLst>
                            <p:childTnLst>
                              <p:par>
                                <p:cTn id="307" presetID="1" presetClass="entr" presetSubtype="0" fill="hold" grpId="1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>
                      <p:stCondLst>
                        <p:cond delay="indefinite"/>
                      </p:stCondLst>
                      <p:childTnLst>
                        <p:par>
                          <p:cTn id="314" fill="hold">
                            <p:stCondLst>
                              <p:cond delay="0"/>
                            </p:stCondLst>
                            <p:childTnLst>
                              <p:par>
                                <p:cTn id="3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5" fill="hold">
                      <p:stCondLst>
                        <p:cond delay="indefinite"/>
                      </p:stCondLst>
                      <p:childTnLst>
                        <p:par>
                          <p:cTn id="326" fill="hold">
                            <p:stCondLst>
                              <p:cond delay="0"/>
                            </p:stCondLst>
                            <p:childTnLst>
                              <p:par>
                                <p:cTn id="3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" presetClass="exit" presetSubtype="0" fill="hold" grpId="2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3" presetID="1" presetClass="exit" presetSubtype="0" fill="hold" grpId="1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5" presetID="1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20" grpId="0"/>
      <p:bldP spid="20" grpId="1"/>
      <p:bldP spid="25" grpId="0"/>
      <p:bldP spid="25" grpId="1"/>
      <p:bldP spid="27" grpId="0"/>
      <p:bldP spid="27" grpId="1"/>
      <p:bldP spid="29" grpId="0" animBg="1"/>
      <p:bldP spid="30" grpId="0" animBg="1"/>
      <p:bldP spid="31" grpId="0" animBg="1"/>
      <p:bldP spid="35" grpId="0"/>
      <p:bldP spid="35" grpId="1"/>
      <p:bldP spid="37" grpId="0"/>
      <p:bldP spid="37" grpId="1"/>
      <p:bldP spid="39" grpId="0"/>
      <p:bldP spid="39" grpId="1"/>
      <p:bldP spid="42" grpId="0" animBg="1"/>
      <p:bldP spid="43" grpId="0" animBg="1"/>
      <p:bldP spid="49" grpId="0"/>
      <p:bldP spid="49" grpId="1"/>
      <p:bldP spid="51" grpId="0"/>
      <p:bldP spid="51" grpId="1"/>
      <p:bldP spid="57" grpId="0" animBg="1"/>
      <p:bldP spid="58" grpId="0" animBg="1"/>
      <p:bldP spid="59" grpId="0" animBg="1"/>
      <p:bldP spid="63" grpId="0"/>
      <p:bldP spid="63" grpId="1"/>
      <p:bldP spid="65" grpId="0"/>
      <p:bldP spid="65" grpId="1"/>
      <p:bldP spid="67" grpId="0"/>
      <p:bldP spid="67" grpId="1"/>
      <p:bldP spid="48" grpId="0" animBg="1"/>
      <p:bldP spid="48" grpId="1" animBg="1"/>
      <p:bldP spid="48" grpId="2" animBg="1"/>
      <p:bldP spid="48" grpId="3" animBg="1"/>
      <p:bldP spid="48" grpId="4" animBg="1"/>
      <p:bldP spid="48" grpId="5" animBg="1"/>
      <p:bldP spid="48" grpId="6" animBg="1"/>
      <p:bldP spid="48" grpId="7" animBg="1"/>
      <p:bldP spid="48" grpId="8" animBg="1"/>
      <p:bldP spid="48" grpId="9" animBg="1"/>
      <p:bldP spid="48" grpId="10" animBg="1"/>
      <p:bldP spid="48" grpId="11" animBg="1"/>
      <p:bldP spid="48" grpId="12" animBg="1"/>
      <p:bldP spid="48" grpId="13" animBg="1"/>
      <p:bldP spid="48" grpId="14" animBg="1"/>
      <p:bldP spid="48" grpId="15" animBg="1"/>
      <p:bldP spid="48" grpId="16" animBg="1"/>
      <p:bldP spid="48" grpId="17" animBg="1"/>
      <p:bldP spid="48" grpId="18" animBg="1"/>
      <p:bldP spid="48" grpId="19" animBg="1"/>
      <p:bldP spid="48" grpId="20" animBg="1"/>
      <p:bldP spid="48" grpId="21" animBg="1"/>
      <p:bldP spid="53" grpId="0" animBg="1"/>
      <p:bldP spid="53" grpId="1" animBg="1"/>
      <p:bldP spid="53" grpId="2" animBg="1"/>
      <p:bldP spid="53" grpId="3" animBg="1"/>
      <p:bldP spid="53" grpId="4" animBg="1"/>
      <p:bldP spid="53" grpId="5" animBg="1"/>
      <p:bldP spid="53" grpId="6" animBg="1"/>
      <p:bldP spid="53" grpId="7" animBg="1"/>
      <p:bldP spid="53" grpId="8" animBg="1"/>
      <p:bldP spid="53" grpId="9" animBg="1"/>
      <p:bldP spid="53" grpId="10" animBg="1"/>
      <p:bldP spid="53" grpId="11" animBg="1"/>
      <p:bldP spid="55" grpId="0" animBg="1"/>
      <p:bldP spid="55" grpId="1" animBg="1"/>
      <p:bldP spid="55" grpId="2" animBg="1"/>
      <p:bldP spid="55" grpId="3" animBg="1"/>
      <p:bldP spid="56" grpId="0" animBg="1"/>
      <p:bldP spid="56" grpId="1" animBg="1"/>
      <p:bldP spid="56" grpId="2" animBg="1"/>
      <p:bldP spid="56" grpId="3" animBg="1"/>
      <p:bldP spid="56" grpId="4" animBg="1"/>
      <p:bldP spid="56" grpId="5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前情回顾：</a:t>
            </a:r>
            <a:r>
              <a:rPr lang="en-US" altLang="zh-CN" dirty="0"/>
              <a:t> α-β</a:t>
            </a:r>
            <a:r>
              <a:rPr lang="zh-CN" altLang="en-US" dirty="0"/>
              <a:t>剪枝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552303"/>
            <a:ext cx="10363200" cy="4572000"/>
          </a:xfrm>
        </p:spPr>
        <p:txBody>
          <a:bodyPr/>
          <a:lstStyle/>
          <a:p>
            <a:r>
              <a:rPr lang="en-US" altLang="zh-CN" dirty="0"/>
              <a:t>α-β</a:t>
            </a:r>
            <a:r>
              <a:rPr lang="zh-CN" altLang="en-US" dirty="0"/>
              <a:t>剪枝只是得到一步结果</a:t>
            </a:r>
            <a:endParaRPr lang="en-US" altLang="zh-CN" dirty="0"/>
          </a:p>
          <a:p>
            <a:r>
              <a:rPr lang="zh-CN" altLang="en-US" dirty="0"/>
              <a:t>注意比较的时候要</a:t>
            </a:r>
            <a:r>
              <a:rPr lang="zh-CN" altLang="en-US" b="1" dirty="0"/>
              <a:t>跟祖先比</a:t>
            </a:r>
            <a:endParaRPr lang="en-US" altLang="zh-CN" b="1" dirty="0"/>
          </a:p>
          <a:p>
            <a:r>
              <a:rPr lang="zh-CN" altLang="en-US" dirty="0"/>
              <a:t>估值的准确性要求比较高</a:t>
            </a:r>
            <a:endParaRPr lang="en-US" altLang="zh-CN" dirty="0"/>
          </a:p>
          <a:p>
            <a:r>
              <a:rPr lang="zh-CN" altLang="en-US" dirty="0"/>
              <a:t>搜索深度越深效果越好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052" y="2756263"/>
            <a:ext cx="5847237" cy="3368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86527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879D-42E1-9A37-03D6-38AC3D2A1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Hoeffding’s</a:t>
            </a:r>
            <a:r>
              <a:rPr lang="en-US" dirty="0"/>
              <a:t> inequality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0876-E8FA-1F15-EC29-15D360D4B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bounds the sum of random variables deviates from its expectation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C7C367A-0223-2B2C-AA71-FA3240A2DBFA}"/>
              </a:ext>
            </a:extLst>
          </p:cNvPr>
          <p:cNvGrpSpPr/>
          <p:nvPr/>
        </p:nvGrpSpPr>
        <p:grpSpPr>
          <a:xfrm>
            <a:off x="6244936" y="4337624"/>
            <a:ext cx="4506686" cy="1141364"/>
            <a:chOff x="4000500" y="4028981"/>
            <a:chExt cx="4506686" cy="1141364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DE96CCD-CC56-A9B8-D27D-E68DC855EFD4}"/>
                </a:ext>
              </a:extLst>
            </p:cNvPr>
            <p:cNvSpPr txBox="1"/>
            <p:nvPr/>
          </p:nvSpPr>
          <p:spPr>
            <a:xfrm>
              <a:off x="4000500" y="4524014"/>
              <a:ext cx="45066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1" dirty="0">
                  <a:solidFill>
                    <a:srgbClr val="FF0000"/>
                  </a:solidFill>
                </a:rPr>
                <a:t>The probability shrinks exponentially fast with respect to the number of samples!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3A580EE-E3CE-4D47-996F-8C5C4BBA64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9429" y="4028981"/>
              <a:ext cx="0" cy="49503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1DF591-6BA9-5D21-E326-54D381284812}"/>
                  </a:ext>
                </a:extLst>
              </p:cNvPr>
              <p:cNvSpPr txBox="1"/>
              <p:nvPr/>
            </p:nvSpPr>
            <p:spPr>
              <a:xfrm>
                <a:off x="2580614" y="3410013"/>
                <a:ext cx="6183103" cy="10082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sSup>
                                    <m:sSup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01DF591-6BA9-5D21-E326-54D3812848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614" y="3410013"/>
                <a:ext cx="6183103" cy="1008225"/>
              </a:xfrm>
              <a:prstGeom prst="rect">
                <a:avLst/>
              </a:prstGeom>
              <a:blipFill>
                <a:blip r:embed="rId2"/>
                <a:stretch>
                  <a:fillRect l="-9221" t="-121250" b="-18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4956D8-F84A-A740-C470-DBF2C790088E}"/>
                  </a:ext>
                </a:extLst>
              </p:cNvPr>
              <p:cNvSpPr txBox="1"/>
              <p:nvPr/>
            </p:nvSpPr>
            <p:spPr>
              <a:xfrm>
                <a:off x="2454490" y="2702751"/>
                <a:ext cx="6842322" cy="3706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en-US" sz="2400" dirty="0"/>
                  <a:t> are </a:t>
                </a:r>
                <a:r>
                  <a:rPr lang="en-US" sz="2400" dirty="0" err="1">
                    <a:solidFill>
                      <a:srgbClr val="00B050"/>
                    </a:solidFill>
                  </a:rPr>
                  <a:t>iid</a:t>
                </a:r>
                <a:r>
                  <a:rPr lang="en-US" sz="2400" dirty="0"/>
                  <a:t> random variables with </a:t>
                </a:r>
                <a:r>
                  <a:rPr lang="en-US" sz="2400" dirty="0">
                    <a:solidFill>
                      <a:srgbClr val="00B050"/>
                    </a:solidFill>
                  </a:rPr>
                  <a:t>finite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4956D8-F84A-A740-C470-DBF2C7900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4490" y="2702751"/>
                <a:ext cx="6842322" cy="370614"/>
              </a:xfrm>
              <a:prstGeom prst="rect">
                <a:avLst/>
              </a:prstGeom>
              <a:blipFill>
                <a:blip r:embed="rId3"/>
                <a:stretch>
                  <a:fillRect t="-2000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91395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172CB3-CF35-146C-85B9-9C39DE296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C0F844-958B-F457-EE64-003D74A4C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前情回顾：蒙特卡洛树搜索过程</a:t>
            </a:r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73AFBD34-5B13-6E5D-E965-42E712338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4801" y="1825902"/>
            <a:ext cx="8887952" cy="4406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07015E9-C3CC-08CB-B46D-6C3656B0908A}"/>
              </a:ext>
            </a:extLst>
          </p:cNvPr>
          <p:cNvSpPr txBox="1"/>
          <p:nvPr/>
        </p:nvSpPr>
        <p:spPr>
          <a:xfrm>
            <a:off x="2362833" y="1759534"/>
            <a:ext cx="1128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选 择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B6E659D-CF57-1ABB-C5A2-EA7603360F98}"/>
              </a:ext>
            </a:extLst>
          </p:cNvPr>
          <p:cNvSpPr txBox="1"/>
          <p:nvPr/>
        </p:nvSpPr>
        <p:spPr>
          <a:xfrm>
            <a:off x="4405483" y="1759534"/>
            <a:ext cx="1128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扩 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322E2A2-2EC2-87A8-1F7B-C2BC03A5A5E6}"/>
              </a:ext>
            </a:extLst>
          </p:cNvPr>
          <p:cNvSpPr txBox="1"/>
          <p:nvPr/>
        </p:nvSpPr>
        <p:spPr>
          <a:xfrm>
            <a:off x="6448133" y="1779463"/>
            <a:ext cx="112825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模 拟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614FCF7-44E2-F94D-F7FE-FF8F908FA844}"/>
              </a:ext>
            </a:extLst>
          </p:cNvPr>
          <p:cNvSpPr txBox="1"/>
          <p:nvPr/>
        </p:nvSpPr>
        <p:spPr>
          <a:xfrm>
            <a:off x="8158947" y="1764715"/>
            <a:ext cx="171819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回 传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51A5BBE-1A80-B00D-84DC-8B8EE2DF3C07}"/>
              </a:ext>
            </a:extLst>
          </p:cNvPr>
          <p:cNvSpPr txBox="1"/>
          <p:nvPr/>
        </p:nvSpPr>
        <p:spPr>
          <a:xfrm>
            <a:off x="2775787" y="4473238"/>
            <a:ext cx="1128251" cy="70788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5E1D452-377F-300A-2D48-3B1E99F586E4}"/>
              </a:ext>
            </a:extLst>
          </p:cNvPr>
          <p:cNvSpPr txBox="1"/>
          <p:nvPr/>
        </p:nvSpPr>
        <p:spPr>
          <a:xfrm>
            <a:off x="6448133" y="4473238"/>
            <a:ext cx="1128251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随机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模拟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CBBB51-0DEE-AA22-A510-1A20C854F416}"/>
              </a:ext>
            </a:extLst>
          </p:cNvPr>
          <p:cNvSpPr txBox="1"/>
          <p:nvPr/>
        </p:nvSpPr>
        <p:spPr>
          <a:xfrm>
            <a:off x="2488193" y="3562202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5BF4FE1-AF40-6549-330E-406D484FCF2C}"/>
              </a:ext>
            </a:extLst>
          </p:cNvPr>
          <p:cNvSpPr txBox="1"/>
          <p:nvPr/>
        </p:nvSpPr>
        <p:spPr>
          <a:xfrm>
            <a:off x="1913006" y="259854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5EEE3C3-3D81-613A-A9DC-E27E811A8EED}"/>
              </a:ext>
            </a:extLst>
          </p:cNvPr>
          <p:cNvSpPr txBox="1"/>
          <p:nvPr/>
        </p:nvSpPr>
        <p:spPr>
          <a:xfrm>
            <a:off x="4796315" y="409595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4A67E37-593D-A52A-91F0-C3686574EEF7}"/>
              </a:ext>
            </a:extLst>
          </p:cNvPr>
          <p:cNvSpPr txBox="1"/>
          <p:nvPr/>
        </p:nvSpPr>
        <p:spPr>
          <a:xfrm>
            <a:off x="4611961" y="3107785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BBDDB14-DEAA-04F0-CAB8-DBC2117AC7CB}"/>
              </a:ext>
            </a:extLst>
          </p:cNvPr>
          <p:cNvSpPr txBox="1"/>
          <p:nvPr/>
        </p:nvSpPr>
        <p:spPr>
          <a:xfrm>
            <a:off x="6968011" y="3815259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1A7D3D9-7254-6659-06BC-66DFED775635}"/>
              </a:ext>
            </a:extLst>
          </p:cNvPr>
          <p:cNvSpPr txBox="1"/>
          <p:nvPr/>
        </p:nvSpPr>
        <p:spPr>
          <a:xfrm>
            <a:off x="2882711" y="221457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8CA036-E7E2-B7C9-E5EC-A4CE631C7CD0}"/>
              </a:ext>
            </a:extLst>
          </p:cNvPr>
          <p:cNvSpPr txBox="1"/>
          <p:nvPr/>
        </p:nvSpPr>
        <p:spPr>
          <a:xfrm>
            <a:off x="9018042" y="2229214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r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0AE45A3-916B-7894-273E-233E9DA9AFF7}"/>
              </a:ext>
            </a:extLst>
          </p:cNvPr>
          <p:cNvSpPr txBox="1"/>
          <p:nvPr/>
        </p:nvSpPr>
        <p:spPr>
          <a:xfrm>
            <a:off x="8669402" y="3137856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b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8F804E2-51E1-8D38-758C-DE2D11B7A3F9}"/>
              </a:ext>
            </a:extLst>
          </p:cNvPr>
          <p:cNvSpPr txBox="1"/>
          <p:nvPr/>
        </p:nvSpPr>
        <p:spPr>
          <a:xfrm>
            <a:off x="8190079" y="2472872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a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E377F0C-A620-96BF-7A66-20630A1978BB}"/>
              </a:ext>
            </a:extLst>
          </p:cNvPr>
          <p:cNvSpPr txBox="1"/>
          <p:nvPr/>
        </p:nvSpPr>
        <p:spPr>
          <a:xfrm>
            <a:off x="8956995" y="3898761"/>
            <a:ext cx="5751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c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30C678-A15D-A506-E86F-F13C54E2E016}"/>
              </a:ext>
            </a:extLst>
          </p:cNvPr>
          <p:cNvSpPr txBox="1"/>
          <p:nvPr/>
        </p:nvSpPr>
        <p:spPr>
          <a:xfrm>
            <a:off x="7012258" y="5696208"/>
            <a:ext cx="748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收益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2754E34-B303-7564-9300-D6611C1186E7}"/>
              </a:ext>
            </a:extLst>
          </p:cNvPr>
          <p:cNvGrpSpPr/>
          <p:nvPr/>
        </p:nvGrpSpPr>
        <p:grpSpPr>
          <a:xfrm>
            <a:off x="2362833" y="3946172"/>
            <a:ext cx="2103120" cy="1034897"/>
            <a:chOff x="2362833" y="3946172"/>
            <a:chExt cx="2103120" cy="1034897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32DA0B-8D59-C043-7A57-43A9D42F7812}"/>
                </a:ext>
              </a:extLst>
            </p:cNvPr>
            <p:cNvSpPr txBox="1"/>
            <p:nvPr/>
          </p:nvSpPr>
          <p:spPr>
            <a:xfrm>
              <a:off x="2362833" y="4611737"/>
              <a:ext cx="2103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tree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</a:rPr>
                <a:t>policy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906445EB-4957-9FB9-C4B8-E032B7FBF687}"/>
                </a:ext>
              </a:extLst>
            </p:cNvPr>
            <p:cNvCxnSpPr/>
            <p:nvPr/>
          </p:nvCxnSpPr>
          <p:spPr>
            <a:xfrm flipV="1">
              <a:off x="2775786" y="3946172"/>
              <a:ext cx="0" cy="66556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702AB1C-B7DC-F7CA-8805-5CBD98BC32FE}"/>
              </a:ext>
            </a:extLst>
          </p:cNvPr>
          <p:cNvGrpSpPr/>
          <p:nvPr/>
        </p:nvGrpSpPr>
        <p:grpSpPr>
          <a:xfrm>
            <a:off x="7386501" y="4611737"/>
            <a:ext cx="2622054" cy="369332"/>
            <a:chOff x="7386501" y="4611737"/>
            <a:chExt cx="2622054" cy="369332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803BC5F5-7453-9D74-F54A-AD5E2D6397AE}"/>
                </a:ext>
              </a:extLst>
            </p:cNvPr>
            <p:cNvSpPr txBox="1"/>
            <p:nvPr/>
          </p:nvSpPr>
          <p:spPr>
            <a:xfrm>
              <a:off x="7905435" y="4611737"/>
              <a:ext cx="2103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</a:rPr>
                <a:t>roll-out</a:t>
              </a:r>
              <a:r>
                <a:rPr lang="zh-CN" altLang="en-US" dirty="0">
                  <a:solidFill>
                    <a:srgbClr val="FF0000"/>
                  </a:solidFill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</a:rPr>
                <a:t>policy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627F836-4FD9-8C0A-E3C4-A05B89C3A7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86501" y="4799749"/>
              <a:ext cx="518934" cy="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112BB7F6-A97D-0996-946E-BD7D6F9D0BEA}"/>
              </a:ext>
            </a:extLst>
          </p:cNvPr>
          <p:cNvSpPr txBox="1"/>
          <p:nvPr/>
        </p:nvSpPr>
        <p:spPr>
          <a:xfrm>
            <a:off x="2362833" y="4964760"/>
            <a:ext cx="2308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信心上限树搜索算法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7936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9872" y="1602377"/>
            <a:ext cx="7772400" cy="448564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zh-CN" altLang="zh-CN" dirty="0"/>
              <a:t>信心上限树算法（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UCT</a:t>
            </a:r>
            <a:r>
              <a:rPr lang="zh-CN" altLang="zh-CN" dirty="0"/>
              <a:t>）</a:t>
            </a:r>
          </a:p>
          <a:p>
            <a:pPr marL="0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function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UctSearch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/>
              <a:t>           </a:t>
            </a:r>
            <a:r>
              <a:rPr lang="zh-CN" altLang="zh-CN" dirty="0"/>
              <a:t>以状态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dirty="0"/>
              <a:t>创建根节点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/>
              <a:t>;</a:t>
            </a:r>
            <a:endParaRPr lang="zh-CN" altLang="zh-CN" dirty="0"/>
          </a:p>
          <a:p>
            <a:pPr marL="0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while </a:t>
            </a:r>
            <a:r>
              <a:rPr lang="zh-CN" altLang="zh-CN" dirty="0"/>
              <a:t>尚未用完计算时长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  <a:r>
              <a:rPr lang="en-US" altLang="zh-CN" dirty="0"/>
              <a:t>:</a:t>
            </a:r>
            <a:endParaRPr lang="zh-CN" altLang="zh-CN" dirty="0"/>
          </a:p>
          <a:p>
            <a:pPr marL="0" indent="0">
              <a:buNone/>
              <a:defRPr/>
            </a:pPr>
            <a:r>
              <a:rPr lang="en-US" altLang="zh-CN" dirty="0"/>
              <a:t>                   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TreePolicy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/>
              <a:t>                   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△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RollOutPolicy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/>
              <a:t>       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Backup(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，△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end while</a:t>
            </a:r>
            <a:endParaRPr lang="zh-CN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  <a:defRPr/>
            </a:pPr>
            <a:r>
              <a:rPr lang="en-US" altLang="zh-CN" dirty="0"/>
              <a:t>            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a(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BestChild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0));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699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9F72F77-174C-4508-B1C6-CBF31F53DC16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黑体" pitchFamily="49" charset="-122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黑体" pitchFamily="49" charset="-122"/>
              <a:cs typeface="+mj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</p:spPr>
        <p:txBody>
          <a:bodyPr/>
          <a:lstStyle/>
          <a:p>
            <a:r>
              <a:rPr lang="zh-CN" altLang="en-US" dirty="0"/>
              <a:t>信心上限树算法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309" y="1776547"/>
            <a:ext cx="5515259" cy="2814371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C9073DC-5DBE-B5DF-929B-44723C4717FF}"/>
              </a:ext>
            </a:extLst>
          </p:cNvPr>
          <p:cNvSpPr txBox="1"/>
          <p:nvPr/>
        </p:nvSpPr>
        <p:spPr>
          <a:xfrm>
            <a:off x="6696308" y="4793958"/>
            <a:ext cx="4147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TreePolicy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</a:t>
            </a:r>
            <a:r>
              <a:rPr lang="en-US" altLang="zh-CN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dirty="0">
                <a:ea typeface="黑体" pitchFamily="49" charset="-122"/>
              </a:rPr>
              <a:t>返回最适合且仍可以探索的节点（该节点还有子节点未探索）</a:t>
            </a:r>
            <a:endParaRPr lang="en-US" altLang="zh-CN" dirty="0">
              <a:ea typeface="黑体" pitchFamily="49" charset="-122"/>
            </a:endParaRPr>
          </a:p>
          <a:p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8ADB4AA-7489-62EC-139E-648681604A06}"/>
              </a:ext>
            </a:extLst>
          </p:cNvPr>
          <p:cNvSpPr txBox="1"/>
          <p:nvPr/>
        </p:nvSpPr>
        <p:spPr>
          <a:xfrm>
            <a:off x="6696308" y="5522154"/>
            <a:ext cx="41475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RollOutPolicy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(s(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zh-CN" altLang="en-US" dirty="0">
                <a:ea typeface="黑体" pitchFamily="49" charset="-122"/>
              </a:rPr>
              <a:t>模拟计算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zh-CN" altLang="en-US" dirty="0">
                <a:ea typeface="黑体" pitchFamily="49" charset="-122"/>
              </a:rPr>
              <a:t>扩展后的节点收益</a:t>
            </a:r>
            <a:endParaRPr lang="en-US" altLang="zh-CN" dirty="0">
              <a:ea typeface="黑体" pitchFamily="49" charset="-122"/>
            </a:endParaRPr>
          </a:p>
          <a:p>
            <a:endParaRPr kumimoji="1" lang="zh-CN" alt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133166-FD49-33BB-AAE5-CDBC38BA265E}"/>
              </a:ext>
            </a:extLst>
          </p:cNvPr>
          <p:cNvSpPr/>
          <p:nvPr/>
        </p:nvSpPr>
        <p:spPr>
          <a:xfrm>
            <a:off x="4071938" y="5414963"/>
            <a:ext cx="385762" cy="4429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>
            <a:noAutofit/>
          </a:bodyPr>
          <a:lstStyle/>
          <a:p>
            <a:pPr algn="ctr"/>
            <a:endParaRPr lang="en-US" dirty="0" err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479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B814F16-54C3-447E-AC09-2653E7B1740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/>
                <a:ea typeface="黑体" pitchFamily="49" charset="-122"/>
                <a:cs typeface="+mj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/>
              <a:ea typeface="黑体" pitchFamily="49" charset="-122"/>
              <a:cs typeface="+mj-cs"/>
            </a:endParaRPr>
          </a:p>
        </p:txBody>
      </p:sp>
      <p:sp>
        <p:nvSpPr>
          <p:cNvPr id="5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UCT</a:t>
            </a:r>
            <a:r>
              <a:rPr lang="zh-CN" altLang="en-US" dirty="0"/>
              <a:t>算法示例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8A6F4A1-4830-5DFD-98AD-26B1AA189D79}"/>
              </a:ext>
            </a:extLst>
          </p:cNvPr>
          <p:cNvGrpSpPr/>
          <p:nvPr/>
        </p:nvGrpSpPr>
        <p:grpSpPr>
          <a:xfrm>
            <a:off x="1878734" y="1956096"/>
            <a:ext cx="1980252" cy="2093391"/>
            <a:chOff x="1878734" y="1956096"/>
            <a:chExt cx="1980252" cy="2093391"/>
          </a:xfrm>
        </p:grpSpPr>
        <p:pic>
          <p:nvPicPr>
            <p:cNvPr id="11" name="图片 10" descr="../Downloads/mcts_selection.png"/>
            <p:cNvPicPr/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82569" y="1958113"/>
              <a:ext cx="1976417" cy="20913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椭圆 1"/>
            <p:cNvSpPr/>
            <p:nvPr/>
          </p:nvSpPr>
          <p:spPr>
            <a:xfrm>
              <a:off x="1878734" y="3134886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3/5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874877" y="1956096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6/10</a:t>
              </a:r>
              <a:endParaRPr kumimoji="0" lang="zh-CN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2285400" y="2579089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3/5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2285400" y="3146020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2/3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878734" y="3146020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2919193" y="2579089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椭圆 19"/>
            <p:cNvSpPr/>
            <p:nvPr/>
          </p:nvSpPr>
          <p:spPr>
            <a:xfrm>
              <a:off x="3311949" y="2572820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2493108" y="3720953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2126312" y="3712951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2712992" y="3154022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3115823" y="3146020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3524687" y="3129568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FD0888C7-A13B-964F-F867-93F678045E0E}"/>
              </a:ext>
            </a:extLst>
          </p:cNvPr>
          <p:cNvGrpSpPr/>
          <p:nvPr/>
        </p:nvGrpSpPr>
        <p:grpSpPr>
          <a:xfrm>
            <a:off x="3980578" y="1958113"/>
            <a:ext cx="1985892" cy="2744518"/>
            <a:chOff x="3980578" y="1958113"/>
            <a:chExt cx="1985892" cy="2744518"/>
          </a:xfrm>
        </p:grpSpPr>
        <p:pic>
          <p:nvPicPr>
            <p:cNvPr id="12" name="图片 11" descr="../Downloads/mcts_expansion.png"/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0578" y="1958113"/>
              <a:ext cx="1983474" cy="274451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" name="组合 22"/>
            <p:cNvGrpSpPr/>
            <p:nvPr/>
          </p:nvGrpSpPr>
          <p:grpSpPr>
            <a:xfrm>
              <a:off x="3986218" y="1989266"/>
              <a:ext cx="1980252" cy="2093391"/>
              <a:chOff x="354734" y="1956095"/>
              <a:chExt cx="1980252" cy="2093391"/>
            </a:xfrm>
          </p:grpSpPr>
          <p:pic>
            <p:nvPicPr>
              <p:cNvPr id="24" name="图片 23" descr="../Downloads/mcts_selection.png"/>
              <p:cNvPicPr/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8569" y="1958112"/>
                <a:ext cx="1976417" cy="209137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6" name="椭圆 25"/>
              <p:cNvSpPr/>
              <p:nvPr/>
            </p:nvSpPr>
            <p:spPr>
              <a:xfrm>
                <a:off x="354734" y="3134885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3/5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7" name="椭圆 26"/>
              <p:cNvSpPr/>
              <p:nvPr/>
            </p:nvSpPr>
            <p:spPr>
              <a:xfrm>
                <a:off x="1350877" y="1956095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6/10</a:t>
                </a:r>
                <a:endParaRPr kumimoji="0" lang="zh-CN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761400" y="2579088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3/5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761400" y="3146019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2/3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354734" y="3146019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1395193" y="2579088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1/4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1787949" y="2572819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969108" y="3720952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6" name="椭圆 35"/>
              <p:cNvSpPr/>
              <p:nvPr/>
            </p:nvSpPr>
            <p:spPr>
              <a:xfrm>
                <a:off x="602312" y="3712950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1188992" y="3154021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8" name="椭圆 37"/>
              <p:cNvSpPr/>
              <p:nvPr/>
            </p:nvSpPr>
            <p:spPr>
              <a:xfrm>
                <a:off x="1591823" y="3146019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39" name="椭圆 38"/>
              <p:cNvSpPr/>
              <p:nvPr/>
            </p:nvSpPr>
            <p:spPr>
              <a:xfrm>
                <a:off x="2000687" y="3129567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42" name="椭圆 41"/>
            <p:cNvSpPr/>
            <p:nvPr/>
          </p:nvSpPr>
          <p:spPr>
            <a:xfrm>
              <a:off x="4618010" y="4374097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0/0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1D1048B-D4AB-0D59-E28A-CA854FE85352}"/>
              </a:ext>
            </a:extLst>
          </p:cNvPr>
          <p:cNvGrpSpPr/>
          <p:nvPr/>
        </p:nvGrpSpPr>
        <p:grpSpPr>
          <a:xfrm>
            <a:off x="5996713" y="1958113"/>
            <a:ext cx="2197649" cy="3022102"/>
            <a:chOff x="5996713" y="1958113"/>
            <a:chExt cx="2197649" cy="3022102"/>
          </a:xfrm>
        </p:grpSpPr>
        <p:pic>
          <p:nvPicPr>
            <p:cNvPr id="13" name="图片 12" descr="../Downloads/mcts_simulation.png"/>
            <p:cNvPicPr/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6713" y="1958113"/>
              <a:ext cx="2197649" cy="3022102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2C04044-D733-8257-CF07-F2EF20B2ADD8}"/>
                </a:ext>
              </a:extLst>
            </p:cNvPr>
            <p:cNvGrpSpPr/>
            <p:nvPr/>
          </p:nvGrpSpPr>
          <p:grpSpPr>
            <a:xfrm>
              <a:off x="6045804" y="1976196"/>
              <a:ext cx="2108715" cy="2673413"/>
              <a:chOff x="6045804" y="1976196"/>
              <a:chExt cx="2108715" cy="2673413"/>
            </a:xfrm>
          </p:grpSpPr>
          <p:sp>
            <p:nvSpPr>
              <p:cNvPr id="61" name="椭圆 60"/>
              <p:cNvSpPr/>
              <p:nvPr/>
            </p:nvSpPr>
            <p:spPr>
              <a:xfrm>
                <a:off x="7129037" y="1976196"/>
                <a:ext cx="360000" cy="360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0" cap="none" spc="-10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6/10</a:t>
                </a:r>
                <a:endParaRPr kumimoji="0" lang="zh-CN" altLang="en-US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2" name="椭圆 61"/>
              <p:cNvSpPr/>
              <p:nvPr/>
            </p:nvSpPr>
            <p:spPr>
              <a:xfrm>
                <a:off x="6496015" y="2590480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3/5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3" name="椭圆 62"/>
              <p:cNvSpPr/>
              <p:nvPr/>
            </p:nvSpPr>
            <p:spPr>
              <a:xfrm>
                <a:off x="6496015" y="3157411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2/3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4" name="椭圆 63"/>
              <p:cNvSpPr/>
              <p:nvPr/>
            </p:nvSpPr>
            <p:spPr>
              <a:xfrm>
                <a:off x="6045804" y="3148702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5" name="椭圆 64"/>
              <p:cNvSpPr/>
              <p:nvPr/>
            </p:nvSpPr>
            <p:spPr>
              <a:xfrm>
                <a:off x="7173353" y="2590480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1/4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6" name="椭圆 65"/>
              <p:cNvSpPr/>
              <p:nvPr/>
            </p:nvSpPr>
            <p:spPr>
              <a:xfrm>
                <a:off x="7627072" y="2584211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7" name="椭圆 66"/>
              <p:cNvSpPr/>
              <p:nvPr/>
            </p:nvSpPr>
            <p:spPr>
              <a:xfrm>
                <a:off x="6712432" y="3741053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8" name="椭圆 67"/>
              <p:cNvSpPr/>
              <p:nvPr/>
            </p:nvSpPr>
            <p:spPr>
              <a:xfrm>
                <a:off x="6267255" y="3741760"/>
                <a:ext cx="306000" cy="306000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69" name="椭圆 68"/>
              <p:cNvSpPr/>
              <p:nvPr/>
            </p:nvSpPr>
            <p:spPr>
              <a:xfrm>
                <a:off x="6949734" y="3165413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0" name="椭圆 69"/>
              <p:cNvSpPr/>
              <p:nvPr/>
            </p:nvSpPr>
            <p:spPr>
              <a:xfrm>
                <a:off x="7387401" y="3166120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7848519" y="3140959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1/1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6712432" y="4343609"/>
                <a:ext cx="306000" cy="306000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Perpetua"/>
                    <a:ea typeface="宋体" panose="02010600030101010101" pitchFamily="2" charset="-122"/>
                    <a:cs typeface="+mn-cs"/>
                  </a:rPr>
                  <a:t>0/0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1F6C03D-3DF3-8FFD-A1DE-5D4C76226E44}"/>
              </a:ext>
            </a:extLst>
          </p:cNvPr>
          <p:cNvGrpSpPr/>
          <p:nvPr/>
        </p:nvGrpSpPr>
        <p:grpSpPr>
          <a:xfrm>
            <a:off x="8194363" y="1958113"/>
            <a:ext cx="2179725" cy="2744518"/>
            <a:chOff x="8194363" y="1958113"/>
            <a:chExt cx="2179725" cy="2744518"/>
          </a:xfrm>
        </p:grpSpPr>
        <p:pic>
          <p:nvPicPr>
            <p:cNvPr id="14" name="图片 13" descr="../Downloads/mcts_backprop.png"/>
            <p:cNvPicPr/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94363" y="1958113"/>
              <a:ext cx="2179725" cy="2744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椭圆 72"/>
            <p:cNvSpPr/>
            <p:nvPr/>
          </p:nvSpPr>
          <p:spPr>
            <a:xfrm>
              <a:off x="9310545" y="1997962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0" cap="none" spc="-10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7/11</a:t>
              </a:r>
              <a:endParaRPr kumimoji="0" lang="zh-CN" altLang="en-US" sz="1200" b="0" i="0" u="none" strike="noStrike" kern="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8677523" y="2594828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3/6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8677523" y="3179177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3/4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8227312" y="3170468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9354861" y="2594828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1/4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9808580" y="2597268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9" name="椭圆 78"/>
            <p:cNvSpPr/>
            <p:nvPr/>
          </p:nvSpPr>
          <p:spPr>
            <a:xfrm>
              <a:off x="8893940" y="3762819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1/2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8448763" y="3763526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1" name="椭圆 80"/>
            <p:cNvSpPr/>
            <p:nvPr/>
          </p:nvSpPr>
          <p:spPr>
            <a:xfrm>
              <a:off x="9131242" y="3187179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0/1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2" name="椭圆 81"/>
            <p:cNvSpPr/>
            <p:nvPr/>
          </p:nvSpPr>
          <p:spPr>
            <a:xfrm>
              <a:off x="9568909" y="3187886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3" name="椭圆 82"/>
            <p:cNvSpPr/>
            <p:nvPr/>
          </p:nvSpPr>
          <p:spPr>
            <a:xfrm>
              <a:off x="10030027" y="3162725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4" name="椭圆 83"/>
            <p:cNvSpPr/>
            <p:nvPr/>
          </p:nvSpPr>
          <p:spPr>
            <a:xfrm>
              <a:off x="8893940" y="4365375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1/1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86" name="文本框 85"/>
          <p:cNvSpPr txBox="1"/>
          <p:nvPr/>
        </p:nvSpPr>
        <p:spPr>
          <a:xfrm>
            <a:off x="7492333" y="771950"/>
            <a:ext cx="15210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rPr>
              <a:t>重复多次后选取胜率最大者为走步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Perpetua"/>
              <a:ea typeface="宋体" panose="02010600030101010101" pitchFamily="2" charset="-122"/>
              <a:cs typeface="+mn-cs"/>
            </a:endParaRPr>
          </a:p>
        </p:txBody>
      </p:sp>
      <p:cxnSp>
        <p:nvCxnSpPr>
          <p:cNvPr id="87" name="直接箭头连接符 86"/>
          <p:cNvCxnSpPr>
            <a:stCxn id="86" idx="2"/>
          </p:cNvCxnSpPr>
          <p:nvPr/>
        </p:nvCxnSpPr>
        <p:spPr>
          <a:xfrm>
            <a:off x="8252860" y="1695280"/>
            <a:ext cx="501903" cy="84208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6867527" y="4680097"/>
            <a:ext cx="0" cy="478427"/>
          </a:xfrm>
          <a:prstGeom prst="straightConnector1">
            <a:avLst/>
          </a:prstGeom>
          <a:ln w="19050">
            <a:prstDash val="sysDash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C12CF5F4-4DB1-7E1F-FAE6-3DDCB3CC82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9610906"/>
              </p:ext>
            </p:extLst>
          </p:nvPr>
        </p:nvGraphicFramePr>
        <p:xfrm>
          <a:off x="8983523" y="5458748"/>
          <a:ext cx="2277279" cy="8969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257120" imgH="495000" progId="Equation.3">
                  <p:embed/>
                </p:oleObj>
              </mc:Choice>
              <mc:Fallback>
                <p:oleObj name="公式" r:id="rId7" imgW="1257120" imgH="495000" progId="Equation.3">
                  <p:embed/>
                  <p:pic>
                    <p:nvPicPr>
                      <p:cNvPr id="3074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3523" y="5458748"/>
                        <a:ext cx="2277279" cy="89699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组合 5">
            <a:extLst>
              <a:ext uri="{FF2B5EF4-FFF2-40B4-BE49-F238E27FC236}">
                <a16:creationId xmlns:a16="http://schemas.microsoft.com/office/drawing/2014/main" id="{E66934DE-7DA5-765C-713F-116C64D1DE18}"/>
              </a:ext>
            </a:extLst>
          </p:cNvPr>
          <p:cNvGrpSpPr/>
          <p:nvPr/>
        </p:nvGrpSpPr>
        <p:grpSpPr>
          <a:xfrm>
            <a:off x="1524317" y="5236896"/>
            <a:ext cx="6979494" cy="1323439"/>
            <a:chOff x="1524317" y="5236896"/>
            <a:chExt cx="6979494" cy="1323439"/>
          </a:xfrm>
        </p:grpSpPr>
        <p:sp>
          <p:nvSpPr>
            <p:cNvPr id="5" name="文本框 4"/>
            <p:cNvSpPr txBox="1"/>
            <p:nvPr/>
          </p:nvSpPr>
          <p:spPr>
            <a:xfrm>
              <a:off x="1524317" y="5236896"/>
              <a:ext cx="697949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节点：获胜次数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/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模拟总次数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             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 获胜次数是从本节点下棋的人的角度说的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              模拟总次数是本节点模拟次数</a:t>
              </a:r>
              <a:r>
                <a:rPr lang="en-US" altLang="zh-CN" sz="20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+</a:t>
              </a:r>
              <a:r>
                <a:rPr lang="zh-CN" altLang="en-US" sz="20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子节点模拟次数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erpetua"/>
                <a:ea typeface="宋体" panose="02010600030101010101" pitchFamily="2" charset="-122"/>
                <a:cs typeface="+mn-cs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假设</a:t>
              </a: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c=0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，</a:t>
              </a:r>
              <a:r>
                <a: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Perpetua"/>
                  <a:ea typeface="宋体" panose="02010600030101010101" pitchFamily="2" charset="-122"/>
                  <a:cs typeface="+mn-cs"/>
                </a:rPr>
                <a:t>即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6836399-E3FB-D22F-57FE-12D511FFBD01}"/>
                    </a:ext>
                  </a:extLst>
                </p:cNvPr>
                <p:cNvSpPr txBox="1"/>
                <p:nvPr/>
              </p:nvSpPr>
              <p:spPr>
                <a:xfrm>
                  <a:off x="3085027" y="6185666"/>
                  <a:ext cx="712952" cy="30437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CN" i="1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kumimoji="1"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acc>
                          <m:accPr>
                            <m:chr m:val="̅"/>
                            <m:ctrlPr>
                              <a:rPr kumimoji="1"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kumimoji="1"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acc>
                      </m:oMath>
                    </m:oMathPara>
                  </a14:m>
                  <a:endParaRPr kumimoji="1" lang="zh-CN" altLang="en-US" i="1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B6836399-E3FB-D22F-57FE-12D511FFBD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85027" y="6185666"/>
                  <a:ext cx="712952" cy="304379"/>
                </a:xfrm>
                <a:prstGeom prst="rect">
                  <a:avLst/>
                </a:prstGeom>
                <a:blipFill>
                  <a:blip r:embed="rId9"/>
                  <a:stretch>
                    <a:fillRect l="-5172" r="-3448" b="-24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14BD5F9A-EEF1-B7D4-F42E-80C28E9D8A62}"/>
              </a:ext>
            </a:extLst>
          </p:cNvPr>
          <p:cNvSpPr txBox="1"/>
          <p:nvPr/>
        </p:nvSpPr>
        <p:spPr>
          <a:xfrm>
            <a:off x="1039581" y="1947477"/>
            <a:ext cx="126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棋手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2A53A85-7E7C-3DB0-9050-4F9D44F31B6B}"/>
              </a:ext>
            </a:extLst>
          </p:cNvPr>
          <p:cNvSpPr txBox="1"/>
          <p:nvPr/>
        </p:nvSpPr>
        <p:spPr>
          <a:xfrm>
            <a:off x="1029614" y="2555278"/>
            <a:ext cx="1269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对手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489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fill="remove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22" presetClass="entr" presetSubtype="4" fill="remove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蒙特卡洛树搜索的效果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altLang="zh-CN" dirty="0"/>
          </a:p>
          <a:p>
            <a:r>
              <a:rPr lang="en-US" altLang="zh-CN" dirty="0"/>
              <a:t>2006</a:t>
            </a:r>
            <a:r>
              <a:rPr lang="zh-CN" altLang="en-US" dirty="0"/>
              <a:t>年将蒙特卡洛树搜索算法首次应用于计算机围棋中</a:t>
            </a:r>
            <a:endParaRPr lang="en-US" altLang="zh-CN" dirty="0"/>
          </a:p>
          <a:p>
            <a:r>
              <a:rPr lang="zh-CN" altLang="en-US" dirty="0"/>
              <a:t>可以达到业余</a:t>
            </a:r>
            <a:r>
              <a:rPr lang="en-US" altLang="zh-CN" dirty="0"/>
              <a:t>4</a:t>
            </a:r>
            <a:r>
              <a:rPr lang="zh-CN" altLang="en-US" dirty="0"/>
              <a:t>、</a:t>
            </a:r>
            <a:r>
              <a:rPr lang="en-US" altLang="zh-CN" dirty="0"/>
              <a:t>5</a:t>
            </a:r>
            <a:r>
              <a:rPr lang="zh-CN" altLang="en-US" dirty="0"/>
              <a:t>段的水平</a:t>
            </a:r>
            <a:endParaRPr lang="en-US" altLang="zh-CN" dirty="0"/>
          </a:p>
          <a:p>
            <a:r>
              <a:rPr lang="zh-CN" altLang="en-US" dirty="0"/>
              <a:t>将计算机围棋引向了正确的发展方向</a:t>
            </a:r>
          </a:p>
        </p:txBody>
      </p:sp>
    </p:spTree>
    <p:extLst>
      <p:ext uri="{BB962C8B-B14F-4D97-AF65-F5344CB8AC3E}">
        <p14:creationId xmlns:p14="http://schemas.microsoft.com/office/powerpoint/2010/main" val="23569678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1219200" y="1700348"/>
            <a:ext cx="10363200" cy="4572000"/>
          </a:xfrm>
        </p:spPr>
        <p:txBody>
          <a:bodyPr/>
          <a:lstStyle/>
          <a:p>
            <a:r>
              <a:rPr lang="zh-CN" altLang="en-US" dirty="0"/>
              <a:t>蒙特卡洛方法</a:t>
            </a:r>
            <a:endParaRPr lang="en-US" altLang="zh-CN" dirty="0"/>
          </a:p>
          <a:p>
            <a:pPr lvl="1"/>
            <a:r>
              <a:rPr lang="zh-CN" altLang="en-US" dirty="0"/>
              <a:t>一类基于采样方法的统称</a:t>
            </a:r>
            <a:endParaRPr lang="en-US" altLang="zh-CN" dirty="0"/>
          </a:p>
          <a:p>
            <a:r>
              <a:rPr lang="zh-CN" altLang="en-US" dirty="0"/>
              <a:t>蒙特卡洛树搜索</a:t>
            </a:r>
            <a:endParaRPr lang="en-US" altLang="zh-CN" dirty="0"/>
          </a:p>
          <a:p>
            <a:pPr lvl="1"/>
            <a:r>
              <a:rPr lang="zh-CN" altLang="en-US" dirty="0"/>
              <a:t>四个过程：选择，扩展，模拟，回传</a:t>
            </a:r>
            <a:endParaRPr lang="en-US" altLang="zh-CN" dirty="0"/>
          </a:p>
          <a:p>
            <a:r>
              <a:rPr lang="zh-CN" altLang="en-US" dirty="0"/>
              <a:t>多臂老虎机模型</a:t>
            </a:r>
            <a:endParaRPr lang="en-US" altLang="zh-CN" dirty="0"/>
          </a:p>
          <a:p>
            <a:pPr lvl="1"/>
            <a:r>
              <a:rPr lang="zh-CN" altLang="en-US" dirty="0"/>
              <a:t>每次选择信心上限最大的</a:t>
            </a:r>
            <a:endParaRPr lang="en-US" altLang="zh-CN" dirty="0"/>
          </a:p>
          <a:p>
            <a:r>
              <a:rPr lang="zh-CN" altLang="en-US" dirty="0"/>
              <a:t>信心上限树算法</a:t>
            </a:r>
            <a:endParaRPr lang="en-US" altLang="zh-CN" dirty="0"/>
          </a:p>
          <a:p>
            <a:pPr lvl="1"/>
            <a:r>
              <a:rPr lang="zh-CN" altLang="en-US" dirty="0"/>
              <a:t>将信心上限算法用于蒙特卡洛树搜索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738658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如图为蒙特卡洛树搜索的一个中间状态，假设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且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c=0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可能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被选择扩展的节点是：</a:t>
            </a: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节点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3352800" y="3579018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节点</a:t>
            </a:r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3352800" y="41576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节点</a:t>
            </a:r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3352800" y="48434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节点</a:t>
            </a: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5361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2219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 12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9077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32" name="文本框 31"/>
          <p:cNvSpPr txBox="1"/>
          <p:nvPr>
            <p:custDataLst>
              <p:tags r:id="rId12"/>
            </p:custDataLst>
          </p:nvPr>
        </p:nvSpPr>
        <p:spPr>
          <a:xfrm>
            <a:off x="3352800" y="55292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节点</a:t>
            </a:r>
          </a:p>
        </p:txBody>
      </p:sp>
      <p:sp>
        <p:nvSpPr>
          <p:cNvPr id="33" name="矩形 32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2638425" y="55935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9" name="组合 78"/>
          <p:cNvGrpSpPr/>
          <p:nvPr/>
        </p:nvGrpSpPr>
        <p:grpSpPr>
          <a:xfrm>
            <a:off x="6479909" y="2751260"/>
            <a:ext cx="2768321" cy="2765006"/>
            <a:chOff x="4955908" y="2751260"/>
            <a:chExt cx="2768321" cy="2765006"/>
          </a:xfrm>
        </p:grpSpPr>
        <p:sp>
          <p:nvSpPr>
            <p:cNvPr id="34" name="椭圆 33"/>
            <p:cNvSpPr/>
            <p:nvPr/>
          </p:nvSpPr>
          <p:spPr>
            <a:xfrm>
              <a:off x="6397519" y="2751260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kern="0" spc="-1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7/11</a:t>
              </a:r>
              <a:endParaRPr lang="zh-CN" altLang="en-US" sz="1200" kern="0" spc="-1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5764497" y="3365544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3/6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5764497" y="3932475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3/4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314286" y="3923766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6441835" y="3365544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1/4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6895554" y="3359275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5980914" y="4516117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1/2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5535737" y="4516824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6218216" y="3940477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6655883" y="3941184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7117001" y="3916023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5980914" y="5118673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cxnSp>
          <p:nvCxnSpPr>
            <p:cNvPr id="3" name="直接连接符 2"/>
            <p:cNvCxnSpPr>
              <a:stCxn id="34" idx="4"/>
              <a:endCxn id="35" idx="0"/>
            </p:cNvCxnSpPr>
            <p:nvPr/>
          </p:nvCxnSpPr>
          <p:spPr>
            <a:xfrm flipH="1">
              <a:off x="5917497" y="3111260"/>
              <a:ext cx="660022" cy="254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连接符 45"/>
            <p:cNvCxnSpPr>
              <a:stCxn id="34" idx="4"/>
            </p:cNvCxnSpPr>
            <p:nvPr/>
          </p:nvCxnSpPr>
          <p:spPr>
            <a:xfrm>
              <a:off x="6577519" y="3111260"/>
              <a:ext cx="17316" cy="2365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>
              <a:stCxn id="39" idx="0"/>
              <a:endCxn id="34" idx="4"/>
            </p:cNvCxnSpPr>
            <p:nvPr/>
          </p:nvCxnSpPr>
          <p:spPr>
            <a:xfrm flipH="1" flipV="1">
              <a:off x="6577519" y="3111260"/>
              <a:ext cx="471035" cy="2480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>
              <a:stCxn id="35" idx="4"/>
              <a:endCxn id="37" idx="0"/>
            </p:cNvCxnSpPr>
            <p:nvPr/>
          </p:nvCxnSpPr>
          <p:spPr>
            <a:xfrm flipH="1">
              <a:off x="5467286" y="3671544"/>
              <a:ext cx="450211" cy="25222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35" idx="4"/>
              <a:endCxn id="36" idx="0"/>
            </p:cNvCxnSpPr>
            <p:nvPr/>
          </p:nvCxnSpPr>
          <p:spPr>
            <a:xfrm>
              <a:off x="5917497" y="3671544"/>
              <a:ext cx="0" cy="2609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38" idx="4"/>
              <a:endCxn id="42" idx="0"/>
            </p:cNvCxnSpPr>
            <p:nvPr/>
          </p:nvCxnSpPr>
          <p:spPr>
            <a:xfrm flipH="1">
              <a:off x="6371216" y="3671544"/>
              <a:ext cx="223619" cy="268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stCxn id="43" idx="0"/>
              <a:endCxn id="38" idx="4"/>
            </p:cNvCxnSpPr>
            <p:nvPr/>
          </p:nvCxnSpPr>
          <p:spPr>
            <a:xfrm flipH="1" flipV="1">
              <a:off x="6594835" y="3671544"/>
              <a:ext cx="214048" cy="2696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>
              <a:stCxn id="36" idx="4"/>
              <a:endCxn id="41" idx="0"/>
            </p:cNvCxnSpPr>
            <p:nvPr/>
          </p:nvCxnSpPr>
          <p:spPr>
            <a:xfrm flipH="1">
              <a:off x="5688737" y="4238475"/>
              <a:ext cx="228760" cy="2783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>
              <a:stCxn id="36" idx="4"/>
              <a:endCxn id="40" idx="0"/>
            </p:cNvCxnSpPr>
            <p:nvPr/>
          </p:nvCxnSpPr>
          <p:spPr>
            <a:xfrm>
              <a:off x="5917497" y="4238475"/>
              <a:ext cx="216417" cy="2776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>
              <a:stCxn id="40" idx="4"/>
              <a:endCxn id="45" idx="0"/>
            </p:cNvCxnSpPr>
            <p:nvPr/>
          </p:nvCxnSpPr>
          <p:spPr>
            <a:xfrm>
              <a:off x="6133914" y="4822117"/>
              <a:ext cx="0" cy="2965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直接连接符 69"/>
            <p:cNvCxnSpPr>
              <a:endCxn id="44" idx="0"/>
            </p:cNvCxnSpPr>
            <p:nvPr/>
          </p:nvCxnSpPr>
          <p:spPr>
            <a:xfrm>
              <a:off x="6634471" y="3684472"/>
              <a:ext cx="635530" cy="2315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文本框 73"/>
            <p:cNvSpPr txBox="1"/>
            <p:nvPr/>
          </p:nvSpPr>
          <p:spPr>
            <a:xfrm>
              <a:off x="7210423" y="3328851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A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75" name="文本框 74"/>
            <p:cNvSpPr txBox="1"/>
            <p:nvPr/>
          </p:nvSpPr>
          <p:spPr>
            <a:xfrm>
              <a:off x="4955908" y="3916023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C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76" name="文本框 75"/>
            <p:cNvSpPr txBox="1"/>
            <p:nvPr/>
          </p:nvSpPr>
          <p:spPr>
            <a:xfrm>
              <a:off x="6295615" y="4570229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D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77" name="文本框 76"/>
            <p:cNvSpPr txBox="1"/>
            <p:nvPr/>
          </p:nvSpPr>
          <p:spPr>
            <a:xfrm>
              <a:off x="6295342" y="5141798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E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5888082" y="3681704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B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4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5" name="TitleBackground"/>
            <p:cNvSpPr/>
            <p:nvPr>
              <p:custDataLst>
                <p:tags r:id="rId16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16" name="ColorBlock"/>
            <p:cNvSpPr/>
            <p:nvPr>
              <p:custDataLst>
                <p:tags r:id="rId17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17" name="TypeText"/>
            <p:cNvSpPr txBox="1"/>
            <p:nvPr>
              <p:custDataLst>
                <p:tags r:id="rId18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4" name="TipText"/>
            <p:cNvSpPr txBox="1"/>
            <p:nvPr>
              <p:custDataLst>
                <p:tags r:id="rId19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graphicFrame>
        <p:nvGraphicFramePr>
          <p:cNvPr id="18" name="Object 2">
            <a:extLst>
              <a:ext uri="{FF2B5EF4-FFF2-40B4-BE49-F238E27FC236}">
                <a16:creationId xmlns:a16="http://schemas.microsoft.com/office/drawing/2014/main" id="{00054657-F5F2-7D14-D12F-73ECD34F7A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3999" y="1073202"/>
          <a:ext cx="2379785" cy="9373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257120" imgH="495000" progId="Equation.3">
                  <p:embed/>
                </p:oleObj>
              </mc:Choice>
              <mc:Fallback>
                <p:oleObj name="公式" r:id="rId22" imgW="1257120" imgH="495000" progId="Equation.3">
                  <p:embed/>
                  <p:pic>
                    <p:nvPicPr>
                      <p:cNvPr id="18" name="Object 2">
                        <a:extLst>
                          <a:ext uri="{FF2B5EF4-FFF2-40B4-BE49-F238E27FC236}">
                            <a16:creationId xmlns:a16="http://schemas.microsoft.com/office/drawing/2014/main" id="{00054657-F5F2-7D14-D12F-73ECD34F7A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3999" y="1073202"/>
                        <a:ext cx="2379785" cy="93736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图片 3"/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06835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前题中，假设选择了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扩展，并且模拟结果为负，则更新后，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的结果分别为：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1/3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352800" y="3357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2/3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3352801" y="3929063"/>
            <a:ext cx="389273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2/2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3352801" y="4500563"/>
            <a:ext cx="3892731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3/5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421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3993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dirty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31" name="文本框 30"/>
          <p:cNvSpPr txBox="1"/>
          <p:nvPr>
            <p:custDataLst>
              <p:tags r:id="rId12"/>
            </p:custDataLst>
          </p:nvPr>
        </p:nvSpPr>
        <p:spPr>
          <a:xfrm>
            <a:off x="3352800" y="5072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4/5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2" name="矩形 3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2638425" y="51363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3352800" y="5643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3/4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34" name="矩形 33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2638425" y="570785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6479909" y="2751260"/>
            <a:ext cx="2768321" cy="2765006"/>
            <a:chOff x="4955908" y="2751260"/>
            <a:chExt cx="2768321" cy="2765006"/>
          </a:xfrm>
        </p:grpSpPr>
        <p:sp>
          <p:nvSpPr>
            <p:cNvPr id="36" name="椭圆 35"/>
            <p:cNvSpPr/>
            <p:nvPr/>
          </p:nvSpPr>
          <p:spPr>
            <a:xfrm>
              <a:off x="6397519" y="2751260"/>
              <a:ext cx="360000" cy="360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kern="0" spc="-1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7/11</a:t>
              </a:r>
              <a:endParaRPr lang="zh-CN" altLang="en-US" sz="1200" kern="0" spc="-1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7" name="椭圆 36"/>
            <p:cNvSpPr/>
            <p:nvPr/>
          </p:nvSpPr>
          <p:spPr>
            <a:xfrm>
              <a:off x="5764497" y="3365544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3/6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5764497" y="3932475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3/4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5314286" y="3923766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6441835" y="3365544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1/4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6895554" y="3359275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5980914" y="4516117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1/2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535737" y="4516824"/>
              <a:ext cx="306000" cy="30600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6218216" y="3940477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0/1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6655883" y="3941184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7117001" y="3916023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47" name="椭圆 46"/>
            <p:cNvSpPr/>
            <p:nvPr/>
          </p:nvSpPr>
          <p:spPr>
            <a:xfrm>
              <a:off x="5980914" y="5118673"/>
              <a:ext cx="306000" cy="306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zh-CN" sz="1200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1/1</a:t>
              </a:r>
              <a:endParaRPr lang="zh-CN" altLang="en-US" sz="1200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cxnSp>
          <p:nvCxnSpPr>
            <p:cNvPr id="48" name="直接连接符 47"/>
            <p:cNvCxnSpPr>
              <a:stCxn id="36" idx="4"/>
              <a:endCxn id="37" idx="0"/>
            </p:cNvCxnSpPr>
            <p:nvPr/>
          </p:nvCxnSpPr>
          <p:spPr>
            <a:xfrm flipH="1">
              <a:off x="5917497" y="3111260"/>
              <a:ext cx="660022" cy="254284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>
              <a:stCxn id="36" idx="4"/>
            </p:cNvCxnSpPr>
            <p:nvPr/>
          </p:nvCxnSpPr>
          <p:spPr>
            <a:xfrm>
              <a:off x="6577519" y="3111260"/>
              <a:ext cx="17316" cy="236557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>
              <a:stCxn id="41" idx="0"/>
              <a:endCxn id="36" idx="4"/>
            </p:cNvCxnSpPr>
            <p:nvPr/>
          </p:nvCxnSpPr>
          <p:spPr>
            <a:xfrm flipH="1" flipV="1">
              <a:off x="6577519" y="3111260"/>
              <a:ext cx="471035" cy="24801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stCxn id="37" idx="4"/>
              <a:endCxn id="39" idx="0"/>
            </p:cNvCxnSpPr>
            <p:nvPr/>
          </p:nvCxnSpPr>
          <p:spPr>
            <a:xfrm flipH="1">
              <a:off x="5467286" y="3671544"/>
              <a:ext cx="450211" cy="25222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连接符 51"/>
            <p:cNvCxnSpPr>
              <a:stCxn id="37" idx="4"/>
              <a:endCxn id="38" idx="0"/>
            </p:cNvCxnSpPr>
            <p:nvPr/>
          </p:nvCxnSpPr>
          <p:spPr>
            <a:xfrm>
              <a:off x="5917497" y="3671544"/>
              <a:ext cx="0" cy="26093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连接符 52"/>
            <p:cNvCxnSpPr>
              <a:stCxn id="40" idx="4"/>
              <a:endCxn id="44" idx="0"/>
            </p:cNvCxnSpPr>
            <p:nvPr/>
          </p:nvCxnSpPr>
          <p:spPr>
            <a:xfrm flipH="1">
              <a:off x="6371216" y="3671544"/>
              <a:ext cx="223619" cy="268933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>
              <a:stCxn id="45" idx="0"/>
              <a:endCxn id="40" idx="4"/>
            </p:cNvCxnSpPr>
            <p:nvPr/>
          </p:nvCxnSpPr>
          <p:spPr>
            <a:xfrm flipH="1" flipV="1">
              <a:off x="6594835" y="3671544"/>
              <a:ext cx="214048" cy="2696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直接连接符 54"/>
            <p:cNvCxnSpPr>
              <a:stCxn id="38" idx="4"/>
              <a:endCxn id="43" idx="0"/>
            </p:cNvCxnSpPr>
            <p:nvPr/>
          </p:nvCxnSpPr>
          <p:spPr>
            <a:xfrm flipH="1">
              <a:off x="5688737" y="4238475"/>
              <a:ext cx="228760" cy="27834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>
              <a:stCxn id="38" idx="4"/>
              <a:endCxn id="42" idx="0"/>
            </p:cNvCxnSpPr>
            <p:nvPr/>
          </p:nvCxnSpPr>
          <p:spPr>
            <a:xfrm>
              <a:off x="5917497" y="4238475"/>
              <a:ext cx="216417" cy="27764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>
              <a:stCxn id="42" idx="4"/>
              <a:endCxn id="47" idx="0"/>
            </p:cNvCxnSpPr>
            <p:nvPr/>
          </p:nvCxnSpPr>
          <p:spPr>
            <a:xfrm>
              <a:off x="6133914" y="4822117"/>
              <a:ext cx="0" cy="29655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>
              <a:endCxn id="46" idx="0"/>
            </p:cNvCxnSpPr>
            <p:nvPr/>
          </p:nvCxnSpPr>
          <p:spPr>
            <a:xfrm>
              <a:off x="6634471" y="3684472"/>
              <a:ext cx="635530" cy="23155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/>
            <p:cNvSpPr txBox="1"/>
            <p:nvPr/>
          </p:nvSpPr>
          <p:spPr>
            <a:xfrm>
              <a:off x="7210423" y="3328851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A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4955908" y="3916023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C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61" name="文本框 60"/>
            <p:cNvSpPr txBox="1"/>
            <p:nvPr/>
          </p:nvSpPr>
          <p:spPr>
            <a:xfrm>
              <a:off x="6295615" y="4570229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D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62" name="文本框 61"/>
            <p:cNvSpPr txBox="1"/>
            <p:nvPr/>
          </p:nvSpPr>
          <p:spPr>
            <a:xfrm>
              <a:off x="6295342" y="5141798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E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63" name="文本框 62"/>
            <p:cNvSpPr txBox="1"/>
            <p:nvPr/>
          </p:nvSpPr>
          <p:spPr>
            <a:xfrm>
              <a:off x="5888082" y="3681704"/>
              <a:ext cx="513806" cy="3744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solidFill>
                    <a:prstClr val="black"/>
                  </a:solidFill>
                  <a:latin typeface="Perpetua"/>
                  <a:ea typeface="宋体" panose="02010600030101010101" pitchFamily="2" charset="-122"/>
                </a:rPr>
                <a:t>B</a:t>
              </a:r>
              <a:endParaRPr lang="zh-CN" altLang="en-US" dirty="0">
                <a:solidFill>
                  <a:prstClr val="black"/>
                </a:solidFill>
                <a:latin typeface="Perpetua"/>
                <a:ea typeface="宋体" panose="02010600030101010101" pitchFamily="2" charset="-122"/>
              </a:endParaRPr>
            </a:p>
          </p:txBody>
        </p:sp>
      </p:grpSp>
      <p:sp>
        <p:nvSpPr>
          <p:cNvPr id="64" name="椭圆 63"/>
          <p:cNvSpPr/>
          <p:nvPr/>
        </p:nvSpPr>
        <p:spPr>
          <a:xfrm>
            <a:off x="8151765" y="5119452"/>
            <a:ext cx="277951" cy="275411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kern="800" dirty="0">
              <a:solidFill>
                <a:srgbClr val="FF0000"/>
              </a:solidFill>
              <a:latin typeface="Perpetua"/>
              <a:ea typeface="宋体" panose="02010600030101010101" pitchFamily="2" charset="-122"/>
            </a:endParaRPr>
          </a:p>
        </p:txBody>
      </p:sp>
      <p:cxnSp>
        <p:nvCxnSpPr>
          <p:cNvPr id="65" name="直接箭头连接符 64"/>
          <p:cNvCxnSpPr>
            <a:endCxn id="64" idx="1"/>
          </p:cNvCxnSpPr>
          <p:nvPr/>
        </p:nvCxnSpPr>
        <p:spPr>
          <a:xfrm>
            <a:off x="7728857" y="4785360"/>
            <a:ext cx="463613" cy="3744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8443320" y="5094890"/>
            <a:ext cx="513806" cy="3744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Perpetua"/>
                <a:ea typeface="宋体" panose="02010600030101010101" pitchFamily="2" charset="-122"/>
              </a:rPr>
              <a:t>0/1</a:t>
            </a:r>
            <a:endParaRPr lang="zh-CN" altLang="en-US" dirty="0">
              <a:solidFill>
                <a:srgbClr val="FF0000"/>
              </a:solidFill>
              <a:latin typeface="Perpetua"/>
              <a:ea typeface="宋体" panose="02010600030101010101" pitchFamily="2" charset="-122"/>
            </a:endParaRPr>
          </a:p>
        </p:txBody>
      </p:sp>
      <p:grpSp>
        <p:nvGrpSpPr>
          <p:cNvPr id="27" name="组合 26"/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8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9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latin typeface="Perpetua"/>
                <a:ea typeface="宋体" panose="02010600030101010101" pitchFamily="2" charset="-122"/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20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26" name="TipText"/>
            <p:cNvSpPr txBox="1"/>
            <p:nvPr>
              <p:custDataLst>
                <p:tags r:id="rId21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1389593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"/>
  <p:tag name="PROBLEMHASREMARK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>
    <a:spDef>
      <a:spPr>
        <a:noFill/>
        <a:ln w="38100">
          <a:solidFill>
            <a:schemeClr val="tx1"/>
          </a:solidFill>
        </a:ln>
      </a:spPr>
      <a:bodyPr lIns="36000" rIns="36000" rtlCol="0" anchor="ctr">
        <a:noAutofit/>
      </a:bodyPr>
      <a:lstStyle>
        <a:defPPr algn="ctr">
          <a:defRPr dirty="0" err="1" smtClean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225496</TotalTime>
  <Words>1370</Words>
  <Application>Microsoft Macintosh PowerPoint</Application>
  <PresentationFormat>Widescreen</PresentationFormat>
  <Paragraphs>316</Paragraphs>
  <Slides>21</Slides>
  <Notes>13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Microsoft Yahei</vt:lpstr>
      <vt:lpstr>黑体</vt:lpstr>
      <vt:lpstr>Songti TC</vt:lpstr>
      <vt:lpstr>Calibri</vt:lpstr>
      <vt:lpstr>Cambria Math</vt:lpstr>
      <vt:lpstr>Franklin Gothic Book</vt:lpstr>
      <vt:lpstr>Perpetua</vt:lpstr>
      <vt:lpstr>Times New Roman</vt:lpstr>
      <vt:lpstr>Wingdings</vt:lpstr>
      <vt:lpstr>Wingdings 2</vt:lpstr>
      <vt:lpstr>Equity</vt:lpstr>
      <vt:lpstr>公式</vt:lpstr>
      <vt:lpstr>3.4 蒙特卡洛方法</vt:lpstr>
      <vt:lpstr>蒙特卡洛仿真</vt:lpstr>
      <vt:lpstr>棋局的蒙特卡洛评估</vt:lpstr>
      <vt:lpstr>蒙特卡洛树搜索（MCTS: Monte Carlo Tree Search）</vt:lpstr>
      <vt:lpstr>蒙特卡洛树搜索过程</vt:lpstr>
      <vt:lpstr>选择策略</vt:lpstr>
      <vt:lpstr>选择策略：多臂老虎机模型</vt:lpstr>
      <vt:lpstr>信心上限算法（UCB：Upper Confidence Bound）</vt:lpstr>
      <vt:lpstr>信心上限的计算</vt:lpstr>
      <vt:lpstr>Tail bounds （尾部概率界限）</vt:lpstr>
      <vt:lpstr>信心上限树算法UCT</vt:lpstr>
      <vt:lpstr>信心上限树算法示例</vt:lpstr>
      <vt:lpstr>前情回顾： α-β剪枝</vt:lpstr>
      <vt:lpstr>Hoeffding’s inequality</vt:lpstr>
      <vt:lpstr>前情回顾：蒙特卡洛树搜索过程</vt:lpstr>
      <vt:lpstr>信心上限树算法</vt:lpstr>
      <vt:lpstr>UCT算法示例</vt:lpstr>
      <vt:lpstr>蒙特卡洛树搜索的效果</vt:lpstr>
      <vt:lpstr>小结</vt:lpstr>
      <vt:lpstr>PowerPoint Presentation</vt:lpstr>
      <vt:lpstr>PowerPoint Presentation</vt:lpstr>
    </vt:vector>
  </TitlesOfParts>
  <Company>Carnegie Mellon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Infinite SVM: a DP Mixture of Large-margin Kernel Machines</dc:title>
  <dc:creator>SCS</dc:creator>
  <cp:lastModifiedBy>hongning wang</cp:lastModifiedBy>
  <cp:revision>7360</cp:revision>
  <dcterms:created xsi:type="dcterms:W3CDTF">2011-04-24T18:48:21Z</dcterms:created>
  <dcterms:modified xsi:type="dcterms:W3CDTF">2026-06-15T01:00:56Z</dcterms:modified>
</cp:coreProperties>
</file>