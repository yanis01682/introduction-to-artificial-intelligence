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Lst>
  <p:notesMasterIdLst>
    <p:notesMasterId r:id="rId46"/>
  </p:notesMasterIdLst>
  <p:handoutMasterIdLst>
    <p:handoutMasterId r:id="rId47"/>
  </p:handoutMasterIdLst>
  <p:sldIdLst>
    <p:sldId id="599" r:id="rId2"/>
    <p:sldId id="771" r:id="rId3"/>
    <p:sldId id="772" r:id="rId4"/>
    <p:sldId id="773" r:id="rId5"/>
    <p:sldId id="841" r:id="rId6"/>
    <p:sldId id="774" r:id="rId7"/>
    <p:sldId id="775" r:id="rId8"/>
    <p:sldId id="759" r:id="rId9"/>
    <p:sldId id="846" r:id="rId10"/>
    <p:sldId id="777" r:id="rId11"/>
    <p:sldId id="776" r:id="rId12"/>
    <p:sldId id="778" r:id="rId13"/>
    <p:sldId id="779" r:id="rId14"/>
    <p:sldId id="780" r:id="rId15"/>
    <p:sldId id="781" r:id="rId16"/>
    <p:sldId id="782" r:id="rId17"/>
    <p:sldId id="783" r:id="rId18"/>
    <p:sldId id="847" r:id="rId19"/>
    <p:sldId id="767" r:id="rId20"/>
    <p:sldId id="784" r:id="rId21"/>
    <p:sldId id="785" r:id="rId22"/>
    <p:sldId id="786" r:id="rId23"/>
    <p:sldId id="787" r:id="rId24"/>
    <p:sldId id="788" r:id="rId25"/>
    <p:sldId id="789" r:id="rId26"/>
    <p:sldId id="790" r:id="rId27"/>
    <p:sldId id="791" r:id="rId28"/>
    <p:sldId id="792" r:id="rId29"/>
    <p:sldId id="793" r:id="rId30"/>
    <p:sldId id="794" r:id="rId31"/>
    <p:sldId id="795" r:id="rId32"/>
    <p:sldId id="839" r:id="rId33"/>
    <p:sldId id="796" r:id="rId34"/>
    <p:sldId id="797" r:id="rId35"/>
    <p:sldId id="798" r:id="rId36"/>
    <p:sldId id="799" r:id="rId37"/>
    <p:sldId id="808" r:id="rId38"/>
    <p:sldId id="800" r:id="rId39"/>
    <p:sldId id="801" r:id="rId40"/>
    <p:sldId id="802" r:id="rId41"/>
    <p:sldId id="803" r:id="rId42"/>
    <p:sldId id="840" r:id="rId43"/>
    <p:sldId id="843" r:id="rId44"/>
    <p:sldId id="844"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续 第四堂课第一节" id="{1060AA40-5714-DD4F-91C5-E81DE2DD51E4}">
          <p14:sldIdLst>
            <p14:sldId id="599"/>
          </p14:sldIdLst>
        </p14:section>
        <p14:section name="第八堂课第一节" id="{64B95E47-A80B-8D43-8C55-860A38DE96F8}">
          <p14:sldIdLst>
            <p14:sldId id="771"/>
            <p14:sldId id="772"/>
            <p14:sldId id="773"/>
            <p14:sldId id="841"/>
            <p14:sldId id="774"/>
            <p14:sldId id="775"/>
            <p14:sldId id="759"/>
            <p14:sldId id="846"/>
            <p14:sldId id="777"/>
            <p14:sldId id="776"/>
          </p14:sldIdLst>
        </p14:section>
        <p14:section name="第八堂课第二节" id="{6E72F508-6F7D-5A42-8532-DBFC254D3965}">
          <p14:sldIdLst>
            <p14:sldId id="778"/>
            <p14:sldId id="779"/>
            <p14:sldId id="780"/>
            <p14:sldId id="781"/>
            <p14:sldId id="782"/>
            <p14:sldId id="783"/>
            <p14:sldId id="847"/>
            <p14:sldId id="767"/>
            <p14:sldId id="784"/>
            <p14:sldId id="785"/>
            <p14:sldId id="786"/>
            <p14:sldId id="787"/>
            <p14:sldId id="788"/>
            <p14:sldId id="789"/>
            <p14:sldId id="790"/>
            <p14:sldId id="791"/>
            <p14:sldId id="792"/>
            <p14:sldId id="793"/>
            <p14:sldId id="794"/>
            <p14:sldId id="795"/>
            <p14:sldId id="839"/>
            <p14:sldId id="796"/>
            <p14:sldId id="797"/>
            <p14:sldId id="798"/>
            <p14:sldId id="799"/>
            <p14:sldId id="808"/>
            <p14:sldId id="800"/>
            <p14:sldId id="801"/>
            <p14:sldId id="802"/>
            <p14:sldId id="803"/>
            <p14:sldId id="840"/>
            <p14:sldId id="843"/>
            <p14:sldId id="844"/>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119F14"/>
    <a:srgbClr val="0000FF"/>
    <a:srgbClr val="E2EFD9"/>
    <a:srgbClr val="FFF2CC"/>
    <a:srgbClr val="FFFFFF"/>
    <a:srgbClr val="FFFF00"/>
    <a:srgbClr val="86F260"/>
    <a:srgbClr val="9900CC"/>
    <a:srgbClr val="FB81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107" autoAdjust="0"/>
    <p:restoredTop sz="96301" autoAdjust="0"/>
  </p:normalViewPr>
  <p:slideViewPr>
    <p:cSldViewPr snapToGrid="0">
      <p:cViewPr varScale="1">
        <p:scale>
          <a:sx n="94" d="100"/>
          <a:sy n="94" d="100"/>
        </p:scale>
        <p:origin x="224" y="816"/>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notesViewPr>
    <p:cSldViewPr snapToGrid="0">
      <p:cViewPr varScale="1">
        <p:scale>
          <a:sx n="88" d="100"/>
          <a:sy n="88" d="100"/>
        </p:scale>
        <p:origin x="-3870"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05A66E1-596A-496E-B96E-FE454130F19C}" type="datetimeFigureOut">
              <a:rPr lang="zh-CN" altLang="en-US" smtClean="0"/>
              <a:pPr/>
              <a:t>2026/4/27</a:t>
            </a:fld>
            <a:endParaRPr lang="zh-CN" alt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153B57A-208D-4E21-8008-BCE8E94FCB4F}" type="slidenum">
              <a:rPr lang="zh-CN" altLang="en-US" smtClean="0"/>
              <a:pPr/>
              <a:t>‹#›</a:t>
            </a:fld>
            <a:endParaRPr lang="zh-CN" altLang="en-US"/>
          </a:p>
        </p:txBody>
      </p:sp>
    </p:spTree>
    <p:extLst>
      <p:ext uri="{BB962C8B-B14F-4D97-AF65-F5344CB8AC3E}">
        <p14:creationId xmlns:p14="http://schemas.microsoft.com/office/powerpoint/2010/main" val="235648635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102705F-8347-41A8-82E6-B2920132BF3D}" type="datetimeFigureOut">
              <a:rPr lang="en-US" smtClean="0"/>
              <a:pPr/>
              <a:t>4/27/26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50AF6DD-051E-413B-8808-23D5AB3BD9E4}" type="slidenum">
              <a:rPr lang="en-US" smtClean="0"/>
              <a:pPr/>
              <a:t>‹#›</a:t>
            </a:fld>
            <a:endParaRPr lang="en-US"/>
          </a:p>
        </p:txBody>
      </p:sp>
    </p:spTree>
    <p:extLst>
      <p:ext uri="{BB962C8B-B14F-4D97-AF65-F5344CB8AC3E}">
        <p14:creationId xmlns:p14="http://schemas.microsoft.com/office/powerpoint/2010/main" val="41790788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en.wikipedia.org/wiki/Recurrent_neural_network" TargetMode="External"/><Relationship Id="rId2" Type="http://schemas.openxmlformats.org/officeDocument/2006/relationships/slide" Target="../slides/slide2.xml"/><Relationship Id="rId1" Type="http://schemas.openxmlformats.org/officeDocument/2006/relationships/notesMaster" Target="../notesMasters/notesMaster1.xml"/><Relationship Id="rId4" Type="http://schemas.openxmlformats.org/officeDocument/2006/relationships/hyperlink" Target="https://en.wikipedia.org/wiki/Artificial_neural_network"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en.wikipedia.org/wiki/Samy_Bengio" TargetMode="External"/><Relationship Id="rId2" Type="http://schemas.openxmlformats.org/officeDocument/2006/relationships/slide" Target="../slides/slide36.xml"/><Relationship Id="rId1" Type="http://schemas.openxmlformats.org/officeDocument/2006/relationships/notesMaster" Target="../notesMasters/notesMaster1.xml"/><Relationship Id="rId4" Type="http://schemas.openxmlformats.org/officeDocument/2006/relationships/hyperlink" Target="https://en.wikipedia.org/wiki/Torch_(machine_learning)#cite_note-torch-modular-1" TargetMode="Externa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50AF6DD-051E-413B-8808-23D5AB3BD9E4}" type="slidenum">
              <a:rPr lang="en-US" smtClean="0"/>
              <a:pPr/>
              <a:t>1</a:t>
            </a:fld>
            <a:endParaRPr lang="en-US"/>
          </a:p>
        </p:txBody>
      </p:sp>
    </p:spTree>
    <p:extLst>
      <p:ext uri="{BB962C8B-B14F-4D97-AF65-F5344CB8AC3E}">
        <p14:creationId xmlns:p14="http://schemas.microsoft.com/office/powerpoint/2010/main" val="27531696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前馈：输出就输出</a:t>
            </a:r>
            <a:endParaRPr kumimoji="1" lang="en-US" altLang="zh-CN" dirty="0"/>
          </a:p>
          <a:p>
            <a:r>
              <a:rPr kumimoji="1" lang="zh-CN" altLang="en-US" dirty="0"/>
              <a:t>反馈：前面的输出还会影响后面</a:t>
            </a:r>
            <a:endParaRPr kumimoji="1" lang="en-US" altLang="zh-CN" dirty="0"/>
          </a:p>
          <a:p>
            <a:endParaRPr kumimoji="1" lang="en-US" altLang="zh-CN" dirty="0"/>
          </a:p>
          <a:p>
            <a:r>
              <a:rPr lang="en-US" altLang="zh-CN" b="0" i="0" u="none" strike="noStrike" dirty="0">
                <a:solidFill>
                  <a:srgbClr val="795CB2"/>
                </a:solidFill>
                <a:effectLst/>
                <a:latin typeface="Arial" panose="020B0604020202020204" pitchFamily="34" charset="0"/>
                <a:hlinkClick r:id="rId3" tooltip="Recurrent neural network"/>
              </a:rPr>
              <a:t>Recurrent neural networks</a:t>
            </a:r>
            <a:r>
              <a:rPr lang="en-US" altLang="zh-CN" b="0" i="0" u="none" strike="noStrike" dirty="0">
                <a:solidFill>
                  <a:srgbClr val="202122"/>
                </a:solidFill>
                <a:effectLst/>
                <a:latin typeface="Arial" panose="020B0604020202020204" pitchFamily="34" charset="0"/>
              </a:rPr>
              <a:t> are recursive </a:t>
            </a:r>
            <a:r>
              <a:rPr lang="en-US" altLang="zh-CN" b="0" i="0" u="none" strike="noStrike" dirty="0">
                <a:solidFill>
                  <a:srgbClr val="795CB2"/>
                </a:solidFill>
                <a:effectLst/>
                <a:latin typeface="Arial" panose="020B0604020202020204" pitchFamily="34" charset="0"/>
                <a:hlinkClick r:id="rId4" tooltip="Artificial neural network"/>
              </a:rPr>
              <a:t>artificial neural networks</a:t>
            </a:r>
            <a:r>
              <a:rPr lang="en-US" altLang="zh-CN" b="0" i="0" u="none" strike="noStrike" dirty="0">
                <a:solidFill>
                  <a:srgbClr val="202122"/>
                </a:solidFill>
                <a:effectLst/>
                <a:latin typeface="Arial" panose="020B0604020202020204" pitchFamily="34" charset="0"/>
              </a:rPr>
              <a:t> with a certain structure: that of a linear chain. Whereas recursive neural networks operate on any hierarchical structure, combining child representations into parent representations, recurrent neural networks operate on the linear progression of time, combining the previous time step and a hidden representation into the representation for the current time step.</a:t>
            </a:r>
            <a:endParaRPr kumimoji="1" lang="zh-CN" altLang="en-US" dirty="0"/>
          </a:p>
        </p:txBody>
      </p:sp>
      <p:sp>
        <p:nvSpPr>
          <p:cNvPr id="4" name="灯片编号占位符 3"/>
          <p:cNvSpPr>
            <a:spLocks noGrp="1"/>
          </p:cNvSpPr>
          <p:nvPr>
            <p:ph type="sldNum" sz="quarter" idx="5"/>
          </p:nvPr>
        </p:nvSpPr>
        <p:spPr/>
        <p:txBody>
          <a:bodyPr/>
          <a:lstStyle/>
          <a:p>
            <a:fld id="{D50AF6DD-051E-413B-8808-23D5AB3BD9E4}" type="slidenum">
              <a:rPr lang="en-US" smtClean="0"/>
              <a:pPr/>
              <a:t>2</a:t>
            </a:fld>
            <a:endParaRPr lang="en-US"/>
          </a:p>
        </p:txBody>
      </p:sp>
    </p:spTree>
    <p:extLst>
      <p:ext uri="{BB962C8B-B14F-4D97-AF65-F5344CB8AC3E}">
        <p14:creationId xmlns:p14="http://schemas.microsoft.com/office/powerpoint/2010/main" val="25844057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看到一个词，脑袋里有一个想法</a:t>
            </a:r>
            <a:endParaRPr kumimoji="1" lang="en-US" altLang="zh-CN" dirty="0"/>
          </a:p>
          <a:p>
            <a:r>
              <a:rPr kumimoji="1" lang="zh-CN" altLang="en-US" dirty="0"/>
              <a:t>顺序的理解</a:t>
            </a:r>
          </a:p>
        </p:txBody>
      </p:sp>
      <p:sp>
        <p:nvSpPr>
          <p:cNvPr id="4" name="灯片编号占位符 3"/>
          <p:cNvSpPr>
            <a:spLocks noGrp="1"/>
          </p:cNvSpPr>
          <p:nvPr>
            <p:ph type="sldNum" sz="quarter" idx="5"/>
          </p:nvPr>
        </p:nvSpPr>
        <p:spPr/>
        <p:txBody>
          <a:bodyPr/>
          <a:lstStyle/>
          <a:p>
            <a:fld id="{D50AF6DD-051E-413B-8808-23D5AB3BD9E4}" type="slidenum">
              <a:rPr lang="en-US" smtClean="0"/>
              <a:pPr/>
              <a:t>4</a:t>
            </a:fld>
            <a:endParaRPr lang="en-US"/>
          </a:p>
        </p:txBody>
      </p:sp>
    </p:spTree>
    <p:extLst>
      <p:ext uri="{BB962C8B-B14F-4D97-AF65-F5344CB8AC3E}">
        <p14:creationId xmlns:p14="http://schemas.microsoft.com/office/powerpoint/2010/main" val="40644207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50AF6DD-051E-413B-8808-23D5AB3BD9E4}" type="slidenum">
              <a:rPr lang="en-US" smtClean="0"/>
              <a:pPr/>
              <a:t>6</a:t>
            </a:fld>
            <a:endParaRPr lang="en-US"/>
          </a:p>
        </p:txBody>
      </p:sp>
    </p:spTree>
    <p:extLst>
      <p:ext uri="{BB962C8B-B14F-4D97-AF65-F5344CB8AC3E}">
        <p14:creationId xmlns:p14="http://schemas.microsoft.com/office/powerpoint/2010/main" val="4639272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第</a:t>
            </a:r>
            <a:r>
              <a:rPr kumimoji="1" lang="en-US" altLang="zh-CN" dirty="0"/>
              <a:t>8</a:t>
            </a:r>
            <a:r>
              <a:rPr kumimoji="1" lang="zh-CN" altLang="en-US" dirty="0"/>
              <a:t>堂课第一节结束</a:t>
            </a:r>
          </a:p>
        </p:txBody>
      </p:sp>
      <p:sp>
        <p:nvSpPr>
          <p:cNvPr id="4" name="灯片编号占位符 3"/>
          <p:cNvSpPr>
            <a:spLocks noGrp="1"/>
          </p:cNvSpPr>
          <p:nvPr>
            <p:ph type="sldNum" sz="quarter" idx="5"/>
          </p:nvPr>
        </p:nvSpPr>
        <p:spPr/>
        <p:txBody>
          <a:bodyPr/>
          <a:lstStyle/>
          <a:p>
            <a:fld id="{D50AF6DD-051E-413B-8808-23D5AB3BD9E4}" type="slidenum">
              <a:rPr lang="en-US" smtClean="0"/>
              <a:pPr/>
              <a:t>12</a:t>
            </a:fld>
            <a:endParaRPr lang="en-US"/>
          </a:p>
        </p:txBody>
      </p:sp>
    </p:spTree>
    <p:extLst>
      <p:ext uri="{BB962C8B-B14F-4D97-AF65-F5344CB8AC3E}">
        <p14:creationId xmlns:p14="http://schemas.microsoft.com/office/powerpoint/2010/main" val="31411209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b="1" dirty="0"/>
          </a:p>
        </p:txBody>
      </p:sp>
      <p:sp>
        <p:nvSpPr>
          <p:cNvPr id="4" name="灯片编号占位符 3"/>
          <p:cNvSpPr>
            <a:spLocks noGrp="1"/>
          </p:cNvSpPr>
          <p:nvPr>
            <p:ph type="sldNum" sz="quarter" idx="5"/>
          </p:nvPr>
        </p:nvSpPr>
        <p:spPr/>
        <p:txBody>
          <a:bodyPr/>
          <a:lstStyle/>
          <a:p>
            <a:fld id="{D50AF6DD-051E-413B-8808-23D5AB3BD9E4}" type="slidenum">
              <a:rPr lang="en-US" smtClean="0"/>
              <a:pPr/>
              <a:t>21</a:t>
            </a:fld>
            <a:endParaRPr lang="en-US"/>
          </a:p>
        </p:txBody>
      </p:sp>
    </p:spTree>
    <p:extLst>
      <p:ext uri="{BB962C8B-B14F-4D97-AF65-F5344CB8AC3E}">
        <p14:creationId xmlns:p14="http://schemas.microsoft.com/office/powerpoint/2010/main" val="12007945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u="none" strike="noStrike" dirty="0">
                <a:effectLst/>
                <a:latin typeface="Linux Libertine"/>
              </a:rPr>
              <a:t>Jürgen </a:t>
            </a:r>
            <a:r>
              <a:rPr lang="en-US" altLang="zh-CN" b="0" i="0" u="none" strike="noStrike" dirty="0" err="1">
                <a:effectLst/>
                <a:latin typeface="Linux Libertine"/>
              </a:rPr>
              <a:t>Schmidhuber</a:t>
            </a:r>
            <a:endParaRPr lang="en-US" altLang="zh-CN" b="0" i="0" u="none" strike="noStrike" dirty="0">
              <a:effectLst/>
              <a:latin typeface="Linux Libertine"/>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u="none" strike="noStrike" dirty="0">
                <a:effectLst/>
                <a:latin typeface="Linux Libertine"/>
              </a:rPr>
              <a:t>Pissed off when not receiving the Turing Award</a:t>
            </a:r>
          </a:p>
          <a:p>
            <a:endParaRPr kumimoji="1" lang="en-US" altLang="zh-CN" b="1" dirty="0"/>
          </a:p>
          <a:p>
            <a:r>
              <a:rPr kumimoji="1" lang="en-US" altLang="zh-CN" b="1" dirty="0"/>
              <a:t>https://</a:t>
            </a:r>
            <a:r>
              <a:rPr kumimoji="1" lang="en-US" altLang="zh-CN" b="1" dirty="0" err="1"/>
              <a:t>people.idsia.ch</a:t>
            </a:r>
            <a:r>
              <a:rPr kumimoji="1" lang="en-US" altLang="zh-CN" b="1" dirty="0"/>
              <a:t>/~</a:t>
            </a:r>
            <a:r>
              <a:rPr kumimoji="1" lang="en-US" altLang="zh-CN" b="1" dirty="0" err="1"/>
              <a:t>juergen</a:t>
            </a:r>
            <a:r>
              <a:rPr kumimoji="1" lang="en-US" altLang="zh-CN" b="1" dirty="0"/>
              <a:t>/ai-priority-</a:t>
            </a:r>
            <a:r>
              <a:rPr kumimoji="1" lang="en-US" altLang="zh-CN" b="1" dirty="0" err="1"/>
              <a:t>disputes.html</a:t>
            </a:r>
            <a:endParaRPr kumimoji="1" lang="en-US" altLang="zh-CN"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i="0" u="none" strike="noStrike" dirty="0">
                <a:solidFill>
                  <a:srgbClr val="000000"/>
                </a:solidFill>
                <a:effectLst/>
                <a:latin typeface="arial" panose="020B0604020202020204" pitchFamily="34" charset="0"/>
              </a:rPr>
              <a:t>How 3 Turing Awardees Republished Key Methods and Ideas Whose Creators They Failed to Credit</a:t>
            </a:r>
          </a:p>
          <a:p>
            <a:endParaRPr kumimoji="1" lang="zh-CN" altLang="en-US" b="1" dirty="0"/>
          </a:p>
          <a:p>
            <a:endParaRPr kumimoji="1" lang="zh-CN" altLang="en-US" dirty="0"/>
          </a:p>
        </p:txBody>
      </p:sp>
      <p:sp>
        <p:nvSpPr>
          <p:cNvPr id="4" name="灯片编号占位符 3"/>
          <p:cNvSpPr>
            <a:spLocks noGrp="1"/>
          </p:cNvSpPr>
          <p:nvPr>
            <p:ph type="sldNum" sz="quarter" idx="5"/>
          </p:nvPr>
        </p:nvSpPr>
        <p:spPr/>
        <p:txBody>
          <a:bodyPr/>
          <a:lstStyle/>
          <a:p>
            <a:fld id="{D50AF6DD-051E-413B-8808-23D5AB3BD9E4}" type="slidenum">
              <a:rPr lang="en-US" smtClean="0"/>
              <a:pPr/>
              <a:t>22</a:t>
            </a:fld>
            <a:endParaRPr lang="en-US"/>
          </a:p>
        </p:txBody>
      </p:sp>
    </p:spTree>
    <p:extLst>
      <p:ext uri="{BB962C8B-B14F-4D97-AF65-F5344CB8AC3E}">
        <p14:creationId xmlns:p14="http://schemas.microsoft.com/office/powerpoint/2010/main" val="28577821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0AF6DD-051E-413B-8808-23D5AB3BD9E4}" type="slidenum">
              <a:rPr lang="en-US" smtClean="0"/>
              <a:pPr/>
              <a:t>28</a:t>
            </a:fld>
            <a:endParaRPr lang="en-US"/>
          </a:p>
        </p:txBody>
      </p:sp>
    </p:spTree>
    <p:extLst>
      <p:ext uri="{BB962C8B-B14F-4D97-AF65-F5344CB8AC3E}">
        <p14:creationId xmlns:p14="http://schemas.microsoft.com/office/powerpoint/2010/main" val="31207886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0AF6DD-051E-413B-8808-23D5AB3BD9E4}" type="slidenum">
              <a:rPr lang="en-US" smtClean="0"/>
              <a:pPr/>
              <a:t>32</a:t>
            </a:fld>
            <a:endParaRPr lang="en-US"/>
          </a:p>
        </p:txBody>
      </p:sp>
    </p:spTree>
    <p:extLst>
      <p:ext uri="{BB962C8B-B14F-4D97-AF65-F5344CB8AC3E}">
        <p14:creationId xmlns:p14="http://schemas.microsoft.com/office/powerpoint/2010/main" val="40358766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0AF6DD-051E-413B-8808-23D5AB3BD9E4}" type="slidenum">
              <a:rPr lang="en-US" smtClean="0"/>
              <a:pPr/>
              <a:t>33</a:t>
            </a:fld>
            <a:endParaRPr lang="en-US"/>
          </a:p>
        </p:txBody>
      </p:sp>
    </p:spTree>
    <p:extLst>
      <p:ext uri="{BB962C8B-B14F-4D97-AF65-F5344CB8AC3E}">
        <p14:creationId xmlns:p14="http://schemas.microsoft.com/office/powerpoint/2010/main" val="12692321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第</a:t>
            </a:r>
            <a:r>
              <a:rPr kumimoji="1" lang="en-US" altLang="zh-CN" dirty="0"/>
              <a:t>8</a:t>
            </a:r>
            <a:r>
              <a:rPr kumimoji="1" lang="zh-CN" altLang="en-US" dirty="0"/>
              <a:t>次课第二节结束</a:t>
            </a:r>
          </a:p>
        </p:txBody>
      </p:sp>
      <p:sp>
        <p:nvSpPr>
          <p:cNvPr id="4" name="灯片编号占位符 3"/>
          <p:cNvSpPr>
            <a:spLocks noGrp="1"/>
          </p:cNvSpPr>
          <p:nvPr>
            <p:ph type="sldNum" sz="quarter" idx="5"/>
          </p:nvPr>
        </p:nvSpPr>
        <p:spPr/>
        <p:txBody>
          <a:bodyPr/>
          <a:lstStyle/>
          <a:p>
            <a:fld id="{D50AF6DD-051E-413B-8808-23D5AB3BD9E4}" type="slidenum">
              <a:rPr lang="en-US" smtClean="0"/>
              <a:pPr/>
              <a:t>34</a:t>
            </a:fld>
            <a:endParaRPr lang="en-US"/>
          </a:p>
        </p:txBody>
      </p:sp>
    </p:spTree>
    <p:extLst>
      <p:ext uri="{BB962C8B-B14F-4D97-AF65-F5344CB8AC3E}">
        <p14:creationId xmlns:p14="http://schemas.microsoft.com/office/powerpoint/2010/main" val="1194273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Torch 2002, developed by </a:t>
            </a:r>
            <a:r>
              <a:rPr lang="en-US" altLang="zh-CN" b="0" i="0" u="none" strike="noStrike" dirty="0">
                <a:solidFill>
                  <a:srgbClr val="000000"/>
                </a:solidFill>
                <a:effectLst/>
                <a:highlight>
                  <a:srgbClr val="F8F9FA"/>
                </a:highlight>
                <a:latin typeface="Arial" panose="020B0604020202020204" pitchFamily="34" charset="0"/>
              </a:rPr>
              <a:t>Ronan </a:t>
            </a:r>
            <a:r>
              <a:rPr lang="en-US" altLang="zh-CN" b="0" i="0" u="none" strike="noStrike" dirty="0" err="1">
                <a:solidFill>
                  <a:srgbClr val="000000"/>
                </a:solidFill>
                <a:effectLst/>
                <a:highlight>
                  <a:srgbClr val="F8F9FA"/>
                </a:highlight>
                <a:latin typeface="Arial" panose="020B0604020202020204" pitchFamily="34" charset="0"/>
              </a:rPr>
              <a:t>Collobert</a:t>
            </a:r>
            <a:r>
              <a:rPr lang="en-US" altLang="zh-CN" b="0" i="0" u="none" strike="noStrike" dirty="0">
                <a:solidFill>
                  <a:srgbClr val="000000"/>
                </a:solidFill>
                <a:effectLst/>
                <a:highlight>
                  <a:srgbClr val="F8F9FA"/>
                </a:highlight>
                <a:latin typeface="Arial" panose="020B0604020202020204" pitchFamily="34" charset="0"/>
              </a:rPr>
              <a:t>, </a:t>
            </a:r>
            <a:r>
              <a:rPr lang="en-US" altLang="zh-CN" b="0" i="0" u="none" strike="noStrike" dirty="0">
                <a:effectLst/>
                <a:latin typeface="Arial" panose="020B0604020202020204" pitchFamily="34" charset="0"/>
                <a:hlinkClick r:id="rId3" tooltip="Samy Bengio"/>
              </a:rPr>
              <a:t>Samy Bengio</a:t>
            </a:r>
            <a:r>
              <a:rPr lang="en-US" altLang="zh-CN" b="0" i="0" u="none" strike="noStrike" dirty="0">
                <a:solidFill>
                  <a:srgbClr val="000000"/>
                </a:solidFill>
                <a:effectLst/>
                <a:highlight>
                  <a:srgbClr val="F8F9FA"/>
                </a:highlight>
                <a:latin typeface="Arial" panose="020B0604020202020204" pitchFamily="34" charset="0"/>
              </a:rPr>
              <a:t>, Johnny </a:t>
            </a:r>
            <a:r>
              <a:rPr lang="en-US" altLang="zh-CN" b="0" i="0" u="none" strike="noStrike" dirty="0" err="1">
                <a:solidFill>
                  <a:srgbClr val="000000"/>
                </a:solidFill>
                <a:effectLst/>
                <a:highlight>
                  <a:srgbClr val="F8F9FA"/>
                </a:highlight>
                <a:latin typeface="Arial" panose="020B0604020202020204" pitchFamily="34" charset="0"/>
              </a:rPr>
              <a:t>Mariéthoz</a:t>
            </a:r>
            <a:r>
              <a:rPr lang="en-US" altLang="zh-CN" b="0" i="0" u="none" strike="noStrike" baseline="30000" dirty="0">
                <a:solidFill>
                  <a:srgbClr val="000000"/>
                </a:solidFill>
                <a:effectLst/>
                <a:latin typeface="Arial" panose="020B0604020202020204" pitchFamily="34" charset="0"/>
                <a:hlinkClick r:id="rId4"/>
              </a:rPr>
              <a:t>[1]</a:t>
            </a:r>
            <a:endParaRPr kumimoji="1" lang="zh-CN" altLang="en-US" dirty="0"/>
          </a:p>
        </p:txBody>
      </p:sp>
      <p:sp>
        <p:nvSpPr>
          <p:cNvPr id="4" name="灯片编号占位符 3"/>
          <p:cNvSpPr>
            <a:spLocks noGrp="1"/>
          </p:cNvSpPr>
          <p:nvPr>
            <p:ph type="sldNum" sz="quarter" idx="5"/>
          </p:nvPr>
        </p:nvSpPr>
        <p:spPr/>
        <p:txBody>
          <a:bodyPr/>
          <a:lstStyle/>
          <a:p>
            <a:fld id="{D50AF6DD-051E-413B-8808-23D5AB3BD9E4}" type="slidenum">
              <a:rPr lang="en-US" smtClean="0"/>
              <a:pPr/>
              <a:t>36</a:t>
            </a:fld>
            <a:endParaRPr lang="en-US"/>
          </a:p>
        </p:txBody>
      </p:sp>
    </p:spTree>
    <p:extLst>
      <p:ext uri="{BB962C8B-B14F-4D97-AF65-F5344CB8AC3E}">
        <p14:creationId xmlns:p14="http://schemas.microsoft.com/office/powerpoint/2010/main" val="18595482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D50AF6DD-051E-413B-8808-23D5AB3BD9E4}" type="slidenum">
              <a:rPr lang="en-US" smtClean="0"/>
              <a:pPr/>
              <a:t>41</a:t>
            </a:fld>
            <a:endParaRPr lang="en-US"/>
          </a:p>
        </p:txBody>
      </p:sp>
    </p:spTree>
    <p:extLst>
      <p:ext uri="{BB962C8B-B14F-4D97-AF65-F5344CB8AC3E}">
        <p14:creationId xmlns:p14="http://schemas.microsoft.com/office/powerpoint/2010/main" val="9476457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4470E-5955-7BF1-CC17-9568C22D17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842E96-CE6C-A31C-B4DB-F69E846B71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B73C81-3871-293F-1F7D-68ED9CBC7DE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D92426F-A91C-C74D-40A6-50FF7E51F08F}"/>
              </a:ext>
            </a:extLst>
          </p:cNvPr>
          <p:cNvSpPr>
            <a:spLocks noGrp="1"/>
          </p:cNvSpPr>
          <p:nvPr>
            <p:ph type="sldNum" sz="quarter" idx="5"/>
          </p:nvPr>
        </p:nvSpPr>
        <p:spPr/>
        <p:txBody>
          <a:bodyPr/>
          <a:lstStyle/>
          <a:p>
            <a:fld id="{D50AF6DD-051E-413B-8808-23D5AB3BD9E4}" type="slidenum">
              <a:rPr lang="en-US" smtClean="0"/>
              <a:pPr/>
              <a:t>42</a:t>
            </a:fld>
            <a:endParaRPr lang="en-US"/>
          </a:p>
        </p:txBody>
      </p:sp>
    </p:spTree>
    <p:extLst>
      <p:ext uri="{BB962C8B-B14F-4D97-AF65-F5344CB8AC3E}">
        <p14:creationId xmlns:p14="http://schemas.microsoft.com/office/powerpoint/2010/main" val="12176734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gi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800"/>
          </a:p>
        </p:txBody>
      </p:sp>
      <p:sp useBgFill="1">
        <p:nvSpPr>
          <p:cNvPr id="13" name="Rounded Rectangle 12"/>
          <p:cNvSpPr/>
          <p:nvPr/>
        </p:nvSpPr>
        <p:spPr>
          <a:xfrm>
            <a:off x="87084" y="69756"/>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Subtitle 8"/>
          <p:cNvSpPr>
            <a:spLocks noGrp="1"/>
          </p:cNvSpPr>
          <p:nvPr>
            <p:ph type="subTitle" idx="1"/>
          </p:nvPr>
        </p:nvSpPr>
        <p:spPr>
          <a:xfrm>
            <a:off x="1727200" y="3200400"/>
            <a:ext cx="85344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535101B3-0010-49BE-8236-66B90211FF04}" type="datetime1">
              <a:rPr lang="en-US" altLang="zh-CN" smtClean="0"/>
              <a:pPr/>
              <a:t>4/27/26</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5501D8D0-7646-4D22-887C-459A4F2FEB61}" type="slidenum">
              <a:rPr lang="en-US" smtClean="0"/>
              <a:pPr/>
              <a:t>‹#›</a:t>
            </a:fld>
            <a:endParaRPr lang="en-US"/>
          </a:p>
        </p:txBody>
      </p:sp>
      <p:sp>
        <p:nvSpPr>
          <p:cNvPr id="7" name="Rectangle 6"/>
          <p:cNvSpPr/>
          <p:nvPr/>
        </p:nvSpPr>
        <p:spPr>
          <a:xfrm>
            <a:off x="83909" y="1449304"/>
            <a:ext cx="12028716"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Rectangle 9"/>
          <p:cNvSpPr/>
          <p:nvPr/>
        </p:nvSpPr>
        <p:spPr>
          <a:xfrm>
            <a:off x="83909" y="1396720"/>
            <a:ext cx="12028716"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1" name="Rectangle 10"/>
          <p:cNvSpPr/>
          <p:nvPr/>
        </p:nvSpPr>
        <p:spPr>
          <a:xfrm>
            <a:off x="83909" y="2976649"/>
            <a:ext cx="12028716"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Title 7"/>
          <p:cNvSpPr>
            <a:spLocks noGrp="1"/>
          </p:cNvSpPr>
          <p:nvPr>
            <p:ph type="ctrTitle"/>
          </p:nvPr>
        </p:nvSpPr>
        <p:spPr>
          <a:xfrm>
            <a:off x="609600" y="1505931"/>
            <a:ext cx="10972800" cy="1470025"/>
          </a:xfrm>
        </p:spPr>
        <p:txBody>
          <a:bodyPr anchor="ctr"/>
          <a:lstStyle>
            <a:lvl1pPr algn="ctr">
              <a:defRPr lang="en-US" dirty="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200" b="1">
                <a:solidFill>
                  <a:srgbClr val="C00000"/>
                </a:solidFill>
                <a:latin typeface="Times New Roman" pitchFamily="18" charset="0"/>
                <a:cs typeface="Times New Roman" pitchFamily="18" charset="0"/>
              </a:defRPr>
            </a:lvl1pPr>
          </a:lstStyle>
          <a:p>
            <a:r>
              <a:rPr kumimoji="0" lang="en-US" dirty="0"/>
              <a:t>Click to edit Master title style</a:t>
            </a:r>
          </a:p>
        </p:txBody>
      </p:sp>
      <p:sp>
        <p:nvSpPr>
          <p:cNvPr id="4" name="Date Placeholder 3"/>
          <p:cNvSpPr>
            <a:spLocks noGrp="1"/>
          </p:cNvSpPr>
          <p:nvPr>
            <p:ph type="dt" sz="half" idx="10"/>
          </p:nvPr>
        </p:nvSpPr>
        <p:spPr/>
        <p:txBody>
          <a:bodyPr/>
          <a:lstStyle/>
          <a:p>
            <a:fld id="{79694328-A6FB-477A-B9C5-7FEFDBDE1042}" type="datetime1">
              <a:rPr lang="en-US" altLang="zh-CN" smtClean="0"/>
              <a:pPr/>
              <a:t>4/27/26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01D8D0-7646-4D22-887C-459A4F2FEB61}" type="slidenum">
              <a:rPr lang="en-US" smtClean="0"/>
              <a:pPr/>
              <a:t>‹#›</a:t>
            </a:fld>
            <a:endParaRPr lang="en-US"/>
          </a:p>
        </p:txBody>
      </p:sp>
      <p:sp>
        <p:nvSpPr>
          <p:cNvPr id="8" name="Content Placeholder 7"/>
          <p:cNvSpPr>
            <a:spLocks noGrp="1"/>
          </p:cNvSpPr>
          <p:nvPr>
            <p:ph sz="quarter" idx="1"/>
          </p:nvPr>
        </p:nvSpPr>
        <p:spPr>
          <a:xfrm>
            <a:off x="1219200" y="1447800"/>
            <a:ext cx="10363200" cy="4572000"/>
          </a:xfrm>
        </p:spPr>
        <p:txBody>
          <a:bodyPr vert="horz"/>
          <a:lstStyle>
            <a:lvl1pPr>
              <a:buFontTx/>
              <a:buBlip>
                <a:blip r:embed="rId2"/>
              </a:buBlip>
              <a:defRPr/>
            </a:lvl1pPr>
            <a:lvl2pPr>
              <a:buClr>
                <a:srgbClr val="503DDB"/>
              </a:buClr>
              <a:buSzPct val="45000"/>
              <a:buFont typeface="Wingdings" pitchFamily="2" charset="2"/>
              <a:buChar char="q"/>
              <a:defRPr/>
            </a:lvl2p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pic>
        <p:nvPicPr>
          <p:cNvPr id="302081" name="Picture 1" descr="E:\resume\logo-tsinghua.jpg"/>
          <p:cNvPicPr>
            <a:picLocks noChangeAspect="1" noChangeArrowheads="1"/>
          </p:cNvPicPr>
          <p:nvPr userDrawn="1"/>
        </p:nvPicPr>
        <p:blipFill>
          <a:blip r:embed="rId3" cstate="print"/>
          <a:srcRect/>
          <a:stretch>
            <a:fillRect/>
          </a:stretch>
        </p:blipFill>
        <p:spPr bwMode="auto">
          <a:xfrm>
            <a:off x="9135414" y="90152"/>
            <a:ext cx="2727375" cy="643813"/>
          </a:xfrm>
          <a:prstGeom prst="rect">
            <a:avLst/>
          </a:prstGeom>
          <a:noFill/>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800"/>
          </a:p>
        </p:txBody>
      </p:sp>
      <p:sp useBgFill="1">
        <p:nvSpPr>
          <p:cNvPr id="10" name="Rounded Rectangle 9"/>
          <p:cNvSpPr/>
          <p:nvPr/>
        </p:nvSpPr>
        <p:spPr>
          <a:xfrm>
            <a:off x="87084" y="69756"/>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sz="1800"/>
          </a:p>
        </p:txBody>
      </p:sp>
      <p:sp>
        <p:nvSpPr>
          <p:cNvPr id="2" name="Title 1"/>
          <p:cNvSpPr>
            <a:spLocks noGrp="1"/>
          </p:cNvSpPr>
          <p:nvPr>
            <p:ph type="title"/>
          </p:nvPr>
        </p:nvSpPr>
        <p:spPr>
          <a:xfrm>
            <a:off x="963084" y="952501"/>
            <a:ext cx="103632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963084" y="2547938"/>
            <a:ext cx="103632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25629C65-C267-4342-9116-A00B6E7C55AD}" type="datetime1">
              <a:rPr lang="en-US" altLang="zh-CN" smtClean="0"/>
              <a:pPr/>
              <a:t>4/27/26</a:t>
            </a:fld>
            <a:endParaRPr lang="en-US"/>
          </a:p>
        </p:txBody>
      </p:sp>
      <p:sp>
        <p:nvSpPr>
          <p:cNvPr id="5" name="Footer Placeholder 4"/>
          <p:cNvSpPr>
            <a:spLocks noGrp="1"/>
          </p:cNvSpPr>
          <p:nvPr>
            <p:ph type="ftr" sz="quarter" idx="11"/>
          </p:nvPr>
        </p:nvSpPr>
        <p:spPr>
          <a:xfrm>
            <a:off x="1066800" y="6172200"/>
            <a:ext cx="5334000" cy="457200"/>
          </a:xfrm>
        </p:spPr>
        <p:txBody>
          <a:bodyPr/>
          <a:lstStyle/>
          <a:p>
            <a:endParaRPr lang="en-US"/>
          </a:p>
        </p:txBody>
      </p:sp>
      <p:sp>
        <p:nvSpPr>
          <p:cNvPr id="7" name="Rectangle 6"/>
          <p:cNvSpPr/>
          <p:nvPr/>
        </p:nvSpPr>
        <p:spPr>
          <a:xfrm flipV="1">
            <a:off x="92550" y="2376830"/>
            <a:ext cx="1201802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Rectangle 7"/>
          <p:cNvSpPr/>
          <p:nvPr/>
        </p:nvSpPr>
        <p:spPr>
          <a:xfrm>
            <a:off x="92195" y="2341476"/>
            <a:ext cx="12018375"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Rectangle 8"/>
          <p:cNvSpPr/>
          <p:nvPr/>
        </p:nvSpPr>
        <p:spPr>
          <a:xfrm>
            <a:off x="91075" y="2468880"/>
            <a:ext cx="12019495"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6" name="Slide Number Placeholder 5"/>
          <p:cNvSpPr>
            <a:spLocks noGrp="1"/>
          </p:cNvSpPr>
          <p:nvPr>
            <p:ph type="sldNum" sz="quarter" idx="12"/>
          </p:nvPr>
        </p:nvSpPr>
        <p:spPr>
          <a:xfrm>
            <a:off x="195072" y="6208776"/>
            <a:ext cx="609600" cy="457200"/>
          </a:xfrm>
        </p:spPr>
        <p:txBody>
          <a:bodyPr/>
          <a:lstStyle/>
          <a:p>
            <a:fld id="{5501D8D0-7646-4D22-887C-459A4F2FEB61}"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BC48BA6D-2268-450C-9E6F-6553A2809D14}" type="datetime1">
              <a:rPr lang="en-US" altLang="zh-CN" smtClean="0"/>
              <a:pPr/>
              <a:t>4/27/26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501D8D0-7646-4D22-887C-459A4F2FEB61}" type="slidenum">
              <a:rPr lang="en-US" smtClean="0"/>
              <a:pPr/>
              <a:t>‹#›</a:t>
            </a:fld>
            <a:endParaRPr lang="en-US"/>
          </a:p>
        </p:txBody>
      </p:sp>
      <p:sp>
        <p:nvSpPr>
          <p:cNvPr id="9" name="Content Placeholder 8"/>
          <p:cNvSpPr>
            <a:spLocks noGrp="1"/>
          </p:cNvSpPr>
          <p:nvPr>
            <p:ph sz="quarter" idx="1"/>
          </p:nvPr>
        </p:nvSpPr>
        <p:spPr>
          <a:xfrm>
            <a:off x="1219200" y="1447800"/>
            <a:ext cx="499872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578600" y="1447800"/>
            <a:ext cx="499872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19200" y="273050"/>
            <a:ext cx="103632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1219200" y="1447800"/>
            <a:ext cx="49784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604000" y="1447800"/>
            <a:ext cx="49784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81976173-FFAF-40B2-BD71-0C474124F5CA}" type="datetime1">
              <a:rPr lang="en-US" altLang="zh-CN" smtClean="0"/>
              <a:pPr/>
              <a:t>4/27/26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501D8D0-7646-4D22-887C-459A4F2FEB61}" type="slidenum">
              <a:rPr lang="en-US" smtClean="0"/>
              <a:pPr/>
              <a:t>‹#›</a:t>
            </a:fld>
            <a:endParaRPr lang="en-US"/>
          </a:p>
        </p:txBody>
      </p:sp>
      <p:sp>
        <p:nvSpPr>
          <p:cNvPr id="11" name="Content Placeholder 10"/>
          <p:cNvSpPr>
            <a:spLocks noGrp="1"/>
          </p:cNvSpPr>
          <p:nvPr>
            <p:ph sz="half" idx="2"/>
          </p:nvPr>
        </p:nvSpPr>
        <p:spPr>
          <a:xfrm>
            <a:off x="1219200" y="2247900"/>
            <a:ext cx="49784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6604000" y="2247900"/>
            <a:ext cx="49784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02EAAC5F-3C7D-47E2-8137-0D0E13270C17}" type="datetime1">
              <a:rPr lang="en-US" altLang="zh-CN" smtClean="0"/>
              <a:pPr/>
              <a:t>4/27/26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501D8D0-7646-4D22-887C-459A4F2FEB61}"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9B44C75-2845-4A49-8407-B10E57DDCB66}" type="datetime1">
              <a:rPr lang="en-US" altLang="zh-CN" smtClean="0"/>
              <a:pPr/>
              <a:t>4/27/26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501D8D0-7646-4D22-887C-459A4F2FEB6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12192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useBgFill="1">
        <p:nvSpPr>
          <p:cNvPr id="9" name="Rounded Rectangle 8"/>
          <p:cNvSpPr/>
          <p:nvPr/>
        </p:nvSpPr>
        <p:spPr>
          <a:xfrm>
            <a:off x="85344" y="69755"/>
            <a:ext cx="12017829"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sz="1800"/>
          </a:p>
        </p:txBody>
      </p:sp>
      <p:sp>
        <p:nvSpPr>
          <p:cNvPr id="2" name="Title 1"/>
          <p:cNvSpPr>
            <a:spLocks noGrp="1"/>
          </p:cNvSpPr>
          <p:nvPr>
            <p:ph type="title"/>
          </p:nvPr>
        </p:nvSpPr>
        <p:spPr>
          <a:xfrm>
            <a:off x="1219200" y="273050"/>
            <a:ext cx="103632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1219200" y="1600200"/>
            <a:ext cx="2540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A49D93C6-C0E5-4C94-83B0-EBE524181AA9}" type="datetime1">
              <a:rPr lang="en-US" altLang="zh-CN" smtClean="0"/>
              <a:pPr/>
              <a:t>4/27/26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501D8D0-7646-4D22-887C-459A4F2FEB61}" type="slidenum">
              <a:rPr lang="en-US" smtClean="0"/>
              <a:pPr/>
              <a:t>‹#›</a:t>
            </a:fld>
            <a:endParaRPr lang="en-US"/>
          </a:p>
        </p:txBody>
      </p:sp>
      <p:sp>
        <p:nvSpPr>
          <p:cNvPr id="11" name="Content Placeholder 10"/>
          <p:cNvSpPr>
            <a:spLocks noGrp="1"/>
          </p:cNvSpPr>
          <p:nvPr>
            <p:ph sz="quarter" idx="1"/>
          </p:nvPr>
        </p:nvSpPr>
        <p:spPr>
          <a:xfrm>
            <a:off x="3962400" y="1600200"/>
            <a:ext cx="7620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9200" y="4900550"/>
            <a:ext cx="97536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1219200" y="5445825"/>
            <a:ext cx="97536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D5A46CFF-7119-486E-A242-14937EB72380}" type="datetime1">
              <a:rPr lang="en-US" altLang="zh-CN" smtClean="0"/>
              <a:pPr/>
              <a:t>4/27/26</a:t>
            </a:fld>
            <a:endParaRPr lang="en-US"/>
          </a:p>
        </p:txBody>
      </p:sp>
      <p:sp>
        <p:nvSpPr>
          <p:cNvPr id="6" name="Footer Placeholder 5"/>
          <p:cNvSpPr>
            <a:spLocks noGrp="1"/>
          </p:cNvSpPr>
          <p:nvPr>
            <p:ph type="ftr" sz="quarter" idx="11"/>
          </p:nvPr>
        </p:nvSpPr>
        <p:spPr>
          <a:xfrm>
            <a:off x="1219200" y="6172200"/>
            <a:ext cx="5181600" cy="457200"/>
          </a:xfrm>
        </p:spPr>
        <p:txBody>
          <a:bodyPr/>
          <a:lstStyle/>
          <a:p>
            <a:endParaRPr lang="en-US"/>
          </a:p>
        </p:txBody>
      </p:sp>
      <p:sp>
        <p:nvSpPr>
          <p:cNvPr id="7" name="Slide Number Placeholder 6"/>
          <p:cNvSpPr>
            <a:spLocks noGrp="1"/>
          </p:cNvSpPr>
          <p:nvPr>
            <p:ph type="sldNum" sz="quarter" idx="12"/>
          </p:nvPr>
        </p:nvSpPr>
        <p:spPr>
          <a:xfrm>
            <a:off x="195072" y="6208776"/>
            <a:ext cx="609600" cy="457200"/>
          </a:xfrm>
        </p:spPr>
        <p:txBody>
          <a:bodyPr/>
          <a:lstStyle/>
          <a:p>
            <a:fld id="{5501D8D0-7646-4D22-887C-459A4F2FEB61}" type="slidenum">
              <a:rPr lang="en-US" smtClean="0"/>
              <a:pPr/>
              <a:t>‹#›</a:t>
            </a:fld>
            <a:endParaRPr lang="en-US"/>
          </a:p>
        </p:txBody>
      </p:sp>
      <p:sp>
        <p:nvSpPr>
          <p:cNvPr id="11" name="Rectangle 10"/>
          <p:cNvSpPr/>
          <p:nvPr/>
        </p:nvSpPr>
        <p:spPr>
          <a:xfrm flipV="1">
            <a:off x="91076" y="4683555"/>
            <a:ext cx="1200912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2" name="Rectangle 11"/>
          <p:cNvSpPr/>
          <p:nvPr/>
        </p:nvSpPr>
        <p:spPr>
          <a:xfrm>
            <a:off x="91345" y="4650475"/>
            <a:ext cx="12008852"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3" name="Rectangle 12"/>
          <p:cNvSpPr/>
          <p:nvPr/>
        </p:nvSpPr>
        <p:spPr>
          <a:xfrm>
            <a:off x="91348" y="4773225"/>
            <a:ext cx="12008849"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 name="Picture Placeholder 2"/>
          <p:cNvSpPr>
            <a:spLocks noGrp="1"/>
          </p:cNvSpPr>
          <p:nvPr>
            <p:ph type="pic" idx="1"/>
          </p:nvPr>
        </p:nvSpPr>
        <p:spPr>
          <a:xfrm>
            <a:off x="91078" y="66676"/>
            <a:ext cx="12002497"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C97D574-52BE-4187-8AF7-E201A70CB6DC}" type="datetime1">
              <a:rPr lang="en-US" altLang="zh-CN" smtClean="0"/>
              <a:pPr/>
              <a:t>4/27/26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01D8D0-7646-4D22-887C-459A4F2FEB6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2"/>
            <a:ext cx="268224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219200" y="274641"/>
            <a:ext cx="7416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6CC6442-F0BB-4DBA-B030-4A0192701801}" type="datetime1">
              <a:rPr lang="en-US" altLang="zh-CN" smtClean="0"/>
              <a:pPr/>
              <a:t>4/27/26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01D8D0-7646-4D22-887C-459A4F2FEB61}"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800"/>
          </a:p>
        </p:txBody>
      </p:sp>
      <p:sp useBgFill="1">
        <p:nvSpPr>
          <p:cNvPr id="8" name="Rounded Rectangle 7"/>
          <p:cNvSpPr/>
          <p:nvPr/>
        </p:nvSpPr>
        <p:spPr>
          <a:xfrm>
            <a:off x="85344" y="69755"/>
            <a:ext cx="12017829"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sz="1800"/>
          </a:p>
        </p:txBody>
      </p:sp>
      <p:sp>
        <p:nvSpPr>
          <p:cNvPr id="22" name="Title Placeholder 21"/>
          <p:cNvSpPr>
            <a:spLocks noGrp="1"/>
          </p:cNvSpPr>
          <p:nvPr>
            <p:ph type="title"/>
          </p:nvPr>
        </p:nvSpPr>
        <p:spPr>
          <a:xfrm>
            <a:off x="1219200" y="274638"/>
            <a:ext cx="103632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1219200" y="1447800"/>
            <a:ext cx="103632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229600" y="6191250"/>
            <a:ext cx="3302000" cy="476250"/>
          </a:xfrm>
          <a:prstGeom prst="rect">
            <a:avLst/>
          </a:prstGeom>
        </p:spPr>
        <p:txBody>
          <a:bodyPr anchor="ctr" anchorCtr="0"/>
          <a:lstStyle>
            <a:lvl1pPr algn="r" eaLnBrk="1" latinLnBrk="0" hangingPunct="1">
              <a:defRPr kumimoji="0" sz="1400">
                <a:solidFill>
                  <a:schemeClr val="tx2"/>
                </a:solidFill>
              </a:defRPr>
            </a:lvl1pPr>
          </a:lstStyle>
          <a:p>
            <a:fld id="{917F057F-A64E-4BDF-9C5A-7B9C1755BBD0}" type="datetime1">
              <a:rPr lang="en-US" altLang="zh-CN" smtClean="0"/>
              <a:pPr/>
              <a:t>4/27/26</a:t>
            </a:fld>
            <a:endParaRPr lang="en-US"/>
          </a:p>
        </p:txBody>
      </p:sp>
      <p:sp>
        <p:nvSpPr>
          <p:cNvPr id="3" name="Footer Placeholder 2"/>
          <p:cNvSpPr>
            <a:spLocks noGrp="1"/>
          </p:cNvSpPr>
          <p:nvPr>
            <p:ph type="ftr" sz="quarter" idx="3"/>
          </p:nvPr>
        </p:nvSpPr>
        <p:spPr>
          <a:xfrm>
            <a:off x="1219200" y="6172200"/>
            <a:ext cx="52832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95072" y="6210300"/>
            <a:ext cx="6096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5501D8D0-7646-4D22-887C-459A4F2FEB6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hf sldNum="0" hdr="0" ft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310.png"/><Relationship Id="rId3" Type="http://schemas.openxmlformats.org/officeDocument/2006/relationships/image" Target="../media/image9.png"/><Relationship Id="rId7" Type="http://schemas.openxmlformats.org/officeDocument/2006/relationships/image" Target="../media/image1260.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160.png"/><Relationship Id="rId5" Type="http://schemas.openxmlformats.org/officeDocument/2006/relationships/image" Target="../media/image1010.png"/><Relationship Id="rId4" Type="http://schemas.openxmlformats.org/officeDocument/2006/relationships/image" Target="../media/image910.png"/><Relationship Id="rId9" Type="http://schemas.openxmlformats.org/officeDocument/2006/relationships/image" Target="../media/image148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9.png"/><Relationship Id="rId7" Type="http://schemas.openxmlformats.org/officeDocument/2006/relationships/image" Target="../media/image18.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s/_rels/slide10.xml.rels><?xml version="1.0" encoding="UTF-8" standalone="yes"?>
<Relationships xmlns="http://schemas.openxmlformats.org/package/2006/relationships"><Relationship Id="rId8" Type="http://schemas.openxmlformats.org/officeDocument/2006/relationships/image" Target="../media/image212.png"/><Relationship Id="rId3" Type="http://schemas.openxmlformats.org/officeDocument/2006/relationships/image" Target="../media/image22.png"/><Relationship Id="rId7" Type="http://schemas.openxmlformats.org/officeDocument/2006/relationships/image" Target="../media/image202.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193.png"/><Relationship Id="rId5" Type="http://schemas.openxmlformats.org/officeDocument/2006/relationships/image" Target="../media/image183.png"/><Relationship Id="rId4" Type="http://schemas.openxmlformats.org/officeDocument/2006/relationships/image" Target="../media/image171.png"/></Relationships>
</file>

<file path=ppt/slides/_rels/slide1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100.png"/><Relationship Id="rId7"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1400.png"/><Relationship Id="rId5" Type="http://schemas.openxmlformats.org/officeDocument/2006/relationships/image" Target="../media/image1300.png"/><Relationship Id="rId4" Type="http://schemas.openxmlformats.org/officeDocument/2006/relationships/image" Target="../media/image1200.pn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180.png"/></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32.jpeg"/><Relationship Id="rId5" Type="http://schemas.openxmlformats.org/officeDocument/2006/relationships/image" Target="../media/image1670.png"/><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NULL"/><Relationship Id="rId7" Type="http://schemas.openxmlformats.org/officeDocument/2006/relationships/image" Target="NULL"/><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s>
</file>

<file path=ppt/slides/_rels/slide24.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35.png"/><Relationship Id="rId1" Type="http://schemas.openxmlformats.org/officeDocument/2006/relationships/slideLayout" Target="../slideLayouts/slideLayout2.xml"/><Relationship Id="rId5" Type="http://schemas.openxmlformats.org/officeDocument/2006/relationships/image" Target="NULL"/><Relationship Id="rId4" Type="http://schemas.openxmlformats.org/officeDocument/2006/relationships/image" Target="NULL"/></Relationships>
</file>

<file path=ppt/slides/_rels/slide25.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26.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27.xml.rels><?xml version="1.0" encoding="UTF-8" standalone="yes"?>
<Relationships xmlns="http://schemas.openxmlformats.org/package/2006/relationships"><Relationship Id="rId3" Type="http://schemas.openxmlformats.org/officeDocument/2006/relationships/image" Target="NULL"/><Relationship Id="rId7" Type="http://schemas.openxmlformats.org/officeDocument/2006/relationships/image" Target="../media/image280.png"/><Relationship Id="rId2"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2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87.png"/></Relationships>
</file>

<file path=ppt/slides/_rels/slide29.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30.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NULL"/></Relationships>
</file>

<file path=ppt/slides/_rels/slide31.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32.xml.rels><?xml version="1.0" encoding="UTF-8" standalone="yes"?>
<Relationships xmlns="http://schemas.openxmlformats.org/package/2006/relationships"><Relationship Id="rId3" Type="http://schemas.openxmlformats.org/officeDocument/2006/relationships/image" Target="../media/image19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slideLayout" Target="../slideLayouts/slideLayout7.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image" Target="../media/image45.pn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image" Target="../media/image44.png"/><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44.xml.rels><?xml version="1.0" encoding="UTF-8" standalone="yes"?>
<Relationships xmlns="http://schemas.openxmlformats.org/package/2006/relationships"><Relationship Id="rId8" Type="http://schemas.openxmlformats.org/officeDocument/2006/relationships/tags" Target="../tags/tag25.xml"/><Relationship Id="rId13" Type="http://schemas.openxmlformats.org/officeDocument/2006/relationships/tags" Target="../tags/tag30.xml"/><Relationship Id="rId18" Type="http://schemas.openxmlformats.org/officeDocument/2006/relationships/slideLayout" Target="../slideLayouts/slideLayout7.xml"/><Relationship Id="rId3" Type="http://schemas.openxmlformats.org/officeDocument/2006/relationships/tags" Target="../tags/tag20.xml"/><Relationship Id="rId7" Type="http://schemas.openxmlformats.org/officeDocument/2006/relationships/tags" Target="../tags/tag24.xml"/><Relationship Id="rId12" Type="http://schemas.openxmlformats.org/officeDocument/2006/relationships/tags" Target="../tags/tag29.xml"/><Relationship Id="rId17" Type="http://schemas.openxmlformats.org/officeDocument/2006/relationships/tags" Target="../tags/tag34.xml"/><Relationship Id="rId2" Type="http://schemas.openxmlformats.org/officeDocument/2006/relationships/tags" Target="../tags/tag19.xml"/><Relationship Id="rId16" Type="http://schemas.openxmlformats.org/officeDocument/2006/relationships/tags" Target="../tags/tag33.xml"/><Relationship Id="rId20" Type="http://schemas.openxmlformats.org/officeDocument/2006/relationships/image" Target="../media/image45.png"/><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tags" Target="../tags/tag28.xml"/><Relationship Id="rId5" Type="http://schemas.openxmlformats.org/officeDocument/2006/relationships/tags" Target="../tags/tag22.xml"/><Relationship Id="rId15" Type="http://schemas.openxmlformats.org/officeDocument/2006/relationships/tags" Target="../tags/tag32.xml"/><Relationship Id="rId10" Type="http://schemas.openxmlformats.org/officeDocument/2006/relationships/tags" Target="../tags/tag27.xml"/><Relationship Id="rId19" Type="http://schemas.openxmlformats.org/officeDocument/2006/relationships/image" Target="../media/image46.png"/><Relationship Id="rId4" Type="http://schemas.openxmlformats.org/officeDocument/2006/relationships/tags" Target="../tags/tag21.xml"/><Relationship Id="rId9" Type="http://schemas.openxmlformats.org/officeDocument/2006/relationships/tags" Target="../tags/tag26.xml"/><Relationship Id="rId14" Type="http://schemas.openxmlformats.org/officeDocument/2006/relationships/tags" Target="../tags/tag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ctrTitle"/>
          </p:nvPr>
        </p:nvSpPr>
        <p:spPr/>
        <p:txBody>
          <a:bodyPr/>
          <a:lstStyle/>
          <a:p>
            <a:r>
              <a:rPr lang="zh-CN" altLang="en-US" dirty="0">
                <a:solidFill>
                  <a:srgbClr val="000000"/>
                </a:solidFill>
              </a:rPr>
              <a:t>循环神经网络</a:t>
            </a:r>
          </a:p>
        </p:txBody>
      </p:sp>
      <p:sp>
        <p:nvSpPr>
          <p:cNvPr id="4" name="副标题 3"/>
          <p:cNvSpPr>
            <a:spLocks noGrp="1"/>
          </p:cNvSpPr>
          <p:nvPr>
            <p:ph type="subTitle" idx="1"/>
          </p:nvPr>
        </p:nvSpPr>
        <p:spPr>
          <a:xfrm>
            <a:off x="2819400" y="3200400"/>
            <a:ext cx="6400800" cy="2320834"/>
          </a:xfrm>
        </p:spPr>
        <p:txBody>
          <a:bodyPr>
            <a:normAutofit/>
          </a:bodyPr>
          <a:lstStyle/>
          <a:p>
            <a:endParaRPr lang="en-US" altLang="zh-CN" b="1" dirty="0"/>
          </a:p>
          <a:p>
            <a:endParaRPr lang="en-US" altLang="zh-CN" b="1" dirty="0"/>
          </a:p>
          <a:p>
            <a:r>
              <a:rPr lang="zh-CN" altLang="en-US" b="1" dirty="0">
                <a:latin typeface="华文楷体" panose="02010600040101010101" pitchFamily="2" charset="-122"/>
                <a:ea typeface="华文楷体" panose="02010600040101010101" pitchFamily="2" charset="-122"/>
              </a:rPr>
              <a:t>清华大学 计算机系</a:t>
            </a:r>
            <a:endParaRPr lang="en-US" altLang="zh-CN" b="1" dirty="0">
              <a:latin typeface="华文楷体" panose="02010600040101010101" pitchFamily="2" charset="-122"/>
              <a:ea typeface="华文楷体" panose="02010600040101010101" pitchFamily="2" charset="-122"/>
            </a:endParaRPr>
          </a:p>
          <a:p>
            <a:r>
              <a:rPr lang="zh-CN" altLang="en-US" b="1" dirty="0">
                <a:latin typeface="华文楷体" panose="02010600040101010101" pitchFamily="2" charset="-122"/>
                <a:ea typeface="华文楷体" panose="02010600040101010101" pitchFamily="2" charset="-122"/>
              </a:rPr>
              <a:t>王宏宁</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a:t>
            </a:r>
            <a:r>
              <a:rPr lang="en-US" altLang="zh-CN"/>
              <a:t>.8 </a:t>
            </a:r>
            <a:r>
              <a:rPr lang="zh-CN" altLang="en-US" dirty="0"/>
              <a:t>循环神经网络（</a:t>
            </a:r>
            <a:r>
              <a:rPr lang="en-US" altLang="zh-CN" dirty="0"/>
              <a:t>RNN: </a:t>
            </a:r>
            <a:r>
              <a:rPr lang="en-US" altLang="zh-CN" b="0" dirty="0"/>
              <a:t>Recurrent Neural Network</a:t>
            </a:r>
            <a:r>
              <a:rPr lang="zh-CN" altLang="en-US" dirty="0"/>
              <a:t>）</a:t>
            </a:r>
          </a:p>
        </p:txBody>
      </p:sp>
      <p:sp>
        <p:nvSpPr>
          <p:cNvPr id="3" name="内容占位符 2"/>
          <p:cNvSpPr>
            <a:spLocks noGrp="1"/>
          </p:cNvSpPr>
          <p:nvPr>
            <p:ph sz="quarter" idx="1"/>
          </p:nvPr>
        </p:nvSpPr>
        <p:spPr>
          <a:xfrm>
            <a:off x="1219200" y="1662485"/>
            <a:ext cx="10363200" cy="4572000"/>
          </a:xfrm>
        </p:spPr>
        <p:txBody>
          <a:bodyPr/>
          <a:lstStyle/>
          <a:p>
            <a:r>
              <a:rPr lang="zh-CN" altLang="en-US" dirty="0"/>
              <a:t>数据角度</a:t>
            </a:r>
            <a:endParaRPr lang="en-US" altLang="zh-CN" dirty="0"/>
          </a:p>
          <a:p>
            <a:pPr lvl="1"/>
            <a:r>
              <a:rPr lang="zh-CN" altLang="en-US" dirty="0"/>
              <a:t>序列数据</a:t>
            </a:r>
            <a:endParaRPr lang="en-US" altLang="zh-CN" dirty="0"/>
          </a:p>
          <a:p>
            <a:pPr lvl="2"/>
            <a:r>
              <a:rPr lang="zh-CN" altLang="en-US" dirty="0"/>
              <a:t>数据之间有先后联系</a:t>
            </a:r>
            <a:endParaRPr lang="en-US" altLang="zh-CN" dirty="0"/>
          </a:p>
          <a:p>
            <a:pPr lvl="2"/>
            <a:r>
              <a:rPr lang="zh-CN" altLang="en-US" dirty="0"/>
              <a:t>语音、文本</a:t>
            </a:r>
            <a:r>
              <a:rPr lang="en-US" altLang="zh-CN" dirty="0"/>
              <a:t>…</a:t>
            </a:r>
          </a:p>
          <a:p>
            <a:pPr>
              <a:spcBef>
                <a:spcPts val="1800"/>
              </a:spcBef>
            </a:pPr>
            <a:r>
              <a:rPr lang="zh-CN" altLang="en-US" dirty="0"/>
              <a:t>网络结构角度</a:t>
            </a:r>
            <a:endParaRPr lang="en-US" altLang="zh-CN" dirty="0"/>
          </a:p>
          <a:p>
            <a:pPr lvl="1"/>
            <a:r>
              <a:rPr lang="zh-CN" altLang="en-US" dirty="0"/>
              <a:t>前向网络</a:t>
            </a:r>
            <a:endParaRPr lang="en-US" altLang="zh-CN" dirty="0"/>
          </a:p>
          <a:p>
            <a:pPr lvl="1"/>
            <a:r>
              <a:rPr lang="zh-CN" altLang="en-US" dirty="0"/>
              <a:t>反向网络</a:t>
            </a:r>
            <a:endParaRPr lang="en-US" altLang="zh-CN" dirty="0"/>
          </a:p>
          <a:p>
            <a:pPr>
              <a:spcBef>
                <a:spcPts val="1800"/>
              </a:spcBef>
            </a:pPr>
            <a:r>
              <a:rPr lang="zh-CN" altLang="en-US" dirty="0"/>
              <a:t>表示角度</a:t>
            </a:r>
            <a:endParaRPr lang="en-US" altLang="zh-CN" dirty="0"/>
          </a:p>
          <a:p>
            <a:pPr lvl="1"/>
            <a:r>
              <a:rPr lang="zh-CN" altLang="en-US" dirty="0"/>
              <a:t>句子向量、序列向量</a:t>
            </a:r>
          </a:p>
        </p:txBody>
      </p:sp>
    </p:spTree>
    <p:extLst>
      <p:ext uri="{BB962C8B-B14F-4D97-AF65-F5344CB8AC3E}">
        <p14:creationId xmlns:p14="http://schemas.microsoft.com/office/powerpoint/2010/main" val="1872361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从句子理解说起</a:t>
            </a:r>
          </a:p>
        </p:txBody>
      </p:sp>
      <p:sp>
        <p:nvSpPr>
          <p:cNvPr id="3" name="内容占位符 2"/>
          <p:cNvSpPr>
            <a:spLocks noGrp="1"/>
          </p:cNvSpPr>
          <p:nvPr>
            <p:ph sz="quarter" idx="1"/>
          </p:nvPr>
        </p:nvSpPr>
        <p:spPr/>
        <p:txBody>
          <a:bodyPr/>
          <a:lstStyle/>
          <a:p>
            <a:endParaRPr lang="en-US" altLang="zh-CN" dirty="0"/>
          </a:p>
          <a:p>
            <a:r>
              <a:rPr lang="zh-CN" altLang="en-US" dirty="0"/>
              <a:t>句子的理解过程</a:t>
            </a:r>
            <a:endParaRPr lang="en-US" altLang="zh-CN" dirty="0"/>
          </a:p>
          <a:p>
            <a:endParaRPr lang="en-US" altLang="zh-CN" dirty="0"/>
          </a:p>
          <a:p>
            <a:pPr marL="0" indent="0">
              <a:buNone/>
            </a:pPr>
            <a:r>
              <a:rPr lang="en-US" altLang="zh-CN" dirty="0"/>
              <a:t>    </a:t>
            </a:r>
            <a:r>
              <a:rPr lang="zh-CN" altLang="en-US" dirty="0"/>
              <a:t>我非常喜欢这部城市题材电影</a:t>
            </a:r>
          </a:p>
        </p:txBody>
      </p:sp>
    </p:spTree>
    <p:extLst>
      <p:ext uri="{BB962C8B-B14F-4D97-AF65-F5344CB8AC3E}">
        <p14:creationId xmlns:p14="http://schemas.microsoft.com/office/powerpoint/2010/main" val="18669270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rcRect l="2565"/>
          <a:stretch>
            <a:fillRect/>
          </a:stretch>
        </p:blipFill>
        <p:spPr>
          <a:xfrm>
            <a:off x="1663700" y="1053548"/>
            <a:ext cx="8527614" cy="4381169"/>
          </a:xfrm>
          <a:prstGeom prst="rect">
            <a:avLst/>
          </a:prstGeom>
        </p:spPr>
      </p:pic>
      <p:sp>
        <p:nvSpPr>
          <p:cNvPr id="5" name="矩形 4"/>
          <p:cNvSpPr/>
          <p:nvPr/>
        </p:nvSpPr>
        <p:spPr>
          <a:xfrm>
            <a:off x="691765" y="2941981"/>
            <a:ext cx="1559013" cy="2488760"/>
          </a:xfrm>
          <a:prstGeom prst="rect">
            <a:avLst/>
          </a:prstGeom>
          <a:solidFill>
            <a:schemeClr val="bg1">
              <a:alpha val="79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矩形 6"/>
          <p:cNvSpPr/>
          <p:nvPr/>
        </p:nvSpPr>
        <p:spPr>
          <a:xfrm>
            <a:off x="2224711" y="2647784"/>
            <a:ext cx="1290326" cy="2786933"/>
          </a:xfrm>
          <a:prstGeom prst="rect">
            <a:avLst/>
          </a:prstGeom>
          <a:solidFill>
            <a:schemeClr val="bg1">
              <a:alpha val="79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矩形 7"/>
          <p:cNvSpPr/>
          <p:nvPr/>
        </p:nvSpPr>
        <p:spPr>
          <a:xfrm>
            <a:off x="3442804" y="2353586"/>
            <a:ext cx="1264258" cy="3081131"/>
          </a:xfrm>
          <a:prstGeom prst="rect">
            <a:avLst/>
          </a:prstGeom>
          <a:solidFill>
            <a:schemeClr val="bg1">
              <a:alpha val="79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9" name="矩形 8"/>
          <p:cNvSpPr/>
          <p:nvPr/>
        </p:nvSpPr>
        <p:spPr>
          <a:xfrm>
            <a:off x="4707063" y="2353586"/>
            <a:ext cx="1329414" cy="3081131"/>
          </a:xfrm>
          <a:prstGeom prst="rect">
            <a:avLst/>
          </a:prstGeom>
          <a:solidFill>
            <a:schemeClr val="bg1">
              <a:alpha val="79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 name="矩形 9"/>
          <p:cNvSpPr/>
          <p:nvPr/>
        </p:nvSpPr>
        <p:spPr>
          <a:xfrm>
            <a:off x="5947577" y="2043486"/>
            <a:ext cx="954155" cy="3395206"/>
          </a:xfrm>
          <a:prstGeom prst="rect">
            <a:avLst/>
          </a:prstGeom>
          <a:solidFill>
            <a:schemeClr val="bg1">
              <a:alpha val="79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 name="矩形 10"/>
          <p:cNvSpPr/>
          <p:nvPr/>
        </p:nvSpPr>
        <p:spPr>
          <a:xfrm>
            <a:off x="6901733" y="2043486"/>
            <a:ext cx="1192028" cy="3387255"/>
          </a:xfrm>
          <a:prstGeom prst="rect">
            <a:avLst/>
          </a:prstGeom>
          <a:solidFill>
            <a:schemeClr val="bg1">
              <a:alpha val="79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2" name="矩形 11"/>
          <p:cNvSpPr/>
          <p:nvPr/>
        </p:nvSpPr>
        <p:spPr>
          <a:xfrm>
            <a:off x="8093760" y="1482928"/>
            <a:ext cx="1192027" cy="3808114"/>
          </a:xfrm>
          <a:prstGeom prst="rect">
            <a:avLst/>
          </a:prstGeom>
          <a:solidFill>
            <a:schemeClr val="bg1">
              <a:alpha val="79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矩形 12"/>
          <p:cNvSpPr/>
          <p:nvPr/>
        </p:nvSpPr>
        <p:spPr>
          <a:xfrm>
            <a:off x="4268054" y="2043486"/>
            <a:ext cx="1679522" cy="310100"/>
          </a:xfrm>
          <a:prstGeom prst="rect">
            <a:avLst/>
          </a:prstGeom>
          <a:solidFill>
            <a:schemeClr val="bg1">
              <a:alpha val="79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 name="矩形 13"/>
          <p:cNvSpPr/>
          <p:nvPr/>
        </p:nvSpPr>
        <p:spPr>
          <a:xfrm>
            <a:off x="5222209" y="1733386"/>
            <a:ext cx="2252813" cy="310100"/>
          </a:xfrm>
          <a:prstGeom prst="rect">
            <a:avLst/>
          </a:prstGeom>
          <a:solidFill>
            <a:schemeClr val="bg1">
              <a:alpha val="79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5" name="矩形 14"/>
          <p:cNvSpPr/>
          <p:nvPr/>
        </p:nvSpPr>
        <p:spPr>
          <a:xfrm>
            <a:off x="5770849" y="1482927"/>
            <a:ext cx="2750851" cy="242508"/>
          </a:xfrm>
          <a:prstGeom prst="rect">
            <a:avLst/>
          </a:prstGeom>
          <a:solidFill>
            <a:schemeClr val="bg1">
              <a:alpha val="79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 name="矩形 15"/>
          <p:cNvSpPr/>
          <p:nvPr/>
        </p:nvSpPr>
        <p:spPr>
          <a:xfrm>
            <a:off x="6677298" y="1113189"/>
            <a:ext cx="3241402" cy="310097"/>
          </a:xfrm>
          <a:prstGeom prst="rect">
            <a:avLst/>
          </a:prstGeom>
          <a:solidFill>
            <a:schemeClr val="bg1">
              <a:alpha val="79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 name="矩形 16"/>
          <p:cNvSpPr/>
          <p:nvPr/>
        </p:nvSpPr>
        <p:spPr>
          <a:xfrm>
            <a:off x="8387207" y="1433225"/>
            <a:ext cx="478413" cy="314073"/>
          </a:xfrm>
          <a:prstGeom prst="rect">
            <a:avLst/>
          </a:prstGeom>
          <a:solidFill>
            <a:schemeClr val="bg1">
              <a:alpha val="79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8" name="矩形 17"/>
          <p:cNvSpPr/>
          <p:nvPr/>
        </p:nvSpPr>
        <p:spPr>
          <a:xfrm>
            <a:off x="7298295" y="1721462"/>
            <a:ext cx="478413" cy="314073"/>
          </a:xfrm>
          <a:prstGeom prst="rect">
            <a:avLst/>
          </a:prstGeom>
          <a:solidFill>
            <a:schemeClr val="bg1">
              <a:alpha val="79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171136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hidden"/>
                                      </p:to>
                                    </p:set>
                                  </p:childTnLst>
                                </p:cTn>
                              </p:par>
                              <p:par>
                                <p:cTn id="19" presetID="1" presetClass="exit"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hidden"/>
                                      </p:to>
                                    </p:set>
                                  </p:childTnLst>
                                </p:cTn>
                              </p:par>
                              <p:par>
                                <p:cTn id="25" presetID="1" presetClass="exit"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hidden"/>
                                      </p:to>
                                    </p:set>
                                  </p:childTnLst>
                                </p:cTn>
                              </p:par>
                              <p:par>
                                <p:cTn id="31" presetID="1" presetClass="exit"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hidden"/>
                                      </p:to>
                                    </p:set>
                                  </p:childTnLst>
                                </p:cTn>
                              </p:par>
                              <p:par>
                                <p:cTn id="33" presetID="1" presetClass="exit"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hidden"/>
                                      </p:to>
                                    </p:set>
                                  </p:childTnLst>
                                </p:cTn>
                              </p:par>
                              <p:par>
                                <p:cTn id="39" presetID="1" presetClass="exit"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hidden"/>
                                      </p:to>
                                    </p:set>
                                  </p:childTnLst>
                                </p:cTn>
                              </p:par>
                              <p:par>
                                <p:cTn id="41" presetID="1" presetClass="exit"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8C9A8-0460-6145-7CA5-74DA4AE10B39}"/>
              </a:ext>
            </a:extLst>
          </p:cNvPr>
          <p:cNvSpPr>
            <a:spLocks noGrp="1"/>
          </p:cNvSpPr>
          <p:nvPr>
            <p:ph type="title"/>
          </p:nvPr>
        </p:nvSpPr>
        <p:spPr/>
        <p:txBody>
          <a:bodyPr/>
          <a:lstStyle/>
          <a:p>
            <a:r>
              <a:rPr lang="en-US" dirty="0" err="1">
                <a:latin typeface="Microsoft YaHei" panose="020B0503020204020204" pitchFamily="34" charset="-122"/>
                <a:ea typeface="Microsoft YaHei" panose="020B0503020204020204" pitchFamily="34" charset="-122"/>
              </a:rPr>
              <a:t>状态空间模型</a:t>
            </a:r>
            <a:r>
              <a:rPr lang="zh-CN" altLang="en-US" dirty="0">
                <a:latin typeface="Microsoft YaHei" panose="020B0503020204020204" pitchFamily="34" charset="-122"/>
                <a:ea typeface="Microsoft YaHei" panose="020B0503020204020204" pitchFamily="34" charset="-122"/>
              </a:rPr>
              <a:t>：控制论对于物理世界的经典建模手段</a:t>
            </a:r>
            <a:endParaRPr lang="en-US" dirty="0">
              <a:latin typeface="Microsoft YaHei" panose="020B0503020204020204" pitchFamily="34" charset="-122"/>
              <a:ea typeface="Microsoft YaHei" panose="020B0503020204020204" pitchFamily="34" charset="-122"/>
            </a:endParaRPr>
          </a:p>
        </p:txBody>
      </p:sp>
      <p:sp>
        <p:nvSpPr>
          <p:cNvPr id="3" name="Content Placeholder 2">
            <a:extLst>
              <a:ext uri="{FF2B5EF4-FFF2-40B4-BE49-F238E27FC236}">
                <a16:creationId xmlns:a16="http://schemas.microsoft.com/office/drawing/2014/main" id="{2DC6B13C-F5EC-FD4D-B644-57F7F60A959D}"/>
              </a:ext>
            </a:extLst>
          </p:cNvPr>
          <p:cNvSpPr>
            <a:spLocks noGrp="1"/>
          </p:cNvSpPr>
          <p:nvPr>
            <p:ph sz="quarter" idx="1"/>
          </p:nvPr>
        </p:nvSpPr>
        <p:spPr/>
        <p:txBody>
          <a:bodyPr/>
          <a:lstStyle/>
          <a:p>
            <a:r>
              <a:rPr lang="en-US" dirty="0" err="1"/>
              <a:t>状态向量</a:t>
            </a:r>
            <a:r>
              <a:rPr lang="en-US" altLang="zh-CN" dirty="0" err="1"/>
              <a:t>x</a:t>
            </a:r>
            <a:r>
              <a:rPr lang="en-US" altLang="zh-CN" dirty="0"/>
              <a:t>,</a:t>
            </a:r>
            <a:r>
              <a:rPr lang="zh-CN" altLang="en-US" dirty="0"/>
              <a:t> 输出向量</a:t>
            </a:r>
            <a:r>
              <a:rPr lang="en-US" altLang="zh-CN" dirty="0"/>
              <a:t>y</a:t>
            </a:r>
            <a:endParaRPr lang="en-US" dirty="0"/>
          </a:p>
        </p:txBody>
      </p:sp>
      <p:pic>
        <p:nvPicPr>
          <p:cNvPr id="1026" name="Picture 2" descr="undefined">
            <a:extLst>
              <a:ext uri="{FF2B5EF4-FFF2-40B4-BE49-F238E27FC236}">
                <a16:creationId xmlns:a16="http://schemas.microsoft.com/office/drawing/2014/main" id="{C9B9D080-4E53-C7FE-E153-5B623DCB2A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4400" y="2044700"/>
            <a:ext cx="8432800" cy="31623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781D7F9C-D51C-3FE7-AC85-A6D3994D2170}"/>
              </a:ext>
            </a:extLst>
          </p:cNvPr>
          <p:cNvPicPr>
            <a:picLocks noChangeAspect="1"/>
          </p:cNvPicPr>
          <p:nvPr/>
        </p:nvPicPr>
        <p:blipFill>
          <a:blip r:embed="rId3"/>
          <a:stretch>
            <a:fillRect/>
          </a:stretch>
        </p:blipFill>
        <p:spPr>
          <a:xfrm>
            <a:off x="4436485" y="5410200"/>
            <a:ext cx="3599152" cy="944039"/>
          </a:xfrm>
          <a:prstGeom prst="rect">
            <a:avLst/>
          </a:prstGeom>
        </p:spPr>
      </p:pic>
      <p:sp>
        <p:nvSpPr>
          <p:cNvPr id="5" name="TextBox 4">
            <a:extLst>
              <a:ext uri="{FF2B5EF4-FFF2-40B4-BE49-F238E27FC236}">
                <a16:creationId xmlns:a16="http://schemas.microsoft.com/office/drawing/2014/main" id="{642E9F36-440E-C10B-13B2-7A429C0FE29A}"/>
              </a:ext>
            </a:extLst>
          </p:cNvPr>
          <p:cNvSpPr txBox="1"/>
          <p:nvPr/>
        </p:nvSpPr>
        <p:spPr>
          <a:xfrm>
            <a:off x="1803400" y="5752068"/>
            <a:ext cx="2895600" cy="369332"/>
          </a:xfrm>
          <a:prstGeom prst="rect">
            <a:avLst/>
          </a:prstGeom>
          <a:noFill/>
        </p:spPr>
        <p:txBody>
          <a:bodyPr wrap="square" rtlCol="0">
            <a:spAutoFit/>
          </a:bodyPr>
          <a:lstStyle/>
          <a:p>
            <a:r>
              <a:rPr lang="en-US" b="1" dirty="0" err="1"/>
              <a:t>线性系统的一般性模型</a:t>
            </a:r>
            <a:endParaRPr lang="en-US" b="1" dirty="0"/>
          </a:p>
        </p:txBody>
      </p:sp>
    </p:spTree>
    <p:extLst>
      <p:ext uri="{BB962C8B-B14F-4D97-AF65-F5344CB8AC3E}">
        <p14:creationId xmlns:p14="http://schemas.microsoft.com/office/powerpoint/2010/main" val="3906019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970058" y="1351721"/>
            <a:ext cx="7903103" cy="4079020"/>
          </a:xfrm>
          <a:prstGeom prst="rect">
            <a:avLst/>
          </a:prstGeom>
        </p:spPr>
      </p:pic>
      <p:sp>
        <p:nvSpPr>
          <p:cNvPr id="5" name="矩形 4"/>
          <p:cNvSpPr/>
          <p:nvPr/>
        </p:nvSpPr>
        <p:spPr>
          <a:xfrm>
            <a:off x="970058" y="2790908"/>
            <a:ext cx="803082" cy="1622064"/>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矩形 5"/>
          <p:cNvSpPr/>
          <p:nvPr/>
        </p:nvSpPr>
        <p:spPr>
          <a:xfrm>
            <a:off x="2409244" y="2790908"/>
            <a:ext cx="803082" cy="1622064"/>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矩形 6"/>
          <p:cNvSpPr/>
          <p:nvPr/>
        </p:nvSpPr>
        <p:spPr>
          <a:xfrm>
            <a:off x="6702948" y="2790908"/>
            <a:ext cx="803082" cy="1622064"/>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矩形 7"/>
          <p:cNvSpPr/>
          <p:nvPr/>
        </p:nvSpPr>
        <p:spPr>
          <a:xfrm>
            <a:off x="8075432" y="2790908"/>
            <a:ext cx="803082" cy="1622064"/>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9" name="文本框 8"/>
          <p:cNvSpPr txBox="1"/>
          <p:nvPr/>
        </p:nvSpPr>
        <p:spPr>
          <a:xfrm>
            <a:off x="9501808" y="1259144"/>
            <a:ext cx="1470991"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序列状态的</a:t>
            </a:r>
            <a:endParaRPr kumimoji="0" lang="en-US" altLang="zh-CN"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向量表示</a:t>
            </a:r>
          </a:p>
        </p:txBody>
      </p:sp>
      <p:cxnSp>
        <p:nvCxnSpPr>
          <p:cNvPr id="10" name="直接箭头连接符 9"/>
          <p:cNvCxnSpPr/>
          <p:nvPr/>
        </p:nvCxnSpPr>
        <p:spPr>
          <a:xfrm flipH="1">
            <a:off x="8690776" y="1582310"/>
            <a:ext cx="811033" cy="8746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D965E1C-2C34-E754-6A63-A78D79B0C6A1}"/>
              </a:ext>
            </a:extLst>
          </p:cNvPr>
          <p:cNvSpPr>
            <a:spLocks noGrp="1"/>
          </p:cNvSpPr>
          <p:nvPr>
            <p:ph type="title"/>
          </p:nvPr>
        </p:nvSpPr>
        <p:spPr/>
        <p:txBody>
          <a:bodyPr/>
          <a:lstStyle/>
          <a:p>
            <a:r>
              <a:rPr lang="en-US" dirty="0" err="1">
                <a:latin typeface="Microsoft YaHei" panose="020B0503020204020204" pitchFamily="34" charset="-122"/>
                <a:ea typeface="Microsoft YaHei" panose="020B0503020204020204" pitchFamily="34" charset="-122"/>
              </a:rPr>
              <a:t>使用神经网络进行实现</a:t>
            </a:r>
            <a:endParaRPr lang="en-US" dirty="0">
              <a:latin typeface="Microsoft YaHei" panose="020B0503020204020204" pitchFamily="34" charset="-122"/>
              <a:ea typeface="Microsoft YaHei" panose="020B0503020204020204" pitchFamily="34" charset="-122"/>
            </a:endParaRPr>
          </a:p>
        </p:txBody>
      </p:sp>
      <p:grpSp>
        <p:nvGrpSpPr>
          <p:cNvPr id="30" name="Group 29">
            <a:extLst>
              <a:ext uri="{FF2B5EF4-FFF2-40B4-BE49-F238E27FC236}">
                <a16:creationId xmlns:a16="http://schemas.microsoft.com/office/drawing/2014/main" id="{8D847FD5-C144-6F4C-7F29-F34A941D8B8D}"/>
              </a:ext>
            </a:extLst>
          </p:cNvPr>
          <p:cNvGrpSpPr/>
          <p:nvPr/>
        </p:nvGrpSpPr>
        <p:grpSpPr>
          <a:xfrm>
            <a:off x="1938456" y="1851166"/>
            <a:ext cx="6235088" cy="1567442"/>
            <a:chOff x="1938456" y="1851166"/>
            <a:chExt cx="6235088" cy="1567442"/>
          </a:xfrm>
        </p:grpSpPr>
        <p:sp>
          <p:nvSpPr>
            <p:cNvPr id="3" name="Rectangle 2">
              <a:extLst>
                <a:ext uri="{FF2B5EF4-FFF2-40B4-BE49-F238E27FC236}">
                  <a16:creationId xmlns:a16="http://schemas.microsoft.com/office/drawing/2014/main" id="{EE3D498D-11CF-A91F-4CDC-26FC0B59EC72}"/>
                </a:ext>
              </a:extLst>
            </p:cNvPr>
            <p:cNvSpPr/>
            <p:nvPr/>
          </p:nvSpPr>
          <p:spPr>
            <a:xfrm>
              <a:off x="3408218" y="2992581"/>
              <a:ext cx="519545" cy="42602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en-US" dirty="0" err="1">
                <a:solidFill>
                  <a:schemeClr val="tx1"/>
                </a:solidFill>
                <a:latin typeface="Times New Roman" panose="02020603050405020304" pitchFamily="18" charset="0"/>
                <a:cs typeface="Times New Roman" panose="02020603050405020304" pitchFamily="18" charset="0"/>
              </a:endParaRPr>
            </a:p>
          </p:txBody>
        </p:sp>
        <p:grpSp>
          <p:nvGrpSpPr>
            <p:cNvPr id="17" name="Group 16">
              <a:extLst>
                <a:ext uri="{FF2B5EF4-FFF2-40B4-BE49-F238E27FC236}">
                  <a16:creationId xmlns:a16="http://schemas.microsoft.com/office/drawing/2014/main" id="{04EFB124-F461-30BA-E625-8AB945E3508B}"/>
                </a:ext>
              </a:extLst>
            </p:cNvPr>
            <p:cNvGrpSpPr/>
            <p:nvPr/>
          </p:nvGrpSpPr>
          <p:grpSpPr>
            <a:xfrm>
              <a:off x="3667991" y="1851166"/>
              <a:ext cx="2465555" cy="1141415"/>
              <a:chOff x="3667991" y="1851166"/>
              <a:chExt cx="2465555" cy="1141415"/>
            </a:xfrm>
          </p:grpSpPr>
          <p:sp>
            <p:nvSpPr>
              <p:cNvPr id="11" name="文本框 8">
                <a:extLst>
                  <a:ext uri="{FF2B5EF4-FFF2-40B4-BE49-F238E27FC236}">
                    <a16:creationId xmlns:a16="http://schemas.microsoft.com/office/drawing/2014/main" id="{28AFB344-F30A-16F0-EA4D-E99692894CDE}"/>
                  </a:ext>
                </a:extLst>
              </p:cNvPr>
              <p:cNvSpPr txBox="1"/>
              <p:nvPr/>
            </p:nvSpPr>
            <p:spPr>
              <a:xfrm>
                <a:off x="4021282" y="1851166"/>
                <a:ext cx="2112264"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状态转移控制参数，</a:t>
                </a:r>
                <a:r>
                  <a:rPr kumimoji="0" lang="zh-CN" altLang="en-US" sz="2000" b="1" i="0" u="sng" strike="noStrike" kern="1200" cap="none" spc="0" normalizeH="0" baseline="0" noProof="0" dirty="0">
                    <a:ln>
                      <a:noFill/>
                    </a:ln>
                    <a:solidFill>
                      <a:srgbClr val="FF0000"/>
                    </a:solidFill>
                    <a:effectLst/>
                    <a:uLnTx/>
                    <a:uFillTx/>
                    <a:latin typeface="Perpetua"/>
                    <a:ea typeface="宋体" panose="02010600030101010101" pitchFamily="2" charset="-122"/>
                    <a:cs typeface="+mn-cs"/>
                  </a:rPr>
                  <a:t>全局共享</a:t>
                </a:r>
              </a:p>
            </p:txBody>
          </p:sp>
          <p:cxnSp>
            <p:nvCxnSpPr>
              <p:cNvPr id="13" name="Straight Arrow Connector 12">
                <a:extLst>
                  <a:ext uri="{FF2B5EF4-FFF2-40B4-BE49-F238E27FC236}">
                    <a16:creationId xmlns:a16="http://schemas.microsoft.com/office/drawing/2014/main" id="{715375F3-3CB8-3505-7AA0-764ECE707B82}"/>
                  </a:ext>
                </a:extLst>
              </p:cNvPr>
              <p:cNvCxnSpPr>
                <a:cxnSpLocks/>
                <a:stCxn id="11" idx="1"/>
                <a:endCxn id="3" idx="0"/>
              </p:cNvCxnSpPr>
              <p:nvPr/>
            </p:nvCxnSpPr>
            <p:spPr>
              <a:xfrm flipH="1">
                <a:off x="3667991" y="2205109"/>
                <a:ext cx="353291" cy="78747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19" name="Rectangle 18">
              <a:extLst>
                <a:ext uri="{FF2B5EF4-FFF2-40B4-BE49-F238E27FC236}">
                  <a16:creationId xmlns:a16="http://schemas.microsoft.com/office/drawing/2014/main" id="{E1F2FEC2-2FF7-2A1A-994C-C5C243110368}"/>
                </a:ext>
              </a:extLst>
            </p:cNvPr>
            <p:cNvSpPr/>
            <p:nvPr/>
          </p:nvSpPr>
          <p:spPr>
            <a:xfrm>
              <a:off x="1938456" y="2843869"/>
              <a:ext cx="519545" cy="42602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en-US" dirty="0" err="1">
                <a:solidFill>
                  <a:schemeClr val="tx1"/>
                </a:solidFill>
                <a:latin typeface="Times New Roman" panose="02020603050405020304" pitchFamily="18" charset="0"/>
                <a:cs typeface="Times New Roman" panose="02020603050405020304" pitchFamily="18" charset="0"/>
              </a:endParaRPr>
            </a:p>
          </p:txBody>
        </p:sp>
        <p:sp>
          <p:nvSpPr>
            <p:cNvPr id="20" name="Rectangle 19">
              <a:extLst>
                <a:ext uri="{FF2B5EF4-FFF2-40B4-BE49-F238E27FC236}">
                  <a16:creationId xmlns:a16="http://schemas.microsoft.com/office/drawing/2014/main" id="{AF15A477-7A5A-764F-4AAE-E45D12364D64}"/>
                </a:ext>
              </a:extLst>
            </p:cNvPr>
            <p:cNvSpPr/>
            <p:nvPr/>
          </p:nvSpPr>
          <p:spPr>
            <a:xfrm>
              <a:off x="6199670" y="2964873"/>
              <a:ext cx="519545" cy="42602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en-US" dirty="0" err="1">
                <a:solidFill>
                  <a:schemeClr val="tx1"/>
                </a:solidFill>
                <a:latin typeface="Times New Roman" panose="02020603050405020304" pitchFamily="18" charset="0"/>
                <a:cs typeface="Times New Roman" panose="02020603050405020304" pitchFamily="18" charset="0"/>
              </a:endParaRPr>
            </a:p>
          </p:txBody>
        </p:sp>
        <p:sp>
          <p:nvSpPr>
            <p:cNvPr id="21" name="Rectangle 20">
              <a:extLst>
                <a:ext uri="{FF2B5EF4-FFF2-40B4-BE49-F238E27FC236}">
                  <a16:creationId xmlns:a16="http://schemas.microsoft.com/office/drawing/2014/main" id="{B4E246C8-D4B1-9F33-8E70-705CB1D62C08}"/>
                </a:ext>
              </a:extLst>
            </p:cNvPr>
            <p:cNvSpPr/>
            <p:nvPr/>
          </p:nvSpPr>
          <p:spPr>
            <a:xfrm>
              <a:off x="7653999" y="2923713"/>
              <a:ext cx="519545" cy="42602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en-US" dirty="0" err="1">
                <a:solidFill>
                  <a:schemeClr val="tx1"/>
                </a:solidFill>
                <a:latin typeface="Times New Roman" panose="02020603050405020304" pitchFamily="18" charset="0"/>
                <a:cs typeface="Times New Roman" panose="02020603050405020304" pitchFamily="18" charset="0"/>
              </a:endParaRPr>
            </a:p>
          </p:txBody>
        </p:sp>
        <p:cxnSp>
          <p:nvCxnSpPr>
            <p:cNvPr id="22" name="Straight Arrow Connector 21">
              <a:extLst>
                <a:ext uri="{FF2B5EF4-FFF2-40B4-BE49-F238E27FC236}">
                  <a16:creationId xmlns:a16="http://schemas.microsoft.com/office/drawing/2014/main" id="{048BF613-DA27-82E9-95EA-CC1797010195}"/>
                </a:ext>
              </a:extLst>
            </p:cNvPr>
            <p:cNvCxnSpPr>
              <a:cxnSpLocks/>
              <a:endCxn id="19" idx="0"/>
            </p:cNvCxnSpPr>
            <p:nvPr/>
          </p:nvCxnSpPr>
          <p:spPr>
            <a:xfrm flipH="1">
              <a:off x="2198229" y="2180524"/>
              <a:ext cx="1817700" cy="66334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519AC942-5533-F36C-999B-5A47281386F8}"/>
                </a:ext>
              </a:extLst>
            </p:cNvPr>
            <p:cNvCxnSpPr>
              <a:cxnSpLocks/>
            </p:cNvCxnSpPr>
            <p:nvPr/>
          </p:nvCxnSpPr>
          <p:spPr>
            <a:xfrm>
              <a:off x="5943270" y="2302130"/>
              <a:ext cx="1984193" cy="61086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4DBD66C-7D3A-B5BD-BA53-99CBCCCEF470}"/>
                </a:ext>
              </a:extLst>
            </p:cNvPr>
            <p:cNvCxnSpPr>
              <a:cxnSpLocks/>
            </p:cNvCxnSpPr>
            <p:nvPr/>
          </p:nvCxnSpPr>
          <p:spPr>
            <a:xfrm>
              <a:off x="5948623" y="2286952"/>
              <a:ext cx="449525" cy="63676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06258063"/>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6"/>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7"/>
                                        </p:tgtEl>
                                        <p:attrNameLst>
                                          <p:attrName>style.visibility</p:attrName>
                                        </p:attrNameLst>
                                      </p:cBhvr>
                                      <p:to>
                                        <p:strVal val="hidden"/>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1" nodeType="clickEffect">
                                  <p:stCondLst>
                                    <p:cond delay="0"/>
                                  </p:stCondLst>
                                  <p:childTnLst>
                                    <p:set>
                                      <p:cBhvr>
                                        <p:cTn id="28" dur="1" fill="hold">
                                          <p:stCondLst>
                                            <p:cond delay="0"/>
                                          </p:stCondLst>
                                        </p:cTn>
                                        <p:tgtEl>
                                          <p:spTgt spid="8"/>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P spid="7" grpId="0" animBg="1"/>
      <p:bldP spid="7" grpId="1" animBg="1"/>
      <p:bldP spid="8" grpId="0" animBg="1"/>
      <p:bldP spid="8" grpId="1" animBg="1"/>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图片 52"/>
          <p:cNvPicPr>
            <a:picLocks noChangeAspect="1"/>
          </p:cNvPicPr>
          <p:nvPr/>
        </p:nvPicPr>
        <p:blipFill>
          <a:blip r:embed="rId2"/>
          <a:stretch>
            <a:fillRect/>
          </a:stretch>
        </p:blipFill>
        <p:spPr>
          <a:xfrm>
            <a:off x="886429" y="1717483"/>
            <a:ext cx="7116063" cy="3108960"/>
          </a:xfrm>
          <a:prstGeom prst="rect">
            <a:avLst/>
          </a:prstGeom>
        </p:spPr>
      </p:pic>
      <p:sp>
        <p:nvSpPr>
          <p:cNvPr id="54" name="矩形 53"/>
          <p:cNvSpPr/>
          <p:nvPr/>
        </p:nvSpPr>
        <p:spPr>
          <a:xfrm>
            <a:off x="779214" y="2441052"/>
            <a:ext cx="7688911" cy="2512612"/>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7" name="矩形 56"/>
          <p:cNvSpPr/>
          <p:nvPr/>
        </p:nvSpPr>
        <p:spPr>
          <a:xfrm>
            <a:off x="9724431" y="817901"/>
            <a:ext cx="1614116" cy="2009871"/>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58" name="直接箭头连接符 57"/>
          <p:cNvCxnSpPr/>
          <p:nvPr/>
        </p:nvCxnSpPr>
        <p:spPr>
          <a:xfrm flipH="1">
            <a:off x="8543537" y="1963974"/>
            <a:ext cx="1056247" cy="58044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73" name="图片 72"/>
          <p:cNvPicPr>
            <a:picLocks noChangeAspect="1"/>
          </p:cNvPicPr>
          <p:nvPr/>
        </p:nvPicPr>
        <p:blipFill>
          <a:blip r:embed="rId3"/>
          <a:stretch>
            <a:fillRect/>
          </a:stretch>
        </p:blipFill>
        <p:spPr>
          <a:xfrm>
            <a:off x="9874259" y="877536"/>
            <a:ext cx="1314460" cy="1962164"/>
          </a:xfrm>
          <a:prstGeom prst="rect">
            <a:avLst/>
          </a:prstGeom>
        </p:spPr>
      </p:pic>
      <p:pic>
        <p:nvPicPr>
          <p:cNvPr id="74" name="图片 73"/>
          <p:cNvPicPr>
            <a:picLocks noChangeAspect="1"/>
          </p:cNvPicPr>
          <p:nvPr/>
        </p:nvPicPr>
        <p:blipFill>
          <a:blip r:embed="rId3"/>
          <a:stretch>
            <a:fillRect/>
          </a:stretch>
        </p:blipFill>
        <p:spPr>
          <a:xfrm>
            <a:off x="3262451" y="163087"/>
            <a:ext cx="3779116" cy="5641286"/>
          </a:xfrm>
          <a:prstGeom prst="rect">
            <a:avLst/>
          </a:prstGeom>
        </p:spPr>
      </p:pic>
      <p:sp>
        <p:nvSpPr>
          <p:cNvPr id="75" name="右大括号 74"/>
          <p:cNvSpPr/>
          <p:nvPr/>
        </p:nvSpPr>
        <p:spPr>
          <a:xfrm rot="5400000">
            <a:off x="4237727" y="2506892"/>
            <a:ext cx="492981" cy="5338820"/>
          </a:xfrm>
          <a:prstGeom prst="rightBrace">
            <a:avLst>
              <a:gd name="adj1" fmla="val 14348"/>
              <a:gd name="adj2" fmla="val 50000"/>
            </a:avLst>
          </a:pr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76" name="文本框 75"/>
          <p:cNvSpPr txBox="1"/>
          <p:nvPr/>
        </p:nvSpPr>
        <p:spPr>
          <a:xfrm>
            <a:off x="4192703" y="5518129"/>
            <a:ext cx="76005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0B050"/>
                </a:solidFill>
                <a:effectLst/>
                <a:uLnTx/>
                <a:uFillTx/>
                <a:latin typeface="Perpetua"/>
                <a:ea typeface="宋体" panose="02010600030101010101" pitchFamily="2" charset="-122"/>
                <a:cs typeface="+mn-cs"/>
              </a:rPr>
              <a:t>输入</a:t>
            </a:r>
          </a:p>
        </p:txBody>
      </p:sp>
      <p:sp>
        <p:nvSpPr>
          <p:cNvPr id="77" name="文本框 76"/>
          <p:cNvSpPr txBox="1"/>
          <p:nvPr/>
        </p:nvSpPr>
        <p:spPr>
          <a:xfrm>
            <a:off x="10119973" y="2926081"/>
            <a:ext cx="1216549"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循环</a:t>
            </a:r>
            <a:r>
              <a:rPr kumimoji="0" lang="zh-CN" altLang="en-US" sz="1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模块</a:t>
            </a:r>
          </a:p>
        </p:txBody>
      </p:sp>
      <p:sp>
        <p:nvSpPr>
          <p:cNvPr id="78" name="文本框 77"/>
          <p:cNvSpPr txBox="1"/>
          <p:nvPr/>
        </p:nvSpPr>
        <p:spPr>
          <a:xfrm>
            <a:off x="4675355" y="5734947"/>
            <a:ext cx="121654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循环</a:t>
            </a:r>
            <a:r>
              <a:rPr kumimoji="0" lang="zh-CN" altLang="en-US" sz="18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模块</a:t>
            </a:r>
          </a:p>
        </p:txBody>
      </p:sp>
      <p:sp>
        <p:nvSpPr>
          <p:cNvPr id="79" name="文本框 78"/>
          <p:cNvSpPr txBox="1"/>
          <p:nvPr/>
        </p:nvSpPr>
        <p:spPr>
          <a:xfrm>
            <a:off x="3935886" y="3591667"/>
            <a:ext cx="99391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0B050"/>
                </a:solidFill>
                <a:effectLst/>
                <a:uLnTx/>
                <a:uFillTx/>
                <a:latin typeface="Perpetua"/>
                <a:ea typeface="宋体" panose="02010600030101010101" pitchFamily="2" charset="-122"/>
                <a:cs typeface="+mn-cs"/>
              </a:rPr>
              <a:t>全连接</a:t>
            </a:r>
          </a:p>
        </p:txBody>
      </p:sp>
      <mc:AlternateContent xmlns:mc="http://schemas.openxmlformats.org/markup-compatibility/2006" xmlns:a14="http://schemas.microsoft.com/office/drawing/2010/main">
        <mc:Choice Requires="a14">
          <p:sp>
            <p:nvSpPr>
              <p:cNvPr id="2" name="矩形 1"/>
              <p:cNvSpPr/>
              <p:nvPr/>
            </p:nvSpPr>
            <p:spPr>
              <a:xfrm>
                <a:off x="2017561" y="842962"/>
                <a:ext cx="6268896" cy="82400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eqArr>
                        <m:eqArrPr>
                          <m:ctrlPr>
                            <a:rPr kumimoji="0" lang="zh-CN" altLang="en-US"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eqArrPr>
                        <m:e>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h</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𝑘</m:t>
                              </m:r>
                            </m:sub>
                            <m:sup>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sup>
                          </m:sSubSup>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r>
                            <m:rPr>
                              <m:sty m:val="p"/>
                            </m:rP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tan</m:t>
                          </m:r>
                          <m:r>
                            <m:rPr>
                              <m:sty m:val="p"/>
                            </m:rPr>
                            <a:rPr kumimoji="0" lang="en-US" altLang="zh-CN" sz="1800" b="0" i="0" u="none" strike="noStrike" kern="1200" cap="none" spc="0" normalizeH="0" baseline="0" noProof="0">
                              <a:ln>
                                <a:noFill/>
                              </a:ln>
                              <a:solidFill>
                                <a:srgbClr val="FF0000"/>
                              </a:solidFill>
                              <a:effectLst/>
                              <a:uLnTx/>
                              <a:uFillTx/>
                              <a:latin typeface="Cambria Math" panose="02040503050406030204" pitchFamily="18" charset="0"/>
                              <a:cs typeface="+mn-cs"/>
                            </a:rPr>
                            <m:t>h</m:t>
                          </m:r>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𝑤</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𝑘</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sub>
                          </m:s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h</m:t>
                              </m:r>
                            </m:e>
                            <m: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𝑤</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𝑘</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,2</m:t>
                              </m:r>
                            </m:sub>
                          </m:s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h</m:t>
                              </m:r>
                            </m:e>
                            <m: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2</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𝑤</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𝑘</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𝑚</m:t>
                              </m:r>
                            </m:sub>
                          </m:s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h</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𝑚</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    </m:t>
                          </m:r>
                        </m:e>
                        <m:e>
                          <m:sSub>
                            <m:sSub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𝑢</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𝑘</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sub>
                          </m:s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𝑥</m:t>
                              </m:r>
                            </m:e>
                            <m: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𝑢</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𝑘</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,2</m:t>
                              </m:r>
                            </m:sub>
                          </m:s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𝑥</m:t>
                              </m:r>
                            </m:e>
                            <m: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2</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𝑢</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𝑘</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𝑛</m:t>
                              </m:r>
                            </m:sub>
                          </m:s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𝑥</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𝑛</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e>
                              </m:d>
                            </m:sup>
                          </m:sSubSup>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e>
                      </m:eqArr>
                    </m:oMath>
                  </m:oMathPara>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2" name="矩形 1"/>
              <p:cNvSpPr>
                <a:spLocks noRot="1" noChangeAspect="1" noMove="1" noResize="1" noEditPoints="1" noAdjustHandles="1" noChangeArrowheads="1" noChangeShapeType="1" noTextEdit="1"/>
              </p:cNvSpPr>
              <p:nvPr/>
            </p:nvSpPr>
            <p:spPr>
              <a:xfrm>
                <a:off x="2017561" y="842962"/>
                <a:ext cx="6268896" cy="824008"/>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矩形 2"/>
              <p:cNvSpPr/>
              <p:nvPr/>
            </p:nvSpPr>
            <p:spPr>
              <a:xfrm>
                <a:off x="3166115" y="2156440"/>
                <a:ext cx="803490" cy="3808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p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h</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𝑖</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p>
                      </m:sSup>
                    </m:oMath>
                  </m:oMathPara>
                </a14:m>
                <a:endParaRPr kumimoji="0" lang="zh-CN" altLang="en-US" sz="18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mc:Choice>
        <mc:Fallback xmlns="">
          <p:sp>
            <p:nvSpPr>
              <p:cNvPr id="3" name="矩形 2"/>
              <p:cNvSpPr>
                <a:spLocks noRot="1" noChangeAspect="1" noMove="1" noResize="1" noEditPoints="1" noAdjustHandles="1" noChangeArrowheads="1" noChangeShapeType="1" noTextEdit="1"/>
              </p:cNvSpPr>
              <p:nvPr/>
            </p:nvSpPr>
            <p:spPr>
              <a:xfrm>
                <a:off x="3166115" y="2156440"/>
                <a:ext cx="803490" cy="380810"/>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p:cNvSpPr/>
              <p:nvPr/>
            </p:nvSpPr>
            <p:spPr>
              <a:xfrm>
                <a:off x="9724431" y="1380096"/>
                <a:ext cx="598304" cy="28469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pPr>
                        <m:e>
                          <m:r>
                            <a:rPr kumimoji="0" lang="en-US" altLang="zh-CN" sz="1200" b="0" i="1" u="none" strike="noStrike" kern="1200" cap="none" spc="0" normalizeH="0" baseline="0" noProof="0">
                              <a:ln>
                                <a:noFill/>
                              </a:ln>
                              <a:solidFill>
                                <a:prstClr val="black"/>
                              </a:solidFill>
                              <a:effectLst/>
                              <a:uLnTx/>
                              <a:uFillTx/>
                              <a:latin typeface="Cambria Math" panose="02040503050406030204" pitchFamily="18" charset="0"/>
                              <a:cs typeface="+mn-cs"/>
                            </a:rPr>
                            <m:t>h</m:t>
                          </m:r>
                        </m:e>
                        <m:sup>
                          <m:r>
                            <a:rPr kumimoji="0" lang="en-US" altLang="zh-CN" sz="12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𝑖</m:t>
                          </m:r>
                          <m:r>
                            <a:rPr kumimoji="0" lang="en-US" altLang="zh-CN"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p>
                      </m:sSup>
                    </m:oMath>
                  </m:oMathPara>
                </a14:m>
                <a:endParaRPr kumimoji="0" lang="zh-CN" altLang="en-US" sz="12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mc:Choice>
        <mc:Fallback xmlns="">
          <p:sp>
            <p:nvSpPr>
              <p:cNvPr id="15" name="矩形 14"/>
              <p:cNvSpPr>
                <a:spLocks noRot="1" noChangeAspect="1" noMove="1" noResize="1" noEditPoints="1" noAdjustHandles="1" noChangeArrowheads="1" noChangeShapeType="1" noTextEdit="1"/>
              </p:cNvSpPr>
              <p:nvPr/>
            </p:nvSpPr>
            <p:spPr>
              <a:xfrm>
                <a:off x="9724431" y="1380096"/>
                <a:ext cx="598304" cy="284693"/>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p:cNvSpPr/>
              <p:nvPr/>
            </p:nvSpPr>
            <p:spPr>
              <a:xfrm>
                <a:off x="5622057" y="3079969"/>
                <a:ext cx="2613252" cy="45903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p>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up>
                      </m:sSup>
                      <m:r>
                        <a:rPr kumimoji="0" lang="zh-CN" altLang="en-US" sz="16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6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SupPr>
                            <m:e>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b>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b>
                            <m:sup>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up>
                          </m:sSubSup>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SubSup>
                            <m:sSubSupPr>
                              <m:ctrlPr>
                                <a:rPr kumimoji="0" lang="en-US" altLang="zh-CN" sz="16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b>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2</m:t>
                              </m:r>
                            </m:sub>
                            <m:sup>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up>
                          </m:sSubSup>
                          <m:r>
                            <a:rPr kumimoji="0" lang="en-US" altLang="zh-CN" sz="16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 …,</m:t>
                          </m:r>
                          <m:sSubSup>
                            <m:sSubSupPr>
                              <m:ctrlPr>
                                <a:rPr kumimoji="0" lang="en-US" altLang="zh-CN" sz="16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b>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𝑚</m:t>
                              </m:r>
                            </m:sub>
                            <m:sup>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up>
                          </m:sSubSup>
                        </m:e>
                      </m:d>
                    </m:oMath>
                  </m:oMathPara>
                </a14:m>
                <a:endParaRPr kumimoji="0" lang="zh-CN" altLang="en-US" sz="16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16" name="矩形 15"/>
              <p:cNvSpPr>
                <a:spLocks noRot="1" noChangeAspect="1" noMove="1" noResize="1" noEditPoints="1" noAdjustHandles="1" noChangeArrowheads="1" noChangeShapeType="1" noTextEdit="1"/>
              </p:cNvSpPr>
              <p:nvPr/>
            </p:nvSpPr>
            <p:spPr>
              <a:xfrm>
                <a:off x="5622057" y="3079969"/>
                <a:ext cx="2613252" cy="459036"/>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矩形 16"/>
              <p:cNvSpPr/>
              <p:nvPr/>
            </p:nvSpPr>
            <p:spPr>
              <a:xfrm>
                <a:off x="4826960" y="5421824"/>
                <a:ext cx="2613252" cy="45903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p>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up>
                      </m:sSup>
                      <m:r>
                        <a:rPr kumimoji="0" lang="zh-CN" altLang="en-US" sz="16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6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SupPr>
                            <m:e>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b>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b>
                            <m:sup>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up>
                          </m:sSubSup>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SubSup>
                            <m:sSubSupPr>
                              <m:ctrlPr>
                                <a:rPr kumimoji="0" lang="en-US" altLang="zh-CN" sz="16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b>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2</m:t>
                              </m:r>
                            </m:sub>
                            <m:sup>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up>
                          </m:sSubSup>
                          <m:r>
                            <a:rPr kumimoji="0" lang="en-US" altLang="zh-CN" sz="16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 …,</m:t>
                          </m:r>
                          <m:sSubSup>
                            <m:sSubSupPr>
                              <m:ctrlPr>
                                <a:rPr kumimoji="0" lang="en-US" altLang="zh-CN" sz="16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b>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𝑛</m:t>
                              </m:r>
                            </m:sub>
                            <m:sup>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up>
                          </m:sSubSup>
                        </m:e>
                      </m:d>
                    </m:oMath>
                  </m:oMathPara>
                </a14:m>
                <a:endParaRPr kumimoji="0" lang="zh-CN" altLang="en-US" sz="16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17" name="矩形 16"/>
              <p:cNvSpPr>
                <a:spLocks noRot="1" noChangeAspect="1" noMove="1" noResize="1" noEditPoints="1" noAdjustHandles="1" noChangeArrowheads="1" noChangeShapeType="1" noTextEdit="1"/>
              </p:cNvSpPr>
              <p:nvPr/>
            </p:nvSpPr>
            <p:spPr>
              <a:xfrm>
                <a:off x="4826960" y="5421824"/>
                <a:ext cx="2613252" cy="459036"/>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矩形 19"/>
              <p:cNvSpPr/>
              <p:nvPr/>
            </p:nvSpPr>
            <p:spPr>
              <a:xfrm>
                <a:off x="1007508" y="5402270"/>
                <a:ext cx="3269202" cy="45903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p>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p>
                      </m:sSup>
                      <m:r>
                        <a:rPr kumimoji="0" lang="zh-CN" altLang="en-US" sz="16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6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SupPr>
                            <m:e>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b>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b>
                            <m:sup>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p>
                          </m:sSubSup>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SubSup>
                            <m:sSubSupPr>
                              <m:ctrlPr>
                                <a:rPr kumimoji="0" lang="en-US" altLang="zh-CN" sz="16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b>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2</m:t>
                              </m:r>
                            </m:sub>
                            <m:sup>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p>
                          </m:sSubSup>
                          <m:r>
                            <a:rPr kumimoji="0" lang="en-US" altLang="zh-CN" sz="16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 …,</m:t>
                          </m:r>
                          <m:sSubSup>
                            <m:sSubSupPr>
                              <m:ctrlPr>
                                <a:rPr kumimoji="0" lang="en-US" altLang="zh-CN" sz="16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b>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𝑚</m:t>
                              </m:r>
                            </m:sub>
                            <m:sup>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p>
                          </m:sSubSup>
                        </m:e>
                      </m:d>
                    </m:oMath>
                  </m:oMathPara>
                </a14:m>
                <a:endParaRPr kumimoji="0" lang="zh-CN" altLang="en-US" sz="16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20" name="矩形 19"/>
              <p:cNvSpPr>
                <a:spLocks noRot="1" noChangeAspect="1" noMove="1" noResize="1" noEditPoints="1" noAdjustHandles="1" noChangeArrowheads="1" noChangeShapeType="1" noTextEdit="1"/>
              </p:cNvSpPr>
              <p:nvPr/>
            </p:nvSpPr>
            <p:spPr>
              <a:xfrm>
                <a:off x="1007508" y="5402270"/>
                <a:ext cx="3269202" cy="459036"/>
              </a:xfrm>
              <a:prstGeom prst="rect">
                <a:avLst/>
              </a:prstGeom>
              <a:blipFill>
                <a:blip r:embed="rId9"/>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62199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74"/>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7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7"/>
                                        </p:tgtEl>
                                        <p:attrNameLst>
                                          <p:attrName>style.visibility</p:attrName>
                                        </p:attrNameLst>
                                      </p:cBhvr>
                                      <p:to>
                                        <p:strVal val="visible"/>
                                      </p:to>
                                    </p:set>
                                  </p:childTnLst>
                                </p:cTn>
                              </p:par>
                              <p:par>
                                <p:cTn id="11" presetID="1" presetClass="exit" presetSubtype="0" fill="hold" grpId="0" nodeType="withEffect">
                                  <p:stCondLst>
                                    <p:cond delay="0"/>
                                  </p:stCondLst>
                                  <p:childTnLst>
                                    <p:set>
                                      <p:cBhvr>
                                        <p:cTn id="12" dur="1" fill="hold">
                                          <p:stCondLst>
                                            <p:cond delay="0"/>
                                          </p:stCondLst>
                                        </p:cTn>
                                        <p:tgtEl>
                                          <p:spTgt spid="78"/>
                                        </p:tgtEl>
                                        <p:attrNameLst>
                                          <p:attrName>style.visibility</p:attrName>
                                        </p:attrNameLst>
                                      </p:cBhvr>
                                      <p:to>
                                        <p:strVal val="hidden"/>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P spid="57" grpId="0" animBg="1"/>
      <p:bldP spid="75" grpId="0" animBg="1"/>
      <p:bldP spid="76" grpId="0"/>
      <p:bldP spid="77" grpId="0"/>
      <p:bldP spid="78" grpId="0"/>
      <p:bldP spid="79" grpId="0"/>
      <p:bldP spid="2" grpId="0"/>
      <p:bldP spid="3" grpId="0"/>
      <p:bldP spid="15" grpId="0"/>
      <p:bldP spid="16" grpId="0"/>
      <p:bldP spid="17" grpId="0"/>
      <p:bldP spid="2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p:cNvPicPr>
            <a:picLocks noChangeAspect="1"/>
          </p:cNvPicPr>
          <p:nvPr/>
        </p:nvPicPr>
        <p:blipFill>
          <a:blip r:embed="rId2"/>
          <a:stretch>
            <a:fillRect/>
          </a:stretch>
        </p:blipFill>
        <p:spPr>
          <a:xfrm>
            <a:off x="933834" y="830888"/>
            <a:ext cx="6177539" cy="5462245"/>
          </a:xfrm>
          <a:prstGeom prst="rect">
            <a:avLst/>
          </a:prstGeom>
        </p:spPr>
      </p:pic>
      <p:sp>
        <p:nvSpPr>
          <p:cNvPr id="5" name="矩形 4"/>
          <p:cNvSpPr/>
          <p:nvPr/>
        </p:nvSpPr>
        <p:spPr>
          <a:xfrm>
            <a:off x="2809983" y="1260355"/>
            <a:ext cx="2665426" cy="643515"/>
          </a:xfrm>
          <a:prstGeom prst="rect">
            <a:avLst/>
          </a:prstGeom>
          <a:noFill/>
          <a:ln w="28575">
            <a:solidFill>
              <a:srgbClr val="FF0000"/>
            </a:solidFill>
            <a:prstDash val="dash"/>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8" name="图片 7"/>
          <p:cNvPicPr>
            <a:picLocks noChangeAspect="1"/>
          </p:cNvPicPr>
          <p:nvPr/>
        </p:nvPicPr>
        <p:blipFill>
          <a:blip r:embed="rId3"/>
          <a:stretch>
            <a:fillRect/>
          </a:stretch>
        </p:blipFill>
        <p:spPr>
          <a:xfrm>
            <a:off x="7321633" y="1260355"/>
            <a:ext cx="3964297" cy="3620902"/>
          </a:xfrm>
          <a:prstGeom prst="rect">
            <a:avLst/>
          </a:prstGeom>
        </p:spPr>
      </p:pic>
      <p:sp>
        <p:nvSpPr>
          <p:cNvPr id="9" name="矩形 8"/>
          <p:cNvSpPr/>
          <p:nvPr/>
        </p:nvSpPr>
        <p:spPr>
          <a:xfrm>
            <a:off x="7190394" y="1260355"/>
            <a:ext cx="3989136" cy="1786659"/>
          </a:xfrm>
          <a:prstGeom prst="rect">
            <a:avLst/>
          </a:prstGeom>
          <a:noFill/>
          <a:ln w="28575">
            <a:solidFill>
              <a:srgbClr val="FF0000"/>
            </a:solidFill>
            <a:prstDash val="dash"/>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 name="矩形 9"/>
          <p:cNvSpPr/>
          <p:nvPr/>
        </p:nvSpPr>
        <p:spPr>
          <a:xfrm>
            <a:off x="7260334" y="3281094"/>
            <a:ext cx="3989136" cy="1600163"/>
          </a:xfrm>
          <a:prstGeom prst="rect">
            <a:avLst/>
          </a:prstGeom>
          <a:noFill/>
          <a:ln w="28575">
            <a:solidFill>
              <a:srgbClr val="00B050"/>
            </a:solidFill>
            <a:prstDash val="dash"/>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 name="矩形 10"/>
          <p:cNvSpPr/>
          <p:nvPr/>
        </p:nvSpPr>
        <p:spPr>
          <a:xfrm>
            <a:off x="614401" y="2594168"/>
            <a:ext cx="6487892" cy="3690718"/>
          </a:xfrm>
          <a:prstGeom prst="rect">
            <a:avLst/>
          </a:prstGeom>
          <a:noFill/>
          <a:ln w="28575">
            <a:solidFill>
              <a:srgbClr val="00B050"/>
            </a:solidFill>
            <a:prstDash val="dash"/>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2" name="标题 6"/>
              <p:cNvSpPr txBox="1">
                <a:spLocks/>
              </p:cNvSpPr>
              <p:nvPr/>
            </p:nvSpPr>
            <p:spPr>
              <a:xfrm>
                <a:off x="3858347" y="2088646"/>
                <a:ext cx="551818" cy="446276"/>
              </a:xfrm>
              <a:prstGeom prst="rect">
                <a:avLst/>
              </a:prstGeom>
            </p:spPr>
            <p:txBody>
              <a:bodyPr wrap="none" bIns="91440" anchor="b" anchorCtr="0">
                <a:spAutoFit/>
              </a:bodyPr>
              <a:lstStyle>
                <a:lvl1pPr algn="l" rtl="0" eaLnBrk="1" latinLnBrk="0" hangingPunct="1">
                  <a:spcBef>
                    <a:spcPct val="0"/>
                  </a:spcBef>
                  <a:buNone/>
                  <a:defRPr kumimoji="0" sz="3200" b="1" kern="1200">
                    <a:solidFill>
                      <a:srgbClr val="C00000"/>
                    </a:solidFill>
                    <a:latin typeface="Times New Roman" pitchFamily="18" charset="0"/>
                    <a:ea typeface="+mj-ea"/>
                    <a:cs typeface="Times New Roman" pitchFamily="18"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rPr>
                          </m:ctrlPr>
                        </m:sSubPr>
                        <m:e>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rPr>
                            <m:t>𝑥</m:t>
                          </m:r>
                        </m:e>
                        <m:sub>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rPr>
                            <m:t>𝑤</m:t>
                          </m:r>
                        </m:sub>
                      </m:sSub>
                    </m:oMath>
                  </m:oMathPara>
                </a14:m>
                <a:endParaRPr kumimoji="0" lang="zh-CN" altLang="en-US" sz="2000" b="1" i="0" u="none" strike="noStrike" kern="1200" cap="none" spc="0" normalizeH="0" baseline="0" noProof="0" dirty="0">
                  <a:ln>
                    <a:noFill/>
                  </a:ln>
                  <a:solidFill>
                    <a:prstClr val="black"/>
                  </a:solidFill>
                  <a:effectLst/>
                  <a:uLnTx/>
                  <a:uFillTx/>
                  <a:latin typeface="Times New Roman" pitchFamily="18" charset="0"/>
                  <a:ea typeface="幼圆" panose="02010509060101010101" pitchFamily="49" charset="-122"/>
                  <a:cs typeface="Times New Roman" pitchFamily="18" charset="0"/>
                </a:endParaRPr>
              </a:p>
            </p:txBody>
          </p:sp>
        </mc:Choice>
        <mc:Fallback>
          <p:sp>
            <p:nvSpPr>
              <p:cNvPr id="12" name="标题 6"/>
              <p:cNvSpPr txBox="1">
                <a:spLocks noRot="1" noChangeAspect="1" noMove="1" noResize="1" noEditPoints="1" noAdjustHandles="1" noChangeArrowheads="1" noChangeShapeType="1" noTextEdit="1"/>
              </p:cNvSpPr>
              <p:nvPr/>
            </p:nvSpPr>
            <p:spPr>
              <a:xfrm>
                <a:off x="3858347" y="2088646"/>
                <a:ext cx="551818" cy="446276"/>
              </a:xfrm>
              <a:prstGeom prst="rect">
                <a:avLst/>
              </a:prstGeom>
              <a:blipFill>
                <a:blip r:embed="rId4"/>
                <a:stretch>
                  <a:fillRect/>
                </a:stretch>
              </a:blipFill>
            </p:spPr>
            <p:txBody>
              <a:bodyPr/>
              <a:lstStyle/>
              <a:p>
                <a:r>
                  <a:rPr lang="en-US">
                    <a:noFill/>
                  </a:rPr>
                  <a:t> </a:t>
                </a:r>
              </a:p>
            </p:txBody>
          </p:sp>
        </mc:Fallback>
      </mc:AlternateContent>
      <p:cxnSp>
        <p:nvCxnSpPr>
          <p:cNvPr id="15" name="直接箭头连接符 14"/>
          <p:cNvCxnSpPr/>
          <p:nvPr/>
        </p:nvCxnSpPr>
        <p:spPr>
          <a:xfrm>
            <a:off x="5606648" y="1582112"/>
            <a:ext cx="1495645" cy="571572"/>
          </a:xfrm>
          <a:prstGeom prst="straightConnector1">
            <a:avLst/>
          </a:prstGeom>
          <a:ln w="28575">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flipV="1">
            <a:off x="7172976" y="4948671"/>
            <a:ext cx="1393982" cy="617109"/>
          </a:xfrm>
          <a:prstGeom prst="straightConnector1">
            <a:avLst/>
          </a:prstGeom>
          <a:ln w="28575">
            <a:solidFill>
              <a:srgbClr val="00B050"/>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4" name="标题 6"/>
              <p:cNvSpPr txBox="1">
                <a:spLocks/>
              </p:cNvSpPr>
              <p:nvPr/>
            </p:nvSpPr>
            <p:spPr>
              <a:xfrm>
                <a:off x="8099796" y="5340673"/>
                <a:ext cx="761747" cy="446276"/>
              </a:xfrm>
              <a:prstGeom prst="rect">
                <a:avLst/>
              </a:prstGeom>
            </p:spPr>
            <p:txBody>
              <a:bodyPr wrap="none" bIns="91440" anchor="b" anchorCtr="0">
                <a:spAutoFit/>
              </a:bodyPr>
              <a:lstStyle>
                <a:lvl1pPr algn="l" rtl="0" eaLnBrk="1" latinLnBrk="0" hangingPunct="1">
                  <a:spcBef>
                    <a:spcPct val="0"/>
                  </a:spcBef>
                  <a:buNone/>
                  <a:defRPr kumimoji="0" sz="3200" b="1" kern="1200">
                    <a:solidFill>
                      <a:srgbClr val="C00000"/>
                    </a:solidFill>
                    <a:latin typeface="Times New Roman" pitchFamily="18" charset="0"/>
                    <a:ea typeface="+mj-ea"/>
                    <a:cs typeface="Times New Roman" pitchFamily="18"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CN" altLang="en-US" sz="2000" b="0" i="1" u="none" strike="noStrike" kern="1200" cap="none" spc="0" normalizeH="0" baseline="0" noProof="0" smtClean="0">
                          <a:ln>
                            <a:noFill/>
                          </a:ln>
                          <a:solidFill>
                            <a:srgbClr val="00B050"/>
                          </a:solidFill>
                          <a:effectLst/>
                          <a:uLnTx/>
                          <a:uFillTx/>
                          <a:latin typeface="Cambria Math" panose="02040503050406030204" pitchFamily="18" charset="0"/>
                        </a:rPr>
                        <m:t>替换</m:t>
                      </m:r>
                    </m:oMath>
                  </m:oMathPara>
                </a14:m>
                <a:endParaRPr kumimoji="0" lang="zh-CN" altLang="en-US" sz="2000" b="1" i="0" u="none" strike="noStrike" kern="1200" cap="none" spc="0" normalizeH="0" baseline="0" noProof="0" dirty="0">
                  <a:ln>
                    <a:noFill/>
                  </a:ln>
                  <a:solidFill>
                    <a:srgbClr val="00B050"/>
                  </a:solidFill>
                  <a:effectLst/>
                  <a:uLnTx/>
                  <a:uFillTx/>
                  <a:latin typeface="Times New Roman" pitchFamily="18" charset="0"/>
                  <a:ea typeface="幼圆" panose="02010509060101010101" pitchFamily="49" charset="-122"/>
                  <a:cs typeface="Times New Roman" pitchFamily="18" charset="0"/>
                </a:endParaRPr>
              </a:p>
            </p:txBody>
          </p:sp>
        </mc:Choice>
        <mc:Fallback>
          <p:sp>
            <p:nvSpPr>
              <p:cNvPr id="24" name="标题 6"/>
              <p:cNvSpPr txBox="1">
                <a:spLocks noRot="1" noChangeAspect="1" noMove="1" noResize="1" noEditPoints="1" noAdjustHandles="1" noChangeArrowheads="1" noChangeShapeType="1" noTextEdit="1"/>
              </p:cNvSpPr>
              <p:nvPr/>
            </p:nvSpPr>
            <p:spPr>
              <a:xfrm>
                <a:off x="8099796" y="5340673"/>
                <a:ext cx="761747" cy="446276"/>
              </a:xfrm>
              <a:prstGeom prst="rect">
                <a:avLst/>
              </a:prstGeom>
              <a:blipFill>
                <a:blip r:embed="rId5"/>
                <a:stretch>
                  <a:fillRect l="-1639" b="-277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5" name="标题 6"/>
              <p:cNvSpPr txBox="1">
                <a:spLocks/>
              </p:cNvSpPr>
              <p:nvPr/>
            </p:nvSpPr>
            <p:spPr>
              <a:xfrm>
                <a:off x="6069343" y="1329351"/>
                <a:ext cx="761747" cy="446276"/>
              </a:xfrm>
              <a:prstGeom prst="rect">
                <a:avLst/>
              </a:prstGeom>
            </p:spPr>
            <p:txBody>
              <a:bodyPr wrap="none" bIns="91440" anchor="b" anchorCtr="0">
                <a:spAutoFit/>
              </a:bodyPr>
              <a:lstStyle>
                <a:lvl1pPr algn="l" rtl="0" eaLnBrk="1" latinLnBrk="0" hangingPunct="1">
                  <a:spcBef>
                    <a:spcPct val="0"/>
                  </a:spcBef>
                  <a:buNone/>
                  <a:defRPr kumimoji="0" sz="3200" b="1" kern="1200">
                    <a:solidFill>
                      <a:srgbClr val="C00000"/>
                    </a:solidFill>
                    <a:latin typeface="Times New Roman" pitchFamily="18" charset="0"/>
                    <a:ea typeface="+mj-ea"/>
                    <a:cs typeface="Times New Roman" pitchFamily="18"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CN" altLang="en-US" sz="2000" b="0" i="1" u="none" strike="noStrike" kern="1200" cap="none" spc="0" normalizeH="0" baseline="0" noProof="0" smtClean="0">
                          <a:ln>
                            <a:noFill/>
                          </a:ln>
                          <a:solidFill>
                            <a:srgbClr val="FF0000"/>
                          </a:solidFill>
                          <a:effectLst/>
                          <a:uLnTx/>
                          <a:uFillTx/>
                          <a:latin typeface="Cambria Math" panose="02040503050406030204" pitchFamily="18" charset="0"/>
                        </a:rPr>
                        <m:t>替换</m:t>
                      </m:r>
                    </m:oMath>
                  </m:oMathPara>
                </a14:m>
                <a:endParaRPr kumimoji="0" lang="zh-CN" altLang="en-US" sz="2000" b="1" i="0" u="none" strike="noStrike" kern="1200" cap="none" spc="0" normalizeH="0" baseline="0" noProof="0" dirty="0">
                  <a:ln>
                    <a:noFill/>
                  </a:ln>
                  <a:solidFill>
                    <a:srgbClr val="FF0000"/>
                  </a:solidFill>
                  <a:effectLst/>
                  <a:uLnTx/>
                  <a:uFillTx/>
                  <a:latin typeface="Times New Roman" pitchFamily="18" charset="0"/>
                  <a:ea typeface="幼圆" panose="02010509060101010101" pitchFamily="49" charset="-122"/>
                  <a:cs typeface="Times New Roman" pitchFamily="18" charset="0"/>
                </a:endParaRPr>
              </a:p>
            </p:txBody>
          </p:sp>
        </mc:Choice>
        <mc:Fallback>
          <p:sp>
            <p:nvSpPr>
              <p:cNvPr id="25" name="标题 6"/>
              <p:cNvSpPr txBox="1">
                <a:spLocks noRot="1" noChangeAspect="1" noMove="1" noResize="1" noEditPoints="1" noAdjustHandles="1" noChangeArrowheads="1" noChangeShapeType="1" noTextEdit="1"/>
              </p:cNvSpPr>
              <p:nvPr/>
            </p:nvSpPr>
            <p:spPr>
              <a:xfrm>
                <a:off x="6069343" y="1329351"/>
                <a:ext cx="761747" cy="446276"/>
              </a:xfrm>
              <a:prstGeom prst="rect">
                <a:avLst/>
              </a:prstGeom>
              <a:blipFill>
                <a:blip r:embed="rId6"/>
                <a:stretch>
                  <a:fillRect l="-1639" b="-2778"/>
                </a:stretch>
              </a:blipFill>
            </p:spPr>
            <p:txBody>
              <a:bodyPr/>
              <a:lstStyle/>
              <a:p>
                <a:r>
                  <a:rPr lang="en-US">
                    <a:noFill/>
                  </a:rPr>
                  <a:t> </a:t>
                </a:r>
              </a:p>
            </p:txBody>
          </p:sp>
        </mc:Fallback>
      </mc:AlternateContent>
      <p:sp>
        <p:nvSpPr>
          <p:cNvPr id="26" name="标题 1"/>
          <p:cNvSpPr>
            <a:spLocks noGrp="1"/>
          </p:cNvSpPr>
          <p:nvPr>
            <p:ph type="title"/>
          </p:nvPr>
        </p:nvSpPr>
        <p:spPr>
          <a:xfrm>
            <a:off x="331529" y="-252122"/>
            <a:ext cx="10363200" cy="1143000"/>
          </a:xfrm>
        </p:spPr>
        <p:txBody>
          <a:bodyPr/>
          <a:lstStyle/>
          <a:p>
            <a:r>
              <a:rPr lang="zh-CN" altLang="en-US" dirty="0"/>
              <a:t>前情回顾：神经语言模型</a:t>
            </a:r>
          </a:p>
        </p:txBody>
      </p:sp>
      <p:sp>
        <p:nvSpPr>
          <p:cNvPr id="27" name="标题 6"/>
          <p:cNvSpPr txBox="1">
            <a:spLocks/>
          </p:cNvSpPr>
          <p:nvPr/>
        </p:nvSpPr>
        <p:spPr>
          <a:xfrm>
            <a:off x="9022327" y="4872505"/>
            <a:ext cx="993083" cy="384721"/>
          </a:xfrm>
          <a:prstGeom prst="rect">
            <a:avLst/>
          </a:prstGeom>
        </p:spPr>
        <p:txBody>
          <a:bodyPr wrap="square" bIns="91440" anchor="b" anchorCtr="0">
            <a:spAutoFit/>
          </a:bodyPr>
          <a:lstStyle>
            <a:lvl1pPr algn="l" rtl="0" eaLnBrk="1" latinLnBrk="0" hangingPunct="1">
              <a:spcBef>
                <a:spcPct val="0"/>
              </a:spcBef>
              <a:buNone/>
              <a:defRPr kumimoji="0" sz="3200" b="1" kern="1200">
                <a:solidFill>
                  <a:srgbClr val="C00000"/>
                </a:solidFill>
                <a:latin typeface="Times New Roman" pitchFamily="18" charset="0"/>
                <a:ea typeface="+mj-ea"/>
                <a:cs typeface="Times New Roman" pitchFamily="18"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itchFamily="18" charset="0"/>
                <a:ea typeface="幼圆" panose="02010509060101010101" pitchFamily="49" charset="-122"/>
                <a:cs typeface="Times New Roman" pitchFamily="18" charset="0"/>
              </a:rPr>
              <a:t>NLM</a:t>
            </a:r>
            <a:endParaRPr kumimoji="0" lang="zh-CN" altLang="en-US" sz="1600" b="0" i="0" u="none" strike="noStrike" kern="1200" cap="none" spc="0" normalizeH="0" baseline="0" noProof="0" dirty="0">
              <a:ln>
                <a:noFill/>
              </a:ln>
              <a:solidFill>
                <a:prstClr val="black"/>
              </a:solidFill>
              <a:effectLst/>
              <a:uLnTx/>
              <a:uFillTx/>
              <a:latin typeface="Times New Roman" pitchFamily="18" charset="0"/>
              <a:ea typeface="幼圆" panose="02010509060101010101" pitchFamily="49" charset="-122"/>
              <a:cs typeface="Times New Roman" pitchFamily="18" charset="0"/>
            </a:endParaRPr>
          </a:p>
        </p:txBody>
      </p:sp>
      <p:sp>
        <p:nvSpPr>
          <p:cNvPr id="28" name="标题 6"/>
          <p:cNvSpPr txBox="1">
            <a:spLocks/>
          </p:cNvSpPr>
          <p:nvPr/>
        </p:nvSpPr>
        <p:spPr>
          <a:xfrm>
            <a:off x="3544635" y="6293133"/>
            <a:ext cx="993083" cy="384721"/>
          </a:xfrm>
          <a:prstGeom prst="rect">
            <a:avLst/>
          </a:prstGeom>
        </p:spPr>
        <p:txBody>
          <a:bodyPr wrap="square" bIns="91440" anchor="b" anchorCtr="0">
            <a:spAutoFit/>
          </a:bodyPr>
          <a:lstStyle>
            <a:lvl1pPr algn="l" rtl="0" eaLnBrk="1" latinLnBrk="0" hangingPunct="1">
              <a:spcBef>
                <a:spcPct val="0"/>
              </a:spcBef>
              <a:buNone/>
              <a:defRPr kumimoji="0" sz="3200" b="1" kern="1200">
                <a:solidFill>
                  <a:srgbClr val="C00000"/>
                </a:solidFill>
                <a:latin typeface="Times New Roman" pitchFamily="18" charset="0"/>
                <a:ea typeface="+mj-ea"/>
                <a:cs typeface="Times New Roman" pitchFamily="18"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itchFamily="18" charset="0"/>
                <a:ea typeface="幼圆" panose="02010509060101010101" pitchFamily="49" charset="-122"/>
                <a:cs typeface="Times New Roman" pitchFamily="18" charset="0"/>
              </a:rPr>
              <a:t>CBOW</a:t>
            </a:r>
            <a:endParaRPr kumimoji="0" lang="zh-CN" altLang="en-US" sz="1600" b="0" i="0" u="none" strike="noStrike" kern="1200" cap="none" spc="0" normalizeH="0" baseline="0" noProof="0" dirty="0">
              <a:ln>
                <a:noFill/>
              </a:ln>
              <a:solidFill>
                <a:prstClr val="black"/>
              </a:solidFill>
              <a:effectLst/>
              <a:uLnTx/>
              <a:uFillTx/>
              <a:latin typeface="Times New Roman" pitchFamily="18" charset="0"/>
              <a:ea typeface="幼圆" panose="02010509060101010101" pitchFamily="49" charset="-122"/>
              <a:cs typeface="Times New Roman" pitchFamily="18" charset="0"/>
            </a:endParaRPr>
          </a:p>
        </p:txBody>
      </p:sp>
    </p:spTree>
    <p:extLst>
      <p:ext uri="{BB962C8B-B14F-4D97-AF65-F5344CB8AC3E}">
        <p14:creationId xmlns:p14="http://schemas.microsoft.com/office/powerpoint/2010/main" val="19692160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2B41E-3B67-0787-AE3E-1CFB443EA08B}"/>
            </a:ext>
          </a:extLst>
        </p:cNvPr>
        <p:cNvGrpSpPr/>
        <p:nvPr/>
      </p:nvGrpSpPr>
      <p:grpSpPr>
        <a:xfrm>
          <a:off x="0" y="0"/>
          <a:ext cx="0" cy="0"/>
          <a:chOff x="0" y="0"/>
          <a:chExt cx="0" cy="0"/>
        </a:xfrm>
      </p:grpSpPr>
      <p:pic>
        <p:nvPicPr>
          <p:cNvPr id="53" name="图片 52">
            <a:extLst>
              <a:ext uri="{FF2B5EF4-FFF2-40B4-BE49-F238E27FC236}">
                <a16:creationId xmlns:a16="http://schemas.microsoft.com/office/drawing/2014/main" id="{77738B55-03C1-05F7-CB0B-57EE72F54412}"/>
              </a:ext>
            </a:extLst>
          </p:cNvPr>
          <p:cNvPicPr>
            <a:picLocks noChangeAspect="1"/>
          </p:cNvPicPr>
          <p:nvPr/>
        </p:nvPicPr>
        <p:blipFill>
          <a:blip r:embed="rId2"/>
          <a:stretch>
            <a:fillRect/>
          </a:stretch>
        </p:blipFill>
        <p:spPr>
          <a:xfrm>
            <a:off x="886429" y="2320159"/>
            <a:ext cx="7116063" cy="3108960"/>
          </a:xfrm>
          <a:prstGeom prst="rect">
            <a:avLst/>
          </a:prstGeom>
        </p:spPr>
      </p:pic>
      <p:sp>
        <p:nvSpPr>
          <p:cNvPr id="54" name="矩形 53">
            <a:extLst>
              <a:ext uri="{FF2B5EF4-FFF2-40B4-BE49-F238E27FC236}">
                <a16:creationId xmlns:a16="http://schemas.microsoft.com/office/drawing/2014/main" id="{4026A017-875E-93EC-9DF5-1B282D8F9BA5}"/>
              </a:ext>
            </a:extLst>
          </p:cNvPr>
          <p:cNvSpPr/>
          <p:nvPr/>
        </p:nvSpPr>
        <p:spPr>
          <a:xfrm>
            <a:off x="779214" y="3043728"/>
            <a:ext cx="7688911" cy="2512612"/>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7" name="矩形 56">
            <a:extLst>
              <a:ext uri="{FF2B5EF4-FFF2-40B4-BE49-F238E27FC236}">
                <a16:creationId xmlns:a16="http://schemas.microsoft.com/office/drawing/2014/main" id="{BF8753FB-2921-8D7F-35B2-0992613E9D81}"/>
              </a:ext>
            </a:extLst>
          </p:cNvPr>
          <p:cNvSpPr/>
          <p:nvPr/>
        </p:nvSpPr>
        <p:spPr>
          <a:xfrm>
            <a:off x="9724431" y="1420577"/>
            <a:ext cx="1614116" cy="2009871"/>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58" name="直接箭头连接符 57">
            <a:extLst>
              <a:ext uri="{FF2B5EF4-FFF2-40B4-BE49-F238E27FC236}">
                <a16:creationId xmlns:a16="http://schemas.microsoft.com/office/drawing/2014/main" id="{4AD6CFE9-4F8F-0FC5-B01C-1910288C583A}"/>
              </a:ext>
            </a:extLst>
          </p:cNvPr>
          <p:cNvCxnSpPr/>
          <p:nvPr/>
        </p:nvCxnSpPr>
        <p:spPr>
          <a:xfrm flipH="1">
            <a:off x="8543537" y="2566650"/>
            <a:ext cx="1056247" cy="58044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73" name="图片 72">
            <a:extLst>
              <a:ext uri="{FF2B5EF4-FFF2-40B4-BE49-F238E27FC236}">
                <a16:creationId xmlns:a16="http://schemas.microsoft.com/office/drawing/2014/main" id="{CCCBAB1C-F366-9B50-560C-F49FB9C34FF5}"/>
              </a:ext>
            </a:extLst>
          </p:cNvPr>
          <p:cNvPicPr>
            <a:picLocks noChangeAspect="1"/>
          </p:cNvPicPr>
          <p:nvPr/>
        </p:nvPicPr>
        <p:blipFill>
          <a:blip r:embed="rId3"/>
          <a:stretch>
            <a:fillRect/>
          </a:stretch>
        </p:blipFill>
        <p:spPr>
          <a:xfrm>
            <a:off x="9874259" y="1480212"/>
            <a:ext cx="1314460" cy="1962164"/>
          </a:xfrm>
          <a:prstGeom prst="rect">
            <a:avLst/>
          </a:prstGeom>
        </p:spPr>
      </p:pic>
      <p:sp>
        <p:nvSpPr>
          <p:cNvPr id="75" name="右大括号 74">
            <a:extLst>
              <a:ext uri="{FF2B5EF4-FFF2-40B4-BE49-F238E27FC236}">
                <a16:creationId xmlns:a16="http://schemas.microsoft.com/office/drawing/2014/main" id="{45C93678-8E89-83E4-B92B-4043CE706BA6}"/>
              </a:ext>
            </a:extLst>
          </p:cNvPr>
          <p:cNvSpPr/>
          <p:nvPr/>
        </p:nvSpPr>
        <p:spPr>
          <a:xfrm rot="5400000">
            <a:off x="4237727" y="3109568"/>
            <a:ext cx="492981" cy="5338820"/>
          </a:xfrm>
          <a:prstGeom prst="rightBrace">
            <a:avLst>
              <a:gd name="adj1" fmla="val 14348"/>
              <a:gd name="adj2" fmla="val 50000"/>
            </a:avLst>
          </a:pr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76" name="文本框 75">
            <a:extLst>
              <a:ext uri="{FF2B5EF4-FFF2-40B4-BE49-F238E27FC236}">
                <a16:creationId xmlns:a16="http://schemas.microsoft.com/office/drawing/2014/main" id="{F2709968-9129-D662-FAF0-92DA5E1BB937}"/>
              </a:ext>
            </a:extLst>
          </p:cNvPr>
          <p:cNvSpPr txBox="1"/>
          <p:nvPr/>
        </p:nvSpPr>
        <p:spPr>
          <a:xfrm>
            <a:off x="4192703" y="6120805"/>
            <a:ext cx="76005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0B050"/>
                </a:solidFill>
                <a:effectLst/>
                <a:uLnTx/>
                <a:uFillTx/>
                <a:latin typeface="Perpetua"/>
                <a:ea typeface="宋体" panose="02010600030101010101" pitchFamily="2" charset="-122"/>
                <a:cs typeface="+mn-cs"/>
              </a:rPr>
              <a:t>输入</a:t>
            </a:r>
          </a:p>
        </p:txBody>
      </p:sp>
      <p:sp>
        <p:nvSpPr>
          <p:cNvPr id="77" name="文本框 76">
            <a:extLst>
              <a:ext uri="{FF2B5EF4-FFF2-40B4-BE49-F238E27FC236}">
                <a16:creationId xmlns:a16="http://schemas.microsoft.com/office/drawing/2014/main" id="{BA2FADCF-9CF7-14EB-CE16-904045B83481}"/>
              </a:ext>
            </a:extLst>
          </p:cNvPr>
          <p:cNvSpPr txBox="1"/>
          <p:nvPr/>
        </p:nvSpPr>
        <p:spPr>
          <a:xfrm>
            <a:off x="10119973" y="3528757"/>
            <a:ext cx="1216549"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循环</a:t>
            </a:r>
            <a:r>
              <a:rPr kumimoji="0" lang="zh-CN" altLang="en-US" sz="1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模块</a:t>
            </a:r>
          </a:p>
        </p:txBody>
      </p:sp>
      <p:sp>
        <p:nvSpPr>
          <p:cNvPr id="78" name="文本框 77">
            <a:extLst>
              <a:ext uri="{FF2B5EF4-FFF2-40B4-BE49-F238E27FC236}">
                <a16:creationId xmlns:a16="http://schemas.microsoft.com/office/drawing/2014/main" id="{3D787453-26AF-F363-0819-701D313C13B5}"/>
              </a:ext>
            </a:extLst>
          </p:cNvPr>
          <p:cNvSpPr txBox="1"/>
          <p:nvPr/>
        </p:nvSpPr>
        <p:spPr>
          <a:xfrm>
            <a:off x="4675355" y="6337623"/>
            <a:ext cx="121654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循环</a:t>
            </a:r>
            <a:r>
              <a:rPr kumimoji="0" lang="zh-CN" altLang="en-US" sz="18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模块</a:t>
            </a:r>
          </a:p>
        </p:txBody>
      </p:sp>
      <p:sp>
        <p:nvSpPr>
          <p:cNvPr id="79" name="文本框 78">
            <a:extLst>
              <a:ext uri="{FF2B5EF4-FFF2-40B4-BE49-F238E27FC236}">
                <a16:creationId xmlns:a16="http://schemas.microsoft.com/office/drawing/2014/main" id="{C45B9881-38A6-ABBC-C39B-D84351B099CB}"/>
              </a:ext>
            </a:extLst>
          </p:cNvPr>
          <p:cNvSpPr txBox="1"/>
          <p:nvPr/>
        </p:nvSpPr>
        <p:spPr>
          <a:xfrm>
            <a:off x="3935886" y="4194343"/>
            <a:ext cx="99391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0B050"/>
                </a:solidFill>
                <a:effectLst/>
                <a:uLnTx/>
                <a:uFillTx/>
                <a:latin typeface="Perpetua"/>
                <a:ea typeface="宋体" panose="02010600030101010101" pitchFamily="2" charset="-122"/>
                <a:cs typeface="+mn-cs"/>
              </a:rPr>
              <a:t>全连接</a:t>
            </a:r>
          </a:p>
        </p:txBody>
      </p:sp>
      <mc:AlternateContent xmlns:mc="http://schemas.openxmlformats.org/markup-compatibility/2006">
        <mc:Choice xmlns:a14="http://schemas.microsoft.com/office/drawing/2010/main" Requires="a14">
          <p:sp>
            <p:nvSpPr>
              <p:cNvPr id="2" name="矩形 1">
                <a:extLst>
                  <a:ext uri="{FF2B5EF4-FFF2-40B4-BE49-F238E27FC236}">
                    <a16:creationId xmlns:a16="http://schemas.microsoft.com/office/drawing/2014/main" id="{206ADBCB-ECDD-33AA-5141-4E5AA517F332}"/>
                  </a:ext>
                </a:extLst>
              </p:cNvPr>
              <p:cNvSpPr/>
              <p:nvPr/>
            </p:nvSpPr>
            <p:spPr>
              <a:xfrm>
                <a:off x="2017561" y="1445638"/>
                <a:ext cx="6268896" cy="82400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eqArr>
                        <m:eqArrPr>
                          <m:ctrlPr>
                            <a:rPr kumimoji="0" lang="zh-CN" altLang="en-US"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eqArrPr>
                        <m:e>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h</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𝑘</m:t>
                              </m:r>
                            </m:sub>
                            <m:sup>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sup>
                          </m:sSubSup>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r>
                            <m:rPr>
                              <m:sty m:val="p"/>
                            </m:rP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tan</m:t>
                          </m:r>
                          <m:r>
                            <m:rPr>
                              <m:sty m:val="p"/>
                            </m:rPr>
                            <a:rPr kumimoji="0" lang="en-US" altLang="zh-CN" sz="1800" b="0" i="0" u="none" strike="noStrike" kern="1200" cap="none" spc="0" normalizeH="0" baseline="0" noProof="0">
                              <a:ln>
                                <a:noFill/>
                              </a:ln>
                              <a:solidFill>
                                <a:srgbClr val="FF0000"/>
                              </a:solidFill>
                              <a:effectLst/>
                              <a:uLnTx/>
                              <a:uFillTx/>
                              <a:latin typeface="Cambria Math" panose="02040503050406030204" pitchFamily="18" charset="0"/>
                              <a:cs typeface="+mn-cs"/>
                            </a:rPr>
                            <m:t>h</m:t>
                          </m:r>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𝑤</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𝑘</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sub>
                          </m:s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h</m:t>
                              </m:r>
                            </m:e>
                            <m: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𝑤</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𝑘</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,2</m:t>
                              </m:r>
                            </m:sub>
                          </m:s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h</m:t>
                              </m:r>
                            </m:e>
                            <m: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2</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𝑤</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𝑘</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𝑚</m:t>
                              </m:r>
                            </m:sub>
                          </m:s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h</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𝑚</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    </m:t>
                          </m:r>
                        </m:e>
                        <m:e>
                          <m:sSub>
                            <m:sSub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𝑢</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𝑘</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sub>
                          </m:s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𝑥</m:t>
                              </m:r>
                            </m:e>
                            <m: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𝑢</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𝑘</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,2</m:t>
                              </m:r>
                            </m:sub>
                          </m:s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𝑥</m:t>
                              </m:r>
                            </m:e>
                            <m: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2</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𝑢</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𝑘</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𝑛</m:t>
                              </m:r>
                            </m:sub>
                          </m:s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𝑥</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𝑛</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e>
                              </m:d>
                            </m:sup>
                          </m:sSubSup>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e>
                      </m:eqArr>
                    </m:oMath>
                  </m:oMathPara>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p:sp>
            <p:nvSpPr>
              <p:cNvPr id="2" name="矩形 1">
                <a:extLst>
                  <a:ext uri="{FF2B5EF4-FFF2-40B4-BE49-F238E27FC236}">
                    <a16:creationId xmlns:a16="http://schemas.microsoft.com/office/drawing/2014/main" id="{206ADBCB-ECDD-33AA-5141-4E5AA517F332}"/>
                  </a:ext>
                </a:extLst>
              </p:cNvPr>
              <p:cNvSpPr>
                <a:spLocks noRot="1" noChangeAspect="1" noMove="1" noResize="1" noEditPoints="1" noAdjustHandles="1" noChangeArrowheads="1" noChangeShapeType="1" noTextEdit="1"/>
              </p:cNvSpPr>
              <p:nvPr/>
            </p:nvSpPr>
            <p:spPr>
              <a:xfrm>
                <a:off x="2017561" y="1445638"/>
                <a:ext cx="6268896" cy="824008"/>
              </a:xfrm>
              <a:prstGeom prst="rect">
                <a:avLst/>
              </a:prstGeom>
              <a:blipFill>
                <a:blip r:embed="rId4"/>
                <a:stretch>
                  <a:fillRect b="-454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矩形 2">
                <a:extLst>
                  <a:ext uri="{FF2B5EF4-FFF2-40B4-BE49-F238E27FC236}">
                    <a16:creationId xmlns:a16="http://schemas.microsoft.com/office/drawing/2014/main" id="{E7D83B74-77FC-B2D8-F9B7-42C0CA760775}"/>
                  </a:ext>
                </a:extLst>
              </p:cNvPr>
              <p:cNvSpPr/>
              <p:nvPr/>
            </p:nvSpPr>
            <p:spPr>
              <a:xfrm>
                <a:off x="3166115" y="2759116"/>
                <a:ext cx="803490" cy="3808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p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h</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𝑖</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p>
                      </m:sSup>
                    </m:oMath>
                  </m:oMathPara>
                </a14:m>
                <a:endParaRPr kumimoji="0" lang="zh-CN" altLang="en-US" sz="18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mc:Choice>
        <mc:Fallback>
          <p:sp>
            <p:nvSpPr>
              <p:cNvPr id="3" name="矩形 2">
                <a:extLst>
                  <a:ext uri="{FF2B5EF4-FFF2-40B4-BE49-F238E27FC236}">
                    <a16:creationId xmlns:a16="http://schemas.microsoft.com/office/drawing/2014/main" id="{E7D83B74-77FC-B2D8-F9B7-42C0CA760775}"/>
                  </a:ext>
                </a:extLst>
              </p:cNvPr>
              <p:cNvSpPr>
                <a:spLocks noRot="1" noChangeAspect="1" noMove="1" noResize="1" noEditPoints="1" noAdjustHandles="1" noChangeArrowheads="1" noChangeShapeType="1" noTextEdit="1"/>
              </p:cNvSpPr>
              <p:nvPr/>
            </p:nvSpPr>
            <p:spPr>
              <a:xfrm>
                <a:off x="3166115" y="2759116"/>
                <a:ext cx="803490" cy="38081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5" name="矩形 14">
                <a:extLst>
                  <a:ext uri="{FF2B5EF4-FFF2-40B4-BE49-F238E27FC236}">
                    <a16:creationId xmlns:a16="http://schemas.microsoft.com/office/drawing/2014/main" id="{28517ED2-46ED-0121-86B2-B9094F4ADE1C}"/>
                  </a:ext>
                </a:extLst>
              </p:cNvPr>
              <p:cNvSpPr/>
              <p:nvPr/>
            </p:nvSpPr>
            <p:spPr>
              <a:xfrm>
                <a:off x="9724431" y="1982772"/>
                <a:ext cx="598304" cy="28469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pPr>
                        <m:e>
                          <m:r>
                            <a:rPr kumimoji="0" lang="en-US" altLang="zh-CN" sz="1200" b="0" i="1" u="none" strike="noStrike" kern="1200" cap="none" spc="0" normalizeH="0" baseline="0" noProof="0">
                              <a:ln>
                                <a:noFill/>
                              </a:ln>
                              <a:solidFill>
                                <a:prstClr val="black"/>
                              </a:solidFill>
                              <a:effectLst/>
                              <a:uLnTx/>
                              <a:uFillTx/>
                              <a:latin typeface="Cambria Math" panose="02040503050406030204" pitchFamily="18" charset="0"/>
                              <a:cs typeface="+mn-cs"/>
                            </a:rPr>
                            <m:t>h</m:t>
                          </m:r>
                        </m:e>
                        <m:sup>
                          <m:r>
                            <a:rPr kumimoji="0" lang="en-US" altLang="zh-CN" sz="12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𝑖</m:t>
                          </m:r>
                          <m:r>
                            <a:rPr kumimoji="0" lang="en-US" altLang="zh-CN"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p>
                      </m:sSup>
                    </m:oMath>
                  </m:oMathPara>
                </a14:m>
                <a:endParaRPr kumimoji="0" lang="zh-CN" altLang="en-US" sz="12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mc:Choice>
        <mc:Fallback>
          <p:sp>
            <p:nvSpPr>
              <p:cNvPr id="15" name="矩形 14">
                <a:extLst>
                  <a:ext uri="{FF2B5EF4-FFF2-40B4-BE49-F238E27FC236}">
                    <a16:creationId xmlns:a16="http://schemas.microsoft.com/office/drawing/2014/main" id="{28517ED2-46ED-0121-86B2-B9094F4ADE1C}"/>
                  </a:ext>
                </a:extLst>
              </p:cNvPr>
              <p:cNvSpPr>
                <a:spLocks noRot="1" noChangeAspect="1" noMove="1" noResize="1" noEditPoints="1" noAdjustHandles="1" noChangeArrowheads="1" noChangeShapeType="1" noTextEdit="1"/>
              </p:cNvSpPr>
              <p:nvPr/>
            </p:nvSpPr>
            <p:spPr>
              <a:xfrm>
                <a:off x="9724431" y="1982772"/>
                <a:ext cx="598304" cy="284693"/>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 name="矩形 15">
                <a:extLst>
                  <a:ext uri="{FF2B5EF4-FFF2-40B4-BE49-F238E27FC236}">
                    <a16:creationId xmlns:a16="http://schemas.microsoft.com/office/drawing/2014/main" id="{8FAE76C8-371B-EB4D-323C-43F8F24EA8CF}"/>
                  </a:ext>
                </a:extLst>
              </p:cNvPr>
              <p:cNvSpPr/>
              <p:nvPr/>
            </p:nvSpPr>
            <p:spPr>
              <a:xfrm>
                <a:off x="5622057" y="3682645"/>
                <a:ext cx="2613252" cy="45903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p>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up>
                      </m:sSup>
                      <m:r>
                        <a:rPr kumimoji="0" lang="zh-CN" altLang="en-US" sz="16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6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SupPr>
                            <m:e>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b>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b>
                            <m:sup>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up>
                          </m:sSubSup>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SubSup>
                            <m:sSubSupPr>
                              <m:ctrlPr>
                                <a:rPr kumimoji="0" lang="en-US" altLang="zh-CN" sz="16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b>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2</m:t>
                              </m:r>
                            </m:sub>
                            <m:sup>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up>
                          </m:sSubSup>
                          <m:r>
                            <a:rPr kumimoji="0" lang="en-US" altLang="zh-CN" sz="16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 …,</m:t>
                          </m:r>
                          <m:sSubSup>
                            <m:sSubSupPr>
                              <m:ctrlPr>
                                <a:rPr kumimoji="0" lang="en-US" altLang="zh-CN" sz="16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b>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𝑚</m:t>
                              </m:r>
                            </m:sub>
                            <m:sup>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up>
                          </m:sSubSup>
                        </m:e>
                      </m:d>
                    </m:oMath>
                  </m:oMathPara>
                </a14:m>
                <a:endParaRPr kumimoji="0" lang="zh-CN" altLang="en-US" sz="16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p:sp>
            <p:nvSpPr>
              <p:cNvPr id="16" name="矩形 15">
                <a:extLst>
                  <a:ext uri="{FF2B5EF4-FFF2-40B4-BE49-F238E27FC236}">
                    <a16:creationId xmlns:a16="http://schemas.microsoft.com/office/drawing/2014/main" id="{8FAE76C8-371B-EB4D-323C-43F8F24EA8CF}"/>
                  </a:ext>
                </a:extLst>
              </p:cNvPr>
              <p:cNvSpPr>
                <a:spLocks noRot="1" noChangeAspect="1" noMove="1" noResize="1" noEditPoints="1" noAdjustHandles="1" noChangeArrowheads="1" noChangeShapeType="1" noTextEdit="1"/>
              </p:cNvSpPr>
              <p:nvPr/>
            </p:nvSpPr>
            <p:spPr>
              <a:xfrm>
                <a:off x="5622057" y="3682645"/>
                <a:ext cx="2613252" cy="459036"/>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 name="矩形 16">
                <a:extLst>
                  <a:ext uri="{FF2B5EF4-FFF2-40B4-BE49-F238E27FC236}">
                    <a16:creationId xmlns:a16="http://schemas.microsoft.com/office/drawing/2014/main" id="{B153A897-A35A-D7ED-1476-B1EA19AF3F34}"/>
                  </a:ext>
                </a:extLst>
              </p:cNvPr>
              <p:cNvSpPr/>
              <p:nvPr/>
            </p:nvSpPr>
            <p:spPr>
              <a:xfrm>
                <a:off x="4826960" y="6024500"/>
                <a:ext cx="2613252" cy="45903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p>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up>
                      </m:sSup>
                      <m:r>
                        <a:rPr kumimoji="0" lang="zh-CN" altLang="en-US" sz="16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6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SupPr>
                            <m:e>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b>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b>
                            <m:sup>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up>
                          </m:sSubSup>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SubSup>
                            <m:sSubSupPr>
                              <m:ctrlPr>
                                <a:rPr kumimoji="0" lang="en-US" altLang="zh-CN" sz="16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b>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2</m:t>
                              </m:r>
                            </m:sub>
                            <m:sup>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up>
                          </m:sSubSup>
                          <m:r>
                            <a:rPr kumimoji="0" lang="en-US" altLang="zh-CN" sz="16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 …,</m:t>
                          </m:r>
                          <m:sSubSup>
                            <m:sSubSupPr>
                              <m:ctrlPr>
                                <a:rPr kumimoji="0" lang="en-US" altLang="zh-CN" sz="16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b>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𝑛</m:t>
                              </m:r>
                            </m:sub>
                            <m:sup>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up>
                          </m:sSubSup>
                        </m:e>
                      </m:d>
                    </m:oMath>
                  </m:oMathPara>
                </a14:m>
                <a:endParaRPr kumimoji="0" lang="zh-CN" altLang="en-US" sz="16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p:sp>
            <p:nvSpPr>
              <p:cNvPr id="17" name="矩形 16">
                <a:extLst>
                  <a:ext uri="{FF2B5EF4-FFF2-40B4-BE49-F238E27FC236}">
                    <a16:creationId xmlns:a16="http://schemas.microsoft.com/office/drawing/2014/main" id="{B153A897-A35A-D7ED-1476-B1EA19AF3F34}"/>
                  </a:ext>
                </a:extLst>
              </p:cNvPr>
              <p:cNvSpPr>
                <a:spLocks noRot="1" noChangeAspect="1" noMove="1" noResize="1" noEditPoints="1" noAdjustHandles="1" noChangeArrowheads="1" noChangeShapeType="1" noTextEdit="1"/>
              </p:cNvSpPr>
              <p:nvPr/>
            </p:nvSpPr>
            <p:spPr>
              <a:xfrm>
                <a:off x="4826960" y="6024500"/>
                <a:ext cx="2613252" cy="459036"/>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0" name="矩形 19">
                <a:extLst>
                  <a:ext uri="{FF2B5EF4-FFF2-40B4-BE49-F238E27FC236}">
                    <a16:creationId xmlns:a16="http://schemas.microsoft.com/office/drawing/2014/main" id="{49B8B0FF-946D-6FD5-101A-389A8A7AAE3D}"/>
                  </a:ext>
                </a:extLst>
              </p:cNvPr>
              <p:cNvSpPr/>
              <p:nvPr/>
            </p:nvSpPr>
            <p:spPr>
              <a:xfrm>
                <a:off x="1007508" y="6004946"/>
                <a:ext cx="3269202" cy="45903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p>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p>
                      </m:sSup>
                      <m:r>
                        <a:rPr kumimoji="0" lang="zh-CN" altLang="en-US" sz="16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6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SupPr>
                            <m:e>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b>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b>
                            <m:sup>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p>
                          </m:sSubSup>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SubSup>
                            <m:sSubSupPr>
                              <m:ctrlPr>
                                <a:rPr kumimoji="0" lang="en-US" altLang="zh-CN" sz="16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b>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2</m:t>
                              </m:r>
                            </m:sub>
                            <m:sup>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p>
                          </m:sSubSup>
                          <m:r>
                            <a:rPr kumimoji="0" lang="en-US" altLang="zh-CN" sz="16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 …,</m:t>
                          </m:r>
                          <m:sSubSup>
                            <m:sSubSupPr>
                              <m:ctrlPr>
                                <a:rPr kumimoji="0" lang="en-US" altLang="zh-CN" sz="16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b>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𝑚</m:t>
                              </m:r>
                            </m:sub>
                            <m:sup>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p>
                          </m:sSubSup>
                        </m:e>
                      </m:d>
                    </m:oMath>
                  </m:oMathPara>
                </a14:m>
                <a:endParaRPr kumimoji="0" lang="zh-CN" altLang="en-US" sz="16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p:sp>
            <p:nvSpPr>
              <p:cNvPr id="20" name="矩形 19">
                <a:extLst>
                  <a:ext uri="{FF2B5EF4-FFF2-40B4-BE49-F238E27FC236}">
                    <a16:creationId xmlns:a16="http://schemas.microsoft.com/office/drawing/2014/main" id="{49B8B0FF-946D-6FD5-101A-389A8A7AAE3D}"/>
                  </a:ext>
                </a:extLst>
              </p:cNvPr>
              <p:cNvSpPr>
                <a:spLocks noRot="1" noChangeAspect="1" noMove="1" noResize="1" noEditPoints="1" noAdjustHandles="1" noChangeArrowheads="1" noChangeShapeType="1" noTextEdit="1"/>
              </p:cNvSpPr>
              <p:nvPr/>
            </p:nvSpPr>
            <p:spPr>
              <a:xfrm>
                <a:off x="1007508" y="6004946"/>
                <a:ext cx="3269202" cy="459036"/>
              </a:xfrm>
              <a:prstGeom prst="rect">
                <a:avLst/>
              </a:prstGeom>
              <a:blipFill>
                <a:blip r:embed="rId9"/>
                <a:stretch>
                  <a:fillRect/>
                </a:stretch>
              </a:blipFill>
            </p:spPr>
            <p:txBody>
              <a:bodyPr/>
              <a:lstStyle/>
              <a:p>
                <a:r>
                  <a:rPr lang="en-US">
                    <a:noFill/>
                  </a:rPr>
                  <a:t> </a:t>
                </a:r>
              </a:p>
            </p:txBody>
          </p:sp>
        </mc:Fallback>
      </mc:AlternateContent>
      <p:sp>
        <p:nvSpPr>
          <p:cNvPr id="4" name="标题 1">
            <a:extLst>
              <a:ext uri="{FF2B5EF4-FFF2-40B4-BE49-F238E27FC236}">
                <a16:creationId xmlns:a16="http://schemas.microsoft.com/office/drawing/2014/main" id="{C1F3D15C-B742-25ED-456F-3B5A4EB373D2}"/>
              </a:ext>
            </a:extLst>
          </p:cNvPr>
          <p:cNvSpPr>
            <a:spLocks noGrp="1"/>
          </p:cNvSpPr>
          <p:nvPr>
            <p:ph type="title"/>
          </p:nvPr>
        </p:nvSpPr>
        <p:spPr>
          <a:xfrm>
            <a:off x="331529" y="-252122"/>
            <a:ext cx="10363200" cy="1143000"/>
          </a:xfrm>
        </p:spPr>
        <p:txBody>
          <a:bodyPr/>
          <a:lstStyle/>
          <a:p>
            <a:r>
              <a:rPr lang="zh-CN" altLang="en-US" dirty="0"/>
              <a:t>前情回顾：循环神经网络</a:t>
            </a:r>
          </a:p>
        </p:txBody>
      </p:sp>
    </p:spTree>
    <p:extLst>
      <p:ext uri="{BB962C8B-B14F-4D97-AF65-F5344CB8AC3E}">
        <p14:creationId xmlns:p14="http://schemas.microsoft.com/office/powerpoint/2010/main" val="6354182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循环神经网络的一般性结构</a:t>
            </a:r>
          </a:p>
        </p:txBody>
      </p:sp>
      <p:pic>
        <p:nvPicPr>
          <p:cNvPr id="4" name="图片 3"/>
          <p:cNvPicPr>
            <a:picLocks noChangeAspect="1"/>
          </p:cNvPicPr>
          <p:nvPr/>
        </p:nvPicPr>
        <p:blipFill>
          <a:blip r:embed="rId2"/>
          <a:stretch>
            <a:fillRect/>
          </a:stretch>
        </p:blipFill>
        <p:spPr>
          <a:xfrm>
            <a:off x="853439" y="1697118"/>
            <a:ext cx="5938396" cy="4073506"/>
          </a:xfrm>
          <a:prstGeom prst="rect">
            <a:avLst/>
          </a:prstGeom>
        </p:spPr>
      </p:pic>
      <p:pic>
        <p:nvPicPr>
          <p:cNvPr id="5" name="图片 4"/>
          <p:cNvPicPr>
            <a:picLocks noChangeAspect="1"/>
          </p:cNvPicPr>
          <p:nvPr/>
        </p:nvPicPr>
        <p:blipFill>
          <a:blip r:embed="rId3"/>
          <a:stretch>
            <a:fillRect/>
          </a:stretch>
        </p:blipFill>
        <p:spPr>
          <a:xfrm>
            <a:off x="9497933" y="1753163"/>
            <a:ext cx="1212474" cy="3696567"/>
          </a:xfrm>
          <a:prstGeom prst="rect">
            <a:avLst/>
          </a:prstGeom>
        </p:spPr>
      </p:pic>
      <p:cxnSp>
        <p:nvCxnSpPr>
          <p:cNvPr id="6" name="直接箭头连接符 5"/>
          <p:cNvCxnSpPr/>
          <p:nvPr/>
        </p:nvCxnSpPr>
        <p:spPr>
          <a:xfrm flipH="1">
            <a:off x="10543431" y="4182386"/>
            <a:ext cx="341905" cy="206734"/>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10771917" y="3969087"/>
            <a:ext cx="120064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延迟一拍</a:t>
            </a:r>
          </a:p>
        </p:txBody>
      </p:sp>
      <p:sp>
        <p:nvSpPr>
          <p:cNvPr id="10" name="右箭头 9"/>
          <p:cNvSpPr/>
          <p:nvPr/>
        </p:nvSpPr>
        <p:spPr>
          <a:xfrm>
            <a:off x="7012433" y="4316844"/>
            <a:ext cx="954157" cy="381663"/>
          </a:xfrm>
          <a:prstGeom prst="rightArrow">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矩形 7"/>
              <p:cNvSpPr/>
              <p:nvPr/>
            </p:nvSpPr>
            <p:spPr>
              <a:xfrm>
                <a:off x="7197331" y="1683563"/>
                <a:ext cx="2460032" cy="50481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zh-CN" altLang="en-US"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𝑦</m:t>
                          </m:r>
                        </m:e>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sup>
                      </m:s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𝑦</m:t>
                              </m:r>
                            </m:e>
                            <m: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𝑦</m:t>
                              </m:r>
                            </m:e>
                            <m: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2</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e>
                              </m:d>
                            </m:sup>
                          </m:sSub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𝑦</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𝑘</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e>
                              </m:d>
                            </m:sup>
                          </m:sSubSup>
                        </m:e>
                      </m:d>
                    </m:oMath>
                  </m:oMathPara>
                </a14:m>
                <a:endParaRPr kumimoji="0" lang="en-US" altLang="zh-CN"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8" name="矩形 7"/>
              <p:cNvSpPr>
                <a:spLocks noRot="1" noChangeAspect="1" noMove="1" noResize="1" noEditPoints="1" noAdjustHandles="1" noChangeArrowheads="1" noChangeShapeType="1" noTextEdit="1"/>
              </p:cNvSpPr>
              <p:nvPr/>
            </p:nvSpPr>
            <p:spPr>
              <a:xfrm>
                <a:off x="7197331" y="1683563"/>
                <a:ext cx="2460032" cy="504818"/>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7288489" y="2857457"/>
                <a:ext cx="2508892" cy="50481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zh-CN" altLang="en-US"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𝑜</m:t>
                          </m:r>
                        </m:e>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sup>
                      </m:s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𝑜</m:t>
                              </m:r>
                            </m:e>
                            <m: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𝑜</m:t>
                              </m:r>
                            </m:e>
                            <m: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2</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e>
                              </m:d>
                            </m:sup>
                          </m:sSub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𝑜</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𝑘</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e>
                              </m:d>
                            </m:sup>
                          </m:sSubSup>
                        </m:e>
                      </m:d>
                    </m:oMath>
                  </m:oMathPara>
                </a14:m>
                <a:endParaRPr kumimoji="0" lang="en-US" altLang="zh-CN"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12" name="矩形 11"/>
              <p:cNvSpPr>
                <a:spLocks noRot="1" noChangeAspect="1" noMove="1" noResize="1" noEditPoints="1" noAdjustHandles="1" noChangeArrowheads="1" noChangeShapeType="1" noTextEdit="1"/>
              </p:cNvSpPr>
              <p:nvPr/>
            </p:nvSpPr>
            <p:spPr>
              <a:xfrm>
                <a:off x="7288489" y="2857457"/>
                <a:ext cx="2508892" cy="504818"/>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7012434" y="3733871"/>
                <a:ext cx="2582054" cy="50481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up>
                      </m:s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up>
                          </m:sSub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2</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up>
                          </m:sSubSup>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 …,</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𝑚</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up>
                          </m:sSubSup>
                        </m:e>
                      </m:d>
                    </m:oMath>
                  </m:oMathPara>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13" name="矩形 12"/>
              <p:cNvSpPr>
                <a:spLocks noRot="1" noChangeAspect="1" noMove="1" noResize="1" noEditPoints="1" noAdjustHandles="1" noChangeArrowheads="1" noChangeShapeType="1" noTextEdit="1"/>
              </p:cNvSpPr>
              <p:nvPr/>
            </p:nvSpPr>
            <p:spPr>
              <a:xfrm>
                <a:off x="7012434" y="3733871"/>
                <a:ext cx="2582054" cy="504818"/>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p:cNvSpPr/>
              <p:nvPr/>
            </p:nvSpPr>
            <p:spPr>
              <a:xfrm>
                <a:off x="7125645" y="4981882"/>
                <a:ext cx="2584297" cy="50481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up>
                      </m:s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up>
                          </m:sSub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2</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up>
                          </m:sSubSup>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 …,</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𝑛</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up>
                          </m:sSubSup>
                        </m:e>
                      </m:d>
                    </m:oMath>
                  </m:oMathPara>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14" name="矩形 13"/>
              <p:cNvSpPr>
                <a:spLocks noRot="1" noChangeAspect="1" noMove="1" noResize="1" noEditPoints="1" noAdjustHandles="1" noChangeArrowheads="1" noChangeShapeType="1" noTextEdit="1"/>
              </p:cNvSpPr>
              <p:nvPr/>
            </p:nvSpPr>
            <p:spPr>
              <a:xfrm>
                <a:off x="7125645" y="4981882"/>
                <a:ext cx="2584297" cy="504818"/>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矩形 2"/>
              <p:cNvSpPr/>
              <p:nvPr/>
            </p:nvSpPr>
            <p:spPr>
              <a:xfrm>
                <a:off x="10909190" y="4238689"/>
                <a:ext cx="803490" cy="3808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h</m:t>
                          </m:r>
                        </m:e>
                        <m:sup>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p>
                      </m:sSup>
                    </m:oMath>
                  </m:oMathPara>
                </a14:m>
                <a:endParaRPr kumimoji="0" lang="zh-CN" altLang="en-US" sz="18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mc:Choice>
        <mc:Fallback xmlns="">
          <p:sp>
            <p:nvSpPr>
              <p:cNvPr id="3" name="矩形 2"/>
              <p:cNvSpPr>
                <a:spLocks noRot="1" noChangeAspect="1" noMove="1" noResize="1" noEditPoints="1" noAdjustHandles="1" noChangeArrowheads="1" noChangeShapeType="1" noTextEdit="1"/>
              </p:cNvSpPr>
              <p:nvPr/>
            </p:nvSpPr>
            <p:spPr>
              <a:xfrm>
                <a:off x="10909190" y="4238689"/>
                <a:ext cx="803490" cy="380810"/>
              </a:xfrm>
              <a:prstGeom prst="rect">
                <a:avLst/>
              </a:prstGeom>
              <a:blipFill>
                <a:blip r:embed="rId8"/>
                <a:stretch>
                  <a:fillRect/>
                </a:stretch>
              </a:blipFill>
            </p:spPr>
            <p:txBody>
              <a:bodyPr/>
              <a:lstStyle/>
              <a:p>
                <a:r>
                  <a:rPr lang="zh-CN" altLang="en-US">
                    <a:noFill/>
                  </a:rPr>
                  <a:t> </a:t>
                </a:r>
              </a:p>
            </p:txBody>
          </p:sp>
        </mc:Fallback>
      </mc:AlternateContent>
      <p:sp>
        <p:nvSpPr>
          <p:cNvPr id="20" name="文本框 19"/>
          <p:cNvSpPr txBox="1"/>
          <p:nvPr/>
        </p:nvSpPr>
        <p:spPr>
          <a:xfrm>
            <a:off x="10434763" y="3402442"/>
            <a:ext cx="120064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全连接</a:t>
            </a:r>
          </a:p>
        </p:txBody>
      </p:sp>
      <p:cxnSp>
        <p:nvCxnSpPr>
          <p:cNvPr id="21" name="直接箭头连接符 20"/>
          <p:cNvCxnSpPr>
            <a:stCxn id="20" idx="1"/>
          </p:cNvCxnSpPr>
          <p:nvPr/>
        </p:nvCxnSpPr>
        <p:spPr>
          <a:xfrm flipH="1" flipV="1">
            <a:off x="10176034" y="3205129"/>
            <a:ext cx="258729" cy="38197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a:stCxn id="20" idx="1"/>
          </p:cNvCxnSpPr>
          <p:nvPr/>
        </p:nvCxnSpPr>
        <p:spPr>
          <a:xfrm flipH="1">
            <a:off x="10042317" y="3587108"/>
            <a:ext cx="392446" cy="59527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7" name="文本框 26"/>
          <p:cNvSpPr txBox="1"/>
          <p:nvPr/>
        </p:nvSpPr>
        <p:spPr>
          <a:xfrm>
            <a:off x="10289495" y="4734759"/>
            <a:ext cx="120064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全连接</a:t>
            </a:r>
          </a:p>
        </p:txBody>
      </p:sp>
    </p:spTree>
    <p:extLst>
      <p:ext uri="{BB962C8B-B14F-4D97-AF65-F5344CB8AC3E}">
        <p14:creationId xmlns:p14="http://schemas.microsoft.com/office/powerpoint/2010/main" val="4162229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animBg="1"/>
      <p:bldP spid="8" grpId="0"/>
      <p:bldP spid="12" grpId="0"/>
      <p:bldP spid="13" grpId="0"/>
      <p:bldP spid="14" grpId="0"/>
      <p:bldP spid="3" grpId="0"/>
      <p:bldP spid="20" grpId="0"/>
      <p:bldP spid="2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循环神经网络的训练：</a:t>
            </a:r>
            <a:r>
              <a:rPr lang="en-US" altLang="zh-CN" dirty="0"/>
              <a:t>BP</a:t>
            </a:r>
            <a:endParaRPr lang="zh-CN" altLang="en-US" dirty="0"/>
          </a:p>
        </p:txBody>
      </p:sp>
      <p:sp>
        <p:nvSpPr>
          <p:cNvPr id="3" name="内容占位符 2"/>
          <p:cNvSpPr>
            <a:spLocks noGrp="1"/>
          </p:cNvSpPr>
          <p:nvPr>
            <p:ph sz="quarter" idx="1"/>
          </p:nvPr>
        </p:nvSpPr>
        <p:spPr/>
        <p:txBody>
          <a:bodyPr/>
          <a:lstStyle/>
          <a:p>
            <a:r>
              <a:rPr lang="zh-CN" altLang="en-US" dirty="0"/>
              <a:t>与具体任务结合</a:t>
            </a:r>
            <a:endParaRPr lang="en-US" altLang="zh-CN" dirty="0"/>
          </a:p>
          <a:p>
            <a:pPr lvl="1"/>
            <a:r>
              <a:rPr lang="zh-CN" altLang="en-US" dirty="0"/>
              <a:t>例：序列级分类问题</a:t>
            </a:r>
          </a:p>
        </p:txBody>
      </p:sp>
      <p:sp>
        <p:nvSpPr>
          <p:cNvPr id="5" name="文本框 4"/>
          <p:cNvSpPr txBox="1"/>
          <p:nvPr/>
        </p:nvSpPr>
        <p:spPr>
          <a:xfrm>
            <a:off x="7960655" y="2934032"/>
            <a:ext cx="121654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B050"/>
                </a:solidFill>
                <a:effectLst/>
                <a:uLnTx/>
                <a:uFillTx/>
                <a:latin typeface="Perpetua"/>
                <a:ea typeface="宋体" panose="02010600030101010101" pitchFamily="2" charset="-122"/>
                <a:cs typeface="+mn-cs"/>
              </a:rPr>
              <a:t>输出层</a:t>
            </a:r>
          </a:p>
        </p:txBody>
      </p:sp>
      <p:sp>
        <p:nvSpPr>
          <p:cNvPr id="6" name="文本框 5"/>
          <p:cNvSpPr txBox="1"/>
          <p:nvPr/>
        </p:nvSpPr>
        <p:spPr>
          <a:xfrm>
            <a:off x="7960655" y="3781506"/>
            <a:ext cx="171155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B050"/>
                </a:solidFill>
                <a:effectLst/>
                <a:uLnTx/>
                <a:uFillTx/>
                <a:latin typeface="Perpetua"/>
                <a:ea typeface="宋体" panose="02010600030101010101" pitchFamily="2" charset="-122"/>
                <a:cs typeface="+mn-cs"/>
              </a:rPr>
              <a:t>句子向量表示</a:t>
            </a:r>
          </a:p>
        </p:txBody>
      </p:sp>
      <p:sp>
        <p:nvSpPr>
          <p:cNvPr id="7" name="右大括号 6"/>
          <p:cNvSpPr/>
          <p:nvPr/>
        </p:nvSpPr>
        <p:spPr>
          <a:xfrm rot="5400000">
            <a:off x="4357009" y="2634119"/>
            <a:ext cx="492981" cy="5338820"/>
          </a:xfrm>
          <a:prstGeom prst="rightBrace">
            <a:avLst>
              <a:gd name="adj1" fmla="val 14348"/>
              <a:gd name="adj2" fmla="val 50000"/>
            </a:avLst>
          </a:pr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8" name="文本框 7"/>
          <p:cNvSpPr txBox="1"/>
          <p:nvPr/>
        </p:nvSpPr>
        <p:spPr>
          <a:xfrm>
            <a:off x="3800724" y="5602772"/>
            <a:ext cx="221841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0B050"/>
                </a:solidFill>
                <a:effectLst/>
                <a:uLnTx/>
                <a:uFillTx/>
                <a:latin typeface="Perpetua"/>
                <a:ea typeface="宋体" panose="02010600030101010101" pitchFamily="2" charset="-122"/>
                <a:cs typeface="+mn-cs"/>
              </a:rPr>
              <a:t>句子的词向量</a:t>
            </a:r>
          </a:p>
        </p:txBody>
      </p:sp>
      <mc:AlternateContent xmlns:mc="http://schemas.openxmlformats.org/markup-compatibility/2006" xmlns:a14="http://schemas.microsoft.com/office/drawing/2010/main">
        <mc:Choice Requires="a14">
          <p:sp>
            <p:nvSpPr>
              <p:cNvPr id="9" name="矩形 8"/>
              <p:cNvSpPr/>
              <p:nvPr/>
            </p:nvSpPr>
            <p:spPr>
              <a:xfrm>
                <a:off x="7490719" y="1832828"/>
                <a:ext cx="2964529" cy="50481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B050"/>
                    </a:solidFill>
                    <a:effectLst/>
                    <a:uLnTx/>
                    <a:uFillTx/>
                    <a:latin typeface="Perpetua"/>
                    <a:ea typeface="宋体" panose="02010600030101010101" pitchFamily="2" charset="-122"/>
                    <a:cs typeface="+mn-cs"/>
                  </a:rPr>
                  <a:t>分类的概率</a:t>
                </a:r>
                <a14:m>
                  <m:oMath xmlns:m="http://schemas.openxmlformats.org/officeDocument/2006/math">
                    <m:r>
                      <a:rPr kumimoji="0" lang="en-US" altLang="zh-CN" sz="1800" b="0" i="0" u="none" strike="noStrike" kern="1200" cap="none" spc="0" normalizeH="0" baseline="0" noProof="0" smtClean="0">
                        <a:ln>
                          <a:noFill/>
                        </a:ln>
                        <a:solidFill>
                          <a:srgbClr val="FF0000"/>
                        </a:solidFill>
                        <a:effectLst/>
                        <a:uLnTx/>
                        <a:uFillTx/>
                        <a:latin typeface="Cambria Math" panose="02040503050406030204" pitchFamily="18" charset="0"/>
                        <a:cs typeface="+mn-cs"/>
                      </a:rPr>
                      <m:t>  </m:t>
                    </m:r>
                    <m:sSup>
                      <m:sSupPr>
                        <m:ctrlPr>
                          <a:rPr kumimoji="0" lang="zh-CN" altLang="en-US"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𝑦</m:t>
                        </m:r>
                      </m:e>
                      <m:sup>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sup>
                    </m:s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𝑦</m:t>
                            </m:r>
                          </m:e>
                          <m: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𝑦</m:t>
                            </m:r>
                          </m:e>
                          <m: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2</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bSup>
                      </m:e>
                    </m:d>
                  </m:oMath>
                </a14:m>
                <a:endParaRPr kumimoji="0" lang="en-US" altLang="zh-CN"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9" name="矩形 8"/>
              <p:cNvSpPr>
                <a:spLocks noRot="1" noChangeAspect="1" noMove="1" noResize="1" noEditPoints="1" noAdjustHandles="1" noChangeArrowheads="1" noChangeShapeType="1" noTextEdit="1"/>
              </p:cNvSpPr>
              <p:nvPr/>
            </p:nvSpPr>
            <p:spPr>
              <a:xfrm>
                <a:off x="7490719" y="1832828"/>
                <a:ext cx="2964529" cy="504818"/>
              </a:xfrm>
              <a:prstGeom prst="rect">
                <a:avLst/>
              </a:prstGeom>
              <a:blipFill>
                <a:blip r:embed="rId3"/>
                <a:stretch>
                  <a:fillRect l="-1852" b="-243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7960655" y="4176291"/>
                <a:ext cx="2621487" cy="50481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up>
                      </m:s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up>
                          </m:sSub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2</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up>
                          </m:sSubSup>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 …,</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𝑚</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up>
                          </m:sSubSup>
                        </m:e>
                      </m:d>
                    </m:oMath>
                  </m:oMathPara>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10" name="矩形 9"/>
              <p:cNvSpPr>
                <a:spLocks noRot="1" noChangeAspect="1" noMove="1" noResize="1" noEditPoints="1" noAdjustHandles="1" noChangeArrowheads="1" noChangeShapeType="1" noTextEdit="1"/>
              </p:cNvSpPr>
              <p:nvPr/>
            </p:nvSpPr>
            <p:spPr>
              <a:xfrm>
                <a:off x="7960655" y="4176291"/>
                <a:ext cx="2621487" cy="504818"/>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5463822" y="5566585"/>
                <a:ext cx="2584297" cy="50481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up>
                      </m:s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up>
                          </m:sSub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2</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up>
                          </m:sSubSup>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 …,</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𝑛</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up>
                          </m:sSubSup>
                        </m:e>
                      </m:d>
                    </m:oMath>
                  </m:oMathPara>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11" name="矩形 10"/>
              <p:cNvSpPr>
                <a:spLocks noRot="1" noChangeAspect="1" noMove="1" noResize="1" noEditPoints="1" noAdjustHandles="1" noChangeArrowheads="1" noChangeShapeType="1" noTextEdit="1"/>
              </p:cNvSpPr>
              <p:nvPr/>
            </p:nvSpPr>
            <p:spPr>
              <a:xfrm>
                <a:off x="5463822" y="5566585"/>
                <a:ext cx="2584297" cy="504818"/>
              </a:xfrm>
              <a:prstGeom prst="rect">
                <a:avLst/>
              </a:prstGeom>
              <a:blipFill>
                <a:blip r:embed="rId5"/>
                <a:stretch>
                  <a:fillRect/>
                </a:stretch>
              </a:blipFill>
            </p:spPr>
            <p:txBody>
              <a:bodyPr/>
              <a:lstStyle/>
              <a:p>
                <a:r>
                  <a:rPr lang="zh-CN" altLang="en-US">
                    <a:noFill/>
                  </a:rPr>
                  <a:t> </a:t>
                </a:r>
              </a:p>
            </p:txBody>
          </p:sp>
        </mc:Fallback>
      </mc:AlternateContent>
      <p:sp>
        <p:nvSpPr>
          <p:cNvPr id="12" name="右大括号 11"/>
          <p:cNvSpPr/>
          <p:nvPr/>
        </p:nvSpPr>
        <p:spPr>
          <a:xfrm>
            <a:off x="7847937" y="3184487"/>
            <a:ext cx="254442" cy="732714"/>
          </a:xfrm>
          <a:prstGeom prst="rightBrace">
            <a:avLst>
              <a:gd name="adj1" fmla="val 26103"/>
              <a:gd name="adj2" fmla="val 51475"/>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13" name="文本框 12"/>
          <p:cNvSpPr txBox="1"/>
          <p:nvPr/>
        </p:nvSpPr>
        <p:spPr>
          <a:xfrm>
            <a:off x="8147976" y="3356186"/>
            <a:ext cx="121654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全连接</a:t>
            </a:r>
          </a:p>
        </p:txBody>
      </p:sp>
      <mc:AlternateContent xmlns:mc="http://schemas.openxmlformats.org/markup-compatibility/2006" xmlns:a14="http://schemas.microsoft.com/office/drawing/2010/main">
        <mc:Choice Requires="a14">
          <p:sp>
            <p:nvSpPr>
              <p:cNvPr id="14" name="矩形 13"/>
              <p:cNvSpPr/>
              <p:nvPr/>
            </p:nvSpPr>
            <p:spPr>
              <a:xfrm>
                <a:off x="8651023" y="2808597"/>
                <a:ext cx="1727909" cy="50481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zh-CN" altLang="en-US"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𝑜</m:t>
                          </m:r>
                        </m:e>
                        <m:sup>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sup>
                      </m:s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𝑜</m:t>
                              </m:r>
                            </m:e>
                            <m: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𝑜</m:t>
                              </m:r>
                            </m:e>
                            <m: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2</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bSup>
                        </m:e>
                      </m:d>
                    </m:oMath>
                  </m:oMathPara>
                </a14:m>
                <a:endParaRPr kumimoji="0" lang="en-US" altLang="zh-CN"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14" name="矩形 13"/>
              <p:cNvSpPr>
                <a:spLocks noRot="1" noChangeAspect="1" noMove="1" noResize="1" noEditPoints="1" noAdjustHandles="1" noChangeArrowheads="1" noChangeShapeType="1" noTextEdit="1"/>
              </p:cNvSpPr>
              <p:nvPr/>
            </p:nvSpPr>
            <p:spPr>
              <a:xfrm>
                <a:off x="8651023" y="2808597"/>
                <a:ext cx="1727909" cy="504818"/>
              </a:xfrm>
              <a:prstGeom prst="rect">
                <a:avLst/>
              </a:prstGeom>
              <a:blipFill>
                <a:blip r:embed="rId6"/>
                <a:stretch>
                  <a:fillRect/>
                </a:stretch>
              </a:blipFill>
            </p:spPr>
            <p:txBody>
              <a:bodyPr/>
              <a:lstStyle/>
              <a:p>
                <a:r>
                  <a:rPr lang="zh-CN" altLang="en-US">
                    <a:noFill/>
                  </a:rPr>
                  <a:t> </a:t>
                </a:r>
              </a:p>
            </p:txBody>
          </p:sp>
        </mc:Fallback>
      </mc:AlternateContent>
      <p:pic>
        <p:nvPicPr>
          <p:cNvPr id="15" name="图片 14"/>
          <p:cNvPicPr>
            <a:picLocks noChangeAspect="1"/>
          </p:cNvPicPr>
          <p:nvPr/>
        </p:nvPicPr>
        <p:blipFill>
          <a:blip r:embed="rId7"/>
          <a:stretch>
            <a:fillRect/>
          </a:stretch>
        </p:blipFill>
        <p:spPr>
          <a:xfrm>
            <a:off x="1555060" y="2061049"/>
            <a:ext cx="6606929" cy="3000085"/>
          </a:xfrm>
          <a:prstGeom prst="rect">
            <a:avLst/>
          </a:prstGeom>
        </p:spPr>
      </p:pic>
      <p:pic>
        <p:nvPicPr>
          <p:cNvPr id="16" name="图片 15">
            <a:extLst>
              <a:ext uri="{FF2B5EF4-FFF2-40B4-BE49-F238E27FC236}">
                <a16:creationId xmlns:a16="http://schemas.microsoft.com/office/drawing/2014/main" id="{A0C225A2-3ABB-4BEA-8E41-FDFFA0FACF60}"/>
              </a:ext>
            </a:extLst>
          </p:cNvPr>
          <p:cNvPicPr>
            <a:picLocks noChangeAspect="1"/>
          </p:cNvPicPr>
          <p:nvPr/>
        </p:nvPicPr>
        <p:blipFill>
          <a:blip r:embed="rId8"/>
          <a:stretch>
            <a:fillRect/>
          </a:stretch>
        </p:blipFill>
        <p:spPr>
          <a:xfrm>
            <a:off x="1769107" y="1923089"/>
            <a:ext cx="7903103" cy="4079020"/>
          </a:xfrm>
          <a:prstGeom prst="rect">
            <a:avLst/>
          </a:prstGeom>
        </p:spPr>
      </p:pic>
    </p:spTree>
    <p:extLst>
      <p:ext uri="{BB962C8B-B14F-4D97-AF65-F5344CB8AC3E}">
        <p14:creationId xmlns:p14="http://schemas.microsoft.com/office/powerpoint/2010/main" val="3530665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6"/>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nimBg="1"/>
      <p:bldP spid="8" grpId="0"/>
      <p:bldP spid="9" grpId="0"/>
      <p:bldP spid="10" grpId="0"/>
      <p:bldP spid="11" grpId="0"/>
      <p:bldP spid="12" grpId="0" animBg="1"/>
      <p:bldP spid="13" grpId="0"/>
      <p:bldP spid="1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举例：中文分词问题</a:t>
            </a:r>
          </a:p>
        </p:txBody>
      </p:sp>
      <p:sp>
        <p:nvSpPr>
          <p:cNvPr id="3" name="内容占位符 2"/>
          <p:cNvSpPr>
            <a:spLocks noGrp="1"/>
          </p:cNvSpPr>
          <p:nvPr>
            <p:ph sz="quarter" idx="1"/>
          </p:nvPr>
        </p:nvSpPr>
        <p:spPr>
          <a:xfrm>
            <a:off x="1219200" y="1606826"/>
            <a:ext cx="10363200" cy="4572000"/>
          </a:xfrm>
        </p:spPr>
        <p:txBody>
          <a:bodyPr>
            <a:normAutofit lnSpcReduction="10000"/>
          </a:bodyPr>
          <a:lstStyle/>
          <a:p>
            <a:r>
              <a:rPr lang="zh-CN" altLang="en-US" dirty="0"/>
              <a:t>分词问题</a:t>
            </a:r>
            <a:endParaRPr lang="en-US" altLang="zh-CN" dirty="0"/>
          </a:p>
          <a:p>
            <a:pPr lvl="1"/>
            <a:r>
              <a:rPr lang="zh-CN" altLang="en-US" dirty="0"/>
              <a:t>清华计算机系</a:t>
            </a:r>
            <a:endParaRPr lang="en-US" altLang="zh-CN" dirty="0"/>
          </a:p>
          <a:p>
            <a:pPr lvl="1"/>
            <a:endParaRPr lang="en-US" altLang="zh-CN" dirty="0"/>
          </a:p>
          <a:p>
            <a:r>
              <a:rPr lang="zh-CN" altLang="en-US" dirty="0"/>
              <a:t>标记说明</a:t>
            </a:r>
            <a:endParaRPr lang="en-US" altLang="zh-CN" dirty="0"/>
          </a:p>
          <a:p>
            <a:pPr lvl="1"/>
            <a:r>
              <a:rPr lang="en-US" altLang="zh-CN" dirty="0"/>
              <a:t>B </a:t>
            </a:r>
            <a:r>
              <a:rPr lang="zh-CN" altLang="en-US" dirty="0"/>
              <a:t>：词首字</a:t>
            </a:r>
            <a:endParaRPr lang="en-US" altLang="zh-CN" dirty="0"/>
          </a:p>
          <a:p>
            <a:pPr lvl="1"/>
            <a:r>
              <a:rPr lang="en-US" altLang="zh-CN" dirty="0"/>
              <a:t>E </a:t>
            </a:r>
            <a:r>
              <a:rPr lang="zh-CN" altLang="en-US" dirty="0"/>
              <a:t>：词尾字</a:t>
            </a:r>
            <a:endParaRPr lang="en-US" altLang="zh-CN" dirty="0"/>
          </a:p>
          <a:p>
            <a:pPr lvl="1"/>
            <a:r>
              <a:rPr lang="en-US" altLang="zh-CN" dirty="0"/>
              <a:t>M</a:t>
            </a:r>
            <a:r>
              <a:rPr lang="zh-CN" altLang="en-US" dirty="0"/>
              <a:t>：词中字</a:t>
            </a:r>
            <a:endParaRPr lang="en-US" altLang="zh-CN" dirty="0"/>
          </a:p>
          <a:p>
            <a:pPr lvl="1"/>
            <a:r>
              <a:rPr lang="en-US" altLang="zh-CN" dirty="0"/>
              <a:t>S </a:t>
            </a:r>
            <a:r>
              <a:rPr lang="zh-CN" altLang="en-US" dirty="0"/>
              <a:t>：单字词</a:t>
            </a:r>
            <a:endParaRPr lang="en-US" altLang="zh-CN" dirty="0"/>
          </a:p>
          <a:p>
            <a:pPr lvl="1"/>
            <a:endParaRPr lang="en-US" altLang="zh-CN" dirty="0"/>
          </a:p>
          <a:p>
            <a:pPr marL="320040" lvl="1" indent="0">
              <a:buNone/>
            </a:pPr>
            <a:r>
              <a:rPr lang="en-US" altLang="zh-CN" dirty="0"/>
              <a:t>    </a:t>
            </a:r>
            <a:r>
              <a:rPr lang="zh-CN" altLang="zh-CN" dirty="0"/>
              <a:t>清 华 计 算 机 系</a:t>
            </a:r>
          </a:p>
          <a:p>
            <a:pPr marL="320040" lvl="1" indent="0">
              <a:buNone/>
            </a:pPr>
            <a:r>
              <a:rPr lang="en-US" altLang="zh-CN" dirty="0"/>
              <a:t>     B   E   B   M   E   S</a:t>
            </a:r>
            <a:endParaRPr lang="zh-CN" altLang="zh-CN" dirty="0"/>
          </a:p>
          <a:p>
            <a:pPr marL="0" indent="0">
              <a:buNone/>
            </a:pPr>
            <a:endParaRPr lang="zh-CN" altLang="en-US" dirty="0"/>
          </a:p>
        </p:txBody>
      </p:sp>
      <p:pic>
        <p:nvPicPr>
          <p:cNvPr id="4" name="图片 3"/>
          <p:cNvPicPr>
            <a:picLocks noChangeAspect="1"/>
          </p:cNvPicPr>
          <p:nvPr/>
        </p:nvPicPr>
        <p:blipFill>
          <a:blip r:embed="rId3"/>
          <a:stretch>
            <a:fillRect/>
          </a:stretch>
        </p:blipFill>
        <p:spPr>
          <a:xfrm>
            <a:off x="5398930" y="2310978"/>
            <a:ext cx="5976228" cy="2489271"/>
          </a:xfrm>
          <a:prstGeom prst="rect">
            <a:avLst/>
          </a:prstGeom>
        </p:spPr>
      </p:pic>
    </p:spTree>
    <p:extLst>
      <p:ext uri="{BB962C8B-B14F-4D97-AF65-F5344CB8AC3E}">
        <p14:creationId xmlns:p14="http://schemas.microsoft.com/office/powerpoint/2010/main" val="913208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举例：看图说话问题</a:t>
            </a:r>
          </a:p>
        </p:txBody>
      </p:sp>
      <p:sp>
        <p:nvSpPr>
          <p:cNvPr id="3" name="内容占位符 2"/>
          <p:cNvSpPr>
            <a:spLocks noGrp="1"/>
          </p:cNvSpPr>
          <p:nvPr>
            <p:ph sz="quarter" idx="1"/>
          </p:nvPr>
        </p:nvSpPr>
        <p:spPr>
          <a:xfrm>
            <a:off x="1219200" y="1602187"/>
            <a:ext cx="10363200" cy="4572000"/>
          </a:xfrm>
        </p:spPr>
        <p:txBody>
          <a:bodyPr/>
          <a:lstStyle/>
          <a:p>
            <a:r>
              <a:rPr lang="zh-CN" altLang="en-US" dirty="0"/>
              <a:t>看图说话问题</a:t>
            </a:r>
            <a:endParaRPr lang="en-US" altLang="zh-CN" dirty="0"/>
          </a:p>
          <a:p>
            <a:pPr lvl="1"/>
            <a:r>
              <a:rPr lang="zh-CN" altLang="en-US" dirty="0"/>
              <a:t>用一句话描述图像内容</a:t>
            </a:r>
            <a:endParaRPr lang="en-US" altLang="zh-CN" dirty="0"/>
          </a:p>
          <a:p>
            <a:pPr lvl="1"/>
            <a:endParaRPr lang="en-US" altLang="zh-CN" dirty="0"/>
          </a:p>
          <a:p>
            <a:pPr marL="274320" lvl="1" indent="0">
              <a:buNone/>
            </a:pPr>
            <a:r>
              <a:rPr lang="zh-CN" altLang="en-US" dirty="0"/>
              <a:t>“草坪上有一只漂亮的小狗”“</a:t>
            </a:r>
          </a:p>
        </p:txBody>
      </p:sp>
      <p:pic>
        <p:nvPicPr>
          <p:cNvPr id="4" name="图片 3" descr="C:\Users\msp\AppData\Local\Temp\WeChat Files\cad213e17e708a5be32cf0a350a7bc0.jp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89767" y="2011679"/>
            <a:ext cx="5152445" cy="3307742"/>
          </a:xfrm>
          <a:prstGeom prst="rect">
            <a:avLst/>
          </a:prstGeom>
          <a:noFill/>
          <a:ln>
            <a:noFill/>
          </a:ln>
        </p:spPr>
      </p:pic>
    </p:spTree>
    <p:extLst>
      <p:ext uri="{BB962C8B-B14F-4D97-AF65-F5344CB8AC3E}">
        <p14:creationId xmlns:p14="http://schemas.microsoft.com/office/powerpoint/2010/main" val="35474506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3347498" y="439719"/>
            <a:ext cx="4481883" cy="3827328"/>
          </a:xfrm>
          <a:prstGeom prst="rect">
            <a:avLst/>
          </a:prstGeom>
        </p:spPr>
      </p:pic>
      <p:sp>
        <p:nvSpPr>
          <p:cNvPr id="5" name="文本框 4"/>
          <p:cNvSpPr txBox="1"/>
          <p:nvPr/>
        </p:nvSpPr>
        <p:spPr>
          <a:xfrm>
            <a:off x="5294239" y="4587918"/>
            <a:ext cx="652007" cy="646331"/>
          </a:xfrm>
          <a:prstGeom prst="rect">
            <a:avLst/>
          </a:prstGeom>
          <a:noFill/>
          <a:ln w="28575">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神经</a:t>
            </a:r>
            <a:endParaRPr kumimoji="0" lang="en-US" altLang="zh-CN" sz="18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网络</a:t>
            </a:r>
            <a:endParaRPr kumimoji="0" lang="en-US" altLang="zh-CN" sz="18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p:cxnSp>
        <p:nvCxnSpPr>
          <p:cNvPr id="10" name="直接箭头连接符 9"/>
          <p:cNvCxnSpPr>
            <a:stCxn id="5" idx="0"/>
          </p:cNvCxnSpPr>
          <p:nvPr/>
        </p:nvCxnSpPr>
        <p:spPr>
          <a:xfrm flipH="1" flipV="1">
            <a:off x="5620242" y="4269856"/>
            <a:ext cx="1" cy="31806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flipH="1" flipV="1">
            <a:off x="5605667" y="5225340"/>
            <a:ext cx="1" cy="31806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5251834" y="5552311"/>
            <a:ext cx="707666"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图像</a:t>
            </a:r>
            <a:endParaRPr kumimoji="0" lang="en-US" altLang="zh-CN" sz="18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15" name="矩形 14"/>
              <p:cNvSpPr/>
              <p:nvPr/>
            </p:nvSpPr>
            <p:spPr>
              <a:xfrm>
                <a:off x="1116757" y="576514"/>
                <a:ext cx="2729017" cy="78181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zh-CN" altLang="en-US"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𝑦</m:t>
                          </m:r>
                        </m:e>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𝑦</m:t>
                              </m:r>
                            </m:e>
                            <m: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𝑦</m:t>
                              </m:r>
                            </m:e>
                            <m: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2</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𝑦</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𝐾</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bSup>
                        </m:e>
                      </m:d>
                    </m:oMath>
                  </m:oMathPara>
                </a14:m>
                <a:endParaRPr kumimoji="0" lang="en-US" altLang="zh-CN"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a:t>
                </a:r>
                <a:r>
                  <a:rPr kumimoji="0" lang="en-US" altLang="zh-CN"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K</a:t>
                </a:r>
                <a:r>
                  <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为字表长度）</a:t>
                </a:r>
              </a:p>
            </p:txBody>
          </p:sp>
        </mc:Choice>
        <mc:Fallback xmlns="">
          <p:sp>
            <p:nvSpPr>
              <p:cNvPr id="15" name="矩形 14"/>
              <p:cNvSpPr>
                <a:spLocks noRot="1" noChangeAspect="1" noMove="1" noResize="1" noEditPoints="1" noAdjustHandles="1" noChangeArrowheads="1" noChangeShapeType="1" noTextEdit="1"/>
              </p:cNvSpPr>
              <p:nvPr/>
            </p:nvSpPr>
            <p:spPr>
              <a:xfrm>
                <a:off x="1116757" y="576514"/>
                <a:ext cx="2729017" cy="781817"/>
              </a:xfrm>
              <a:prstGeom prst="rect">
                <a:avLst/>
              </a:prstGeom>
              <a:blipFill>
                <a:blip r:embed="rId3"/>
                <a:stretch>
                  <a:fillRect l="-1786" b="-1328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p:cNvSpPr/>
              <p:nvPr/>
            </p:nvSpPr>
            <p:spPr>
              <a:xfrm>
                <a:off x="2388965" y="3899024"/>
                <a:ext cx="2670731" cy="50481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zh-CN" altLang="en-US"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2</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Sup>
                            <m:sSubSupPr>
                              <m:ctrlPr>
                                <a:rPr kumimoji="0" lang="zh-CN" altLang="en-US"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SupPr>
                            <m:e>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𝑛</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bSup>
                        </m:e>
                      </m:d>
                    </m:oMath>
                  </m:oMathPara>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16" name="矩形 15"/>
              <p:cNvSpPr>
                <a:spLocks noRot="1" noChangeAspect="1" noMove="1" noResize="1" noEditPoints="1" noAdjustHandles="1" noChangeArrowheads="1" noChangeShapeType="1" noTextEdit="1"/>
              </p:cNvSpPr>
              <p:nvPr/>
            </p:nvSpPr>
            <p:spPr>
              <a:xfrm>
                <a:off x="2388965" y="3899024"/>
                <a:ext cx="2670731" cy="504818"/>
              </a:xfrm>
              <a:prstGeom prst="rect">
                <a:avLst/>
              </a:prstGeom>
              <a:blipFill>
                <a:blip r:embed="rId4"/>
                <a:stretch>
                  <a:fillRect/>
                </a:stretch>
              </a:blipFill>
            </p:spPr>
            <p:txBody>
              <a:bodyPr/>
              <a:lstStyle/>
              <a:p>
                <a:r>
                  <a:rPr lang="zh-CN" altLang="en-US">
                    <a:noFill/>
                  </a:rPr>
                  <a:t> </a:t>
                </a:r>
              </a:p>
            </p:txBody>
          </p:sp>
        </mc:Fallback>
      </mc:AlternateContent>
      <p:sp>
        <p:nvSpPr>
          <p:cNvPr id="20" name="文本框 19"/>
          <p:cNvSpPr txBox="1"/>
          <p:nvPr/>
        </p:nvSpPr>
        <p:spPr>
          <a:xfrm>
            <a:off x="8477812" y="2095370"/>
            <a:ext cx="3251344" cy="13234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FF0000"/>
                </a:solidFill>
                <a:effectLst/>
                <a:uLnTx/>
                <a:uFillTx/>
                <a:latin typeface="SimSun" panose="02010600030101010101" pitchFamily="2" charset="-122"/>
                <a:ea typeface="SimSun" panose="02010600030101010101" pitchFamily="2" charset="-122"/>
              </a:rPr>
              <a:t>训练样本：</a:t>
            </a:r>
            <a:endParaRPr kumimoji="0" lang="en-US" altLang="zh-CN" sz="2000" b="0" i="0" u="none" strike="noStrike" kern="1200" cap="none" spc="0" normalizeH="0" baseline="0" noProof="0" dirty="0">
              <a:ln>
                <a:noFill/>
              </a:ln>
              <a:solidFill>
                <a:srgbClr val="FF0000"/>
              </a:solidFill>
              <a:effectLst/>
              <a:uLnTx/>
              <a:uFillTx/>
              <a:latin typeface="SimSun" panose="02010600030101010101" pitchFamily="2" charset="-122"/>
              <a:ea typeface="SimSun"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FF0000"/>
                </a:solidFill>
                <a:effectLst/>
                <a:uLnTx/>
                <a:uFillTx/>
                <a:latin typeface="SimSun" panose="02010600030101010101" pitchFamily="2" charset="-122"/>
                <a:ea typeface="SimSun" panose="02010600030101010101" pitchFamily="2" charset="-122"/>
              </a:rPr>
              <a:t>    </a:t>
            </a:r>
            <a:r>
              <a:rPr kumimoji="0" lang="zh-CN" altLang="en-US" sz="2000" b="0" i="0" u="none" strike="noStrike" kern="1200" cap="none" spc="0" normalizeH="0" baseline="0" noProof="0" dirty="0">
                <a:ln>
                  <a:noFill/>
                </a:ln>
                <a:solidFill>
                  <a:srgbClr val="FF0000"/>
                </a:solidFill>
                <a:effectLst/>
                <a:uLnTx/>
                <a:uFillTx/>
                <a:latin typeface="SimSun" panose="02010600030101010101" pitchFamily="2" charset="-122"/>
                <a:ea typeface="SimSun" panose="02010600030101010101" pitchFamily="2" charset="-122"/>
              </a:rPr>
              <a:t>“图像</a:t>
            </a:r>
            <a:r>
              <a:rPr lang="en-US" altLang="zh-CN" sz="2000" noProof="0" dirty="0">
                <a:solidFill>
                  <a:srgbClr val="FF0000"/>
                </a:solidFill>
                <a:latin typeface="SimSun" panose="02010600030101010101" pitchFamily="2" charset="-122"/>
                <a:ea typeface="SimSun" panose="02010600030101010101" pitchFamily="2" charset="-122"/>
              </a:rPr>
              <a:t>—</a:t>
            </a:r>
            <a:r>
              <a:rPr kumimoji="0" lang="zh-CN" altLang="en-US" sz="2000" b="0" i="0" u="none" strike="noStrike" kern="1200" cap="none" spc="0" normalizeH="0" baseline="0" noProof="0" dirty="0">
                <a:ln>
                  <a:noFill/>
                </a:ln>
                <a:solidFill>
                  <a:srgbClr val="FF0000"/>
                </a:solidFill>
                <a:effectLst/>
                <a:uLnTx/>
                <a:uFillTx/>
                <a:latin typeface="SimSun" panose="02010600030101010101" pitchFamily="2" charset="-122"/>
                <a:ea typeface="SimSun" panose="02010600030101010101" pitchFamily="2" charset="-122"/>
              </a:rPr>
              <a:t>句子”描述</a:t>
            </a:r>
            <a:endParaRPr kumimoji="0" lang="en-US" altLang="zh-CN" sz="2000" b="0" i="0" u="none" strike="noStrike" kern="1200" cap="none" spc="0" normalizeH="0" baseline="0" noProof="0" dirty="0">
              <a:ln>
                <a:noFill/>
              </a:ln>
              <a:solidFill>
                <a:srgbClr val="FF0000"/>
              </a:solidFill>
              <a:effectLst/>
              <a:uLnTx/>
              <a:uFillTx/>
              <a:latin typeface="SimSun" panose="02010600030101010101" pitchFamily="2" charset="-122"/>
              <a:ea typeface="SimSun"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FF0000"/>
                </a:solidFill>
                <a:effectLst/>
                <a:uLnTx/>
                <a:uFillTx/>
                <a:latin typeface="SimSun" panose="02010600030101010101" pitchFamily="2" charset="-122"/>
                <a:ea typeface="SimSun" panose="02010600030101010101" pitchFamily="2" charset="-122"/>
              </a:rPr>
              <a:t>损失函数：</a:t>
            </a:r>
            <a:endParaRPr kumimoji="0" lang="en-US" altLang="zh-CN" sz="2000" b="0" i="0" u="none" strike="noStrike" kern="1200" cap="none" spc="0" normalizeH="0" baseline="0" noProof="0" dirty="0">
              <a:ln>
                <a:noFill/>
              </a:ln>
              <a:solidFill>
                <a:srgbClr val="FF0000"/>
              </a:solidFill>
              <a:effectLst/>
              <a:uLnTx/>
              <a:uFillTx/>
              <a:latin typeface="SimSun" panose="02010600030101010101" pitchFamily="2" charset="-122"/>
              <a:ea typeface="SimSun"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FF0000"/>
                </a:solidFill>
                <a:effectLst/>
                <a:uLnTx/>
                <a:uFillTx/>
                <a:latin typeface="SimSun" panose="02010600030101010101" pitchFamily="2" charset="-122"/>
                <a:ea typeface="SimSun" panose="02010600030101010101" pitchFamily="2" charset="-122"/>
              </a:rPr>
              <a:t>    </a:t>
            </a:r>
            <a:r>
              <a:rPr kumimoji="0" lang="zh-CN" altLang="en-US" sz="2000" b="0" i="0" u="none" strike="noStrike" kern="1200" cap="none" spc="0" normalizeH="0" baseline="0" noProof="0" dirty="0">
                <a:ln>
                  <a:noFill/>
                </a:ln>
                <a:solidFill>
                  <a:srgbClr val="FF0000"/>
                </a:solidFill>
                <a:effectLst/>
                <a:uLnTx/>
                <a:uFillTx/>
                <a:latin typeface="SimSun" panose="02010600030101010101" pitchFamily="2" charset="-122"/>
                <a:ea typeface="SimSun" panose="02010600030101010101" pitchFamily="2" charset="-122"/>
              </a:rPr>
              <a:t>负对数似然函数</a:t>
            </a:r>
            <a:endParaRPr kumimoji="0" lang="en-US" altLang="zh-CN" sz="2000" b="0" i="0" u="none" strike="noStrike" kern="1200" cap="none" spc="0" normalizeH="0" baseline="0" noProof="0" dirty="0">
              <a:ln>
                <a:noFill/>
              </a:ln>
              <a:solidFill>
                <a:srgbClr val="FF0000"/>
              </a:solidFill>
              <a:effectLst/>
              <a:uLnTx/>
              <a:uFillTx/>
              <a:latin typeface="SimSun" panose="02010600030101010101" pitchFamily="2" charset="-122"/>
              <a:ea typeface="SimSun" panose="02010600030101010101" pitchFamily="2" charset="-122"/>
            </a:endParaRPr>
          </a:p>
        </p:txBody>
      </p:sp>
    </p:spTree>
    <p:extLst>
      <p:ext uri="{BB962C8B-B14F-4D97-AF65-F5344CB8AC3E}">
        <p14:creationId xmlns:p14="http://schemas.microsoft.com/office/powerpoint/2010/main" val="2336578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2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基础循环神经网络的局限</a:t>
            </a:r>
          </a:p>
        </p:txBody>
      </p:sp>
      <p:sp>
        <p:nvSpPr>
          <p:cNvPr id="3" name="内容占位符 2"/>
          <p:cNvSpPr>
            <a:spLocks noGrp="1"/>
          </p:cNvSpPr>
          <p:nvPr>
            <p:ph sz="quarter" idx="1"/>
          </p:nvPr>
        </p:nvSpPr>
        <p:spPr>
          <a:xfrm>
            <a:off x="1219199" y="1654531"/>
            <a:ext cx="4620491" cy="4572000"/>
          </a:xfrm>
        </p:spPr>
        <p:txBody>
          <a:bodyPr/>
          <a:lstStyle/>
          <a:p>
            <a:r>
              <a:rPr lang="zh-CN" altLang="en-US" dirty="0"/>
              <a:t>对于序列前面的预测无法使用到后面的信息</a:t>
            </a:r>
            <a:endParaRPr lang="en-US" altLang="zh-CN" dirty="0"/>
          </a:p>
          <a:p>
            <a:pPr lvl="1"/>
            <a:r>
              <a:rPr lang="zh-CN" altLang="en-US" dirty="0"/>
              <a:t>例：分词“南京市长江大桥”</a:t>
            </a:r>
            <a:endParaRPr lang="en-US" altLang="zh-CN" dirty="0"/>
          </a:p>
          <a:p>
            <a:r>
              <a:rPr lang="zh-CN" altLang="en-US" dirty="0"/>
              <a:t>序列前面的内容被后面的内容淹没</a:t>
            </a:r>
            <a:endParaRPr lang="en-US" altLang="zh-CN" dirty="0"/>
          </a:p>
          <a:p>
            <a:pPr lvl="1"/>
            <a:r>
              <a:rPr lang="zh-CN" altLang="en-US" dirty="0"/>
              <a:t>例：文本分类</a:t>
            </a:r>
            <a:endParaRPr lang="en-US" altLang="zh-CN" dirty="0"/>
          </a:p>
        </p:txBody>
      </p:sp>
      <p:pic>
        <p:nvPicPr>
          <p:cNvPr id="45" name="图片 44"/>
          <p:cNvPicPr>
            <a:picLocks noChangeAspect="1"/>
          </p:cNvPicPr>
          <p:nvPr/>
        </p:nvPicPr>
        <p:blipFill>
          <a:blip r:embed="rId2"/>
          <a:stretch>
            <a:fillRect/>
          </a:stretch>
        </p:blipFill>
        <p:spPr>
          <a:xfrm>
            <a:off x="6193614" y="1846993"/>
            <a:ext cx="5471920" cy="3753522"/>
          </a:xfrm>
          <a:prstGeom prst="rect">
            <a:avLst/>
          </a:prstGeom>
        </p:spPr>
      </p:pic>
    </p:spTree>
    <p:extLst>
      <p:ext uri="{BB962C8B-B14F-4D97-AF65-F5344CB8AC3E}">
        <p14:creationId xmlns:p14="http://schemas.microsoft.com/office/powerpoint/2010/main" val="2538001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双向循环神经网络</a:t>
            </a:r>
          </a:p>
        </p:txBody>
      </p:sp>
      <p:pic>
        <p:nvPicPr>
          <p:cNvPr id="4" name="图片 3"/>
          <p:cNvPicPr>
            <a:picLocks noChangeAspect="1"/>
          </p:cNvPicPr>
          <p:nvPr/>
        </p:nvPicPr>
        <p:blipFill>
          <a:blip r:embed="rId2"/>
          <a:stretch>
            <a:fillRect/>
          </a:stretch>
        </p:blipFill>
        <p:spPr>
          <a:xfrm>
            <a:off x="3649649" y="1417638"/>
            <a:ext cx="4882099" cy="4387709"/>
          </a:xfrm>
          <a:prstGeom prst="rect">
            <a:avLst/>
          </a:prstGeom>
        </p:spPr>
      </p:pic>
      <p:sp>
        <p:nvSpPr>
          <p:cNvPr id="5" name="文本框 4"/>
          <p:cNvSpPr txBox="1"/>
          <p:nvPr/>
        </p:nvSpPr>
        <p:spPr>
          <a:xfrm>
            <a:off x="2291698" y="4345589"/>
            <a:ext cx="135795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正向处理</a:t>
            </a:r>
            <a:endParaRPr kumimoji="0" lang="en-US" altLang="zh-CN"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p:sp>
        <p:nvSpPr>
          <p:cNvPr id="6" name="文本框 5"/>
          <p:cNvSpPr txBox="1"/>
          <p:nvPr/>
        </p:nvSpPr>
        <p:spPr>
          <a:xfrm>
            <a:off x="8628888" y="3411437"/>
            <a:ext cx="135795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0B0F0"/>
                </a:solidFill>
                <a:effectLst/>
                <a:uLnTx/>
                <a:uFillTx/>
                <a:latin typeface="Perpetua"/>
                <a:ea typeface="宋体" panose="02010600030101010101" pitchFamily="2" charset="-122"/>
                <a:cs typeface="+mn-cs"/>
              </a:rPr>
              <a:t>反向处理</a:t>
            </a:r>
            <a:endParaRPr kumimoji="0" lang="en-US" altLang="zh-CN" sz="2000" b="0" i="0" u="none" strike="noStrike" kern="1200" cap="none" spc="0" normalizeH="0" baseline="0" noProof="0" dirty="0">
              <a:ln>
                <a:noFill/>
              </a:ln>
              <a:solidFill>
                <a:srgbClr val="00B0F0"/>
              </a:solidFill>
              <a:effectLst/>
              <a:uLnTx/>
              <a:uFillTx/>
              <a:latin typeface="Perpetua"/>
              <a:ea typeface="宋体" panose="02010600030101010101" pitchFamily="2" charset="-122"/>
              <a:cs typeface="+mn-cs"/>
            </a:endParaRPr>
          </a:p>
        </p:txBody>
      </p:sp>
      <p:sp>
        <p:nvSpPr>
          <p:cNvPr id="7" name="文本框 6"/>
          <p:cNvSpPr txBox="1"/>
          <p:nvPr/>
        </p:nvSpPr>
        <p:spPr>
          <a:xfrm>
            <a:off x="8317063" y="2681558"/>
            <a:ext cx="1572636"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0B050"/>
                </a:solidFill>
                <a:effectLst/>
                <a:uLnTx/>
                <a:uFillTx/>
                <a:latin typeface="Perpetua"/>
                <a:ea typeface="宋体" panose="02010600030101010101" pitchFamily="2" charset="-122"/>
                <a:cs typeface="+mn-cs"/>
              </a:rPr>
              <a:t>拼接在一起</a:t>
            </a:r>
            <a:endParaRPr kumimoji="0" lang="en-US" altLang="zh-CN" sz="2000" b="0" i="0" u="none" strike="noStrike" kern="1200" cap="none" spc="0" normalizeH="0" baseline="0" noProof="0" dirty="0">
              <a:ln>
                <a:noFill/>
              </a:ln>
              <a:solidFill>
                <a:srgbClr val="00B050"/>
              </a:solidFill>
              <a:effectLst/>
              <a:uLnTx/>
              <a:uFillTx/>
              <a:latin typeface="Perpetua"/>
              <a:ea typeface="宋体" panose="02010600030101010101" pitchFamily="2" charset="-122"/>
              <a:cs typeface="+mn-cs"/>
            </a:endParaRPr>
          </a:p>
        </p:txBody>
      </p:sp>
      <p:cxnSp>
        <p:nvCxnSpPr>
          <p:cNvPr id="8" name="直接箭头连接符 7"/>
          <p:cNvCxnSpPr>
            <a:stCxn id="7" idx="1"/>
          </p:cNvCxnSpPr>
          <p:nvPr/>
        </p:nvCxnSpPr>
        <p:spPr>
          <a:xfrm flipH="1">
            <a:off x="7098790" y="2881613"/>
            <a:ext cx="1218273" cy="279217"/>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a:stCxn id="7" idx="1"/>
          </p:cNvCxnSpPr>
          <p:nvPr/>
        </p:nvCxnSpPr>
        <p:spPr>
          <a:xfrm flipH="1">
            <a:off x="7440698" y="2881613"/>
            <a:ext cx="876365" cy="338666"/>
          </a:xfrm>
          <a:prstGeom prst="straightConnector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6614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“序列到序列”循环神经网络</a:t>
            </a:r>
            <a:r>
              <a:rPr lang="en-US" altLang="zh-CN" dirty="0"/>
              <a:t>:</a:t>
            </a:r>
            <a:r>
              <a:rPr lang="zh-CN" altLang="en-US" dirty="0"/>
              <a:t> </a:t>
            </a:r>
            <a:r>
              <a:rPr lang="en-US" altLang="zh-CN" dirty="0"/>
              <a:t>seq2seq</a:t>
            </a:r>
            <a:endParaRPr lang="zh-CN" altLang="en-US" dirty="0"/>
          </a:p>
        </p:txBody>
      </p:sp>
      <p:sp>
        <p:nvSpPr>
          <p:cNvPr id="3" name="内容占位符 2"/>
          <p:cNvSpPr>
            <a:spLocks noGrp="1"/>
          </p:cNvSpPr>
          <p:nvPr>
            <p:ph sz="quarter" idx="1"/>
          </p:nvPr>
        </p:nvSpPr>
        <p:spPr>
          <a:xfrm>
            <a:off x="1219200" y="1781755"/>
            <a:ext cx="10363200" cy="4572000"/>
          </a:xfrm>
        </p:spPr>
        <p:txBody>
          <a:bodyPr/>
          <a:lstStyle/>
          <a:p>
            <a:r>
              <a:rPr lang="zh-CN" altLang="en-US" dirty="0"/>
              <a:t>用途</a:t>
            </a:r>
            <a:endParaRPr lang="en-US" altLang="zh-CN" dirty="0"/>
          </a:p>
          <a:p>
            <a:pPr lvl="1"/>
            <a:r>
              <a:rPr lang="zh-CN" altLang="en-US" dirty="0"/>
              <a:t>机器翻译</a:t>
            </a:r>
            <a:endParaRPr lang="en-US" altLang="zh-CN" dirty="0"/>
          </a:p>
          <a:p>
            <a:pPr lvl="2"/>
            <a:r>
              <a:rPr lang="zh-CN" altLang="en-US" dirty="0"/>
              <a:t>文字到文字</a:t>
            </a:r>
            <a:endParaRPr lang="en-US" altLang="zh-CN" dirty="0"/>
          </a:p>
          <a:p>
            <a:pPr lvl="2"/>
            <a:r>
              <a:rPr lang="zh-CN" altLang="en-US" dirty="0"/>
              <a:t>语音到语音</a:t>
            </a:r>
            <a:endParaRPr lang="en-US" altLang="zh-CN" dirty="0"/>
          </a:p>
          <a:p>
            <a:pPr lvl="1"/>
            <a:r>
              <a:rPr lang="zh-CN" altLang="en-US" dirty="0"/>
              <a:t>问答系统</a:t>
            </a:r>
            <a:endParaRPr lang="en-US" altLang="zh-CN" dirty="0"/>
          </a:p>
          <a:p>
            <a:pPr lvl="2"/>
            <a:r>
              <a:rPr lang="zh-CN" altLang="en-US" dirty="0"/>
              <a:t>问句到答案</a:t>
            </a:r>
          </a:p>
        </p:txBody>
      </p:sp>
      <p:pic>
        <p:nvPicPr>
          <p:cNvPr id="4" name="图片 3"/>
          <p:cNvPicPr>
            <a:picLocks noChangeAspect="1"/>
          </p:cNvPicPr>
          <p:nvPr/>
        </p:nvPicPr>
        <p:blipFill>
          <a:blip r:embed="rId2"/>
          <a:stretch>
            <a:fillRect/>
          </a:stretch>
        </p:blipFill>
        <p:spPr>
          <a:xfrm>
            <a:off x="4937762" y="1696887"/>
            <a:ext cx="6154309" cy="4073826"/>
          </a:xfrm>
          <a:prstGeom prst="rect">
            <a:avLst/>
          </a:prstGeom>
        </p:spPr>
      </p:pic>
      <p:sp>
        <p:nvSpPr>
          <p:cNvPr id="5" name="TextBox 4">
            <a:extLst>
              <a:ext uri="{FF2B5EF4-FFF2-40B4-BE49-F238E27FC236}">
                <a16:creationId xmlns:a16="http://schemas.microsoft.com/office/drawing/2014/main" id="{C33ECB16-4212-AEA0-D7C8-BBDE847AB642}"/>
              </a:ext>
            </a:extLst>
          </p:cNvPr>
          <p:cNvSpPr txBox="1"/>
          <p:nvPr/>
        </p:nvSpPr>
        <p:spPr>
          <a:xfrm>
            <a:off x="6755642" y="6169089"/>
            <a:ext cx="2947916" cy="369332"/>
          </a:xfrm>
          <a:prstGeom prst="rect">
            <a:avLst/>
          </a:prstGeom>
          <a:noFill/>
        </p:spPr>
        <p:txBody>
          <a:bodyPr wrap="square" rtlCol="0">
            <a:spAutoFit/>
          </a:bodyPr>
          <a:lstStyle/>
          <a:p>
            <a:r>
              <a:rPr lang="en-US" b="1" dirty="0" err="1">
                <a:solidFill>
                  <a:srgbClr val="FF0000"/>
                </a:solidFill>
              </a:rPr>
              <a:t>回忆作业一</a:t>
            </a:r>
            <a:r>
              <a:rPr lang="zh-CN" altLang="en-US" b="1" dirty="0">
                <a:solidFill>
                  <a:srgbClr val="FF0000"/>
                </a:solidFill>
              </a:rPr>
              <a:t>“拼音输入法”</a:t>
            </a:r>
            <a:endParaRPr lang="en-US" b="1" dirty="0">
              <a:solidFill>
                <a:srgbClr val="FF0000"/>
              </a:solidFill>
            </a:endParaRPr>
          </a:p>
        </p:txBody>
      </p:sp>
    </p:spTree>
    <p:extLst>
      <p:ext uri="{BB962C8B-B14F-4D97-AF65-F5344CB8AC3E}">
        <p14:creationId xmlns:p14="http://schemas.microsoft.com/office/powerpoint/2010/main" val="1329409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EE81E-17B2-A2F2-A855-39C50C0C5AFE}"/>
            </a:ext>
          </a:extLst>
        </p:cNvPr>
        <p:cNvGrpSpPr/>
        <p:nvPr/>
      </p:nvGrpSpPr>
      <p:grpSpPr>
        <a:xfrm>
          <a:off x="0" y="0"/>
          <a:ext cx="0" cy="0"/>
          <a:chOff x="0" y="0"/>
          <a:chExt cx="0" cy="0"/>
        </a:xfrm>
      </p:grpSpPr>
      <p:pic>
        <p:nvPicPr>
          <p:cNvPr id="16" name="图片 15">
            <a:extLst>
              <a:ext uri="{FF2B5EF4-FFF2-40B4-BE49-F238E27FC236}">
                <a16:creationId xmlns:a16="http://schemas.microsoft.com/office/drawing/2014/main" id="{85B2B7AB-2E4D-1193-32E9-016A84121C8D}"/>
              </a:ext>
            </a:extLst>
          </p:cNvPr>
          <p:cNvPicPr>
            <a:picLocks noChangeAspect="1"/>
          </p:cNvPicPr>
          <p:nvPr/>
        </p:nvPicPr>
        <p:blipFill>
          <a:blip r:embed="rId2"/>
          <a:stretch>
            <a:fillRect/>
          </a:stretch>
        </p:blipFill>
        <p:spPr>
          <a:xfrm>
            <a:off x="933834" y="830888"/>
            <a:ext cx="6177539" cy="5462245"/>
          </a:xfrm>
          <a:prstGeom prst="rect">
            <a:avLst/>
          </a:prstGeom>
        </p:spPr>
      </p:pic>
      <p:sp>
        <p:nvSpPr>
          <p:cNvPr id="5" name="矩形 4">
            <a:extLst>
              <a:ext uri="{FF2B5EF4-FFF2-40B4-BE49-F238E27FC236}">
                <a16:creationId xmlns:a16="http://schemas.microsoft.com/office/drawing/2014/main" id="{8C636C3B-8E5C-0BD2-C4BC-94FD4629CEFD}"/>
              </a:ext>
            </a:extLst>
          </p:cNvPr>
          <p:cNvSpPr/>
          <p:nvPr/>
        </p:nvSpPr>
        <p:spPr>
          <a:xfrm>
            <a:off x="2809983" y="1260355"/>
            <a:ext cx="2665426" cy="643515"/>
          </a:xfrm>
          <a:prstGeom prst="rect">
            <a:avLst/>
          </a:prstGeom>
          <a:noFill/>
          <a:ln w="28575">
            <a:solidFill>
              <a:srgbClr val="FF0000"/>
            </a:solidFill>
            <a:prstDash val="dash"/>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8" name="图片 7">
            <a:extLst>
              <a:ext uri="{FF2B5EF4-FFF2-40B4-BE49-F238E27FC236}">
                <a16:creationId xmlns:a16="http://schemas.microsoft.com/office/drawing/2014/main" id="{84D05F65-6C29-5CDF-4639-13039C040110}"/>
              </a:ext>
            </a:extLst>
          </p:cNvPr>
          <p:cNvPicPr>
            <a:picLocks noChangeAspect="1"/>
          </p:cNvPicPr>
          <p:nvPr/>
        </p:nvPicPr>
        <p:blipFill>
          <a:blip r:embed="rId3"/>
          <a:stretch>
            <a:fillRect/>
          </a:stretch>
        </p:blipFill>
        <p:spPr>
          <a:xfrm>
            <a:off x="7321633" y="1260355"/>
            <a:ext cx="3964297" cy="3620902"/>
          </a:xfrm>
          <a:prstGeom prst="rect">
            <a:avLst/>
          </a:prstGeom>
        </p:spPr>
      </p:pic>
      <p:sp>
        <p:nvSpPr>
          <p:cNvPr id="9" name="矩形 8">
            <a:extLst>
              <a:ext uri="{FF2B5EF4-FFF2-40B4-BE49-F238E27FC236}">
                <a16:creationId xmlns:a16="http://schemas.microsoft.com/office/drawing/2014/main" id="{C0DCA821-8368-1196-4F8B-C1D7E0A31D7D}"/>
              </a:ext>
            </a:extLst>
          </p:cNvPr>
          <p:cNvSpPr/>
          <p:nvPr/>
        </p:nvSpPr>
        <p:spPr>
          <a:xfrm>
            <a:off x="7190394" y="1260355"/>
            <a:ext cx="3989136" cy="1786659"/>
          </a:xfrm>
          <a:prstGeom prst="rect">
            <a:avLst/>
          </a:prstGeom>
          <a:noFill/>
          <a:ln w="28575">
            <a:solidFill>
              <a:srgbClr val="FF0000"/>
            </a:solidFill>
            <a:prstDash val="dash"/>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 name="矩形 9">
            <a:extLst>
              <a:ext uri="{FF2B5EF4-FFF2-40B4-BE49-F238E27FC236}">
                <a16:creationId xmlns:a16="http://schemas.microsoft.com/office/drawing/2014/main" id="{3DBE7FAD-CEFB-FCAD-AC07-FE04CC3C5E47}"/>
              </a:ext>
            </a:extLst>
          </p:cNvPr>
          <p:cNvSpPr/>
          <p:nvPr/>
        </p:nvSpPr>
        <p:spPr>
          <a:xfrm>
            <a:off x="7260334" y="3281094"/>
            <a:ext cx="3989136" cy="1600163"/>
          </a:xfrm>
          <a:prstGeom prst="rect">
            <a:avLst/>
          </a:prstGeom>
          <a:noFill/>
          <a:ln w="28575">
            <a:solidFill>
              <a:srgbClr val="00B050"/>
            </a:solidFill>
            <a:prstDash val="dash"/>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 name="矩形 10">
            <a:extLst>
              <a:ext uri="{FF2B5EF4-FFF2-40B4-BE49-F238E27FC236}">
                <a16:creationId xmlns:a16="http://schemas.microsoft.com/office/drawing/2014/main" id="{B9C60191-034A-3CD0-DB36-2F36C3A8C08D}"/>
              </a:ext>
            </a:extLst>
          </p:cNvPr>
          <p:cNvSpPr/>
          <p:nvPr/>
        </p:nvSpPr>
        <p:spPr>
          <a:xfrm>
            <a:off x="614401" y="2594168"/>
            <a:ext cx="6487892" cy="3690718"/>
          </a:xfrm>
          <a:prstGeom prst="rect">
            <a:avLst/>
          </a:prstGeom>
          <a:noFill/>
          <a:ln w="28575">
            <a:solidFill>
              <a:srgbClr val="00B050"/>
            </a:solidFill>
            <a:prstDash val="dash"/>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2" name="标题 6">
                <a:extLst>
                  <a:ext uri="{FF2B5EF4-FFF2-40B4-BE49-F238E27FC236}">
                    <a16:creationId xmlns:a16="http://schemas.microsoft.com/office/drawing/2014/main" id="{60143A92-50CB-0917-255B-C2CD2671BBC7}"/>
                  </a:ext>
                </a:extLst>
              </p:cNvPr>
              <p:cNvSpPr txBox="1">
                <a:spLocks/>
              </p:cNvSpPr>
              <p:nvPr/>
            </p:nvSpPr>
            <p:spPr>
              <a:xfrm>
                <a:off x="3858347" y="2088646"/>
                <a:ext cx="551818" cy="446276"/>
              </a:xfrm>
              <a:prstGeom prst="rect">
                <a:avLst/>
              </a:prstGeom>
            </p:spPr>
            <p:txBody>
              <a:bodyPr wrap="none" bIns="91440" anchor="b" anchorCtr="0">
                <a:spAutoFit/>
              </a:bodyPr>
              <a:lstStyle>
                <a:lvl1pPr algn="l" rtl="0" eaLnBrk="1" latinLnBrk="0" hangingPunct="1">
                  <a:spcBef>
                    <a:spcPct val="0"/>
                  </a:spcBef>
                  <a:buNone/>
                  <a:defRPr kumimoji="0" sz="3200" b="1" kern="1200">
                    <a:solidFill>
                      <a:srgbClr val="C00000"/>
                    </a:solidFill>
                    <a:latin typeface="Times New Roman" pitchFamily="18" charset="0"/>
                    <a:ea typeface="+mj-ea"/>
                    <a:cs typeface="Times New Roman" pitchFamily="18"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rPr>
                          </m:ctrlPr>
                        </m:sSubPr>
                        <m:e>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rPr>
                            <m:t>𝑥</m:t>
                          </m:r>
                        </m:e>
                        <m:sub>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rPr>
                            <m:t>𝑤</m:t>
                          </m:r>
                        </m:sub>
                      </m:sSub>
                    </m:oMath>
                  </m:oMathPara>
                </a14:m>
                <a:endParaRPr kumimoji="0" lang="zh-CN" altLang="en-US" sz="2000" b="1" i="0" u="none" strike="noStrike" kern="1200" cap="none" spc="0" normalizeH="0" baseline="0" noProof="0" dirty="0">
                  <a:ln>
                    <a:noFill/>
                  </a:ln>
                  <a:solidFill>
                    <a:prstClr val="black"/>
                  </a:solidFill>
                  <a:effectLst/>
                  <a:uLnTx/>
                  <a:uFillTx/>
                  <a:latin typeface="Times New Roman" pitchFamily="18" charset="0"/>
                  <a:ea typeface="幼圆" panose="02010509060101010101" pitchFamily="49" charset="-122"/>
                  <a:cs typeface="Times New Roman" pitchFamily="18" charset="0"/>
                </a:endParaRPr>
              </a:p>
            </p:txBody>
          </p:sp>
        </mc:Choice>
        <mc:Fallback>
          <p:sp>
            <p:nvSpPr>
              <p:cNvPr id="12" name="标题 6">
                <a:extLst>
                  <a:ext uri="{FF2B5EF4-FFF2-40B4-BE49-F238E27FC236}">
                    <a16:creationId xmlns:a16="http://schemas.microsoft.com/office/drawing/2014/main" id="{60143A92-50CB-0917-255B-C2CD2671BBC7}"/>
                  </a:ext>
                </a:extLst>
              </p:cNvPr>
              <p:cNvSpPr txBox="1">
                <a:spLocks noRot="1" noChangeAspect="1" noMove="1" noResize="1" noEditPoints="1" noAdjustHandles="1" noChangeArrowheads="1" noChangeShapeType="1" noTextEdit="1"/>
              </p:cNvSpPr>
              <p:nvPr/>
            </p:nvSpPr>
            <p:spPr>
              <a:xfrm>
                <a:off x="3858347" y="2088646"/>
                <a:ext cx="551818" cy="446276"/>
              </a:xfrm>
              <a:prstGeom prst="rect">
                <a:avLst/>
              </a:prstGeom>
              <a:blipFill>
                <a:blip r:embed="rId4"/>
                <a:stretch>
                  <a:fillRect/>
                </a:stretch>
              </a:blipFill>
            </p:spPr>
            <p:txBody>
              <a:bodyPr/>
              <a:lstStyle/>
              <a:p>
                <a:r>
                  <a:rPr lang="en-US">
                    <a:noFill/>
                  </a:rPr>
                  <a:t> </a:t>
                </a:r>
              </a:p>
            </p:txBody>
          </p:sp>
        </mc:Fallback>
      </mc:AlternateContent>
      <p:cxnSp>
        <p:nvCxnSpPr>
          <p:cNvPr id="15" name="直接箭头连接符 14">
            <a:extLst>
              <a:ext uri="{FF2B5EF4-FFF2-40B4-BE49-F238E27FC236}">
                <a16:creationId xmlns:a16="http://schemas.microsoft.com/office/drawing/2014/main" id="{20857BF5-8B8D-628E-2FC8-99904B93168F}"/>
              </a:ext>
            </a:extLst>
          </p:cNvPr>
          <p:cNvCxnSpPr/>
          <p:nvPr/>
        </p:nvCxnSpPr>
        <p:spPr>
          <a:xfrm>
            <a:off x="5606648" y="1582112"/>
            <a:ext cx="1495645" cy="571572"/>
          </a:xfrm>
          <a:prstGeom prst="straightConnector1">
            <a:avLst/>
          </a:prstGeom>
          <a:ln w="28575">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E68B941D-C5C0-A497-96B5-73BAED38D534}"/>
              </a:ext>
            </a:extLst>
          </p:cNvPr>
          <p:cNvCxnSpPr/>
          <p:nvPr/>
        </p:nvCxnSpPr>
        <p:spPr>
          <a:xfrm flipV="1">
            <a:off x="7172976" y="4948671"/>
            <a:ext cx="1393982" cy="617109"/>
          </a:xfrm>
          <a:prstGeom prst="straightConnector1">
            <a:avLst/>
          </a:prstGeom>
          <a:ln w="28575">
            <a:solidFill>
              <a:srgbClr val="00B050"/>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4" name="标题 6">
                <a:extLst>
                  <a:ext uri="{FF2B5EF4-FFF2-40B4-BE49-F238E27FC236}">
                    <a16:creationId xmlns:a16="http://schemas.microsoft.com/office/drawing/2014/main" id="{C7E07C63-EDD4-ACA9-1786-50913A42CE4F}"/>
                  </a:ext>
                </a:extLst>
              </p:cNvPr>
              <p:cNvSpPr txBox="1">
                <a:spLocks/>
              </p:cNvSpPr>
              <p:nvPr/>
            </p:nvSpPr>
            <p:spPr>
              <a:xfrm>
                <a:off x="8099796" y="5340673"/>
                <a:ext cx="761747" cy="446276"/>
              </a:xfrm>
              <a:prstGeom prst="rect">
                <a:avLst/>
              </a:prstGeom>
            </p:spPr>
            <p:txBody>
              <a:bodyPr wrap="none" bIns="91440" anchor="b" anchorCtr="0">
                <a:spAutoFit/>
              </a:bodyPr>
              <a:lstStyle>
                <a:lvl1pPr algn="l" rtl="0" eaLnBrk="1" latinLnBrk="0" hangingPunct="1">
                  <a:spcBef>
                    <a:spcPct val="0"/>
                  </a:spcBef>
                  <a:buNone/>
                  <a:defRPr kumimoji="0" sz="3200" b="1" kern="1200">
                    <a:solidFill>
                      <a:srgbClr val="C00000"/>
                    </a:solidFill>
                    <a:latin typeface="Times New Roman" pitchFamily="18" charset="0"/>
                    <a:ea typeface="+mj-ea"/>
                    <a:cs typeface="Times New Roman" pitchFamily="18"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CN" altLang="en-US" sz="2000" b="0" i="1" u="none" strike="noStrike" kern="1200" cap="none" spc="0" normalizeH="0" baseline="0" noProof="0" smtClean="0">
                          <a:ln>
                            <a:noFill/>
                          </a:ln>
                          <a:solidFill>
                            <a:srgbClr val="00B050"/>
                          </a:solidFill>
                          <a:effectLst/>
                          <a:uLnTx/>
                          <a:uFillTx/>
                          <a:latin typeface="Cambria Math" panose="02040503050406030204" pitchFamily="18" charset="0"/>
                        </a:rPr>
                        <m:t>替换</m:t>
                      </m:r>
                    </m:oMath>
                  </m:oMathPara>
                </a14:m>
                <a:endParaRPr kumimoji="0" lang="zh-CN" altLang="en-US" sz="2000" b="1" i="0" u="none" strike="noStrike" kern="1200" cap="none" spc="0" normalizeH="0" baseline="0" noProof="0" dirty="0">
                  <a:ln>
                    <a:noFill/>
                  </a:ln>
                  <a:solidFill>
                    <a:srgbClr val="00B050"/>
                  </a:solidFill>
                  <a:effectLst/>
                  <a:uLnTx/>
                  <a:uFillTx/>
                  <a:latin typeface="Times New Roman" pitchFamily="18" charset="0"/>
                  <a:ea typeface="幼圆" panose="02010509060101010101" pitchFamily="49" charset="-122"/>
                  <a:cs typeface="Times New Roman" pitchFamily="18" charset="0"/>
                </a:endParaRPr>
              </a:p>
            </p:txBody>
          </p:sp>
        </mc:Choice>
        <mc:Fallback>
          <p:sp>
            <p:nvSpPr>
              <p:cNvPr id="24" name="标题 6">
                <a:extLst>
                  <a:ext uri="{FF2B5EF4-FFF2-40B4-BE49-F238E27FC236}">
                    <a16:creationId xmlns:a16="http://schemas.microsoft.com/office/drawing/2014/main" id="{C7E07C63-EDD4-ACA9-1786-50913A42CE4F}"/>
                  </a:ext>
                </a:extLst>
              </p:cNvPr>
              <p:cNvSpPr txBox="1">
                <a:spLocks noRot="1" noChangeAspect="1" noMove="1" noResize="1" noEditPoints="1" noAdjustHandles="1" noChangeArrowheads="1" noChangeShapeType="1" noTextEdit="1"/>
              </p:cNvSpPr>
              <p:nvPr/>
            </p:nvSpPr>
            <p:spPr>
              <a:xfrm>
                <a:off x="8099796" y="5340673"/>
                <a:ext cx="761747" cy="446276"/>
              </a:xfrm>
              <a:prstGeom prst="rect">
                <a:avLst/>
              </a:prstGeom>
              <a:blipFill>
                <a:blip r:embed="rId5"/>
                <a:stretch>
                  <a:fillRect l="-1639" b="-277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5" name="标题 6">
                <a:extLst>
                  <a:ext uri="{FF2B5EF4-FFF2-40B4-BE49-F238E27FC236}">
                    <a16:creationId xmlns:a16="http://schemas.microsoft.com/office/drawing/2014/main" id="{8718F8EA-5253-3B0A-A966-08835A773CA1}"/>
                  </a:ext>
                </a:extLst>
              </p:cNvPr>
              <p:cNvSpPr txBox="1">
                <a:spLocks/>
              </p:cNvSpPr>
              <p:nvPr/>
            </p:nvSpPr>
            <p:spPr>
              <a:xfrm>
                <a:off x="6069343" y="1329351"/>
                <a:ext cx="761747" cy="446276"/>
              </a:xfrm>
              <a:prstGeom prst="rect">
                <a:avLst/>
              </a:prstGeom>
            </p:spPr>
            <p:txBody>
              <a:bodyPr wrap="none" bIns="91440" anchor="b" anchorCtr="0">
                <a:spAutoFit/>
              </a:bodyPr>
              <a:lstStyle>
                <a:lvl1pPr algn="l" rtl="0" eaLnBrk="1" latinLnBrk="0" hangingPunct="1">
                  <a:spcBef>
                    <a:spcPct val="0"/>
                  </a:spcBef>
                  <a:buNone/>
                  <a:defRPr kumimoji="0" sz="3200" b="1" kern="1200">
                    <a:solidFill>
                      <a:srgbClr val="C00000"/>
                    </a:solidFill>
                    <a:latin typeface="Times New Roman" pitchFamily="18" charset="0"/>
                    <a:ea typeface="+mj-ea"/>
                    <a:cs typeface="Times New Roman" pitchFamily="18"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CN" altLang="en-US" sz="2000" b="0" i="1" u="none" strike="noStrike" kern="1200" cap="none" spc="0" normalizeH="0" baseline="0" noProof="0" smtClean="0">
                          <a:ln>
                            <a:noFill/>
                          </a:ln>
                          <a:solidFill>
                            <a:srgbClr val="FF0000"/>
                          </a:solidFill>
                          <a:effectLst/>
                          <a:uLnTx/>
                          <a:uFillTx/>
                          <a:latin typeface="Cambria Math" panose="02040503050406030204" pitchFamily="18" charset="0"/>
                        </a:rPr>
                        <m:t>替换</m:t>
                      </m:r>
                    </m:oMath>
                  </m:oMathPara>
                </a14:m>
                <a:endParaRPr kumimoji="0" lang="zh-CN" altLang="en-US" sz="2000" b="1" i="0" u="none" strike="noStrike" kern="1200" cap="none" spc="0" normalizeH="0" baseline="0" noProof="0" dirty="0">
                  <a:ln>
                    <a:noFill/>
                  </a:ln>
                  <a:solidFill>
                    <a:srgbClr val="FF0000"/>
                  </a:solidFill>
                  <a:effectLst/>
                  <a:uLnTx/>
                  <a:uFillTx/>
                  <a:latin typeface="Times New Roman" pitchFamily="18" charset="0"/>
                  <a:ea typeface="幼圆" panose="02010509060101010101" pitchFamily="49" charset="-122"/>
                  <a:cs typeface="Times New Roman" pitchFamily="18" charset="0"/>
                </a:endParaRPr>
              </a:p>
            </p:txBody>
          </p:sp>
        </mc:Choice>
        <mc:Fallback>
          <p:sp>
            <p:nvSpPr>
              <p:cNvPr id="25" name="标题 6">
                <a:extLst>
                  <a:ext uri="{FF2B5EF4-FFF2-40B4-BE49-F238E27FC236}">
                    <a16:creationId xmlns:a16="http://schemas.microsoft.com/office/drawing/2014/main" id="{8718F8EA-5253-3B0A-A966-08835A773CA1}"/>
                  </a:ext>
                </a:extLst>
              </p:cNvPr>
              <p:cNvSpPr txBox="1">
                <a:spLocks noRot="1" noChangeAspect="1" noMove="1" noResize="1" noEditPoints="1" noAdjustHandles="1" noChangeArrowheads="1" noChangeShapeType="1" noTextEdit="1"/>
              </p:cNvSpPr>
              <p:nvPr/>
            </p:nvSpPr>
            <p:spPr>
              <a:xfrm>
                <a:off x="6069343" y="1329351"/>
                <a:ext cx="761747" cy="446276"/>
              </a:xfrm>
              <a:prstGeom prst="rect">
                <a:avLst/>
              </a:prstGeom>
              <a:blipFill>
                <a:blip r:embed="rId6"/>
                <a:stretch>
                  <a:fillRect l="-1639" b="-2778"/>
                </a:stretch>
              </a:blipFill>
            </p:spPr>
            <p:txBody>
              <a:bodyPr/>
              <a:lstStyle/>
              <a:p>
                <a:r>
                  <a:rPr lang="en-US">
                    <a:noFill/>
                  </a:rPr>
                  <a:t> </a:t>
                </a:r>
              </a:p>
            </p:txBody>
          </p:sp>
        </mc:Fallback>
      </mc:AlternateContent>
      <p:sp>
        <p:nvSpPr>
          <p:cNvPr id="26" name="标题 1">
            <a:extLst>
              <a:ext uri="{FF2B5EF4-FFF2-40B4-BE49-F238E27FC236}">
                <a16:creationId xmlns:a16="http://schemas.microsoft.com/office/drawing/2014/main" id="{F197DFDF-81D4-D735-585D-700915A65A9A}"/>
              </a:ext>
            </a:extLst>
          </p:cNvPr>
          <p:cNvSpPr>
            <a:spLocks noGrp="1"/>
          </p:cNvSpPr>
          <p:nvPr>
            <p:ph type="title"/>
          </p:nvPr>
        </p:nvSpPr>
        <p:spPr>
          <a:xfrm>
            <a:off x="425048" y="-158798"/>
            <a:ext cx="10363200" cy="1143000"/>
          </a:xfrm>
        </p:spPr>
        <p:txBody>
          <a:bodyPr/>
          <a:lstStyle/>
          <a:p>
            <a:r>
              <a:rPr lang="zh-CN" altLang="en-US" dirty="0"/>
              <a:t>与神经语言模型对比</a:t>
            </a:r>
          </a:p>
        </p:txBody>
      </p:sp>
      <p:sp>
        <p:nvSpPr>
          <p:cNvPr id="27" name="标题 6">
            <a:extLst>
              <a:ext uri="{FF2B5EF4-FFF2-40B4-BE49-F238E27FC236}">
                <a16:creationId xmlns:a16="http://schemas.microsoft.com/office/drawing/2014/main" id="{6CB33975-EBD8-9013-A921-CD42369F4B61}"/>
              </a:ext>
            </a:extLst>
          </p:cNvPr>
          <p:cNvSpPr txBox="1">
            <a:spLocks/>
          </p:cNvSpPr>
          <p:nvPr/>
        </p:nvSpPr>
        <p:spPr>
          <a:xfrm>
            <a:off x="9022327" y="4872505"/>
            <a:ext cx="993083" cy="384721"/>
          </a:xfrm>
          <a:prstGeom prst="rect">
            <a:avLst/>
          </a:prstGeom>
        </p:spPr>
        <p:txBody>
          <a:bodyPr wrap="square" bIns="91440" anchor="b" anchorCtr="0">
            <a:spAutoFit/>
          </a:bodyPr>
          <a:lstStyle>
            <a:lvl1pPr algn="l" rtl="0" eaLnBrk="1" latinLnBrk="0" hangingPunct="1">
              <a:spcBef>
                <a:spcPct val="0"/>
              </a:spcBef>
              <a:buNone/>
              <a:defRPr kumimoji="0" sz="3200" b="1" kern="1200">
                <a:solidFill>
                  <a:srgbClr val="C00000"/>
                </a:solidFill>
                <a:latin typeface="Times New Roman" pitchFamily="18" charset="0"/>
                <a:ea typeface="+mj-ea"/>
                <a:cs typeface="Times New Roman" pitchFamily="18"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itchFamily="18" charset="0"/>
                <a:ea typeface="幼圆" panose="02010509060101010101" pitchFamily="49" charset="-122"/>
                <a:cs typeface="Times New Roman" pitchFamily="18" charset="0"/>
              </a:rPr>
              <a:t>NLM</a:t>
            </a:r>
            <a:endParaRPr kumimoji="0" lang="zh-CN" altLang="en-US" sz="1600" b="0" i="0" u="none" strike="noStrike" kern="1200" cap="none" spc="0" normalizeH="0" baseline="0" noProof="0" dirty="0">
              <a:ln>
                <a:noFill/>
              </a:ln>
              <a:solidFill>
                <a:prstClr val="black"/>
              </a:solidFill>
              <a:effectLst/>
              <a:uLnTx/>
              <a:uFillTx/>
              <a:latin typeface="Times New Roman" pitchFamily="18" charset="0"/>
              <a:ea typeface="幼圆" panose="02010509060101010101" pitchFamily="49" charset="-122"/>
              <a:cs typeface="Times New Roman" pitchFamily="18" charset="0"/>
            </a:endParaRPr>
          </a:p>
        </p:txBody>
      </p:sp>
      <p:sp>
        <p:nvSpPr>
          <p:cNvPr id="28" name="标题 6">
            <a:extLst>
              <a:ext uri="{FF2B5EF4-FFF2-40B4-BE49-F238E27FC236}">
                <a16:creationId xmlns:a16="http://schemas.microsoft.com/office/drawing/2014/main" id="{F0EF8C33-8CE3-D8DB-3B82-C2AA22890140}"/>
              </a:ext>
            </a:extLst>
          </p:cNvPr>
          <p:cNvSpPr txBox="1">
            <a:spLocks/>
          </p:cNvSpPr>
          <p:nvPr/>
        </p:nvSpPr>
        <p:spPr>
          <a:xfrm>
            <a:off x="3544635" y="6293133"/>
            <a:ext cx="993083" cy="384721"/>
          </a:xfrm>
          <a:prstGeom prst="rect">
            <a:avLst/>
          </a:prstGeom>
        </p:spPr>
        <p:txBody>
          <a:bodyPr wrap="square" bIns="91440" anchor="b" anchorCtr="0">
            <a:spAutoFit/>
          </a:bodyPr>
          <a:lstStyle>
            <a:lvl1pPr algn="l" rtl="0" eaLnBrk="1" latinLnBrk="0" hangingPunct="1">
              <a:spcBef>
                <a:spcPct val="0"/>
              </a:spcBef>
              <a:buNone/>
              <a:defRPr kumimoji="0" sz="3200" b="1" kern="1200">
                <a:solidFill>
                  <a:srgbClr val="C00000"/>
                </a:solidFill>
                <a:latin typeface="Times New Roman" pitchFamily="18" charset="0"/>
                <a:ea typeface="+mj-ea"/>
                <a:cs typeface="Times New Roman" pitchFamily="18"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itchFamily="18" charset="0"/>
                <a:ea typeface="幼圆" panose="02010509060101010101" pitchFamily="49" charset="-122"/>
                <a:cs typeface="Times New Roman" pitchFamily="18" charset="0"/>
              </a:rPr>
              <a:t>CBOW</a:t>
            </a:r>
            <a:endParaRPr kumimoji="0" lang="zh-CN" altLang="en-US" sz="1600" b="0" i="0" u="none" strike="noStrike" kern="1200" cap="none" spc="0" normalizeH="0" baseline="0" noProof="0" dirty="0">
              <a:ln>
                <a:noFill/>
              </a:ln>
              <a:solidFill>
                <a:prstClr val="black"/>
              </a:solidFill>
              <a:effectLst/>
              <a:uLnTx/>
              <a:uFillTx/>
              <a:latin typeface="Times New Roman" pitchFamily="18" charset="0"/>
              <a:ea typeface="幼圆" panose="02010509060101010101" pitchFamily="49" charset="-122"/>
              <a:cs typeface="Times New Roman" pitchFamily="18" charset="0"/>
            </a:endParaRPr>
          </a:p>
        </p:txBody>
      </p:sp>
    </p:spTree>
    <p:extLst>
      <p:ext uri="{BB962C8B-B14F-4D97-AF65-F5344CB8AC3E}">
        <p14:creationId xmlns:p14="http://schemas.microsoft.com/office/powerpoint/2010/main" val="32301433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2875815" y="933791"/>
            <a:ext cx="7321999" cy="5869441"/>
            <a:chOff x="2307776" y="478971"/>
            <a:chExt cx="7321999" cy="5869441"/>
          </a:xfrm>
        </p:grpSpPr>
        <p:pic>
          <p:nvPicPr>
            <p:cNvPr id="5" name="图片 4"/>
            <p:cNvPicPr>
              <a:picLocks noChangeAspect="1"/>
            </p:cNvPicPr>
            <p:nvPr/>
          </p:nvPicPr>
          <p:blipFill>
            <a:blip r:embed="rId2"/>
            <a:stretch>
              <a:fillRect/>
            </a:stretch>
          </p:blipFill>
          <p:spPr>
            <a:xfrm>
              <a:off x="2562225" y="509587"/>
              <a:ext cx="7067550" cy="5838825"/>
            </a:xfrm>
            <a:prstGeom prst="rect">
              <a:avLst/>
            </a:prstGeom>
          </p:spPr>
        </p:pic>
        <p:pic>
          <p:nvPicPr>
            <p:cNvPr id="7" name="图片 6"/>
            <p:cNvPicPr>
              <a:picLocks noChangeAspect="1"/>
            </p:cNvPicPr>
            <p:nvPr/>
          </p:nvPicPr>
          <p:blipFill>
            <a:blip r:embed="rId3"/>
            <a:stretch>
              <a:fillRect/>
            </a:stretch>
          </p:blipFill>
          <p:spPr>
            <a:xfrm>
              <a:off x="2307776" y="1883907"/>
              <a:ext cx="1029995" cy="1676736"/>
            </a:xfrm>
            <a:prstGeom prst="rect">
              <a:avLst/>
            </a:prstGeom>
          </p:spPr>
        </p:pic>
        <p:pic>
          <p:nvPicPr>
            <p:cNvPr id="9" name="图片 8"/>
            <p:cNvPicPr>
              <a:picLocks noChangeAspect="1"/>
            </p:cNvPicPr>
            <p:nvPr/>
          </p:nvPicPr>
          <p:blipFill>
            <a:blip r:embed="rId4"/>
            <a:stretch>
              <a:fillRect/>
            </a:stretch>
          </p:blipFill>
          <p:spPr>
            <a:xfrm>
              <a:off x="3488615" y="1367247"/>
              <a:ext cx="778583" cy="551496"/>
            </a:xfrm>
            <a:prstGeom prst="rect">
              <a:avLst/>
            </a:prstGeom>
          </p:spPr>
        </p:pic>
        <p:sp>
          <p:nvSpPr>
            <p:cNvPr id="10" name="矩形 9"/>
            <p:cNvSpPr/>
            <p:nvPr/>
          </p:nvSpPr>
          <p:spPr>
            <a:xfrm>
              <a:off x="7228114" y="478971"/>
              <a:ext cx="1663337" cy="618309"/>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13" name="标题 6"/>
          <p:cNvSpPr txBox="1">
            <a:spLocks/>
          </p:cNvSpPr>
          <p:nvPr/>
        </p:nvSpPr>
        <p:spPr>
          <a:xfrm>
            <a:off x="2666275" y="5605782"/>
            <a:ext cx="1921419" cy="692497"/>
          </a:xfrm>
          <a:prstGeom prst="rect">
            <a:avLst/>
          </a:prstGeom>
        </p:spPr>
        <p:txBody>
          <a:bodyPr wrap="square" bIns="91440" anchor="b" anchorCtr="0">
            <a:spAutoFit/>
          </a:bodyPr>
          <a:lstStyle>
            <a:lvl1pPr algn="l" rtl="0" eaLnBrk="1" latinLnBrk="0" hangingPunct="1">
              <a:spcBef>
                <a:spcPct val="0"/>
              </a:spcBef>
              <a:buNone/>
              <a:defRPr kumimoji="0" sz="3200" b="1" kern="1200">
                <a:solidFill>
                  <a:srgbClr val="C00000"/>
                </a:solidFill>
                <a:latin typeface="Times New Roman" pitchFamily="18" charset="0"/>
                <a:ea typeface="+mj-ea"/>
                <a:cs typeface="Times New Roman" pitchFamily="18"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1800" b="1" i="0" u="none" strike="noStrike" kern="1200" cap="none" spc="0" normalizeH="0" baseline="0" noProof="0" dirty="0">
                <a:ln>
                  <a:noFill/>
                </a:ln>
                <a:solidFill>
                  <a:srgbClr val="FF0000"/>
                </a:solidFill>
                <a:effectLst/>
                <a:uLnTx/>
                <a:uFillTx/>
                <a:latin typeface="Times New Roman" pitchFamily="18" charset="0"/>
                <a:ea typeface="幼圆" panose="02010509060101010101" pitchFamily="49" charset="-122"/>
                <a:cs typeface="Times New Roman" pitchFamily="18" charset="0"/>
              </a:rPr>
              <a:t>卷积核宽度与词向量长度一致</a:t>
            </a:r>
          </a:p>
        </p:txBody>
      </p:sp>
      <p:cxnSp>
        <p:nvCxnSpPr>
          <p:cNvPr id="14" name="直接箭头连接符 13"/>
          <p:cNvCxnSpPr/>
          <p:nvPr/>
        </p:nvCxnSpPr>
        <p:spPr>
          <a:xfrm>
            <a:off x="4457929" y="6010898"/>
            <a:ext cx="751779" cy="78373"/>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7" name="右大括号 16"/>
          <p:cNvSpPr/>
          <p:nvPr/>
        </p:nvSpPr>
        <p:spPr>
          <a:xfrm rot="5400000">
            <a:off x="5756344" y="5590878"/>
            <a:ext cx="287381" cy="1127421"/>
          </a:xfrm>
          <a:prstGeom prst="rightBrace">
            <a:avLst>
              <a:gd name="adj1" fmla="val 28812"/>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cxnSp>
        <p:nvCxnSpPr>
          <p:cNvPr id="21" name="直接箭头连接符 20"/>
          <p:cNvCxnSpPr/>
          <p:nvPr/>
        </p:nvCxnSpPr>
        <p:spPr>
          <a:xfrm flipV="1">
            <a:off x="3683548" y="4161162"/>
            <a:ext cx="1510269" cy="552155"/>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2" name="矩形 21"/>
          <p:cNvSpPr/>
          <p:nvPr/>
        </p:nvSpPr>
        <p:spPr>
          <a:xfrm>
            <a:off x="5203216" y="964407"/>
            <a:ext cx="1447753" cy="5077107"/>
          </a:xfrm>
          <a:prstGeom prst="rect">
            <a:avLst/>
          </a:prstGeom>
          <a:noFill/>
          <a:ln w="28575">
            <a:solidFill>
              <a:srgbClr val="00B050"/>
            </a:solidFill>
            <a:prstDash val="dash"/>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0" name="标题 6"/>
          <p:cNvSpPr txBox="1">
            <a:spLocks/>
          </p:cNvSpPr>
          <p:nvPr/>
        </p:nvSpPr>
        <p:spPr>
          <a:xfrm>
            <a:off x="2265968" y="4498184"/>
            <a:ext cx="1474143" cy="692497"/>
          </a:xfrm>
          <a:prstGeom prst="rect">
            <a:avLst/>
          </a:prstGeom>
        </p:spPr>
        <p:txBody>
          <a:bodyPr wrap="square" bIns="91440" anchor="b" anchorCtr="0">
            <a:spAutoFit/>
          </a:bodyPr>
          <a:lstStyle>
            <a:lvl1pPr algn="l" rtl="0" eaLnBrk="1" latinLnBrk="0" hangingPunct="1">
              <a:spcBef>
                <a:spcPct val="0"/>
              </a:spcBef>
              <a:buNone/>
              <a:defRPr kumimoji="0" sz="3200" b="1" kern="1200">
                <a:solidFill>
                  <a:srgbClr val="C00000"/>
                </a:solidFill>
                <a:latin typeface="Times New Roman" pitchFamily="18" charset="0"/>
                <a:ea typeface="+mj-ea"/>
                <a:cs typeface="Times New Roman" pitchFamily="18"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1800" b="1" i="0" u="none" strike="noStrike" kern="1200" cap="none" spc="0" normalizeH="0" baseline="0" noProof="0" dirty="0">
                <a:ln>
                  <a:noFill/>
                </a:ln>
                <a:solidFill>
                  <a:srgbClr val="00B050"/>
                </a:solidFill>
                <a:effectLst/>
                <a:uLnTx/>
                <a:uFillTx/>
                <a:latin typeface="Times New Roman" pitchFamily="18" charset="0"/>
                <a:ea typeface="幼圆" panose="02010509060101010101" pitchFamily="49" charset="-122"/>
                <a:cs typeface="Times New Roman" pitchFamily="18" charset="0"/>
              </a:rPr>
              <a:t>6</a:t>
            </a:r>
            <a:r>
              <a:rPr kumimoji="0" lang="zh-CN" altLang="en-US" sz="1800" b="1" i="0" u="none" strike="noStrike" kern="1200" cap="none" spc="0" normalizeH="0" baseline="0" noProof="0" dirty="0">
                <a:ln>
                  <a:noFill/>
                </a:ln>
                <a:solidFill>
                  <a:srgbClr val="00B050"/>
                </a:solidFill>
                <a:effectLst/>
                <a:uLnTx/>
                <a:uFillTx/>
                <a:latin typeface="Times New Roman" pitchFamily="18" charset="0"/>
                <a:ea typeface="幼圆" panose="02010509060101010101" pitchFamily="49" charset="-122"/>
                <a:cs typeface="Times New Roman" pitchFamily="18" charset="0"/>
              </a:rPr>
              <a:t>个不同大小的卷积核</a:t>
            </a:r>
          </a:p>
        </p:txBody>
      </p:sp>
      <p:sp>
        <p:nvSpPr>
          <p:cNvPr id="34" name="矩形 33"/>
          <p:cNvSpPr/>
          <p:nvPr/>
        </p:nvSpPr>
        <p:spPr>
          <a:xfrm>
            <a:off x="2937565" y="1822067"/>
            <a:ext cx="2141094" cy="2261016"/>
          </a:xfrm>
          <a:prstGeom prst="rect">
            <a:avLst/>
          </a:prstGeom>
          <a:noFill/>
          <a:ln w="28575">
            <a:solidFill>
              <a:srgbClr val="FF0000"/>
            </a:solidFill>
            <a:prstDash val="dash"/>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5" name="标题 6"/>
          <p:cNvSpPr txBox="1">
            <a:spLocks/>
          </p:cNvSpPr>
          <p:nvPr/>
        </p:nvSpPr>
        <p:spPr>
          <a:xfrm>
            <a:off x="2297945" y="2551208"/>
            <a:ext cx="710070" cy="692497"/>
          </a:xfrm>
          <a:prstGeom prst="rect">
            <a:avLst/>
          </a:prstGeom>
        </p:spPr>
        <p:txBody>
          <a:bodyPr wrap="square" bIns="91440" anchor="b" anchorCtr="0">
            <a:spAutoFit/>
          </a:bodyPr>
          <a:lstStyle>
            <a:lvl1pPr algn="l" rtl="0" eaLnBrk="1" latinLnBrk="0" hangingPunct="1">
              <a:spcBef>
                <a:spcPct val="0"/>
              </a:spcBef>
              <a:buNone/>
              <a:defRPr kumimoji="0" sz="3200" b="1" kern="1200">
                <a:solidFill>
                  <a:srgbClr val="C00000"/>
                </a:solidFill>
                <a:latin typeface="Times New Roman" pitchFamily="18" charset="0"/>
                <a:ea typeface="+mj-ea"/>
                <a:cs typeface="Times New Roman" pitchFamily="18"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1800" b="1" i="0" u="none" strike="noStrike" kern="1200" cap="none" spc="0" normalizeH="0" baseline="0" noProof="0" dirty="0">
                <a:ln>
                  <a:noFill/>
                </a:ln>
                <a:solidFill>
                  <a:srgbClr val="FF0000"/>
                </a:solidFill>
                <a:effectLst/>
                <a:uLnTx/>
                <a:uFillTx/>
                <a:latin typeface="Times New Roman" pitchFamily="18" charset="0"/>
                <a:ea typeface="幼圆" panose="02010509060101010101" pitchFamily="49" charset="-122"/>
                <a:cs typeface="Times New Roman" pitchFamily="18" charset="0"/>
              </a:rPr>
              <a:t>输</a:t>
            </a:r>
            <a:endParaRPr kumimoji="0" lang="en-US" altLang="zh-CN" sz="1800" b="1" i="0" u="none" strike="noStrike" kern="1200" cap="none" spc="0" normalizeH="0" baseline="0" noProof="0" dirty="0">
              <a:ln>
                <a:noFill/>
              </a:ln>
              <a:solidFill>
                <a:srgbClr val="FF0000"/>
              </a:solidFill>
              <a:effectLst/>
              <a:uLnTx/>
              <a:uFillTx/>
              <a:latin typeface="Times New Roman" pitchFamily="18" charset="0"/>
              <a:ea typeface="幼圆" panose="02010509060101010101" pitchFamily="49" charset="-122"/>
              <a:cs typeface="Times New Roman" pitchFamily="18" charset="0"/>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1800" b="1" i="0" u="none" strike="noStrike" kern="1200" cap="none" spc="0" normalizeH="0" baseline="0" noProof="0" dirty="0">
                <a:ln>
                  <a:noFill/>
                </a:ln>
                <a:solidFill>
                  <a:srgbClr val="FF0000"/>
                </a:solidFill>
                <a:effectLst/>
                <a:uLnTx/>
                <a:uFillTx/>
                <a:latin typeface="Times New Roman" pitchFamily="18" charset="0"/>
                <a:ea typeface="幼圆" panose="02010509060101010101" pitchFamily="49" charset="-122"/>
                <a:cs typeface="Times New Roman" pitchFamily="18" charset="0"/>
              </a:rPr>
              <a:t>入</a:t>
            </a:r>
          </a:p>
        </p:txBody>
      </p:sp>
      <p:sp>
        <p:nvSpPr>
          <p:cNvPr id="36" name="矩形 35"/>
          <p:cNvSpPr/>
          <p:nvPr/>
        </p:nvSpPr>
        <p:spPr>
          <a:xfrm>
            <a:off x="3940501" y="2408107"/>
            <a:ext cx="1060202" cy="835598"/>
          </a:xfrm>
          <a:prstGeom prst="rect">
            <a:avLst/>
          </a:prstGeom>
          <a:solidFill>
            <a:schemeClr val="accent2">
              <a:alpha val="50000"/>
            </a:schemeClr>
          </a:solidFill>
          <a:ln w="28575">
            <a:solidFill>
              <a:srgbClr val="C00000"/>
            </a:solidFill>
            <a:prstDash val="solid"/>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39" name="直接箭头连接符 38"/>
          <p:cNvCxnSpPr/>
          <p:nvPr/>
        </p:nvCxnSpPr>
        <p:spPr>
          <a:xfrm flipH="1">
            <a:off x="7796153" y="1356572"/>
            <a:ext cx="574766" cy="334871"/>
          </a:xfrm>
          <a:prstGeom prst="straightConnector1">
            <a:avLst/>
          </a:prstGeom>
          <a:ln w="28575">
            <a:solidFill>
              <a:srgbClr val="FF0000"/>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0" name="矩形 49"/>
          <p:cNvSpPr/>
          <p:nvPr/>
        </p:nvSpPr>
        <p:spPr>
          <a:xfrm>
            <a:off x="3953955" y="2615659"/>
            <a:ext cx="1060202" cy="835598"/>
          </a:xfrm>
          <a:prstGeom prst="rect">
            <a:avLst/>
          </a:prstGeom>
          <a:solidFill>
            <a:schemeClr val="accent2">
              <a:alpha val="50000"/>
            </a:schemeClr>
          </a:solidFill>
          <a:ln w="28575">
            <a:solidFill>
              <a:srgbClr val="C00000"/>
            </a:solidFill>
            <a:prstDash val="solid"/>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7" name="标题 6"/>
          <p:cNvSpPr txBox="1">
            <a:spLocks/>
          </p:cNvSpPr>
          <p:nvPr/>
        </p:nvSpPr>
        <p:spPr>
          <a:xfrm>
            <a:off x="7849450" y="1001284"/>
            <a:ext cx="1319468" cy="415498"/>
          </a:xfrm>
          <a:prstGeom prst="rect">
            <a:avLst/>
          </a:prstGeom>
        </p:spPr>
        <p:txBody>
          <a:bodyPr wrap="square" bIns="91440" anchor="b" anchorCtr="0">
            <a:spAutoFit/>
          </a:bodyPr>
          <a:lstStyle>
            <a:lvl1pPr algn="l" rtl="0" eaLnBrk="1" latinLnBrk="0" hangingPunct="1">
              <a:spcBef>
                <a:spcPct val="0"/>
              </a:spcBef>
              <a:buNone/>
              <a:defRPr kumimoji="0" sz="3200" b="1" kern="1200">
                <a:solidFill>
                  <a:srgbClr val="C00000"/>
                </a:solidFill>
                <a:latin typeface="Times New Roman" pitchFamily="18" charset="0"/>
                <a:ea typeface="+mj-ea"/>
                <a:cs typeface="Times New Roman" pitchFamily="18"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1800" b="1" i="0" u="none" strike="noStrike" kern="1200" cap="none" spc="0" normalizeH="0" baseline="0" noProof="0" dirty="0">
                <a:ln>
                  <a:noFill/>
                </a:ln>
                <a:solidFill>
                  <a:srgbClr val="FF0000"/>
                </a:solidFill>
                <a:effectLst/>
                <a:uLnTx/>
                <a:uFillTx/>
                <a:latin typeface="Times New Roman" pitchFamily="18" charset="0"/>
                <a:ea typeface="幼圆" panose="02010509060101010101" pitchFamily="49" charset="-122"/>
                <a:cs typeface="Times New Roman" pitchFamily="18" charset="0"/>
              </a:rPr>
              <a:t>1-</a:t>
            </a:r>
            <a:r>
              <a:rPr kumimoji="0" lang="zh-CN" altLang="en-US" sz="1800" b="1" i="0" u="none" strike="noStrike" kern="1200" cap="none" spc="0" normalizeH="0" baseline="0" noProof="0" dirty="0">
                <a:ln>
                  <a:noFill/>
                </a:ln>
                <a:solidFill>
                  <a:srgbClr val="FF0000"/>
                </a:solidFill>
                <a:effectLst/>
                <a:uLnTx/>
                <a:uFillTx/>
                <a:latin typeface="Times New Roman" pitchFamily="18" charset="0"/>
                <a:ea typeface="幼圆" panose="02010509060101010101" pitchFamily="49" charset="-122"/>
                <a:cs typeface="Times New Roman" pitchFamily="18" charset="0"/>
              </a:rPr>
              <a:t>最大池化</a:t>
            </a:r>
            <a:endParaRPr kumimoji="0" lang="en-US" altLang="zh-CN" sz="1800" b="1" i="0" u="none" strike="noStrike" kern="1200" cap="none" spc="0" normalizeH="0" baseline="0" noProof="0" dirty="0">
              <a:ln>
                <a:noFill/>
              </a:ln>
              <a:solidFill>
                <a:srgbClr val="FF0000"/>
              </a:solidFill>
              <a:effectLst/>
              <a:uLnTx/>
              <a:uFillTx/>
              <a:latin typeface="Times New Roman" pitchFamily="18" charset="0"/>
              <a:ea typeface="幼圆" panose="02010509060101010101" pitchFamily="49" charset="-122"/>
              <a:cs typeface="Times New Roman" pitchFamily="18" charset="0"/>
            </a:endParaRPr>
          </a:p>
        </p:txBody>
      </p:sp>
      <p:cxnSp>
        <p:nvCxnSpPr>
          <p:cNvPr id="68" name="直接箭头连接符 67"/>
          <p:cNvCxnSpPr/>
          <p:nvPr/>
        </p:nvCxnSpPr>
        <p:spPr>
          <a:xfrm flipH="1">
            <a:off x="8723921" y="2738371"/>
            <a:ext cx="489622" cy="712886"/>
          </a:xfrm>
          <a:prstGeom prst="straightConnector1">
            <a:avLst/>
          </a:prstGeom>
          <a:ln w="28575">
            <a:solidFill>
              <a:srgbClr val="FF0000"/>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9" name="标题 6"/>
          <p:cNvSpPr txBox="1">
            <a:spLocks/>
          </p:cNvSpPr>
          <p:nvPr/>
        </p:nvSpPr>
        <p:spPr>
          <a:xfrm>
            <a:off x="8926491" y="2307565"/>
            <a:ext cx="1319468" cy="415498"/>
          </a:xfrm>
          <a:prstGeom prst="rect">
            <a:avLst/>
          </a:prstGeom>
        </p:spPr>
        <p:txBody>
          <a:bodyPr wrap="square" bIns="91440" anchor="b" anchorCtr="0">
            <a:spAutoFit/>
          </a:bodyPr>
          <a:lstStyle>
            <a:lvl1pPr algn="l" rtl="0" eaLnBrk="1" latinLnBrk="0" hangingPunct="1">
              <a:spcBef>
                <a:spcPct val="0"/>
              </a:spcBef>
              <a:buNone/>
              <a:defRPr kumimoji="0" sz="3200" b="1" kern="1200">
                <a:solidFill>
                  <a:srgbClr val="C00000"/>
                </a:solidFill>
                <a:latin typeface="Times New Roman" pitchFamily="18" charset="0"/>
                <a:ea typeface="+mj-ea"/>
                <a:cs typeface="Times New Roman" pitchFamily="18"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1800" b="1" i="0" u="none" strike="noStrike" kern="1200" cap="none" spc="0" normalizeH="0" baseline="0" noProof="0" dirty="0">
                <a:ln>
                  <a:noFill/>
                </a:ln>
                <a:solidFill>
                  <a:srgbClr val="FF0000"/>
                </a:solidFill>
                <a:effectLst/>
                <a:uLnTx/>
                <a:uFillTx/>
                <a:latin typeface="Times New Roman" pitchFamily="18" charset="0"/>
                <a:ea typeface="幼圆" panose="02010509060101010101" pitchFamily="49" charset="-122"/>
                <a:cs typeface="Times New Roman" pitchFamily="18" charset="0"/>
              </a:rPr>
              <a:t>拼接</a:t>
            </a:r>
            <a:endParaRPr kumimoji="0" lang="en-US" altLang="zh-CN" sz="1800" b="1" i="0" u="none" strike="noStrike" kern="1200" cap="none" spc="0" normalizeH="0" baseline="0" noProof="0" dirty="0">
              <a:ln>
                <a:noFill/>
              </a:ln>
              <a:solidFill>
                <a:srgbClr val="FF0000"/>
              </a:solidFill>
              <a:effectLst/>
              <a:uLnTx/>
              <a:uFillTx/>
              <a:latin typeface="Times New Roman" pitchFamily="18" charset="0"/>
              <a:ea typeface="幼圆" panose="02010509060101010101" pitchFamily="49" charset="-122"/>
              <a:cs typeface="Times New Roman" pitchFamily="18" charset="0"/>
            </a:endParaRPr>
          </a:p>
        </p:txBody>
      </p:sp>
      <p:cxnSp>
        <p:nvCxnSpPr>
          <p:cNvPr id="76" name="直接箭头连接符 75"/>
          <p:cNvCxnSpPr/>
          <p:nvPr/>
        </p:nvCxnSpPr>
        <p:spPr>
          <a:xfrm flipH="1">
            <a:off x="10060382" y="2895258"/>
            <a:ext cx="103967" cy="869038"/>
          </a:xfrm>
          <a:prstGeom prst="straightConnector1">
            <a:avLst/>
          </a:prstGeom>
          <a:ln w="28575">
            <a:solidFill>
              <a:srgbClr val="FF0000"/>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7" name="标题 6"/>
          <p:cNvSpPr txBox="1">
            <a:spLocks/>
          </p:cNvSpPr>
          <p:nvPr/>
        </p:nvSpPr>
        <p:spPr>
          <a:xfrm>
            <a:off x="9914822" y="2252369"/>
            <a:ext cx="1319468" cy="692497"/>
          </a:xfrm>
          <a:prstGeom prst="rect">
            <a:avLst/>
          </a:prstGeom>
        </p:spPr>
        <p:txBody>
          <a:bodyPr wrap="square" bIns="91440" anchor="b" anchorCtr="0">
            <a:spAutoFit/>
          </a:bodyPr>
          <a:lstStyle>
            <a:lvl1pPr algn="l" rtl="0" eaLnBrk="1" latinLnBrk="0" hangingPunct="1">
              <a:spcBef>
                <a:spcPct val="0"/>
              </a:spcBef>
              <a:buNone/>
              <a:defRPr kumimoji="0" sz="3200" b="1" kern="1200">
                <a:solidFill>
                  <a:srgbClr val="C00000"/>
                </a:solidFill>
                <a:latin typeface="Times New Roman" pitchFamily="18" charset="0"/>
                <a:ea typeface="+mj-ea"/>
                <a:cs typeface="Times New Roman" pitchFamily="18"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1800" b="1" i="0" u="none" strike="noStrike" kern="1200" cap="none" spc="0" normalizeH="0" baseline="0" noProof="0" dirty="0">
                <a:ln>
                  <a:noFill/>
                </a:ln>
                <a:solidFill>
                  <a:srgbClr val="FF0000"/>
                </a:solidFill>
                <a:effectLst/>
                <a:uLnTx/>
                <a:uFillTx/>
                <a:latin typeface="Times New Roman" pitchFamily="18" charset="0"/>
                <a:ea typeface="幼圆" panose="02010509060101010101" pitchFamily="49" charset="-122"/>
                <a:cs typeface="Times New Roman" pitchFamily="18" charset="0"/>
              </a:rPr>
              <a:t>全连接</a:t>
            </a:r>
            <a:r>
              <a:rPr kumimoji="0" lang="en-US" altLang="zh-CN" sz="1800" b="1" i="0" u="none" strike="noStrike" kern="1200" cap="none" spc="0" normalizeH="0" baseline="0" noProof="0" dirty="0">
                <a:ln>
                  <a:noFill/>
                </a:ln>
                <a:solidFill>
                  <a:srgbClr val="FF0000"/>
                </a:solidFill>
                <a:effectLst/>
                <a:uLnTx/>
                <a:uFillTx/>
                <a:latin typeface="Times New Roman" pitchFamily="18" charset="0"/>
                <a:ea typeface="幼圆" panose="02010509060101010101" pitchFamily="49" charset="-122"/>
                <a:cs typeface="Times New Roman" pitchFamily="18" charset="0"/>
              </a:rPr>
              <a:t>+</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1800" b="1" i="0" u="none" strike="noStrike" kern="1200" cap="none" spc="0" normalizeH="0" baseline="0" noProof="0" dirty="0" err="1">
                <a:ln>
                  <a:noFill/>
                </a:ln>
                <a:solidFill>
                  <a:srgbClr val="FF0000"/>
                </a:solidFill>
                <a:effectLst/>
                <a:uLnTx/>
                <a:uFillTx/>
                <a:latin typeface="Times New Roman" pitchFamily="18" charset="0"/>
                <a:ea typeface="幼圆" panose="02010509060101010101" pitchFamily="49" charset="-122"/>
                <a:cs typeface="Times New Roman" pitchFamily="18" charset="0"/>
              </a:rPr>
              <a:t>softmax</a:t>
            </a:r>
            <a:endParaRPr kumimoji="0" lang="en-US" altLang="zh-CN" sz="1800" b="1" i="0" u="none" strike="noStrike" kern="1200" cap="none" spc="0" normalizeH="0" baseline="0" noProof="0" dirty="0">
              <a:ln>
                <a:noFill/>
              </a:ln>
              <a:solidFill>
                <a:srgbClr val="FF0000"/>
              </a:solidFill>
              <a:effectLst/>
              <a:uLnTx/>
              <a:uFillTx/>
              <a:latin typeface="Times New Roman" pitchFamily="18" charset="0"/>
              <a:ea typeface="幼圆" panose="02010509060101010101" pitchFamily="49" charset="-122"/>
              <a:cs typeface="Times New Roman" pitchFamily="18" charset="0"/>
            </a:endParaRPr>
          </a:p>
        </p:txBody>
      </p:sp>
      <p:sp>
        <p:nvSpPr>
          <p:cNvPr id="80" name="标题 6"/>
          <p:cNvSpPr txBox="1">
            <a:spLocks/>
          </p:cNvSpPr>
          <p:nvPr/>
        </p:nvSpPr>
        <p:spPr>
          <a:xfrm>
            <a:off x="10361977" y="3764296"/>
            <a:ext cx="710070" cy="692497"/>
          </a:xfrm>
          <a:prstGeom prst="rect">
            <a:avLst/>
          </a:prstGeom>
        </p:spPr>
        <p:txBody>
          <a:bodyPr wrap="square" bIns="91440" anchor="b" anchorCtr="0">
            <a:spAutoFit/>
          </a:bodyPr>
          <a:lstStyle>
            <a:lvl1pPr algn="l" rtl="0" eaLnBrk="1" latinLnBrk="0" hangingPunct="1">
              <a:spcBef>
                <a:spcPct val="0"/>
              </a:spcBef>
              <a:buNone/>
              <a:defRPr kumimoji="0" sz="3200" b="1" kern="1200">
                <a:solidFill>
                  <a:srgbClr val="C00000"/>
                </a:solidFill>
                <a:latin typeface="Times New Roman" pitchFamily="18" charset="0"/>
                <a:ea typeface="+mj-ea"/>
                <a:cs typeface="Times New Roman" pitchFamily="18"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1800" b="1" i="0" u="none" strike="noStrike" kern="1200" cap="none" spc="0" normalizeH="0" baseline="0" noProof="0" dirty="0">
                <a:ln>
                  <a:noFill/>
                </a:ln>
                <a:solidFill>
                  <a:srgbClr val="FF0000"/>
                </a:solidFill>
                <a:effectLst/>
                <a:uLnTx/>
                <a:uFillTx/>
                <a:latin typeface="Times New Roman" pitchFamily="18" charset="0"/>
                <a:ea typeface="幼圆" panose="02010509060101010101" pitchFamily="49" charset="-122"/>
                <a:cs typeface="Times New Roman" pitchFamily="18" charset="0"/>
              </a:rPr>
              <a:t>输</a:t>
            </a:r>
            <a:endParaRPr kumimoji="0" lang="en-US" altLang="zh-CN" sz="1800" b="1" i="0" u="none" strike="noStrike" kern="1200" cap="none" spc="0" normalizeH="0" baseline="0" noProof="0" dirty="0">
              <a:ln>
                <a:noFill/>
              </a:ln>
              <a:solidFill>
                <a:srgbClr val="FF0000"/>
              </a:solidFill>
              <a:effectLst/>
              <a:uLnTx/>
              <a:uFillTx/>
              <a:latin typeface="Times New Roman" pitchFamily="18" charset="0"/>
              <a:ea typeface="幼圆" panose="02010509060101010101" pitchFamily="49" charset="-122"/>
              <a:cs typeface="Times New Roman" pitchFamily="18" charset="0"/>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1800" b="1" i="0" u="none" strike="noStrike" kern="1200" cap="none" spc="0" normalizeH="0" baseline="0" noProof="0" dirty="0">
                <a:ln>
                  <a:noFill/>
                </a:ln>
                <a:solidFill>
                  <a:srgbClr val="FF0000"/>
                </a:solidFill>
                <a:effectLst/>
                <a:uLnTx/>
                <a:uFillTx/>
                <a:latin typeface="Times New Roman" pitchFamily="18" charset="0"/>
                <a:ea typeface="幼圆" panose="02010509060101010101" pitchFamily="49" charset="-122"/>
                <a:cs typeface="Times New Roman" pitchFamily="18" charset="0"/>
              </a:rPr>
              <a:t>出</a:t>
            </a:r>
          </a:p>
        </p:txBody>
      </p:sp>
      <p:sp>
        <p:nvSpPr>
          <p:cNvPr id="2" name="Title 1">
            <a:extLst>
              <a:ext uri="{FF2B5EF4-FFF2-40B4-BE49-F238E27FC236}">
                <a16:creationId xmlns:a16="http://schemas.microsoft.com/office/drawing/2014/main" id="{DA0B235D-E151-8821-93F1-5B03C9B4669E}"/>
              </a:ext>
            </a:extLst>
          </p:cNvPr>
          <p:cNvSpPr>
            <a:spLocks noGrp="1"/>
          </p:cNvSpPr>
          <p:nvPr>
            <p:ph type="title"/>
          </p:nvPr>
        </p:nvSpPr>
        <p:spPr>
          <a:xfrm>
            <a:off x="1219200" y="274638"/>
            <a:ext cx="10363200" cy="1143000"/>
          </a:xfrm>
        </p:spPr>
        <p:txBody>
          <a:bodyPr/>
          <a:lstStyle/>
          <a:p>
            <a:r>
              <a:rPr lang="en-US" dirty="0" err="1">
                <a:latin typeface="Microsoft YaHei" panose="020B0503020204020204" pitchFamily="34" charset="-122"/>
                <a:ea typeface="Microsoft YaHei" panose="020B0503020204020204" pitchFamily="34" charset="-122"/>
              </a:rPr>
              <a:t>与TextCNN对比</a:t>
            </a:r>
            <a:endParaRPr lang="en-US"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4713220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小结</a:t>
            </a:r>
          </a:p>
        </p:txBody>
      </p:sp>
      <p:sp>
        <p:nvSpPr>
          <p:cNvPr id="3" name="内容占位符 2"/>
          <p:cNvSpPr>
            <a:spLocks noGrp="1"/>
          </p:cNvSpPr>
          <p:nvPr>
            <p:ph sz="quarter" idx="1"/>
          </p:nvPr>
        </p:nvSpPr>
        <p:spPr>
          <a:xfrm>
            <a:off x="1219200" y="1606826"/>
            <a:ext cx="10363200" cy="4572000"/>
          </a:xfrm>
        </p:spPr>
        <p:txBody>
          <a:bodyPr/>
          <a:lstStyle/>
          <a:p>
            <a:r>
              <a:rPr lang="zh-CN" altLang="en-US" dirty="0"/>
              <a:t>循环神经网络</a:t>
            </a:r>
            <a:endParaRPr lang="en-US" altLang="zh-CN" dirty="0"/>
          </a:p>
          <a:p>
            <a:pPr lvl="1"/>
            <a:r>
              <a:rPr lang="zh-CN" altLang="en-US" dirty="0"/>
              <a:t>处理序列数据</a:t>
            </a:r>
            <a:endParaRPr lang="en-US" altLang="zh-CN" dirty="0"/>
          </a:p>
          <a:p>
            <a:r>
              <a:rPr lang="zh-CN" altLang="en-US" dirty="0"/>
              <a:t>双向循环神经网络</a:t>
            </a:r>
            <a:endParaRPr lang="en-US" altLang="zh-CN" dirty="0"/>
          </a:p>
          <a:p>
            <a:r>
              <a:rPr lang="zh-CN" altLang="en-US" dirty="0"/>
              <a:t>序列到序列神经网络</a:t>
            </a:r>
            <a:endParaRPr lang="en-US" altLang="zh-CN" dirty="0"/>
          </a:p>
          <a:p>
            <a:r>
              <a:rPr lang="zh-CN" altLang="en-US" dirty="0"/>
              <a:t>应用举例</a:t>
            </a:r>
            <a:endParaRPr lang="en-US" altLang="zh-CN" dirty="0"/>
          </a:p>
          <a:p>
            <a:pPr lvl="1"/>
            <a:r>
              <a:rPr lang="zh-CN" altLang="en-US" dirty="0"/>
              <a:t>情感分类问题</a:t>
            </a:r>
            <a:endParaRPr lang="en-US" altLang="zh-CN" dirty="0"/>
          </a:p>
          <a:p>
            <a:pPr lvl="1"/>
            <a:r>
              <a:rPr lang="zh-CN" altLang="en-US" dirty="0"/>
              <a:t>分词问题</a:t>
            </a:r>
            <a:endParaRPr lang="en-US" altLang="zh-CN" dirty="0"/>
          </a:p>
          <a:p>
            <a:pPr lvl="1"/>
            <a:r>
              <a:rPr lang="zh-CN" altLang="en-US" dirty="0"/>
              <a:t>看图说话问题</a:t>
            </a:r>
            <a:endParaRPr lang="en-US" altLang="zh-CN" dirty="0"/>
          </a:p>
        </p:txBody>
      </p:sp>
    </p:spTree>
    <p:extLst>
      <p:ext uri="{BB962C8B-B14F-4D97-AF65-F5344CB8AC3E}">
        <p14:creationId xmlns:p14="http://schemas.microsoft.com/office/powerpoint/2010/main" val="19604852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2.9 </a:t>
            </a:r>
            <a:r>
              <a:rPr lang="zh-CN" altLang="en-US" dirty="0"/>
              <a:t>长短期记忆网络（</a:t>
            </a:r>
            <a:r>
              <a:rPr lang="en-US" altLang="zh-CN" dirty="0"/>
              <a:t>LSTM</a:t>
            </a:r>
            <a:r>
              <a:rPr lang="zh-CN" altLang="en-US" dirty="0"/>
              <a:t>：</a:t>
            </a:r>
            <a:r>
              <a:rPr lang="en-US" altLang="zh-CN" dirty="0"/>
              <a:t>Long Short-Term Memory</a:t>
            </a:r>
            <a:r>
              <a:rPr lang="zh-CN" altLang="en-US" dirty="0"/>
              <a:t>）</a:t>
            </a:r>
            <a:r>
              <a:rPr lang="en-US" altLang="zh-CN" dirty="0"/>
              <a:t> </a:t>
            </a:r>
            <a:endParaRPr lang="zh-CN" altLang="en-US" dirty="0"/>
          </a:p>
        </p:txBody>
      </p:sp>
      <p:sp>
        <p:nvSpPr>
          <p:cNvPr id="3" name="内容占位符 2"/>
          <p:cNvSpPr>
            <a:spLocks noGrp="1"/>
          </p:cNvSpPr>
          <p:nvPr>
            <p:ph sz="quarter" idx="1"/>
          </p:nvPr>
        </p:nvSpPr>
        <p:spPr>
          <a:xfrm>
            <a:off x="1219200" y="1789706"/>
            <a:ext cx="10363200" cy="4572000"/>
          </a:xfrm>
        </p:spPr>
        <p:txBody>
          <a:bodyPr>
            <a:normAutofit/>
          </a:bodyPr>
          <a:lstStyle/>
          <a:p>
            <a:r>
              <a:rPr lang="zh-CN" altLang="en-US" dirty="0"/>
              <a:t>简单</a:t>
            </a:r>
            <a:r>
              <a:rPr lang="en-US" altLang="zh-CN" dirty="0"/>
              <a:t>RNN</a:t>
            </a:r>
            <a:r>
              <a:rPr lang="zh-CN" altLang="en-US" dirty="0"/>
              <a:t>存在的问题</a:t>
            </a:r>
            <a:endParaRPr lang="en-US" altLang="zh-CN" dirty="0"/>
          </a:p>
          <a:p>
            <a:pPr lvl="1"/>
            <a:r>
              <a:rPr lang="zh-CN" altLang="en-US" dirty="0"/>
              <a:t>长程依赖问题</a:t>
            </a:r>
            <a:endParaRPr lang="en-US" altLang="zh-CN" dirty="0"/>
          </a:p>
          <a:p>
            <a:pPr lvl="2"/>
            <a:r>
              <a:rPr lang="en-US" altLang="zh-CN" dirty="0" err="1"/>
              <a:t>beijing</a:t>
            </a:r>
            <a:r>
              <a:rPr lang="en-US" altLang="zh-CN" dirty="0"/>
              <a:t>  </a:t>
            </a:r>
            <a:r>
              <a:rPr lang="en-US" altLang="zh-CN" dirty="0" err="1">
                <a:solidFill>
                  <a:srgbClr val="FF0000"/>
                </a:solidFill>
              </a:rPr>
              <a:t>shi</a:t>
            </a:r>
            <a:r>
              <a:rPr lang="en-US" altLang="zh-CN" dirty="0">
                <a:solidFill>
                  <a:srgbClr val="FF0000"/>
                </a:solidFill>
              </a:rPr>
              <a:t> </a:t>
            </a:r>
            <a:r>
              <a:rPr lang="en-US" altLang="zh-CN" dirty="0"/>
              <a:t> </a:t>
            </a:r>
            <a:r>
              <a:rPr lang="en-US" altLang="zh-CN" dirty="0" err="1"/>
              <a:t>yige</a:t>
            </a:r>
            <a:r>
              <a:rPr lang="en-US" altLang="zh-CN" dirty="0"/>
              <a:t>  </a:t>
            </a:r>
            <a:r>
              <a:rPr lang="en-US" altLang="zh-CN" dirty="0" err="1"/>
              <a:t>meili</a:t>
            </a:r>
            <a:r>
              <a:rPr lang="en-US" altLang="zh-CN" dirty="0"/>
              <a:t>  de</a:t>
            </a:r>
          </a:p>
          <a:p>
            <a:pPr lvl="2"/>
            <a:r>
              <a:rPr lang="zh-CN" altLang="en-US" dirty="0"/>
              <a:t>北京</a:t>
            </a:r>
            <a:r>
              <a:rPr lang="zh-CN" altLang="en-US" dirty="0">
                <a:solidFill>
                  <a:srgbClr val="FF0000"/>
                </a:solidFill>
              </a:rPr>
              <a:t>是</a:t>
            </a:r>
            <a:r>
              <a:rPr lang="zh-CN" altLang="en-US" dirty="0"/>
              <a:t>一个美丽的（</a:t>
            </a:r>
            <a:r>
              <a:rPr lang="zh-CN" altLang="en-US" dirty="0">
                <a:solidFill>
                  <a:srgbClr val="FF0000"/>
                </a:solidFill>
              </a:rPr>
              <a:t>城市</a:t>
            </a:r>
            <a:r>
              <a:rPr lang="zh-CN" altLang="en-US" dirty="0"/>
              <a:t>）</a:t>
            </a:r>
            <a:endParaRPr lang="en-US" altLang="zh-CN" dirty="0"/>
          </a:p>
          <a:p>
            <a:pPr lvl="2"/>
            <a:r>
              <a:rPr lang="zh-CN" altLang="en-US" dirty="0"/>
              <a:t>北京</a:t>
            </a:r>
            <a:r>
              <a:rPr lang="zh-CN" altLang="en-US" dirty="0">
                <a:solidFill>
                  <a:srgbClr val="FF0000"/>
                </a:solidFill>
              </a:rPr>
              <a:t>市</a:t>
            </a:r>
            <a:r>
              <a:rPr lang="zh-CN" altLang="en-US" dirty="0"/>
              <a:t>一个美丽的（</a:t>
            </a:r>
            <a:r>
              <a:rPr lang="zh-CN" altLang="en-US" dirty="0">
                <a:solidFill>
                  <a:srgbClr val="FF0000"/>
                </a:solidFill>
              </a:rPr>
              <a:t>姑娘</a:t>
            </a:r>
            <a:r>
              <a:rPr lang="zh-CN" altLang="en-US" dirty="0"/>
              <a:t>）</a:t>
            </a:r>
            <a:endParaRPr lang="en-US" altLang="zh-CN" dirty="0"/>
          </a:p>
          <a:p>
            <a:pPr lvl="1"/>
            <a:r>
              <a:rPr lang="zh-CN" altLang="en-US" dirty="0"/>
              <a:t>重点选择问题</a:t>
            </a:r>
            <a:endParaRPr lang="en-US" altLang="zh-CN" dirty="0"/>
          </a:p>
          <a:p>
            <a:pPr lvl="2"/>
            <a:r>
              <a:rPr lang="zh-CN" altLang="en-US" dirty="0"/>
              <a:t>不同的任务词的重要性不同</a:t>
            </a:r>
            <a:endParaRPr lang="en-US" altLang="zh-CN" dirty="0"/>
          </a:p>
          <a:p>
            <a:pPr lvl="2"/>
            <a:r>
              <a:rPr lang="zh-CN" altLang="en-US" dirty="0"/>
              <a:t>我</a:t>
            </a:r>
            <a:r>
              <a:rPr lang="zh-CN" altLang="en-US" dirty="0">
                <a:solidFill>
                  <a:srgbClr val="FF0000"/>
                </a:solidFill>
              </a:rPr>
              <a:t>非常喜欢</a:t>
            </a:r>
            <a:r>
              <a:rPr lang="zh-CN" altLang="en-US" dirty="0">
                <a:solidFill>
                  <a:srgbClr val="00B050"/>
                </a:solidFill>
              </a:rPr>
              <a:t>看</a:t>
            </a:r>
            <a:r>
              <a:rPr lang="zh-CN" altLang="en-US" dirty="0"/>
              <a:t>这部</a:t>
            </a:r>
            <a:r>
              <a:rPr lang="zh-CN" altLang="en-US" dirty="0">
                <a:solidFill>
                  <a:srgbClr val="00B050"/>
                </a:solidFill>
              </a:rPr>
              <a:t>电影</a:t>
            </a:r>
            <a:endParaRPr lang="en-US" altLang="zh-CN" dirty="0">
              <a:solidFill>
                <a:srgbClr val="00B050"/>
              </a:solidFill>
            </a:endParaRPr>
          </a:p>
          <a:p>
            <a:pPr lvl="1"/>
            <a:r>
              <a:rPr lang="zh-CN" altLang="en-US" dirty="0"/>
              <a:t>梯度消失问题</a:t>
            </a:r>
            <a:endParaRPr lang="en-US" altLang="zh-CN" dirty="0"/>
          </a:p>
        </p:txBody>
      </p:sp>
      <p:pic>
        <p:nvPicPr>
          <p:cNvPr id="4" name="图片 3">
            <a:extLst>
              <a:ext uri="{FF2B5EF4-FFF2-40B4-BE49-F238E27FC236}">
                <a16:creationId xmlns:a16="http://schemas.microsoft.com/office/drawing/2014/main" id="{01CB33E5-72F0-4C08-B55D-45CFBBC9A9C6}"/>
              </a:ext>
            </a:extLst>
          </p:cNvPr>
          <p:cNvPicPr>
            <a:picLocks noChangeAspect="1"/>
          </p:cNvPicPr>
          <p:nvPr/>
        </p:nvPicPr>
        <p:blipFill>
          <a:blip r:embed="rId3"/>
          <a:stretch>
            <a:fillRect/>
          </a:stretch>
        </p:blipFill>
        <p:spPr>
          <a:xfrm>
            <a:off x="5518205" y="1768680"/>
            <a:ext cx="5471920" cy="3753522"/>
          </a:xfrm>
          <a:prstGeom prst="rect">
            <a:avLst/>
          </a:prstGeom>
        </p:spPr>
      </p:pic>
    </p:spTree>
    <p:extLst>
      <p:ext uri="{BB962C8B-B14F-4D97-AF65-F5344CB8AC3E}">
        <p14:creationId xmlns:p14="http://schemas.microsoft.com/office/powerpoint/2010/main" val="959228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图片 52"/>
          <p:cNvPicPr>
            <a:picLocks noChangeAspect="1"/>
          </p:cNvPicPr>
          <p:nvPr/>
        </p:nvPicPr>
        <p:blipFill>
          <a:blip r:embed="rId3"/>
          <a:stretch>
            <a:fillRect/>
          </a:stretch>
        </p:blipFill>
        <p:spPr>
          <a:xfrm>
            <a:off x="1045469" y="755381"/>
            <a:ext cx="7116063" cy="3108960"/>
          </a:xfrm>
          <a:prstGeom prst="rect">
            <a:avLst/>
          </a:prstGeom>
        </p:spPr>
      </p:pic>
      <p:sp>
        <p:nvSpPr>
          <p:cNvPr id="54" name="矩形 53"/>
          <p:cNvSpPr/>
          <p:nvPr/>
        </p:nvSpPr>
        <p:spPr>
          <a:xfrm>
            <a:off x="970057" y="1478950"/>
            <a:ext cx="7132322" cy="2512612"/>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7" name="矩形 56"/>
          <p:cNvSpPr/>
          <p:nvPr/>
        </p:nvSpPr>
        <p:spPr>
          <a:xfrm>
            <a:off x="9358685" y="817901"/>
            <a:ext cx="1614116" cy="2009871"/>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58" name="直接箭头连接符 57"/>
          <p:cNvCxnSpPr/>
          <p:nvPr/>
        </p:nvCxnSpPr>
        <p:spPr>
          <a:xfrm flipH="1">
            <a:off x="8177791" y="1963974"/>
            <a:ext cx="1056247" cy="58044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73" name="图片 72"/>
          <p:cNvPicPr>
            <a:picLocks noChangeAspect="1"/>
          </p:cNvPicPr>
          <p:nvPr/>
        </p:nvPicPr>
        <p:blipFill>
          <a:blip r:embed="rId4"/>
          <a:stretch>
            <a:fillRect/>
          </a:stretch>
        </p:blipFill>
        <p:spPr>
          <a:xfrm>
            <a:off x="9508513" y="877536"/>
            <a:ext cx="1314460" cy="1962164"/>
          </a:xfrm>
          <a:prstGeom prst="rect">
            <a:avLst/>
          </a:prstGeom>
        </p:spPr>
      </p:pic>
      <p:sp>
        <p:nvSpPr>
          <p:cNvPr id="75" name="右大括号 74"/>
          <p:cNvSpPr/>
          <p:nvPr/>
        </p:nvSpPr>
        <p:spPr>
          <a:xfrm rot="5400000">
            <a:off x="4357009" y="1544790"/>
            <a:ext cx="492981" cy="5338820"/>
          </a:xfrm>
          <a:prstGeom prst="rightBrace">
            <a:avLst>
              <a:gd name="adj1" fmla="val 14348"/>
              <a:gd name="adj2" fmla="val 50000"/>
            </a:avLst>
          </a:pr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Perpetua"/>
              <a:ea typeface="宋体" panose="02010600030101010101" pitchFamily="2" charset="-122"/>
              <a:cs typeface="+mn-cs"/>
            </a:endParaRPr>
          </a:p>
        </p:txBody>
      </p:sp>
      <p:sp>
        <p:nvSpPr>
          <p:cNvPr id="76" name="文本框 75"/>
          <p:cNvSpPr txBox="1"/>
          <p:nvPr/>
        </p:nvSpPr>
        <p:spPr>
          <a:xfrm>
            <a:off x="4309608" y="4564059"/>
            <a:ext cx="76005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0B050"/>
                </a:solidFill>
                <a:effectLst/>
                <a:uLnTx/>
                <a:uFillTx/>
                <a:latin typeface="Perpetua"/>
                <a:ea typeface="宋体" panose="02010600030101010101" pitchFamily="2" charset="-122"/>
                <a:cs typeface="+mn-cs"/>
              </a:rPr>
              <a:t>输入</a:t>
            </a:r>
          </a:p>
        </p:txBody>
      </p:sp>
      <p:sp>
        <p:nvSpPr>
          <p:cNvPr id="77" name="文本框 76"/>
          <p:cNvSpPr txBox="1"/>
          <p:nvPr/>
        </p:nvSpPr>
        <p:spPr>
          <a:xfrm>
            <a:off x="9754227" y="2926081"/>
            <a:ext cx="1216549"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循环模块</a:t>
            </a:r>
          </a:p>
        </p:txBody>
      </p:sp>
      <p:sp>
        <p:nvSpPr>
          <p:cNvPr id="79" name="文本框 78"/>
          <p:cNvSpPr txBox="1"/>
          <p:nvPr/>
        </p:nvSpPr>
        <p:spPr>
          <a:xfrm>
            <a:off x="4055168" y="2629565"/>
            <a:ext cx="99391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0B050"/>
                </a:solidFill>
                <a:effectLst/>
                <a:uLnTx/>
                <a:uFillTx/>
                <a:latin typeface="Perpetua"/>
                <a:ea typeface="宋体" panose="02010600030101010101" pitchFamily="2" charset="-122"/>
                <a:cs typeface="+mn-cs"/>
              </a:rPr>
              <a:t>全连接</a:t>
            </a:r>
          </a:p>
        </p:txBody>
      </p:sp>
      <mc:AlternateContent xmlns:mc="http://schemas.openxmlformats.org/markup-compatibility/2006" xmlns:a14="http://schemas.microsoft.com/office/drawing/2010/main">
        <mc:Choice Requires="a14">
          <p:sp>
            <p:nvSpPr>
              <p:cNvPr id="81" name="矩形 80"/>
              <p:cNvSpPr/>
              <p:nvPr/>
            </p:nvSpPr>
            <p:spPr>
              <a:xfrm>
                <a:off x="1460946" y="4885255"/>
                <a:ext cx="7344356" cy="824008"/>
              </a:xfrm>
              <a:prstGeom prst="rect">
                <a:avLst/>
              </a:prstGeom>
            </p:spPr>
            <p:txBody>
              <a:bodyPr wrap="square">
                <a:spAutoFit/>
              </a:bodyPr>
              <a:lstStyle/>
              <a:p>
                <a:pPr lvl="0">
                  <a:defRPr/>
                </a:pPr>
                <a14:m>
                  <m:oMathPara xmlns:m="http://schemas.openxmlformats.org/officeDocument/2006/math">
                    <m:oMathParaPr>
                      <m:jc m:val="centerGroup"/>
                    </m:oMathParaPr>
                    <m:oMath xmlns:m="http://schemas.openxmlformats.org/officeDocument/2006/math">
                      <m:eqArr>
                        <m:eqArrPr>
                          <m:ctrlPr>
                            <a:rPr lang="zh-CN" altLang="en-US" i="1" smtClean="0">
                              <a:solidFill>
                                <a:prstClr val="black"/>
                              </a:solidFill>
                              <a:latin typeface="Cambria Math" panose="02040503050406030204" pitchFamily="18" charset="0"/>
                            </a:rPr>
                          </m:ctrlPr>
                        </m:eqArrPr>
                        <m:e>
                          <m:sSubSup>
                            <m:sSubSupPr>
                              <m:ctrlPr>
                                <a:rPr lang="zh-CN" altLang="en-US" i="1">
                                  <a:solidFill>
                                    <a:prstClr val="black"/>
                                  </a:solidFill>
                                  <a:latin typeface="Cambria Math" panose="02040503050406030204" pitchFamily="18" charset="0"/>
                                </a:rPr>
                              </m:ctrlPr>
                            </m:sSubSupPr>
                            <m:e>
                              <m:r>
                                <a:rPr lang="zh-CN" altLang="en-US" i="1">
                                  <a:solidFill>
                                    <a:prstClr val="black"/>
                                  </a:solidFill>
                                  <a:latin typeface="Cambria Math" panose="02040503050406030204" pitchFamily="18" charset="0"/>
                                </a:rPr>
                                <m:t>h</m:t>
                              </m:r>
                            </m:e>
                            <m:sub>
                              <m:r>
                                <a:rPr lang="zh-CN" altLang="en-US" i="1">
                                  <a:solidFill>
                                    <a:prstClr val="black"/>
                                  </a:solidFill>
                                  <a:latin typeface="Cambria Math" panose="02040503050406030204" pitchFamily="18" charset="0"/>
                                </a:rPr>
                                <m:t>𝑘</m:t>
                              </m:r>
                            </m:sub>
                            <m:sup>
                              <m:r>
                                <a:rPr lang="zh-CN" altLang="en-US" i="1">
                                  <a:solidFill>
                                    <a:prstClr val="black"/>
                                  </a:solidFill>
                                  <a:latin typeface="Cambria Math" panose="02040503050406030204" pitchFamily="18" charset="0"/>
                                </a:rPr>
                                <m:t>𝑖</m:t>
                              </m:r>
                            </m:sup>
                          </m:sSubSup>
                          <m:r>
                            <a:rPr lang="en-US" altLang="zh-CN" i="1">
                              <a:solidFill>
                                <a:prstClr val="black"/>
                              </a:solidFill>
                              <a:latin typeface="Cambria Math" panose="02040503050406030204" pitchFamily="18" charset="0"/>
                            </a:rPr>
                            <m:t>=</m:t>
                          </m:r>
                          <m:r>
                            <m:rPr>
                              <m:sty m:val="p"/>
                            </m:rPr>
                            <a:rPr lang="zh-CN" altLang="en-US">
                              <a:solidFill>
                                <a:prstClr val="black"/>
                              </a:solidFill>
                              <a:latin typeface="Cambria Math" panose="02040503050406030204" pitchFamily="18" charset="0"/>
                            </a:rPr>
                            <m:t>tan</m:t>
                          </m:r>
                          <m:func>
                            <m:funcPr>
                              <m:ctrlPr>
                                <a:rPr lang="zh-CN" altLang="en-US" i="1">
                                  <a:solidFill>
                                    <a:prstClr val="black"/>
                                  </a:solidFill>
                                  <a:latin typeface="Cambria Math" panose="02040503050406030204" pitchFamily="18" charset="0"/>
                                </a:rPr>
                              </m:ctrlPr>
                            </m:funcPr>
                            <m:fName>
                              <m:r>
                                <m:rPr>
                                  <m:sty m:val="p"/>
                                </m:rPr>
                                <a:rPr lang="zh-CN" altLang="en-US">
                                  <a:solidFill>
                                    <a:prstClr val="black"/>
                                  </a:solidFill>
                                  <a:latin typeface="Cambria Math" panose="02040503050406030204" pitchFamily="18" charset="0"/>
                                </a:rPr>
                                <m:t>h</m:t>
                              </m:r>
                            </m:fName>
                            <m:e>
                              <m:r>
                                <a:rPr lang="zh-CN" altLang="en-US">
                                  <a:solidFill>
                                    <a:prstClr val="black"/>
                                  </a:solidFill>
                                  <a:latin typeface="Cambria Math" panose="02040503050406030204" pitchFamily="18" charset="0"/>
                                </a:rPr>
                                <m:t>(</m:t>
                              </m:r>
                            </m:e>
                          </m:func>
                          <m:sSub>
                            <m:sSubPr>
                              <m:ctrlPr>
                                <a:rPr lang="zh-CN" altLang="en-US" i="1">
                                  <a:solidFill>
                                    <a:prstClr val="black"/>
                                  </a:solidFill>
                                  <a:latin typeface="Cambria Math" panose="02040503050406030204" pitchFamily="18" charset="0"/>
                                </a:rPr>
                              </m:ctrlPr>
                            </m:sSubPr>
                            <m:e>
                              <m:r>
                                <a:rPr lang="zh-CN" altLang="en-US" i="1">
                                  <a:solidFill>
                                    <a:prstClr val="black"/>
                                  </a:solidFill>
                                  <a:latin typeface="Cambria Math" panose="02040503050406030204" pitchFamily="18" charset="0"/>
                                </a:rPr>
                                <m:t>𝑤</m:t>
                              </m:r>
                            </m:e>
                            <m:sub>
                              <m:r>
                                <a:rPr lang="zh-CN" altLang="en-US" i="1">
                                  <a:solidFill>
                                    <a:prstClr val="black"/>
                                  </a:solidFill>
                                  <a:latin typeface="Cambria Math" panose="02040503050406030204" pitchFamily="18" charset="0"/>
                                </a:rPr>
                                <m:t>𝑘</m:t>
                              </m:r>
                              <m:r>
                                <a:rPr lang="zh-CN" altLang="en-US">
                                  <a:solidFill>
                                    <a:prstClr val="black"/>
                                  </a:solidFill>
                                  <a:latin typeface="Cambria Math" panose="02040503050406030204" pitchFamily="18" charset="0"/>
                                </a:rPr>
                                <m:t>,1</m:t>
                              </m:r>
                            </m:sub>
                          </m:sSub>
                          <m:r>
                            <a:rPr lang="zh-CN" altLang="en-US">
                              <a:solidFill>
                                <a:prstClr val="black"/>
                              </a:solidFill>
                              <a:latin typeface="Cambria Math" panose="02040503050406030204" pitchFamily="18" charset="0"/>
                            </a:rPr>
                            <m:t>·</m:t>
                          </m:r>
                          <m:sSubSup>
                            <m:sSubSupPr>
                              <m:ctrlPr>
                                <a:rPr lang="zh-CN" altLang="en-US" i="1">
                                  <a:solidFill>
                                    <a:prstClr val="black"/>
                                  </a:solidFill>
                                  <a:latin typeface="Cambria Math" panose="02040503050406030204" pitchFamily="18" charset="0"/>
                                </a:rPr>
                              </m:ctrlPr>
                            </m:sSubSupPr>
                            <m:e>
                              <m:r>
                                <a:rPr lang="zh-CN" altLang="en-US" i="1">
                                  <a:solidFill>
                                    <a:prstClr val="black"/>
                                  </a:solidFill>
                                  <a:latin typeface="Cambria Math" panose="02040503050406030204" pitchFamily="18" charset="0"/>
                                </a:rPr>
                                <m:t>h</m:t>
                              </m:r>
                            </m:e>
                            <m:sub>
                              <m:r>
                                <a:rPr lang="zh-CN" altLang="en-US">
                                  <a:solidFill>
                                    <a:prstClr val="black"/>
                                  </a:solidFill>
                                  <a:latin typeface="Cambria Math" panose="02040503050406030204" pitchFamily="18" charset="0"/>
                                </a:rPr>
                                <m:t>1</m:t>
                              </m:r>
                            </m:sub>
                            <m:sup>
                              <m:d>
                                <m:dPr>
                                  <m:ctrlPr>
                                    <a:rPr lang="zh-CN" altLang="en-US" i="1">
                                      <a:solidFill>
                                        <a:prstClr val="black"/>
                                      </a:solidFill>
                                      <a:latin typeface="Cambria Math" panose="02040503050406030204" pitchFamily="18" charset="0"/>
                                    </a:rPr>
                                  </m:ctrlPr>
                                </m:dPr>
                                <m:e>
                                  <m:r>
                                    <a:rPr lang="zh-CN" altLang="en-US" i="1">
                                      <a:solidFill>
                                        <a:prstClr val="black"/>
                                      </a:solidFill>
                                      <a:latin typeface="Cambria Math" panose="02040503050406030204" pitchFamily="18" charset="0"/>
                                    </a:rPr>
                                    <m:t>𝑖</m:t>
                                  </m:r>
                                  <m:r>
                                    <a:rPr lang="zh-CN" altLang="en-US">
                                      <a:solidFill>
                                        <a:prstClr val="black"/>
                                      </a:solidFill>
                                      <a:latin typeface="Cambria Math" panose="02040503050406030204" pitchFamily="18" charset="0"/>
                                    </a:rPr>
                                    <m:t>−1</m:t>
                                  </m:r>
                                </m:e>
                              </m:d>
                            </m:sup>
                          </m:sSubSup>
                          <m:r>
                            <a:rPr lang="zh-CN" altLang="en-US">
                              <a:solidFill>
                                <a:prstClr val="black"/>
                              </a:solidFill>
                              <a:latin typeface="Cambria Math" panose="02040503050406030204" pitchFamily="18" charset="0"/>
                            </a:rPr>
                            <m:t>+</m:t>
                          </m:r>
                          <m:sSub>
                            <m:sSubPr>
                              <m:ctrlPr>
                                <a:rPr lang="zh-CN" altLang="en-US" i="1">
                                  <a:solidFill>
                                    <a:prstClr val="black"/>
                                  </a:solidFill>
                                  <a:latin typeface="Cambria Math" panose="02040503050406030204" pitchFamily="18" charset="0"/>
                                </a:rPr>
                              </m:ctrlPr>
                            </m:sSubPr>
                            <m:e>
                              <m:r>
                                <a:rPr lang="zh-CN" altLang="en-US" i="1">
                                  <a:solidFill>
                                    <a:prstClr val="black"/>
                                  </a:solidFill>
                                  <a:latin typeface="Cambria Math" panose="02040503050406030204" pitchFamily="18" charset="0"/>
                                </a:rPr>
                                <m:t>𝑤</m:t>
                              </m:r>
                            </m:e>
                            <m:sub>
                              <m:r>
                                <a:rPr lang="zh-CN" altLang="en-US" i="1">
                                  <a:solidFill>
                                    <a:prstClr val="black"/>
                                  </a:solidFill>
                                  <a:latin typeface="Cambria Math" panose="02040503050406030204" pitchFamily="18" charset="0"/>
                                </a:rPr>
                                <m:t>𝑘</m:t>
                              </m:r>
                              <m:r>
                                <a:rPr lang="zh-CN" altLang="en-US">
                                  <a:solidFill>
                                    <a:prstClr val="black"/>
                                  </a:solidFill>
                                  <a:latin typeface="Cambria Math" panose="02040503050406030204" pitchFamily="18" charset="0"/>
                                </a:rPr>
                                <m:t>,2</m:t>
                              </m:r>
                            </m:sub>
                          </m:sSub>
                          <m:r>
                            <a:rPr lang="zh-CN" altLang="en-US">
                              <a:solidFill>
                                <a:prstClr val="black"/>
                              </a:solidFill>
                              <a:latin typeface="Cambria Math" panose="02040503050406030204" pitchFamily="18" charset="0"/>
                            </a:rPr>
                            <m:t>·</m:t>
                          </m:r>
                          <m:sSubSup>
                            <m:sSubSupPr>
                              <m:ctrlPr>
                                <a:rPr lang="zh-CN" altLang="en-US" i="1">
                                  <a:solidFill>
                                    <a:prstClr val="black"/>
                                  </a:solidFill>
                                  <a:latin typeface="Cambria Math" panose="02040503050406030204" pitchFamily="18" charset="0"/>
                                </a:rPr>
                              </m:ctrlPr>
                            </m:sSubSupPr>
                            <m:e>
                              <m:r>
                                <a:rPr lang="zh-CN" altLang="en-US" i="1">
                                  <a:solidFill>
                                    <a:prstClr val="black"/>
                                  </a:solidFill>
                                  <a:latin typeface="Cambria Math" panose="02040503050406030204" pitchFamily="18" charset="0"/>
                                </a:rPr>
                                <m:t>h</m:t>
                              </m:r>
                            </m:e>
                            <m:sub>
                              <m:r>
                                <a:rPr lang="zh-CN" altLang="en-US">
                                  <a:solidFill>
                                    <a:prstClr val="black"/>
                                  </a:solidFill>
                                  <a:latin typeface="Cambria Math" panose="02040503050406030204" pitchFamily="18" charset="0"/>
                                </a:rPr>
                                <m:t>2</m:t>
                              </m:r>
                            </m:sub>
                            <m:sup>
                              <m:d>
                                <m:dPr>
                                  <m:ctrlPr>
                                    <a:rPr lang="zh-CN" altLang="en-US" i="1">
                                      <a:solidFill>
                                        <a:prstClr val="black"/>
                                      </a:solidFill>
                                      <a:latin typeface="Cambria Math" panose="02040503050406030204" pitchFamily="18" charset="0"/>
                                    </a:rPr>
                                  </m:ctrlPr>
                                </m:dPr>
                                <m:e>
                                  <m:r>
                                    <a:rPr lang="zh-CN" altLang="en-US" i="1">
                                      <a:solidFill>
                                        <a:prstClr val="black"/>
                                      </a:solidFill>
                                      <a:latin typeface="Cambria Math" panose="02040503050406030204" pitchFamily="18" charset="0"/>
                                    </a:rPr>
                                    <m:t>𝑖</m:t>
                                  </m:r>
                                  <m:r>
                                    <a:rPr lang="zh-CN" altLang="en-US">
                                      <a:solidFill>
                                        <a:prstClr val="black"/>
                                      </a:solidFill>
                                      <a:latin typeface="Cambria Math" panose="02040503050406030204" pitchFamily="18" charset="0"/>
                                    </a:rPr>
                                    <m:t>−1</m:t>
                                  </m:r>
                                </m:e>
                              </m:d>
                            </m:sup>
                          </m:sSubSup>
                          <m:r>
                            <a:rPr lang="zh-CN" altLang="en-US">
                              <a:solidFill>
                                <a:prstClr val="black"/>
                              </a:solidFill>
                              <a:latin typeface="Cambria Math" panose="02040503050406030204" pitchFamily="18" charset="0"/>
                            </a:rPr>
                            <m:t>+…+</m:t>
                          </m:r>
                          <m:sSub>
                            <m:sSubPr>
                              <m:ctrlPr>
                                <a:rPr lang="zh-CN" altLang="en-US" i="1">
                                  <a:solidFill>
                                    <a:prstClr val="black"/>
                                  </a:solidFill>
                                  <a:latin typeface="Cambria Math" panose="02040503050406030204" pitchFamily="18" charset="0"/>
                                </a:rPr>
                              </m:ctrlPr>
                            </m:sSubPr>
                            <m:e>
                              <m:r>
                                <a:rPr lang="zh-CN" altLang="en-US" i="1">
                                  <a:solidFill>
                                    <a:prstClr val="black"/>
                                  </a:solidFill>
                                  <a:latin typeface="Cambria Math" panose="02040503050406030204" pitchFamily="18" charset="0"/>
                                </a:rPr>
                                <m:t>𝑤</m:t>
                              </m:r>
                            </m:e>
                            <m:sub>
                              <m:r>
                                <a:rPr lang="zh-CN" altLang="en-US" i="1">
                                  <a:solidFill>
                                    <a:prstClr val="black"/>
                                  </a:solidFill>
                                  <a:latin typeface="Cambria Math" panose="02040503050406030204" pitchFamily="18" charset="0"/>
                                </a:rPr>
                                <m:t>𝑘</m:t>
                              </m:r>
                              <m:r>
                                <a:rPr lang="zh-CN" altLang="en-US">
                                  <a:solidFill>
                                    <a:prstClr val="black"/>
                                  </a:solidFill>
                                  <a:latin typeface="Cambria Math" panose="02040503050406030204" pitchFamily="18" charset="0"/>
                                </a:rPr>
                                <m:t>,</m:t>
                              </m:r>
                              <m:r>
                                <a:rPr lang="zh-CN" altLang="en-US" i="1">
                                  <a:solidFill>
                                    <a:prstClr val="black"/>
                                  </a:solidFill>
                                  <a:latin typeface="Cambria Math" panose="02040503050406030204" pitchFamily="18" charset="0"/>
                                </a:rPr>
                                <m:t>𝑚</m:t>
                              </m:r>
                            </m:sub>
                          </m:sSub>
                          <m:r>
                            <a:rPr lang="zh-CN" altLang="en-US">
                              <a:solidFill>
                                <a:prstClr val="black"/>
                              </a:solidFill>
                              <a:latin typeface="Cambria Math" panose="02040503050406030204" pitchFamily="18" charset="0"/>
                            </a:rPr>
                            <m:t>·</m:t>
                          </m:r>
                          <m:sSubSup>
                            <m:sSubSupPr>
                              <m:ctrlPr>
                                <a:rPr lang="zh-CN" altLang="en-US" i="1">
                                  <a:solidFill>
                                    <a:prstClr val="black"/>
                                  </a:solidFill>
                                  <a:latin typeface="Cambria Math" panose="02040503050406030204" pitchFamily="18" charset="0"/>
                                </a:rPr>
                              </m:ctrlPr>
                            </m:sSubSupPr>
                            <m:e>
                              <m:r>
                                <a:rPr lang="zh-CN" altLang="en-US" i="1">
                                  <a:solidFill>
                                    <a:prstClr val="black"/>
                                  </a:solidFill>
                                  <a:latin typeface="Cambria Math" panose="02040503050406030204" pitchFamily="18" charset="0"/>
                                </a:rPr>
                                <m:t>h</m:t>
                              </m:r>
                            </m:e>
                            <m:sub>
                              <m:r>
                                <a:rPr lang="zh-CN" altLang="en-US" i="1">
                                  <a:solidFill>
                                    <a:prstClr val="black"/>
                                  </a:solidFill>
                                  <a:latin typeface="Cambria Math" panose="02040503050406030204" pitchFamily="18" charset="0"/>
                                </a:rPr>
                                <m:t>𝑚</m:t>
                              </m:r>
                            </m:sub>
                            <m:sup>
                              <m:d>
                                <m:dPr>
                                  <m:ctrlPr>
                                    <a:rPr lang="zh-CN" altLang="en-US" i="1">
                                      <a:solidFill>
                                        <a:prstClr val="black"/>
                                      </a:solidFill>
                                      <a:latin typeface="Cambria Math" panose="02040503050406030204" pitchFamily="18" charset="0"/>
                                    </a:rPr>
                                  </m:ctrlPr>
                                </m:dPr>
                                <m:e>
                                  <m:r>
                                    <a:rPr lang="zh-CN" altLang="en-US" i="1">
                                      <a:solidFill>
                                        <a:prstClr val="black"/>
                                      </a:solidFill>
                                      <a:latin typeface="Cambria Math" panose="02040503050406030204" pitchFamily="18" charset="0"/>
                                    </a:rPr>
                                    <m:t>𝑖</m:t>
                                  </m:r>
                                  <m:r>
                                    <a:rPr lang="zh-CN" altLang="en-US">
                                      <a:solidFill>
                                        <a:prstClr val="black"/>
                                      </a:solidFill>
                                      <a:latin typeface="Cambria Math" panose="02040503050406030204" pitchFamily="18" charset="0"/>
                                    </a:rPr>
                                    <m:t>−1</m:t>
                                  </m:r>
                                </m:e>
                              </m:d>
                            </m:sup>
                          </m:sSubSup>
                          <m:r>
                            <a:rPr lang="zh-CN" altLang="en-US">
                              <a:solidFill>
                                <a:prstClr val="black"/>
                              </a:solidFill>
                              <a:latin typeface="Cambria Math" panose="02040503050406030204" pitchFamily="18" charset="0"/>
                            </a:rPr>
                            <m:t>+    </m:t>
                          </m:r>
                        </m:e>
                        <m:e>
                          <m:sSub>
                            <m:sSubPr>
                              <m:ctrlPr>
                                <a:rPr lang="zh-CN" altLang="en-US" i="1">
                                  <a:solidFill>
                                    <a:prstClr val="black"/>
                                  </a:solidFill>
                                  <a:latin typeface="Cambria Math" panose="02040503050406030204" pitchFamily="18" charset="0"/>
                                </a:rPr>
                              </m:ctrlPr>
                            </m:sSubPr>
                            <m:e>
                              <m:r>
                                <a:rPr lang="zh-CN" altLang="en-US" i="1">
                                  <a:solidFill>
                                    <a:prstClr val="black"/>
                                  </a:solidFill>
                                  <a:latin typeface="Cambria Math" panose="02040503050406030204" pitchFamily="18" charset="0"/>
                                </a:rPr>
                                <m:t>𝑢</m:t>
                              </m:r>
                            </m:e>
                            <m:sub>
                              <m:r>
                                <a:rPr lang="zh-CN" altLang="en-US" i="1">
                                  <a:solidFill>
                                    <a:prstClr val="black"/>
                                  </a:solidFill>
                                  <a:latin typeface="Cambria Math" panose="02040503050406030204" pitchFamily="18" charset="0"/>
                                </a:rPr>
                                <m:t>𝑘</m:t>
                              </m:r>
                              <m:r>
                                <a:rPr lang="zh-CN" altLang="en-US">
                                  <a:solidFill>
                                    <a:prstClr val="black"/>
                                  </a:solidFill>
                                  <a:latin typeface="Cambria Math" panose="02040503050406030204" pitchFamily="18" charset="0"/>
                                </a:rPr>
                                <m:t>,1</m:t>
                              </m:r>
                            </m:sub>
                          </m:sSub>
                          <m:r>
                            <a:rPr lang="zh-CN" altLang="en-US">
                              <a:solidFill>
                                <a:prstClr val="black"/>
                              </a:solidFill>
                              <a:latin typeface="Cambria Math" panose="02040503050406030204" pitchFamily="18" charset="0"/>
                            </a:rPr>
                            <m:t>·</m:t>
                          </m:r>
                          <m:sSubSup>
                            <m:sSubSupPr>
                              <m:ctrlPr>
                                <a:rPr lang="zh-CN" altLang="en-US" i="1">
                                  <a:solidFill>
                                    <a:prstClr val="black"/>
                                  </a:solidFill>
                                  <a:latin typeface="Cambria Math" panose="02040503050406030204" pitchFamily="18" charset="0"/>
                                </a:rPr>
                              </m:ctrlPr>
                            </m:sSubSupPr>
                            <m:e>
                              <m:r>
                                <a:rPr lang="zh-CN" altLang="en-US" i="1">
                                  <a:solidFill>
                                    <a:prstClr val="black"/>
                                  </a:solidFill>
                                  <a:latin typeface="Cambria Math" panose="02040503050406030204" pitchFamily="18" charset="0"/>
                                </a:rPr>
                                <m:t>𝑥</m:t>
                              </m:r>
                            </m:e>
                            <m:sub>
                              <m:r>
                                <a:rPr lang="zh-CN" altLang="en-US">
                                  <a:solidFill>
                                    <a:prstClr val="black"/>
                                  </a:solidFill>
                                  <a:latin typeface="Cambria Math" panose="02040503050406030204" pitchFamily="18" charset="0"/>
                                </a:rPr>
                                <m:t>1</m:t>
                              </m:r>
                            </m:sub>
                            <m:sup>
                              <m:d>
                                <m:dPr>
                                  <m:ctrlPr>
                                    <a:rPr lang="zh-CN" altLang="en-US" i="1">
                                      <a:solidFill>
                                        <a:prstClr val="black"/>
                                      </a:solidFill>
                                      <a:latin typeface="Cambria Math" panose="02040503050406030204" pitchFamily="18" charset="0"/>
                                    </a:rPr>
                                  </m:ctrlPr>
                                </m:dPr>
                                <m:e>
                                  <m:r>
                                    <a:rPr lang="zh-CN" altLang="en-US" i="1">
                                      <a:solidFill>
                                        <a:prstClr val="black"/>
                                      </a:solidFill>
                                      <a:latin typeface="Cambria Math" panose="02040503050406030204" pitchFamily="18" charset="0"/>
                                    </a:rPr>
                                    <m:t>𝑖</m:t>
                                  </m:r>
                                </m:e>
                              </m:d>
                            </m:sup>
                          </m:sSubSup>
                          <m:r>
                            <a:rPr lang="zh-CN" altLang="en-US">
                              <a:solidFill>
                                <a:prstClr val="black"/>
                              </a:solidFill>
                              <a:latin typeface="Cambria Math" panose="02040503050406030204" pitchFamily="18" charset="0"/>
                            </a:rPr>
                            <m:t>+</m:t>
                          </m:r>
                          <m:sSub>
                            <m:sSubPr>
                              <m:ctrlPr>
                                <a:rPr lang="zh-CN" altLang="en-US" i="1">
                                  <a:solidFill>
                                    <a:prstClr val="black"/>
                                  </a:solidFill>
                                  <a:latin typeface="Cambria Math" panose="02040503050406030204" pitchFamily="18" charset="0"/>
                                </a:rPr>
                              </m:ctrlPr>
                            </m:sSubPr>
                            <m:e>
                              <m:r>
                                <a:rPr lang="zh-CN" altLang="en-US" i="1">
                                  <a:solidFill>
                                    <a:prstClr val="black"/>
                                  </a:solidFill>
                                  <a:latin typeface="Cambria Math" panose="02040503050406030204" pitchFamily="18" charset="0"/>
                                </a:rPr>
                                <m:t>𝑢</m:t>
                              </m:r>
                            </m:e>
                            <m:sub>
                              <m:r>
                                <a:rPr lang="zh-CN" altLang="en-US" i="1">
                                  <a:solidFill>
                                    <a:prstClr val="black"/>
                                  </a:solidFill>
                                  <a:latin typeface="Cambria Math" panose="02040503050406030204" pitchFamily="18" charset="0"/>
                                </a:rPr>
                                <m:t>𝑘</m:t>
                              </m:r>
                              <m:r>
                                <a:rPr lang="zh-CN" altLang="en-US">
                                  <a:solidFill>
                                    <a:prstClr val="black"/>
                                  </a:solidFill>
                                  <a:latin typeface="Cambria Math" panose="02040503050406030204" pitchFamily="18" charset="0"/>
                                </a:rPr>
                                <m:t>,2</m:t>
                              </m:r>
                            </m:sub>
                          </m:sSub>
                          <m:r>
                            <a:rPr lang="zh-CN" altLang="en-US">
                              <a:solidFill>
                                <a:prstClr val="black"/>
                              </a:solidFill>
                              <a:latin typeface="Cambria Math" panose="02040503050406030204" pitchFamily="18" charset="0"/>
                            </a:rPr>
                            <m:t>·</m:t>
                          </m:r>
                          <m:sSubSup>
                            <m:sSubSupPr>
                              <m:ctrlPr>
                                <a:rPr lang="zh-CN" altLang="en-US" i="1">
                                  <a:solidFill>
                                    <a:prstClr val="black"/>
                                  </a:solidFill>
                                  <a:latin typeface="Cambria Math" panose="02040503050406030204" pitchFamily="18" charset="0"/>
                                </a:rPr>
                              </m:ctrlPr>
                            </m:sSubSupPr>
                            <m:e>
                              <m:r>
                                <a:rPr lang="zh-CN" altLang="en-US" i="1">
                                  <a:solidFill>
                                    <a:prstClr val="black"/>
                                  </a:solidFill>
                                  <a:latin typeface="Cambria Math" panose="02040503050406030204" pitchFamily="18" charset="0"/>
                                </a:rPr>
                                <m:t>𝑥</m:t>
                              </m:r>
                            </m:e>
                            <m:sub>
                              <m:r>
                                <a:rPr lang="zh-CN" altLang="en-US">
                                  <a:solidFill>
                                    <a:prstClr val="black"/>
                                  </a:solidFill>
                                  <a:latin typeface="Cambria Math" panose="02040503050406030204" pitchFamily="18" charset="0"/>
                                </a:rPr>
                                <m:t>2</m:t>
                              </m:r>
                            </m:sub>
                            <m:sup>
                              <m:d>
                                <m:dPr>
                                  <m:ctrlPr>
                                    <a:rPr lang="zh-CN" altLang="en-US" i="1">
                                      <a:solidFill>
                                        <a:prstClr val="black"/>
                                      </a:solidFill>
                                      <a:latin typeface="Cambria Math" panose="02040503050406030204" pitchFamily="18" charset="0"/>
                                    </a:rPr>
                                  </m:ctrlPr>
                                </m:dPr>
                                <m:e>
                                  <m:r>
                                    <a:rPr lang="zh-CN" altLang="en-US" i="1">
                                      <a:solidFill>
                                        <a:prstClr val="black"/>
                                      </a:solidFill>
                                      <a:latin typeface="Cambria Math" panose="02040503050406030204" pitchFamily="18" charset="0"/>
                                    </a:rPr>
                                    <m:t>𝑖</m:t>
                                  </m:r>
                                </m:e>
                              </m:d>
                            </m:sup>
                          </m:sSubSup>
                          <m:r>
                            <a:rPr lang="zh-CN" altLang="en-US">
                              <a:solidFill>
                                <a:prstClr val="black"/>
                              </a:solidFill>
                              <a:latin typeface="Cambria Math" panose="02040503050406030204" pitchFamily="18" charset="0"/>
                            </a:rPr>
                            <m:t>+…+</m:t>
                          </m:r>
                          <m:sSub>
                            <m:sSubPr>
                              <m:ctrlPr>
                                <a:rPr lang="zh-CN" altLang="en-US" i="1">
                                  <a:solidFill>
                                    <a:prstClr val="black"/>
                                  </a:solidFill>
                                  <a:latin typeface="Cambria Math" panose="02040503050406030204" pitchFamily="18" charset="0"/>
                                </a:rPr>
                              </m:ctrlPr>
                            </m:sSubPr>
                            <m:e>
                              <m:r>
                                <a:rPr lang="zh-CN" altLang="en-US" i="1">
                                  <a:solidFill>
                                    <a:prstClr val="black"/>
                                  </a:solidFill>
                                  <a:latin typeface="Cambria Math" panose="02040503050406030204" pitchFamily="18" charset="0"/>
                                </a:rPr>
                                <m:t>𝑢</m:t>
                              </m:r>
                            </m:e>
                            <m:sub>
                              <m:r>
                                <a:rPr lang="zh-CN" altLang="en-US" i="1">
                                  <a:solidFill>
                                    <a:prstClr val="black"/>
                                  </a:solidFill>
                                  <a:latin typeface="Cambria Math" panose="02040503050406030204" pitchFamily="18" charset="0"/>
                                </a:rPr>
                                <m:t>𝑘</m:t>
                              </m:r>
                              <m:r>
                                <a:rPr lang="zh-CN" altLang="en-US">
                                  <a:solidFill>
                                    <a:prstClr val="black"/>
                                  </a:solidFill>
                                  <a:latin typeface="Cambria Math" panose="02040503050406030204" pitchFamily="18" charset="0"/>
                                </a:rPr>
                                <m:t>,</m:t>
                              </m:r>
                              <m:r>
                                <a:rPr lang="zh-CN" altLang="en-US" i="1">
                                  <a:solidFill>
                                    <a:prstClr val="black"/>
                                  </a:solidFill>
                                  <a:latin typeface="Cambria Math" panose="02040503050406030204" pitchFamily="18" charset="0"/>
                                </a:rPr>
                                <m:t>𝑛</m:t>
                              </m:r>
                            </m:sub>
                          </m:sSub>
                          <m:r>
                            <a:rPr lang="zh-CN" altLang="en-US">
                              <a:solidFill>
                                <a:prstClr val="black"/>
                              </a:solidFill>
                              <a:latin typeface="Cambria Math" panose="02040503050406030204" pitchFamily="18" charset="0"/>
                            </a:rPr>
                            <m:t>·</m:t>
                          </m:r>
                          <m:sSubSup>
                            <m:sSubSupPr>
                              <m:ctrlPr>
                                <a:rPr lang="zh-CN" altLang="en-US" i="1">
                                  <a:solidFill>
                                    <a:prstClr val="black"/>
                                  </a:solidFill>
                                  <a:latin typeface="Cambria Math" panose="02040503050406030204" pitchFamily="18" charset="0"/>
                                </a:rPr>
                              </m:ctrlPr>
                            </m:sSubSupPr>
                            <m:e>
                              <m:r>
                                <a:rPr lang="zh-CN" altLang="en-US" i="1">
                                  <a:solidFill>
                                    <a:prstClr val="black"/>
                                  </a:solidFill>
                                  <a:latin typeface="Cambria Math" panose="02040503050406030204" pitchFamily="18" charset="0"/>
                                </a:rPr>
                                <m:t>𝑥</m:t>
                              </m:r>
                            </m:e>
                            <m:sub>
                              <m:r>
                                <a:rPr lang="zh-CN" altLang="en-US" i="1">
                                  <a:solidFill>
                                    <a:prstClr val="black"/>
                                  </a:solidFill>
                                  <a:latin typeface="Cambria Math" panose="02040503050406030204" pitchFamily="18" charset="0"/>
                                </a:rPr>
                                <m:t>𝑛</m:t>
                              </m:r>
                            </m:sub>
                            <m:sup>
                              <m:d>
                                <m:dPr>
                                  <m:ctrlPr>
                                    <a:rPr lang="zh-CN" altLang="en-US" i="1">
                                      <a:solidFill>
                                        <a:prstClr val="black"/>
                                      </a:solidFill>
                                      <a:latin typeface="Cambria Math" panose="02040503050406030204" pitchFamily="18" charset="0"/>
                                    </a:rPr>
                                  </m:ctrlPr>
                                </m:dPr>
                                <m:e>
                                  <m:r>
                                    <a:rPr lang="zh-CN" altLang="en-US" i="1">
                                      <a:solidFill>
                                        <a:prstClr val="black"/>
                                      </a:solidFill>
                                      <a:latin typeface="Cambria Math" panose="02040503050406030204" pitchFamily="18" charset="0"/>
                                    </a:rPr>
                                    <m:t>𝑖</m:t>
                                  </m:r>
                                </m:e>
                              </m:d>
                            </m:sup>
                          </m:sSubSup>
                          <m:r>
                            <a:rPr lang="en-US" altLang="zh-CN" b="0" i="1" smtClean="0">
                              <a:solidFill>
                                <a:prstClr val="black"/>
                              </a:solidFill>
                              <a:latin typeface="Cambria Math" panose="02040503050406030204" pitchFamily="18" charset="0"/>
                            </a:rPr>
                            <m:t>)</m:t>
                          </m:r>
                        </m:e>
                      </m:eqArr>
                    </m:oMath>
                  </m:oMathPara>
                </a14:m>
                <a:endParaRPr kumimoji="0" lang="zh-CN" altLang="en-US" sz="18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mc:Choice>
        <mc:Fallback xmlns="">
          <p:sp>
            <p:nvSpPr>
              <p:cNvPr id="81" name="矩形 80"/>
              <p:cNvSpPr>
                <a:spLocks noRot="1" noChangeAspect="1" noMove="1" noResize="1" noEditPoints="1" noAdjustHandles="1" noChangeArrowheads="1" noChangeShapeType="1" noTextEdit="1"/>
              </p:cNvSpPr>
              <p:nvPr/>
            </p:nvSpPr>
            <p:spPr>
              <a:xfrm>
                <a:off x="1460946" y="4885255"/>
                <a:ext cx="7344356" cy="824008"/>
              </a:xfrm>
              <a:prstGeom prst="rect">
                <a:avLst/>
              </a:prstGeom>
              <a:blipFill>
                <a:blip r:embed="rId5"/>
                <a:stretch>
                  <a:fillRect/>
                </a:stretch>
              </a:blipFill>
            </p:spPr>
            <p:txBody>
              <a:bodyPr/>
              <a:lstStyle/>
              <a:p>
                <a:r>
                  <a:rPr lang="zh-CN" altLang="en-US">
                    <a:noFill/>
                  </a:rPr>
                  <a:t> </a:t>
                </a:r>
              </a:p>
            </p:txBody>
          </p:sp>
        </mc:Fallback>
      </mc:AlternateContent>
      <p:grpSp>
        <p:nvGrpSpPr>
          <p:cNvPr id="2" name="组合 1"/>
          <p:cNvGrpSpPr/>
          <p:nvPr/>
        </p:nvGrpSpPr>
        <p:grpSpPr>
          <a:xfrm>
            <a:off x="939455" y="772433"/>
            <a:ext cx="7270156" cy="5349865"/>
            <a:chOff x="939455" y="772433"/>
            <a:chExt cx="7270156" cy="5349865"/>
          </a:xfrm>
        </p:grpSpPr>
        <p:cxnSp>
          <p:nvCxnSpPr>
            <p:cNvPr id="14" name="直接箭头连接符 13"/>
            <p:cNvCxnSpPr>
              <a:stCxn id="16" idx="6"/>
            </p:cNvCxnSpPr>
            <p:nvPr/>
          </p:nvCxnSpPr>
          <p:spPr>
            <a:xfrm>
              <a:off x="4684125" y="2180983"/>
              <a:ext cx="2962001" cy="1360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椭圆 14"/>
            <p:cNvSpPr/>
            <p:nvPr/>
          </p:nvSpPr>
          <p:spPr>
            <a:xfrm>
              <a:off x="4180125" y="2904340"/>
              <a:ext cx="504000" cy="504000"/>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 name="椭圆 15"/>
            <p:cNvSpPr/>
            <p:nvPr/>
          </p:nvSpPr>
          <p:spPr>
            <a:xfrm>
              <a:off x="4180125" y="1928983"/>
              <a:ext cx="504000" cy="504000"/>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p:txBody>
        </p:sp>
        <p:cxnSp>
          <p:nvCxnSpPr>
            <p:cNvPr id="17" name="直接箭头连接符 16"/>
            <p:cNvCxnSpPr>
              <a:stCxn id="15" idx="0"/>
              <a:endCxn id="16" idx="4"/>
            </p:cNvCxnSpPr>
            <p:nvPr/>
          </p:nvCxnSpPr>
          <p:spPr>
            <a:xfrm flipV="1">
              <a:off x="4432125" y="2432983"/>
              <a:ext cx="0" cy="47135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a:endCxn id="15" idx="4"/>
            </p:cNvCxnSpPr>
            <p:nvPr/>
          </p:nvCxnSpPr>
          <p:spPr>
            <a:xfrm flipV="1">
              <a:off x="4432125" y="3408340"/>
              <a:ext cx="0" cy="48823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椭圆 18"/>
            <p:cNvSpPr/>
            <p:nvPr/>
          </p:nvSpPr>
          <p:spPr>
            <a:xfrm>
              <a:off x="5842288" y="2904340"/>
              <a:ext cx="576000" cy="504000"/>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tanh</a:t>
              </a: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0" name="椭圆 19"/>
            <p:cNvSpPr/>
            <p:nvPr/>
          </p:nvSpPr>
          <p:spPr>
            <a:xfrm>
              <a:off x="5879452" y="3866606"/>
              <a:ext cx="504000" cy="533969"/>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1" name="椭圆 20"/>
            <p:cNvSpPr/>
            <p:nvPr/>
          </p:nvSpPr>
          <p:spPr>
            <a:xfrm>
              <a:off x="2466228" y="1932275"/>
              <a:ext cx="504000" cy="504000"/>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2" name="圆角矩形 21"/>
            <p:cNvSpPr/>
            <p:nvPr/>
          </p:nvSpPr>
          <p:spPr>
            <a:xfrm>
              <a:off x="2185851" y="1724297"/>
              <a:ext cx="4998720" cy="3535680"/>
            </a:xfrm>
            <a:prstGeom prst="roundRect">
              <a:avLst/>
            </a:prstGeom>
            <a:noFill/>
            <a:ln w="3810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23" name="直接箭头连接符 22"/>
            <p:cNvCxnSpPr>
              <a:stCxn id="52" idx="0"/>
              <a:endCxn id="21" idx="4"/>
            </p:cNvCxnSpPr>
            <p:nvPr/>
          </p:nvCxnSpPr>
          <p:spPr>
            <a:xfrm flipV="1">
              <a:off x="2715102" y="2436275"/>
              <a:ext cx="3126" cy="148176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a:stCxn id="55" idx="0"/>
              <a:endCxn id="15" idx="3"/>
            </p:cNvCxnSpPr>
            <p:nvPr/>
          </p:nvCxnSpPr>
          <p:spPr>
            <a:xfrm flipV="1">
              <a:off x="3555483" y="3334531"/>
              <a:ext cx="698451" cy="58785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a:stCxn id="59" idx="3"/>
              <a:endCxn id="20" idx="2"/>
            </p:cNvCxnSpPr>
            <p:nvPr/>
          </p:nvCxnSpPr>
          <p:spPr>
            <a:xfrm>
              <a:off x="5554147" y="4117775"/>
              <a:ext cx="325305" cy="1581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a:endCxn id="19" idx="0"/>
            </p:cNvCxnSpPr>
            <p:nvPr/>
          </p:nvCxnSpPr>
          <p:spPr>
            <a:xfrm flipH="1">
              <a:off x="6130288" y="2194591"/>
              <a:ext cx="9255" cy="70974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a:stCxn id="19" idx="4"/>
              <a:endCxn id="20" idx="0"/>
            </p:cNvCxnSpPr>
            <p:nvPr/>
          </p:nvCxnSpPr>
          <p:spPr>
            <a:xfrm>
              <a:off x="6130288" y="3408340"/>
              <a:ext cx="1164" cy="45826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a:off x="2165611" y="4758291"/>
              <a:ext cx="2903933" cy="22740"/>
            </a:xfrm>
            <a:prstGeom prst="straightConnector1">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a:xfrm flipV="1">
              <a:off x="2472949" y="4318147"/>
              <a:ext cx="130915" cy="42954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p:nvPr/>
          </p:nvCxnSpPr>
          <p:spPr>
            <a:xfrm flipV="1">
              <a:off x="3328387" y="4316231"/>
              <a:ext cx="167678" cy="44701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a:xfrm flipV="1">
              <a:off x="4175854" y="4339612"/>
              <a:ext cx="163452" cy="44138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nvCxnSpPr>
          <p:spPr>
            <a:xfrm flipV="1">
              <a:off x="5067255" y="4333649"/>
              <a:ext cx="118431" cy="44735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p:nvPr/>
          </p:nvCxnSpPr>
          <p:spPr>
            <a:xfrm>
              <a:off x="2735156" y="5000580"/>
              <a:ext cx="2577352" cy="7576"/>
            </a:xfrm>
            <a:prstGeom prst="straightConnector1">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p:nvPr/>
          </p:nvCxnSpPr>
          <p:spPr>
            <a:xfrm flipV="1">
              <a:off x="1724296" y="2194928"/>
              <a:ext cx="466176" cy="572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a:xfrm flipV="1">
              <a:off x="1718009" y="4747693"/>
              <a:ext cx="466176" cy="572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p:nvPr/>
          </p:nvCxnSpPr>
          <p:spPr>
            <a:xfrm flipV="1">
              <a:off x="3598252" y="4325242"/>
              <a:ext cx="7375" cy="68291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a:endCxn id="52" idx="2"/>
            </p:cNvCxnSpPr>
            <p:nvPr/>
          </p:nvCxnSpPr>
          <p:spPr>
            <a:xfrm flipV="1">
              <a:off x="2714914" y="4318147"/>
              <a:ext cx="188" cy="118951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p:nvPr/>
          </p:nvCxnSpPr>
          <p:spPr>
            <a:xfrm flipV="1">
              <a:off x="4412412" y="4315655"/>
              <a:ext cx="6597" cy="69250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p:nvPr/>
          </p:nvCxnSpPr>
          <p:spPr>
            <a:xfrm flipV="1">
              <a:off x="5292349" y="4326539"/>
              <a:ext cx="4216" cy="65947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a:stCxn id="20" idx="4"/>
            </p:cNvCxnSpPr>
            <p:nvPr/>
          </p:nvCxnSpPr>
          <p:spPr>
            <a:xfrm>
              <a:off x="6131452" y="4400575"/>
              <a:ext cx="7545" cy="389134"/>
            </a:xfrm>
            <a:prstGeom prst="straightConnector1">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p:nvPr/>
          </p:nvCxnSpPr>
          <p:spPr>
            <a:xfrm flipV="1">
              <a:off x="6119294" y="4749025"/>
              <a:ext cx="1402062" cy="3350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p:nvPr/>
          </p:nvCxnSpPr>
          <p:spPr>
            <a:xfrm flipH="1" flipV="1">
              <a:off x="6661708" y="2270893"/>
              <a:ext cx="18918" cy="2476801"/>
            </a:xfrm>
            <a:prstGeom prst="straightConnector1">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p:nvPr/>
          </p:nvCxnSpPr>
          <p:spPr>
            <a:xfrm flipV="1">
              <a:off x="6653000" y="1272249"/>
              <a:ext cx="8708" cy="85056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4" name="文本框 43"/>
            <p:cNvSpPr txBox="1"/>
            <p:nvPr/>
          </p:nvSpPr>
          <p:spPr>
            <a:xfrm>
              <a:off x="2507910" y="5660633"/>
              <a:ext cx="55097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x</a:t>
              </a:r>
              <a:r>
                <a:rPr kumimoji="0" lang="en-US" altLang="zh-CN" sz="2400" b="0" i="0" u="none" strike="noStrike" kern="0" cap="none" spc="0" normalizeH="0" baseline="3000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(t)</a:t>
              </a:r>
              <a:endParaRPr kumimoji="0" lang="zh-CN" altLang="en-US" sz="2400" b="0" i="0" u="none" strike="noStrike" kern="0" cap="none" spc="0" normalizeH="0" baseline="3000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5" name="文本框 44"/>
            <p:cNvSpPr txBox="1"/>
            <p:nvPr/>
          </p:nvSpPr>
          <p:spPr>
            <a:xfrm>
              <a:off x="7610535" y="4462440"/>
              <a:ext cx="55097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h</a:t>
              </a:r>
              <a:r>
                <a:rPr kumimoji="0" lang="en-US" altLang="zh-CN" sz="2400" b="0" i="0" u="none" strike="noStrike" kern="0" cap="none" spc="0" normalizeH="0" baseline="3000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(t)</a:t>
              </a:r>
              <a:endParaRPr kumimoji="0" lang="zh-CN" altLang="en-US" sz="2400" b="0" i="0" u="none" strike="noStrike" kern="0" cap="none" spc="0" normalizeH="0" baseline="3000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6" name="文本框 45"/>
            <p:cNvSpPr txBox="1"/>
            <p:nvPr/>
          </p:nvSpPr>
          <p:spPr>
            <a:xfrm>
              <a:off x="6395681" y="772433"/>
              <a:ext cx="55097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h</a:t>
              </a:r>
              <a:r>
                <a:rPr kumimoji="0" lang="en-US" altLang="zh-CN" sz="2400" b="0" i="0" u="none" strike="noStrike" kern="0" cap="none" spc="0" normalizeH="0" baseline="3000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(t)</a:t>
              </a:r>
              <a:endParaRPr kumimoji="0" lang="zh-CN" altLang="en-US" sz="2400" b="0" i="0" u="none" strike="noStrike" kern="0" cap="none" spc="0" normalizeH="0" baseline="3000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7" name="文本框 46"/>
            <p:cNvSpPr txBox="1"/>
            <p:nvPr/>
          </p:nvSpPr>
          <p:spPr>
            <a:xfrm>
              <a:off x="7658640" y="1935172"/>
              <a:ext cx="55097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s</a:t>
              </a:r>
              <a:r>
                <a:rPr kumimoji="0" lang="en-US" altLang="zh-CN" sz="2400" b="0" i="0" u="none" strike="noStrike" kern="0" cap="none" spc="0" normalizeH="0" baseline="3000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(t)</a:t>
              </a:r>
              <a:endParaRPr kumimoji="0" lang="zh-CN" altLang="en-US" sz="2400" b="0" i="0" u="none" strike="noStrike" kern="0" cap="none" spc="0" normalizeH="0" baseline="3000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8" name="文本框 47"/>
            <p:cNvSpPr txBox="1"/>
            <p:nvPr/>
          </p:nvSpPr>
          <p:spPr>
            <a:xfrm>
              <a:off x="939455" y="4528063"/>
              <a:ext cx="64609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h</a:t>
              </a:r>
              <a:r>
                <a:rPr kumimoji="0" lang="en-US" altLang="zh-CN" sz="2400" b="0" i="0" u="none" strike="noStrike" kern="0" cap="none" spc="0" normalizeH="0" baseline="3000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(t-1)</a:t>
              </a:r>
              <a:endParaRPr kumimoji="0" lang="zh-CN" altLang="en-US" sz="2400" b="0" i="0" u="none" strike="noStrike" kern="0" cap="none" spc="0" normalizeH="0" baseline="3000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9" name="文本框 48"/>
            <p:cNvSpPr txBox="1"/>
            <p:nvPr/>
          </p:nvSpPr>
          <p:spPr>
            <a:xfrm>
              <a:off x="1091745" y="1894147"/>
              <a:ext cx="73840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s</a:t>
              </a:r>
              <a:r>
                <a:rPr kumimoji="0" lang="en-US" altLang="zh-CN" sz="2400" b="0" i="0" u="none" strike="noStrike" kern="0" cap="none" spc="0" normalizeH="0" baseline="3000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(t-1)</a:t>
              </a:r>
              <a:endParaRPr kumimoji="0" lang="zh-CN" altLang="en-US" sz="2400" b="0" i="0" u="none" strike="noStrike" kern="0" cap="none" spc="0" normalizeH="0" baseline="3000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50" name="直接箭头连接符 49"/>
            <p:cNvCxnSpPr>
              <a:stCxn id="21" idx="6"/>
              <a:endCxn id="16" idx="2"/>
            </p:cNvCxnSpPr>
            <p:nvPr/>
          </p:nvCxnSpPr>
          <p:spPr>
            <a:xfrm flipV="1">
              <a:off x="2970228" y="2180983"/>
              <a:ext cx="1209897" cy="329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p:cNvCxnSpPr>
              <a:endCxn id="21" idx="2"/>
            </p:cNvCxnSpPr>
            <p:nvPr/>
          </p:nvCxnSpPr>
          <p:spPr>
            <a:xfrm flipV="1">
              <a:off x="2165611" y="2184275"/>
              <a:ext cx="300617" cy="1031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 name="矩形 51"/>
            <p:cNvSpPr/>
            <p:nvPr/>
          </p:nvSpPr>
          <p:spPr>
            <a:xfrm>
              <a:off x="2457519" y="3918037"/>
              <a:ext cx="515165" cy="400110"/>
            </a:xfrm>
            <a:prstGeom prst="rect">
              <a:avLst/>
            </a:prstGeom>
            <a:ln w="31750">
              <a:solidFill>
                <a:schemeClr val="tx1"/>
              </a:solid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σ</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5" name="矩形 54"/>
            <p:cNvSpPr/>
            <p:nvPr/>
          </p:nvSpPr>
          <p:spPr>
            <a:xfrm>
              <a:off x="3297900" y="3922387"/>
              <a:ext cx="515165" cy="400110"/>
            </a:xfrm>
            <a:prstGeom prst="rect">
              <a:avLst/>
            </a:prstGeom>
            <a:ln w="31750">
              <a:solidFill>
                <a:schemeClr val="tx1"/>
              </a:solid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σ</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6" name="矩形 55"/>
            <p:cNvSpPr/>
            <p:nvPr/>
          </p:nvSpPr>
          <p:spPr>
            <a:xfrm>
              <a:off x="4125309" y="3915544"/>
              <a:ext cx="622236" cy="400110"/>
            </a:xfrm>
            <a:prstGeom prst="rect">
              <a:avLst/>
            </a:prstGeom>
            <a:ln w="31750">
              <a:solidFill>
                <a:schemeClr val="tx1"/>
              </a:solid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tanh</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9" name="矩形 58"/>
            <p:cNvSpPr/>
            <p:nvPr/>
          </p:nvSpPr>
          <p:spPr>
            <a:xfrm>
              <a:off x="5038982" y="3917720"/>
              <a:ext cx="515165" cy="400110"/>
            </a:xfrm>
            <a:prstGeom prst="rect">
              <a:avLst/>
            </a:prstGeom>
            <a:ln w="31750">
              <a:solidFill>
                <a:schemeClr val="tx1"/>
              </a:solid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σ</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60" name="椭圆 59"/>
          <p:cNvSpPr/>
          <p:nvPr/>
        </p:nvSpPr>
        <p:spPr>
          <a:xfrm>
            <a:off x="2251271" y="3795083"/>
            <a:ext cx="924709" cy="624087"/>
          </a:xfrm>
          <a:prstGeom prst="ellipse">
            <a:avLst/>
          </a:prstGeom>
          <a:noFill/>
          <a:ln w="19050">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61" name="椭圆 60"/>
          <p:cNvSpPr/>
          <p:nvPr/>
        </p:nvSpPr>
        <p:spPr>
          <a:xfrm>
            <a:off x="3110001" y="3803362"/>
            <a:ext cx="924709" cy="624087"/>
          </a:xfrm>
          <a:prstGeom prst="ellipse">
            <a:avLst/>
          </a:prstGeom>
          <a:noFill/>
          <a:ln w="19050">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62" name="椭圆 61"/>
          <p:cNvSpPr/>
          <p:nvPr/>
        </p:nvSpPr>
        <p:spPr>
          <a:xfrm>
            <a:off x="4854232" y="3795565"/>
            <a:ext cx="924709" cy="624087"/>
          </a:xfrm>
          <a:prstGeom prst="ellipse">
            <a:avLst/>
          </a:prstGeom>
          <a:noFill/>
          <a:ln w="19050">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63" name="文本框 62"/>
          <p:cNvSpPr txBox="1"/>
          <p:nvPr/>
        </p:nvSpPr>
        <p:spPr>
          <a:xfrm>
            <a:off x="965952" y="5204119"/>
            <a:ext cx="793935"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B0F0"/>
                </a:solidFill>
                <a:effectLst/>
                <a:uLnTx/>
                <a:uFillTx/>
                <a:latin typeface="Perpetua"/>
                <a:ea typeface="宋体" panose="02010600030101010101" pitchFamily="2" charset="-122"/>
                <a:cs typeface="+mn-cs"/>
              </a:rPr>
              <a:t>“门”</a:t>
            </a:r>
            <a:endParaRPr kumimoji="0" lang="en-US" altLang="zh-CN" sz="2000" b="1" i="0" u="none" strike="noStrike" kern="1200" cap="none" spc="0" normalizeH="0" baseline="0" noProof="0" dirty="0">
              <a:ln>
                <a:noFill/>
              </a:ln>
              <a:solidFill>
                <a:srgbClr val="00B0F0"/>
              </a:solidFill>
              <a:effectLst/>
              <a:uLnTx/>
              <a:uFillTx/>
              <a:latin typeface="Perpetua"/>
              <a:ea typeface="宋体" panose="02010600030101010101" pitchFamily="2" charset="-122"/>
              <a:cs typeface="+mn-cs"/>
            </a:endParaRPr>
          </a:p>
        </p:txBody>
      </p:sp>
      <p:cxnSp>
        <p:nvCxnSpPr>
          <p:cNvPr id="64" name="直接箭头连接符 63"/>
          <p:cNvCxnSpPr>
            <a:stCxn id="63" idx="3"/>
            <a:endCxn id="61" idx="3"/>
          </p:cNvCxnSpPr>
          <p:nvPr/>
        </p:nvCxnSpPr>
        <p:spPr>
          <a:xfrm flipV="1">
            <a:off x="1759887" y="4336054"/>
            <a:ext cx="1485534" cy="1068120"/>
          </a:xfrm>
          <a:prstGeom prst="straightConnector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65" name="直接箭头连接符 64"/>
          <p:cNvCxnSpPr>
            <a:stCxn id="63" idx="3"/>
            <a:endCxn id="62" idx="3"/>
          </p:cNvCxnSpPr>
          <p:nvPr/>
        </p:nvCxnSpPr>
        <p:spPr>
          <a:xfrm flipV="1">
            <a:off x="1759887" y="4328257"/>
            <a:ext cx="3229765" cy="1075917"/>
          </a:xfrm>
          <a:prstGeom prst="straightConnector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66" name="直接箭头连接符 65"/>
          <p:cNvCxnSpPr>
            <a:stCxn id="63" idx="3"/>
            <a:endCxn id="60" idx="3"/>
          </p:cNvCxnSpPr>
          <p:nvPr/>
        </p:nvCxnSpPr>
        <p:spPr>
          <a:xfrm flipV="1">
            <a:off x="1759887" y="4327775"/>
            <a:ext cx="626804" cy="1076399"/>
          </a:xfrm>
          <a:prstGeom prst="straightConnector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80" name="文本框 79"/>
          <p:cNvSpPr txBox="1"/>
          <p:nvPr/>
        </p:nvSpPr>
        <p:spPr>
          <a:xfrm>
            <a:off x="7521356" y="5771483"/>
            <a:ext cx="1414826"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B0F0"/>
                </a:solidFill>
                <a:effectLst/>
                <a:uLnTx/>
                <a:uFillTx/>
                <a:latin typeface="Perpetua"/>
                <a:ea typeface="宋体" panose="02010600030101010101" pitchFamily="2" charset="-122"/>
                <a:cs typeface="+mn-cs"/>
              </a:rPr>
              <a:t>当前输出</a:t>
            </a:r>
            <a:endParaRPr kumimoji="0" lang="en-US" altLang="zh-CN" sz="2000" b="1" i="0" u="none" strike="noStrike" kern="1200" cap="none" spc="0" normalizeH="0" baseline="0" noProof="0" dirty="0">
              <a:ln>
                <a:noFill/>
              </a:ln>
              <a:solidFill>
                <a:srgbClr val="00B0F0"/>
              </a:solidFill>
              <a:effectLst/>
              <a:uLnTx/>
              <a:uFillTx/>
              <a:latin typeface="Perpetua"/>
              <a:ea typeface="宋体" panose="02010600030101010101" pitchFamily="2" charset="-122"/>
              <a:cs typeface="+mn-cs"/>
            </a:endParaRPr>
          </a:p>
        </p:txBody>
      </p:sp>
      <p:cxnSp>
        <p:nvCxnSpPr>
          <p:cNvPr id="82" name="直接箭头连接符 81"/>
          <p:cNvCxnSpPr>
            <a:cxnSpLocks/>
            <a:stCxn id="80" idx="0"/>
          </p:cNvCxnSpPr>
          <p:nvPr/>
        </p:nvCxnSpPr>
        <p:spPr>
          <a:xfrm flipH="1" flipV="1">
            <a:off x="8042847" y="4805557"/>
            <a:ext cx="185922" cy="965926"/>
          </a:xfrm>
          <a:prstGeom prst="straightConnector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67" name="文本框 66"/>
          <p:cNvSpPr txBox="1"/>
          <p:nvPr/>
        </p:nvSpPr>
        <p:spPr>
          <a:xfrm>
            <a:off x="755521" y="4405447"/>
            <a:ext cx="1757277"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简单</a:t>
            </a:r>
            <a:r>
              <a:rPr kumimoji="0" lang="en-US" altLang="zh-CN"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RNN</a:t>
            </a:r>
            <a:r>
              <a:rPr kumimoji="0" lang="zh-CN" altLang="en-US"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结构</a:t>
            </a:r>
          </a:p>
        </p:txBody>
      </p:sp>
      <p:sp>
        <p:nvSpPr>
          <p:cNvPr id="68" name="文本框 67"/>
          <p:cNvSpPr txBox="1"/>
          <p:nvPr/>
        </p:nvSpPr>
        <p:spPr>
          <a:xfrm>
            <a:off x="4050315" y="5364100"/>
            <a:ext cx="1757277"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LSTM</a:t>
            </a:r>
            <a:r>
              <a:rPr kumimoji="0" lang="zh-CN" altLang="en-US"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结构</a:t>
            </a:r>
          </a:p>
        </p:txBody>
      </p:sp>
      <p:pic>
        <p:nvPicPr>
          <p:cNvPr id="1026" name="Picture 2" descr="Jürgen Schmidhuber - Wikipedia">
            <a:extLst>
              <a:ext uri="{FF2B5EF4-FFF2-40B4-BE49-F238E27FC236}">
                <a16:creationId xmlns:a16="http://schemas.microsoft.com/office/drawing/2014/main" id="{170FB6EA-14D1-223B-26A2-E91691B8371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207296" y="3802193"/>
            <a:ext cx="1969289" cy="1310472"/>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a:extLst>
              <a:ext uri="{FF2B5EF4-FFF2-40B4-BE49-F238E27FC236}">
                <a16:creationId xmlns:a16="http://schemas.microsoft.com/office/drawing/2014/main" id="{4CA1E9AC-5937-1E2C-7C12-3ED455C5B58B}"/>
              </a:ext>
            </a:extLst>
          </p:cNvPr>
          <p:cNvSpPr txBox="1"/>
          <p:nvPr/>
        </p:nvSpPr>
        <p:spPr>
          <a:xfrm>
            <a:off x="9059606" y="5179434"/>
            <a:ext cx="2335065"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u="none" strike="noStrike" dirty="0">
                <a:effectLst/>
                <a:latin typeface="Linux Libertine"/>
              </a:rPr>
              <a:t>Jürgen </a:t>
            </a:r>
            <a:r>
              <a:rPr lang="en-US" altLang="zh-CN" b="0" i="0" u="none" strike="noStrike" dirty="0" err="1">
                <a:effectLst/>
                <a:latin typeface="Linux Libertine"/>
              </a:rPr>
              <a:t>Schmidhuber</a:t>
            </a:r>
            <a:endParaRPr lang="en-US" altLang="zh-CN" b="0" i="0" u="none" strike="noStrike" dirty="0">
              <a:effectLst/>
              <a:latin typeface="Linux Libertine"/>
            </a:endParaRPr>
          </a:p>
        </p:txBody>
      </p:sp>
      <p:sp>
        <p:nvSpPr>
          <p:cNvPr id="5" name="文本框 4">
            <a:extLst>
              <a:ext uri="{FF2B5EF4-FFF2-40B4-BE49-F238E27FC236}">
                <a16:creationId xmlns:a16="http://schemas.microsoft.com/office/drawing/2014/main" id="{8AC117F4-F22E-4EC8-C7C0-7DBE5B55DA29}"/>
              </a:ext>
            </a:extLst>
          </p:cNvPr>
          <p:cNvSpPr txBox="1"/>
          <p:nvPr/>
        </p:nvSpPr>
        <p:spPr>
          <a:xfrm>
            <a:off x="7646126" y="6122298"/>
            <a:ext cx="184731" cy="369332"/>
          </a:xfrm>
          <a:prstGeom prst="rect">
            <a:avLst/>
          </a:prstGeom>
          <a:noFill/>
        </p:spPr>
        <p:txBody>
          <a:bodyPr wrap="none" rtlCol="0">
            <a:spAutoFit/>
          </a:bodyPr>
          <a:lstStyle/>
          <a:p>
            <a:endParaRPr kumimoji="1" lang="zh-CN" altLang="en-US" dirty="0"/>
          </a:p>
        </p:txBody>
      </p:sp>
      <p:sp>
        <p:nvSpPr>
          <p:cNvPr id="6" name="文本框 5">
            <a:extLst>
              <a:ext uri="{FF2B5EF4-FFF2-40B4-BE49-F238E27FC236}">
                <a16:creationId xmlns:a16="http://schemas.microsoft.com/office/drawing/2014/main" id="{02BE4550-890A-B82F-37D6-6FBE42204289}"/>
              </a:ext>
            </a:extLst>
          </p:cNvPr>
          <p:cNvSpPr txBox="1"/>
          <p:nvPr/>
        </p:nvSpPr>
        <p:spPr>
          <a:xfrm>
            <a:off x="9059606" y="5585520"/>
            <a:ext cx="2538227" cy="830997"/>
          </a:xfrm>
          <a:prstGeom prst="rect">
            <a:avLst/>
          </a:prstGeom>
          <a:noFill/>
        </p:spPr>
        <p:txBody>
          <a:bodyPr wrap="square">
            <a:spAutoFit/>
          </a:bodyPr>
          <a:lstStyle/>
          <a:p>
            <a:r>
              <a:rPr lang="en-US" altLang="zh-CN" sz="1600" dirty="0">
                <a:latin typeface="Linux Libertine"/>
              </a:rPr>
              <a:t>King Abdullah University of Science and Technology (KAUST)</a:t>
            </a:r>
            <a:endParaRPr lang="zh-CN" altLang="en-US" sz="1600" dirty="0">
              <a:latin typeface="Linux Libertine"/>
            </a:endParaRPr>
          </a:p>
        </p:txBody>
      </p:sp>
      <p:sp>
        <p:nvSpPr>
          <p:cNvPr id="3" name="文本框 79">
            <a:extLst>
              <a:ext uri="{FF2B5EF4-FFF2-40B4-BE49-F238E27FC236}">
                <a16:creationId xmlns:a16="http://schemas.microsoft.com/office/drawing/2014/main" id="{CB622DA0-40D7-8DC8-7C53-0EC9A8E5B549}"/>
              </a:ext>
            </a:extLst>
          </p:cNvPr>
          <p:cNvSpPr txBox="1"/>
          <p:nvPr/>
        </p:nvSpPr>
        <p:spPr>
          <a:xfrm>
            <a:off x="7644644" y="904249"/>
            <a:ext cx="793935"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B0F0"/>
                </a:solidFill>
                <a:effectLst/>
                <a:uLnTx/>
                <a:uFillTx/>
                <a:latin typeface="Perpetua"/>
                <a:ea typeface="宋体" panose="02010600030101010101" pitchFamily="2" charset="-122"/>
                <a:cs typeface="+mn-cs"/>
              </a:rPr>
              <a:t>状态</a:t>
            </a:r>
            <a:endParaRPr kumimoji="0" lang="en-US" altLang="zh-CN" sz="2000" b="1" i="0" u="none" strike="noStrike" kern="1200" cap="none" spc="0" normalizeH="0" baseline="0" noProof="0" dirty="0">
              <a:ln>
                <a:noFill/>
              </a:ln>
              <a:solidFill>
                <a:srgbClr val="00B0F0"/>
              </a:solidFill>
              <a:effectLst/>
              <a:uLnTx/>
              <a:uFillTx/>
              <a:latin typeface="Perpetua"/>
              <a:ea typeface="宋体" panose="02010600030101010101" pitchFamily="2" charset="-122"/>
              <a:cs typeface="+mn-cs"/>
            </a:endParaRPr>
          </a:p>
        </p:txBody>
      </p:sp>
      <p:cxnSp>
        <p:nvCxnSpPr>
          <p:cNvPr id="12" name="直接箭头连接符 81">
            <a:extLst>
              <a:ext uri="{FF2B5EF4-FFF2-40B4-BE49-F238E27FC236}">
                <a16:creationId xmlns:a16="http://schemas.microsoft.com/office/drawing/2014/main" id="{FA7011C3-8590-13C6-9279-E57983731DCE}"/>
              </a:ext>
            </a:extLst>
          </p:cNvPr>
          <p:cNvCxnSpPr>
            <a:cxnSpLocks/>
            <a:endCxn id="47" idx="0"/>
          </p:cNvCxnSpPr>
          <p:nvPr/>
        </p:nvCxnSpPr>
        <p:spPr>
          <a:xfrm flipH="1">
            <a:off x="7934126" y="1352737"/>
            <a:ext cx="74563" cy="582435"/>
          </a:xfrm>
          <a:prstGeom prst="straightConnector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5687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53"/>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54"/>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0"/>
                                          </p:stCondLst>
                                        </p:cTn>
                                        <p:tgtEl>
                                          <p:spTgt spid="75"/>
                                        </p:tgtEl>
                                        <p:attrNameLst>
                                          <p:attrName>style.visibility</p:attrName>
                                        </p:attrNameLst>
                                      </p:cBhvr>
                                      <p:to>
                                        <p:strVal val="hidden"/>
                                      </p:to>
                                    </p:set>
                                  </p:childTnLst>
                                </p:cTn>
                              </p:par>
                              <p:par>
                                <p:cTn id="11" presetID="1" presetClass="exit" presetSubtype="0" fill="hold" grpId="0" nodeType="withEffect">
                                  <p:stCondLst>
                                    <p:cond delay="0"/>
                                  </p:stCondLst>
                                  <p:childTnLst>
                                    <p:set>
                                      <p:cBhvr>
                                        <p:cTn id="12" dur="1" fill="hold">
                                          <p:stCondLst>
                                            <p:cond delay="0"/>
                                          </p:stCondLst>
                                        </p:cTn>
                                        <p:tgtEl>
                                          <p:spTgt spid="76"/>
                                        </p:tgtEl>
                                        <p:attrNameLst>
                                          <p:attrName>style.visibility</p:attrName>
                                        </p:attrNameLst>
                                      </p:cBhvr>
                                      <p:to>
                                        <p:strVal val="hidden"/>
                                      </p:to>
                                    </p:set>
                                  </p:childTnLst>
                                </p:cTn>
                              </p:par>
                              <p:par>
                                <p:cTn id="13" presetID="1" presetClass="exit" presetSubtype="0" fill="hold" grpId="0" nodeType="withEffect">
                                  <p:stCondLst>
                                    <p:cond delay="0"/>
                                  </p:stCondLst>
                                  <p:childTnLst>
                                    <p:set>
                                      <p:cBhvr>
                                        <p:cTn id="14" dur="1" fill="hold">
                                          <p:stCondLst>
                                            <p:cond delay="0"/>
                                          </p:stCondLst>
                                        </p:cTn>
                                        <p:tgtEl>
                                          <p:spTgt spid="79"/>
                                        </p:tgtEl>
                                        <p:attrNameLst>
                                          <p:attrName>style.visibility</p:attrName>
                                        </p:attrNameLst>
                                      </p:cBhvr>
                                      <p:to>
                                        <p:strVal val="hidden"/>
                                      </p:to>
                                    </p:set>
                                  </p:childTnLst>
                                </p:cTn>
                              </p:par>
                              <p:par>
                                <p:cTn id="15" presetID="1" presetClass="exit" presetSubtype="0" fill="hold" grpId="0" nodeType="withEffect">
                                  <p:stCondLst>
                                    <p:cond delay="0"/>
                                  </p:stCondLst>
                                  <p:childTnLst>
                                    <p:set>
                                      <p:cBhvr>
                                        <p:cTn id="16" dur="1" fill="hold">
                                          <p:stCondLst>
                                            <p:cond delay="0"/>
                                          </p:stCondLst>
                                        </p:cTn>
                                        <p:tgtEl>
                                          <p:spTgt spid="81"/>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2"/>
                                        </p:tgtEl>
                                        <p:attrNameLst>
                                          <p:attrName>style.visibility</p:attrName>
                                        </p:attrNameLst>
                                      </p:cBhvr>
                                      <p:to>
                                        <p:strVal val="visible"/>
                                      </p:to>
                                    </p:set>
                                  </p:childTnLst>
                                </p:cTn>
                              </p:par>
                              <p:par>
                                <p:cTn id="19" presetID="1" presetClass="exit" presetSubtype="0" fill="hold" grpId="0" nodeType="withEffect">
                                  <p:stCondLst>
                                    <p:cond delay="0"/>
                                  </p:stCondLst>
                                  <p:childTnLst>
                                    <p:set>
                                      <p:cBhvr>
                                        <p:cTn id="20" dur="1" fill="hold">
                                          <p:stCondLst>
                                            <p:cond delay="0"/>
                                          </p:stCondLst>
                                        </p:cTn>
                                        <p:tgtEl>
                                          <p:spTgt spid="67"/>
                                        </p:tgtEl>
                                        <p:attrNameLst>
                                          <p:attrName>style.visibility</p:attrName>
                                        </p:attrNameLst>
                                      </p:cBhvr>
                                      <p:to>
                                        <p:strVal val="hidden"/>
                                      </p:to>
                                    </p:set>
                                  </p:childTnLst>
                                </p:cTn>
                              </p:par>
                              <p:par>
                                <p:cTn id="21" presetID="1" presetClass="entr" presetSubtype="0" fill="hold" grpId="0" nodeType="withEffect">
                                  <p:stCondLst>
                                    <p:cond delay="0"/>
                                  </p:stCondLst>
                                  <p:childTnLst>
                                    <p:set>
                                      <p:cBhvr>
                                        <p:cTn id="22" dur="1" fill="hold">
                                          <p:stCondLst>
                                            <p:cond delay="0"/>
                                          </p:stCondLst>
                                        </p:cTn>
                                        <p:tgtEl>
                                          <p:spTgt spid="6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8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6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4"/>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6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nodeType="clickEffect">
                                  <p:stCondLst>
                                    <p:cond delay="0"/>
                                  </p:stCondLst>
                                  <p:childTnLst>
                                    <p:set>
                                      <p:cBhvr>
                                        <p:cTn id="54" dur="1" fill="hold">
                                          <p:stCondLst>
                                            <p:cond delay="0"/>
                                          </p:stCondLst>
                                        </p:cTn>
                                        <p:tgtEl>
                                          <p:spTgt spid="1026"/>
                                        </p:tgtEl>
                                        <p:attrNameLst>
                                          <p:attrName>style.visibility</p:attrName>
                                        </p:attrNameLst>
                                      </p:cBhvr>
                                      <p:to>
                                        <p:strVal val="visible"/>
                                      </p:to>
                                    </p:set>
                                    <p:animEffect transition="in" filter="blinds(horizontal)">
                                      <p:cBhvr>
                                        <p:cTn id="55" dur="500"/>
                                        <p:tgtEl>
                                          <p:spTgt spid="1026"/>
                                        </p:tgtEl>
                                      </p:cBhvr>
                                    </p:animEffect>
                                  </p:childTnLst>
                                </p:cTn>
                              </p:par>
                              <p:par>
                                <p:cTn id="56" presetID="3" presetClass="entr" presetSubtype="10" fill="hold" grpId="0" nodeType="withEffect">
                                  <p:stCondLst>
                                    <p:cond delay="0"/>
                                  </p:stCondLst>
                                  <p:childTnLst>
                                    <p:set>
                                      <p:cBhvr>
                                        <p:cTn id="57" dur="1" fill="hold">
                                          <p:stCondLst>
                                            <p:cond delay="0"/>
                                          </p:stCondLst>
                                        </p:cTn>
                                        <p:tgtEl>
                                          <p:spTgt spid="4"/>
                                        </p:tgtEl>
                                        <p:attrNameLst>
                                          <p:attrName>style.visibility</p:attrName>
                                        </p:attrNameLst>
                                      </p:cBhvr>
                                      <p:to>
                                        <p:strVal val="visible"/>
                                      </p:to>
                                    </p:set>
                                    <p:animEffect transition="in" filter="blinds(horizontal)">
                                      <p:cBhvr>
                                        <p:cTn id="58" dur="500"/>
                                        <p:tgtEl>
                                          <p:spTgt spid="4"/>
                                        </p:tgtEl>
                                      </p:cBhvr>
                                    </p:animEffect>
                                  </p:childTnLst>
                                </p:cTn>
                              </p:par>
                              <p:par>
                                <p:cTn id="59" presetID="3" presetClass="entr" presetSubtype="10" fill="hold" grpId="0" nodeType="withEffect">
                                  <p:stCondLst>
                                    <p:cond delay="0"/>
                                  </p:stCondLst>
                                  <p:childTnLst>
                                    <p:set>
                                      <p:cBhvr>
                                        <p:cTn id="60" dur="1" fill="hold">
                                          <p:stCondLst>
                                            <p:cond delay="0"/>
                                          </p:stCondLst>
                                        </p:cTn>
                                        <p:tgtEl>
                                          <p:spTgt spid="6"/>
                                        </p:tgtEl>
                                        <p:attrNameLst>
                                          <p:attrName>style.visibility</p:attrName>
                                        </p:attrNameLst>
                                      </p:cBhvr>
                                      <p:to>
                                        <p:strVal val="visible"/>
                                      </p:to>
                                    </p:set>
                                    <p:animEffect transition="in" filter="blinds(horizontal)">
                                      <p:cBhvr>
                                        <p:cTn id="6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P spid="75" grpId="0" animBg="1"/>
      <p:bldP spid="76" grpId="0"/>
      <p:bldP spid="79" grpId="0"/>
      <p:bldP spid="81" grpId="0"/>
      <p:bldP spid="60" grpId="0" animBg="1"/>
      <p:bldP spid="61" grpId="0" animBg="1"/>
      <p:bldP spid="62" grpId="0" animBg="1"/>
      <p:bldP spid="63" grpId="0"/>
      <p:bldP spid="80" grpId="0"/>
      <p:bldP spid="67" grpId="0"/>
      <p:bldP spid="68" grpId="0"/>
      <p:bldP spid="4" grpId="0"/>
      <p:bldP spid="6" grpId="0"/>
      <p:bldP spid="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1345564" y="2194579"/>
            <a:ext cx="3089127" cy="3373184"/>
          </a:xfrm>
          <a:prstGeom prst="rect">
            <a:avLst/>
          </a:prstGeom>
        </p:spPr>
      </p:pic>
      <p:sp>
        <p:nvSpPr>
          <p:cNvPr id="2" name="标题 1"/>
          <p:cNvSpPr>
            <a:spLocks noGrp="1"/>
          </p:cNvSpPr>
          <p:nvPr>
            <p:ph type="title"/>
          </p:nvPr>
        </p:nvSpPr>
        <p:spPr/>
        <p:txBody>
          <a:bodyPr/>
          <a:lstStyle/>
          <a:p>
            <a:r>
              <a:rPr lang="zh-CN" altLang="en-US" dirty="0"/>
              <a:t>“门”的概念</a:t>
            </a:r>
          </a:p>
        </p:txBody>
      </p:sp>
      <p:sp>
        <p:nvSpPr>
          <p:cNvPr id="10" name="文本框 9"/>
          <p:cNvSpPr txBox="1"/>
          <p:nvPr/>
        </p:nvSpPr>
        <p:spPr>
          <a:xfrm>
            <a:off x="1232457" y="4498928"/>
            <a:ext cx="600254"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门</a:t>
            </a:r>
            <a:endParaRPr kumimoji="0" lang="en-US" altLang="zh-CN"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p:cxnSp>
        <p:nvCxnSpPr>
          <p:cNvPr id="11" name="直接箭头连接符 10"/>
          <p:cNvCxnSpPr/>
          <p:nvPr/>
        </p:nvCxnSpPr>
        <p:spPr>
          <a:xfrm flipV="1">
            <a:off x="1696329" y="4272833"/>
            <a:ext cx="593620" cy="41047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矩形 11"/>
              <p:cNvSpPr/>
              <p:nvPr/>
            </p:nvSpPr>
            <p:spPr>
              <a:xfrm>
                <a:off x="2964218" y="5113145"/>
                <a:ext cx="1994969"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CN" altLang="en-US"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
                            <m:sSub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𝑥</m:t>
                              </m:r>
                            </m:e>
                            <m: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sub>
                          </m:s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𝑥</m:t>
                              </m:r>
                            </m:e>
                            <m: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2</m:t>
                              </m:r>
                            </m:sub>
                          </m:s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𝑥</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𝑛</m:t>
                              </m:r>
                            </m:sub>
                          </m:sSub>
                        </m:e>
                      </m:d>
                    </m:oMath>
                  </m:oMathPara>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12" name="矩形 11"/>
              <p:cNvSpPr>
                <a:spLocks noRot="1" noChangeAspect="1" noMove="1" noResize="1" noEditPoints="1" noAdjustHandles="1" noChangeArrowheads="1" noChangeShapeType="1" noTextEdit="1"/>
              </p:cNvSpPr>
              <p:nvPr/>
            </p:nvSpPr>
            <p:spPr>
              <a:xfrm>
                <a:off x="2964218" y="5113145"/>
                <a:ext cx="1994969" cy="369332"/>
              </a:xfrm>
              <a:prstGeom prst="rect">
                <a:avLst/>
              </a:prstGeom>
              <a:blipFill>
                <a:blip r:embed="rId3"/>
                <a:stretch>
                  <a:fillRect/>
                </a:stretch>
              </a:blipFill>
            </p:spPr>
            <p:txBody>
              <a:bodyPr/>
              <a:lstStyle/>
              <a:p>
                <a:r>
                  <a:rPr lang="zh-CN" altLang="en-US">
                    <a:noFill/>
                  </a:rPr>
                  <a:t> </a:t>
                </a:r>
              </a:p>
            </p:txBody>
          </p:sp>
        </mc:Fallback>
      </mc:AlternateContent>
      <p:sp>
        <p:nvSpPr>
          <p:cNvPr id="13" name="矩形 12"/>
          <p:cNvSpPr/>
          <p:nvPr/>
        </p:nvSpPr>
        <p:spPr>
          <a:xfrm>
            <a:off x="2264234" y="3412631"/>
            <a:ext cx="1151402" cy="860202"/>
          </a:xfrm>
          <a:prstGeom prst="rect">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7" name="矩形 16"/>
              <p:cNvSpPr/>
              <p:nvPr/>
            </p:nvSpPr>
            <p:spPr>
              <a:xfrm>
                <a:off x="2987050" y="2732268"/>
                <a:ext cx="2128981" cy="64633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𝑔</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
                            <m:sSub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𝑔</m:t>
                              </m:r>
                            </m:e>
                            <m: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sub>
                          </m:s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𝑔</m:t>
                              </m:r>
                            </m:e>
                            <m: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2</m:t>
                              </m:r>
                            </m:sub>
                          </m:s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𝑔</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𝑚</m:t>
                              </m:r>
                            </m:sub>
                          </m:sSub>
                        </m:e>
                      </m:d>
                    </m:oMath>
                  </m:oMathPara>
                </a14:m>
                <a:br>
                  <a:rPr kumimoji="0" lang="en-US" altLang="zh-CN"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br>
                <a:r>
                  <a:rPr kumimoji="0" lang="en-US" altLang="zh-CN"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           </a:t>
                </a:r>
                <a14:m>
                  <m:oMath xmlns:m="http://schemas.openxmlformats.org/officeDocument/2006/math">
                    <m:sSub>
                      <m:sSubPr>
                        <m:ctrlP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𝑔</m:t>
                        </m:r>
                      </m:e>
                      <m:sub>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sub>
                    </m:sSub>
                    <m:r>
                      <a:rPr kumimoji="0" lang="en-US" altLang="zh-CN" sz="1600" b="0" i="1" u="none" strike="noStrike" kern="1200" cap="none" spc="0" normalizeH="0" baseline="0" noProof="0" smtClean="0">
                        <a:ln>
                          <a:noFill/>
                        </a:ln>
                        <a:solidFill>
                          <a:srgbClr val="FF0000"/>
                        </a:solidFill>
                        <a:effectLst/>
                        <a:uLnTx/>
                        <a:uFillTx/>
                        <a:latin typeface="Cambria Math" panose="02040503050406030204" pitchFamily="18" charset="0"/>
                        <a:ea typeface="Cambria Math" panose="02040503050406030204" pitchFamily="18" charset="0"/>
                        <a:cs typeface="+mn-cs"/>
                      </a:rPr>
                      <m:t>∈[0, 1]</m:t>
                    </m:r>
                  </m:oMath>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17" name="矩形 16"/>
              <p:cNvSpPr>
                <a:spLocks noRot="1" noChangeAspect="1" noMove="1" noResize="1" noEditPoints="1" noAdjustHandles="1" noChangeArrowheads="1" noChangeShapeType="1" noTextEdit="1"/>
              </p:cNvSpPr>
              <p:nvPr/>
            </p:nvSpPr>
            <p:spPr>
              <a:xfrm>
                <a:off x="2987050" y="2732268"/>
                <a:ext cx="2128981" cy="646331"/>
              </a:xfrm>
              <a:prstGeom prst="rect">
                <a:avLst/>
              </a:prstGeom>
              <a:blipFill>
                <a:blip r:embed="rId5"/>
                <a:stretch>
                  <a:fillRect b="-94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矩形 18"/>
              <p:cNvSpPr/>
              <p:nvPr/>
            </p:nvSpPr>
            <p:spPr>
              <a:xfrm>
                <a:off x="917907" y="1802710"/>
                <a:ext cx="1962011"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0" i="1" u="none" strike="noStrike" kern="1200" cap="none" spc="0" normalizeH="0" baseline="0" noProof="0" smtClean="0">
                          <a:ln>
                            <a:noFill/>
                          </a:ln>
                          <a:solidFill>
                            <a:srgbClr val="0070C0"/>
                          </a:solidFill>
                          <a:effectLst/>
                          <a:uLnTx/>
                          <a:uFillTx/>
                          <a:latin typeface="Cambria Math" panose="02040503050406030204" pitchFamily="18" charset="0"/>
                          <a:cs typeface="+mn-cs"/>
                        </a:rPr>
                        <m:t>𝑠</m:t>
                      </m:r>
                      <m:r>
                        <a:rPr kumimoji="0" lang="zh-CN" altLang="en-US" sz="1800" b="0" i="0" u="none" strike="noStrike" kern="1200" cap="none" spc="0" normalizeH="0" baseline="0" noProof="0">
                          <a:ln>
                            <a:noFill/>
                          </a:ln>
                          <a:solidFill>
                            <a:srgbClr val="0070C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0070C0"/>
                              </a:solidFill>
                              <a:effectLst/>
                              <a:uLnTx/>
                              <a:uFillTx/>
                              <a:latin typeface="Cambria Math" panose="02040503050406030204" pitchFamily="18" charset="0"/>
                              <a:cs typeface="+mn-cs"/>
                            </a:rPr>
                          </m:ctrlPr>
                        </m:dPr>
                        <m:e>
                          <m:sSub>
                            <m:sSubPr>
                              <m:ctrlPr>
                                <a:rPr kumimoji="0" lang="zh-CN" altLang="en-US" sz="1800" b="0" i="1" u="none" strike="noStrike" kern="1200" cap="none" spc="0" normalizeH="0" baseline="0" noProof="0" smtClean="0">
                                  <a:ln>
                                    <a:noFill/>
                                  </a:ln>
                                  <a:solidFill>
                                    <a:srgbClr val="0070C0"/>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smtClean="0">
                                  <a:ln>
                                    <a:noFill/>
                                  </a:ln>
                                  <a:solidFill>
                                    <a:srgbClr val="0070C0"/>
                                  </a:solidFill>
                                  <a:effectLst/>
                                  <a:uLnTx/>
                                  <a:uFillTx/>
                                  <a:latin typeface="Cambria Math" panose="02040503050406030204" pitchFamily="18" charset="0"/>
                                  <a:cs typeface="+mn-cs"/>
                                </a:rPr>
                                <m:t>𝑠</m:t>
                              </m:r>
                            </m:e>
                            <m:sub>
                              <m:r>
                                <a:rPr kumimoji="0" lang="zh-CN" altLang="en-US" sz="1800" b="0" i="0" u="none" strike="noStrike" kern="1200" cap="none" spc="0" normalizeH="0" baseline="0" noProof="0">
                                  <a:ln>
                                    <a:noFill/>
                                  </a:ln>
                                  <a:solidFill>
                                    <a:srgbClr val="0070C0"/>
                                  </a:solidFill>
                                  <a:effectLst/>
                                  <a:uLnTx/>
                                  <a:uFillTx/>
                                  <a:latin typeface="Cambria Math" panose="02040503050406030204" pitchFamily="18" charset="0"/>
                                  <a:cs typeface="+mn-cs"/>
                                </a:rPr>
                                <m:t>1</m:t>
                              </m:r>
                            </m:sub>
                          </m:sSub>
                          <m:r>
                            <a:rPr kumimoji="0" lang="zh-CN" altLang="en-US" sz="1800" b="0" i="0" u="none" strike="noStrike" kern="1200" cap="none" spc="0" normalizeH="0" baseline="0" noProof="0" smtClean="0">
                              <a:ln>
                                <a:noFill/>
                              </a:ln>
                              <a:solidFill>
                                <a:srgbClr val="0070C0"/>
                              </a:solidFill>
                              <a:effectLst/>
                              <a:uLnTx/>
                              <a:uFillTx/>
                              <a:latin typeface="Cambria Math" panose="02040503050406030204" pitchFamily="18" charset="0"/>
                              <a:cs typeface="+mn-cs"/>
                            </a:rPr>
                            <m:t>,</m:t>
                          </m:r>
                          <m:sSub>
                            <m:sSubPr>
                              <m:ctrlPr>
                                <a:rPr kumimoji="0" lang="zh-CN" altLang="en-US" sz="1800" b="0" i="1" u="none" strike="noStrike" kern="1200" cap="none" spc="0" normalizeH="0" baseline="0" noProof="0" smtClean="0">
                                  <a:ln>
                                    <a:noFill/>
                                  </a:ln>
                                  <a:solidFill>
                                    <a:srgbClr val="0070C0"/>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smtClean="0">
                                  <a:ln>
                                    <a:noFill/>
                                  </a:ln>
                                  <a:solidFill>
                                    <a:srgbClr val="0070C0"/>
                                  </a:solidFill>
                                  <a:effectLst/>
                                  <a:uLnTx/>
                                  <a:uFillTx/>
                                  <a:latin typeface="Cambria Math" panose="02040503050406030204" pitchFamily="18" charset="0"/>
                                  <a:cs typeface="+mn-cs"/>
                                </a:rPr>
                                <m:t>𝑠</m:t>
                              </m:r>
                            </m:e>
                            <m:sub>
                              <m:r>
                                <a:rPr kumimoji="0" lang="zh-CN" altLang="en-US" sz="1800" b="0" i="0" u="none" strike="noStrike" kern="1200" cap="none" spc="0" normalizeH="0" baseline="0" noProof="0">
                                  <a:ln>
                                    <a:noFill/>
                                  </a:ln>
                                  <a:solidFill>
                                    <a:srgbClr val="0070C0"/>
                                  </a:solidFill>
                                  <a:effectLst/>
                                  <a:uLnTx/>
                                  <a:uFillTx/>
                                  <a:latin typeface="Cambria Math" panose="02040503050406030204" pitchFamily="18" charset="0"/>
                                  <a:cs typeface="+mn-cs"/>
                                </a:rPr>
                                <m:t>2</m:t>
                              </m:r>
                            </m:sub>
                          </m:sSub>
                          <m:r>
                            <a:rPr kumimoji="0" lang="zh-CN" altLang="en-US" sz="1800" b="0" i="0" u="none" strike="noStrike" kern="1200" cap="none" spc="0" normalizeH="0" baseline="0" noProof="0" smtClean="0">
                              <a:ln>
                                <a:noFill/>
                              </a:ln>
                              <a:solidFill>
                                <a:srgbClr val="0070C0"/>
                              </a:solidFill>
                              <a:effectLst/>
                              <a:uLnTx/>
                              <a:uFillTx/>
                              <a:latin typeface="Cambria Math" panose="02040503050406030204" pitchFamily="18" charset="0"/>
                              <a:cs typeface="+mn-cs"/>
                            </a:rPr>
                            <m:t>,…,</m:t>
                          </m:r>
                          <m:sSub>
                            <m:sSubPr>
                              <m:ctrlPr>
                                <a:rPr kumimoji="0" lang="zh-CN" altLang="en-US" sz="1800" b="0" i="1" u="none" strike="noStrike" kern="1200" cap="none" spc="0" normalizeH="0" baseline="0" noProof="0" smtClean="0">
                                  <a:ln>
                                    <a:noFill/>
                                  </a:ln>
                                  <a:solidFill>
                                    <a:srgbClr val="0070C0"/>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smtClean="0">
                                  <a:ln>
                                    <a:noFill/>
                                  </a:ln>
                                  <a:solidFill>
                                    <a:srgbClr val="0070C0"/>
                                  </a:solidFill>
                                  <a:effectLst/>
                                  <a:uLnTx/>
                                  <a:uFillTx/>
                                  <a:latin typeface="Cambria Math" panose="02040503050406030204" pitchFamily="18" charset="0"/>
                                  <a:cs typeface="+mn-cs"/>
                                </a:rPr>
                                <m:t>𝑠</m:t>
                              </m:r>
                            </m:e>
                            <m:sub>
                              <m:r>
                                <a:rPr kumimoji="0" lang="en-US" altLang="zh-CN" sz="1800" b="0" i="1" u="none" strike="noStrike" kern="1200" cap="none" spc="0" normalizeH="0" baseline="0" noProof="0" smtClean="0">
                                  <a:ln>
                                    <a:noFill/>
                                  </a:ln>
                                  <a:solidFill>
                                    <a:srgbClr val="0070C0"/>
                                  </a:solidFill>
                                  <a:effectLst/>
                                  <a:uLnTx/>
                                  <a:uFillTx/>
                                  <a:latin typeface="Cambria Math" panose="02040503050406030204" pitchFamily="18" charset="0"/>
                                  <a:cs typeface="+mn-cs"/>
                                </a:rPr>
                                <m:t>𝑚</m:t>
                              </m:r>
                            </m:sub>
                          </m:sSub>
                        </m:e>
                      </m:d>
                    </m:oMath>
                  </m:oMathPara>
                </a14:m>
                <a:endParaRPr kumimoji="0" lang="zh-CN" altLang="en-US" sz="1800" b="0" i="0" u="none" strike="noStrike" kern="1200" cap="none" spc="0" normalizeH="0" baseline="0" noProof="0" dirty="0">
                  <a:ln>
                    <a:noFill/>
                  </a:ln>
                  <a:solidFill>
                    <a:srgbClr val="0070C0"/>
                  </a:solidFill>
                  <a:effectLst/>
                  <a:uLnTx/>
                  <a:uFillTx/>
                  <a:latin typeface="Perpetua"/>
                  <a:ea typeface="宋体" panose="02010600030101010101" pitchFamily="2" charset="-122"/>
                  <a:cs typeface="+mn-cs"/>
                </a:endParaRPr>
              </a:p>
            </p:txBody>
          </p:sp>
        </mc:Choice>
        <mc:Fallback xmlns="">
          <p:sp>
            <p:nvSpPr>
              <p:cNvPr id="19" name="矩形 18"/>
              <p:cNvSpPr>
                <a:spLocks noRot="1" noChangeAspect="1" noMove="1" noResize="1" noEditPoints="1" noAdjustHandles="1" noChangeArrowheads="1" noChangeShapeType="1" noTextEdit="1"/>
              </p:cNvSpPr>
              <p:nvPr/>
            </p:nvSpPr>
            <p:spPr>
              <a:xfrm>
                <a:off x="917907" y="1802710"/>
                <a:ext cx="1962011" cy="369332"/>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矩形 19"/>
              <p:cNvSpPr/>
              <p:nvPr/>
            </p:nvSpPr>
            <p:spPr>
              <a:xfrm>
                <a:off x="3571819" y="1825247"/>
                <a:ext cx="2037096"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800" b="0" i="1" u="none" strike="noStrike" kern="1200" cap="none" spc="0" normalizeH="0" baseline="0" noProof="0" smtClean="0">
                              <a:ln>
                                <a:noFill/>
                              </a:ln>
                              <a:solidFill>
                                <a:srgbClr val="00B050"/>
                              </a:solidFill>
                              <a:effectLst/>
                              <a:uLnTx/>
                              <a:uFillTx/>
                              <a:latin typeface="Cambria Math" panose="02040503050406030204" pitchFamily="18" charset="0"/>
                              <a:cs typeface="+mn-cs"/>
                            </a:rPr>
                          </m:ctrlPr>
                        </m:sSupPr>
                        <m:e>
                          <m:r>
                            <a:rPr kumimoji="0" lang="en-US" altLang="zh-CN" sz="1800" b="0" i="1" u="none" strike="noStrike" kern="1200" cap="none" spc="0" normalizeH="0" baseline="0" noProof="0" smtClean="0">
                              <a:ln>
                                <a:noFill/>
                              </a:ln>
                              <a:solidFill>
                                <a:srgbClr val="00B050"/>
                              </a:solidFill>
                              <a:effectLst/>
                              <a:uLnTx/>
                              <a:uFillTx/>
                              <a:latin typeface="Cambria Math" panose="02040503050406030204" pitchFamily="18" charset="0"/>
                              <a:cs typeface="+mn-cs"/>
                            </a:rPr>
                            <m:t>𝑠</m:t>
                          </m:r>
                        </m:e>
                        <m:sup>
                          <m:r>
                            <a:rPr kumimoji="0" lang="en-US" altLang="zh-CN" sz="1800" b="0" i="1" u="none" strike="noStrike" kern="1200" cap="none" spc="0" normalizeH="0" baseline="0" noProof="0" smtClean="0">
                              <a:ln>
                                <a:noFill/>
                              </a:ln>
                              <a:solidFill>
                                <a:srgbClr val="00B050"/>
                              </a:solidFill>
                              <a:effectLst/>
                              <a:uLnTx/>
                              <a:uFillTx/>
                              <a:latin typeface="Cambria Math" panose="02040503050406030204" pitchFamily="18" charset="0"/>
                              <a:cs typeface="+mn-cs"/>
                            </a:rPr>
                            <m:t>′</m:t>
                          </m:r>
                        </m:sup>
                      </m:sSup>
                      <m:r>
                        <a:rPr kumimoji="0" lang="zh-CN" altLang="en-US" sz="1800" b="0" i="0" u="none" strike="noStrike" kern="1200" cap="none" spc="0" normalizeH="0" baseline="0" noProof="0">
                          <a:ln>
                            <a:noFill/>
                          </a:ln>
                          <a:solidFill>
                            <a:srgbClr val="00B05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00B050"/>
                              </a:solidFill>
                              <a:effectLst/>
                              <a:uLnTx/>
                              <a:uFillTx/>
                              <a:latin typeface="Cambria Math" panose="02040503050406030204" pitchFamily="18" charset="0"/>
                              <a:cs typeface="+mn-cs"/>
                            </a:rPr>
                          </m:ctrlPr>
                        </m:dPr>
                        <m:e>
                          <m:sSubSup>
                            <m:sSubSupPr>
                              <m:ctrlPr>
                                <a:rPr kumimoji="0" lang="en-US" altLang="zh-CN" sz="1800" b="0" i="1" u="none" strike="noStrike" kern="1200" cap="none" spc="0" normalizeH="0" baseline="0" noProof="0" smtClean="0">
                                  <a:ln>
                                    <a:noFill/>
                                  </a:ln>
                                  <a:solidFill>
                                    <a:srgbClr val="00B05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00B050"/>
                                  </a:solidFill>
                                  <a:effectLst/>
                                  <a:uLnTx/>
                                  <a:uFillTx/>
                                  <a:latin typeface="Cambria Math" panose="02040503050406030204" pitchFamily="18" charset="0"/>
                                  <a:cs typeface="+mn-cs"/>
                                </a:rPr>
                                <m:t>𝑠</m:t>
                              </m:r>
                            </m:e>
                            <m:sub>
                              <m:r>
                                <a:rPr kumimoji="0" lang="en-US" altLang="zh-CN" sz="1800" b="0" i="1" u="none" strike="noStrike" kern="1200" cap="none" spc="0" normalizeH="0" baseline="0" noProof="0" smtClean="0">
                                  <a:ln>
                                    <a:noFill/>
                                  </a:ln>
                                  <a:solidFill>
                                    <a:srgbClr val="00B050"/>
                                  </a:solidFill>
                                  <a:effectLst/>
                                  <a:uLnTx/>
                                  <a:uFillTx/>
                                  <a:latin typeface="Cambria Math" panose="02040503050406030204" pitchFamily="18" charset="0"/>
                                  <a:cs typeface="+mn-cs"/>
                                </a:rPr>
                                <m:t>1</m:t>
                              </m:r>
                            </m:sub>
                            <m:sup>
                              <m:r>
                                <a:rPr kumimoji="0" lang="en-US" altLang="zh-CN" sz="1800" b="0" i="1" u="none" strike="noStrike" kern="1200" cap="none" spc="0" normalizeH="0" baseline="0" noProof="0" smtClean="0">
                                  <a:ln>
                                    <a:noFill/>
                                  </a:ln>
                                  <a:solidFill>
                                    <a:srgbClr val="00B050"/>
                                  </a:solidFill>
                                  <a:effectLst/>
                                  <a:uLnTx/>
                                  <a:uFillTx/>
                                  <a:latin typeface="Cambria Math" panose="02040503050406030204" pitchFamily="18" charset="0"/>
                                  <a:cs typeface="+mn-cs"/>
                                </a:rPr>
                                <m:t>′</m:t>
                              </m:r>
                            </m:sup>
                          </m:sSubSup>
                          <m:r>
                            <a:rPr kumimoji="0" lang="en-US" altLang="zh-CN" sz="1800" b="0" i="1" u="none" strike="noStrike" kern="1200" cap="none" spc="0" normalizeH="0" baseline="0" noProof="0" smtClean="0">
                              <a:ln>
                                <a:noFill/>
                              </a:ln>
                              <a:solidFill>
                                <a:srgbClr val="00B050"/>
                              </a:solidFill>
                              <a:effectLst/>
                              <a:uLnTx/>
                              <a:uFillTx/>
                              <a:latin typeface="Cambria Math" panose="02040503050406030204" pitchFamily="18" charset="0"/>
                              <a:cs typeface="+mn-cs"/>
                            </a:rPr>
                            <m:t>,</m:t>
                          </m:r>
                          <m:sSubSup>
                            <m:sSubSupPr>
                              <m:ctrlPr>
                                <a:rPr kumimoji="0" lang="en-US" altLang="zh-CN" sz="1800" b="0" i="1" u="none" strike="noStrike" kern="1200" cap="none" spc="0" normalizeH="0" baseline="0" noProof="0">
                                  <a:ln>
                                    <a:noFill/>
                                  </a:ln>
                                  <a:solidFill>
                                    <a:srgbClr val="00B05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a:ln>
                                    <a:noFill/>
                                  </a:ln>
                                  <a:solidFill>
                                    <a:srgbClr val="00B050"/>
                                  </a:solidFill>
                                  <a:effectLst/>
                                  <a:uLnTx/>
                                  <a:uFillTx/>
                                  <a:latin typeface="Cambria Math" panose="02040503050406030204" pitchFamily="18" charset="0"/>
                                  <a:cs typeface="+mn-cs"/>
                                </a:rPr>
                                <m:t>𝑠</m:t>
                              </m:r>
                            </m:e>
                            <m:sub>
                              <m:r>
                                <a:rPr kumimoji="0" lang="en-US" altLang="zh-CN" sz="1800" b="0" i="1" u="none" strike="noStrike" kern="1200" cap="none" spc="0" normalizeH="0" baseline="0" noProof="0" smtClean="0">
                                  <a:ln>
                                    <a:noFill/>
                                  </a:ln>
                                  <a:solidFill>
                                    <a:srgbClr val="00B050"/>
                                  </a:solidFill>
                                  <a:effectLst/>
                                  <a:uLnTx/>
                                  <a:uFillTx/>
                                  <a:latin typeface="Cambria Math" panose="02040503050406030204" pitchFamily="18" charset="0"/>
                                  <a:cs typeface="+mn-cs"/>
                                </a:rPr>
                                <m:t>2</m:t>
                              </m:r>
                            </m:sub>
                            <m:sup>
                              <m:r>
                                <a:rPr kumimoji="0" lang="en-US" altLang="zh-CN" sz="1800" b="0" i="1" u="none" strike="noStrike" kern="1200" cap="none" spc="0" normalizeH="0" baseline="0" noProof="0">
                                  <a:ln>
                                    <a:noFill/>
                                  </a:ln>
                                  <a:solidFill>
                                    <a:srgbClr val="00B050"/>
                                  </a:solidFill>
                                  <a:effectLst/>
                                  <a:uLnTx/>
                                  <a:uFillTx/>
                                  <a:latin typeface="Cambria Math" panose="02040503050406030204" pitchFamily="18" charset="0"/>
                                  <a:cs typeface="+mn-cs"/>
                                </a:rPr>
                                <m:t>′</m:t>
                              </m:r>
                            </m:sup>
                          </m:sSubSup>
                          <m:r>
                            <a:rPr kumimoji="0" lang="en-US" altLang="zh-CN" sz="1800" b="0" i="1" u="none" strike="noStrike" kern="1200" cap="none" spc="0" normalizeH="0" baseline="0" noProof="0">
                              <a:ln>
                                <a:noFill/>
                              </a:ln>
                              <a:solidFill>
                                <a:srgbClr val="00B05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00B050"/>
                              </a:solidFill>
                              <a:effectLst/>
                              <a:uLnTx/>
                              <a:uFillTx/>
                              <a:latin typeface="Cambria Math" panose="02040503050406030204" pitchFamily="18" charset="0"/>
                              <a:cs typeface="+mn-cs"/>
                            </a:rPr>
                            <m:t> …,</m:t>
                          </m:r>
                          <m:sSubSup>
                            <m:sSubSupPr>
                              <m:ctrlPr>
                                <a:rPr kumimoji="0" lang="en-US" altLang="zh-CN" sz="1800" b="0" i="1" u="none" strike="noStrike" kern="1200" cap="none" spc="0" normalizeH="0" baseline="0" noProof="0">
                                  <a:ln>
                                    <a:noFill/>
                                  </a:ln>
                                  <a:solidFill>
                                    <a:srgbClr val="00B05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a:ln>
                                    <a:noFill/>
                                  </a:ln>
                                  <a:solidFill>
                                    <a:srgbClr val="00B050"/>
                                  </a:solidFill>
                                  <a:effectLst/>
                                  <a:uLnTx/>
                                  <a:uFillTx/>
                                  <a:latin typeface="Cambria Math" panose="02040503050406030204" pitchFamily="18" charset="0"/>
                                  <a:cs typeface="+mn-cs"/>
                                </a:rPr>
                                <m:t>𝑠</m:t>
                              </m:r>
                            </m:e>
                            <m:sub>
                              <m:r>
                                <a:rPr kumimoji="0" lang="en-US" altLang="zh-CN" sz="1800" b="0" i="1" u="none" strike="noStrike" kern="1200" cap="none" spc="0" normalizeH="0" baseline="0" noProof="0" smtClean="0">
                                  <a:ln>
                                    <a:noFill/>
                                  </a:ln>
                                  <a:solidFill>
                                    <a:srgbClr val="00B050"/>
                                  </a:solidFill>
                                  <a:effectLst/>
                                  <a:uLnTx/>
                                  <a:uFillTx/>
                                  <a:latin typeface="Cambria Math" panose="02040503050406030204" pitchFamily="18" charset="0"/>
                                  <a:cs typeface="+mn-cs"/>
                                </a:rPr>
                                <m:t>𝑚</m:t>
                              </m:r>
                            </m:sub>
                            <m:sup>
                              <m:r>
                                <a:rPr kumimoji="0" lang="en-US" altLang="zh-CN" sz="1800" b="0" i="1" u="none" strike="noStrike" kern="1200" cap="none" spc="0" normalizeH="0" baseline="0" noProof="0">
                                  <a:ln>
                                    <a:noFill/>
                                  </a:ln>
                                  <a:solidFill>
                                    <a:srgbClr val="00B050"/>
                                  </a:solidFill>
                                  <a:effectLst/>
                                  <a:uLnTx/>
                                  <a:uFillTx/>
                                  <a:latin typeface="Cambria Math" panose="02040503050406030204" pitchFamily="18" charset="0"/>
                                  <a:cs typeface="+mn-cs"/>
                                </a:rPr>
                                <m:t>′</m:t>
                              </m:r>
                            </m:sup>
                          </m:sSubSup>
                        </m:e>
                      </m:d>
                    </m:oMath>
                  </m:oMathPara>
                </a14:m>
                <a:endParaRPr kumimoji="0" lang="zh-CN" altLang="en-US" sz="1800" b="0" i="0" u="none" strike="noStrike" kern="1200" cap="none" spc="0" normalizeH="0" baseline="0" noProof="0" dirty="0">
                  <a:ln>
                    <a:noFill/>
                  </a:ln>
                  <a:solidFill>
                    <a:srgbClr val="00B050"/>
                  </a:solidFill>
                  <a:effectLst/>
                  <a:uLnTx/>
                  <a:uFillTx/>
                  <a:latin typeface="Perpetua"/>
                  <a:ea typeface="宋体" panose="02010600030101010101" pitchFamily="2" charset="-122"/>
                  <a:cs typeface="+mn-cs"/>
                </a:endParaRPr>
              </a:p>
            </p:txBody>
          </p:sp>
        </mc:Choice>
        <mc:Fallback xmlns="">
          <p:sp>
            <p:nvSpPr>
              <p:cNvPr id="20" name="矩形 19"/>
              <p:cNvSpPr>
                <a:spLocks noRot="1" noChangeAspect="1" noMove="1" noResize="1" noEditPoints="1" noAdjustHandles="1" noChangeArrowheads="1" noChangeShapeType="1" noTextEdit="1"/>
              </p:cNvSpPr>
              <p:nvPr/>
            </p:nvSpPr>
            <p:spPr>
              <a:xfrm>
                <a:off x="3571819" y="1825247"/>
                <a:ext cx="2037096" cy="369332"/>
              </a:xfrm>
              <a:prstGeom prst="rect">
                <a:avLst/>
              </a:prstGeom>
              <a:blipFill>
                <a:blip r:embed="rId7"/>
                <a:stretch>
                  <a:fillRect/>
                </a:stretch>
              </a:blipFill>
            </p:spPr>
            <p:txBody>
              <a:bodyPr/>
              <a:lstStyle/>
              <a:p>
                <a:r>
                  <a:rPr lang="zh-CN" altLang="en-US">
                    <a:noFill/>
                  </a:rPr>
                  <a:t> </a:t>
                </a:r>
              </a:p>
            </p:txBody>
          </p:sp>
        </mc:Fallback>
      </mc:AlternateContent>
      <p:sp>
        <p:nvSpPr>
          <p:cNvPr id="22" name="文本框 21"/>
          <p:cNvSpPr txBox="1"/>
          <p:nvPr/>
        </p:nvSpPr>
        <p:spPr>
          <a:xfrm>
            <a:off x="888326" y="3044156"/>
            <a:ext cx="1138836"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CC66FF"/>
                </a:solidFill>
                <a:effectLst/>
                <a:uLnTx/>
                <a:uFillTx/>
                <a:latin typeface="Perpetua"/>
                <a:ea typeface="宋体" panose="02010600030101010101" pitchFamily="2" charset="-122"/>
                <a:cs typeface="+mn-cs"/>
              </a:rPr>
              <a:t>按位乘</a:t>
            </a:r>
            <a:endParaRPr kumimoji="0" lang="en-US" altLang="zh-CN" sz="2000" b="1" i="0" u="none" strike="noStrike" kern="1200" cap="none" spc="0" normalizeH="0" baseline="0" noProof="0" dirty="0">
              <a:ln>
                <a:noFill/>
              </a:ln>
              <a:solidFill>
                <a:srgbClr val="CC66FF"/>
              </a:solidFill>
              <a:effectLst/>
              <a:uLnTx/>
              <a:uFillTx/>
              <a:latin typeface="Perpetua"/>
              <a:ea typeface="宋体" panose="02010600030101010101" pitchFamily="2" charset="-122"/>
              <a:cs typeface="+mn-cs"/>
            </a:endParaRPr>
          </a:p>
        </p:txBody>
      </p:sp>
      <p:cxnSp>
        <p:nvCxnSpPr>
          <p:cNvPr id="23" name="直接箭头连接符 22"/>
          <p:cNvCxnSpPr/>
          <p:nvPr/>
        </p:nvCxnSpPr>
        <p:spPr>
          <a:xfrm flipV="1">
            <a:off x="1785971" y="2714279"/>
            <a:ext cx="900251" cy="506741"/>
          </a:xfrm>
          <a:prstGeom prst="straightConnector1">
            <a:avLst/>
          </a:prstGeom>
          <a:ln w="38100">
            <a:solidFill>
              <a:srgbClr val="CC66FF"/>
            </a:solidFill>
            <a:tailEnd type="triangle"/>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6019650" y="4341403"/>
            <a:ext cx="1023930"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一层神经网络</a:t>
            </a:r>
            <a:endParaRPr kumimoji="0" lang="en-US" altLang="zh-CN"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p:cxnSp>
        <p:nvCxnSpPr>
          <p:cNvPr id="29" name="直接箭头连接符 28"/>
          <p:cNvCxnSpPr/>
          <p:nvPr/>
        </p:nvCxnSpPr>
        <p:spPr>
          <a:xfrm>
            <a:off x="3530359" y="3941908"/>
            <a:ext cx="3641722" cy="39429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1" name="文本框 30"/>
          <p:cNvSpPr txBox="1"/>
          <p:nvPr/>
        </p:nvSpPr>
        <p:spPr>
          <a:xfrm>
            <a:off x="5242384" y="2305003"/>
            <a:ext cx="1580287"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070C0"/>
                </a:solidFill>
                <a:effectLst/>
                <a:uLnTx/>
                <a:uFillTx/>
                <a:latin typeface="Perpetua"/>
                <a:ea typeface="宋体" panose="02010600030101010101" pitchFamily="2" charset="-122"/>
                <a:cs typeface="+mn-cs"/>
              </a:rPr>
              <a:t>被选信息</a:t>
            </a:r>
            <a:endParaRPr kumimoji="0" lang="en-US" altLang="zh-CN" sz="2000" b="0" i="0" u="none" strike="noStrike" kern="1200" cap="none" spc="0" normalizeH="0" baseline="0" noProof="0" dirty="0">
              <a:ln>
                <a:noFill/>
              </a:ln>
              <a:solidFill>
                <a:srgbClr val="0070C0"/>
              </a:solidFill>
              <a:effectLst/>
              <a:uLnTx/>
              <a:uFillTx/>
              <a:latin typeface="Perpetua"/>
              <a:ea typeface="宋体" panose="02010600030101010101" pitchFamily="2" charset="-122"/>
              <a:cs typeface="+mn-cs"/>
            </a:endParaRPr>
          </a:p>
        </p:txBody>
      </p:sp>
      <p:sp>
        <p:nvSpPr>
          <p:cNvPr id="32" name="文本框 31"/>
          <p:cNvSpPr txBox="1"/>
          <p:nvPr/>
        </p:nvSpPr>
        <p:spPr>
          <a:xfrm>
            <a:off x="10021680" y="2314169"/>
            <a:ext cx="173717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0B050"/>
                </a:solidFill>
                <a:effectLst/>
                <a:uLnTx/>
                <a:uFillTx/>
                <a:latin typeface="Perpetua"/>
                <a:ea typeface="宋体" panose="02010600030101010101" pitchFamily="2" charset="-122"/>
                <a:cs typeface="+mn-cs"/>
              </a:rPr>
              <a:t>选后的信息</a:t>
            </a:r>
            <a:endParaRPr kumimoji="0" lang="en-US" altLang="zh-CN" sz="2000" b="0" i="0" u="none" strike="noStrike" kern="1200" cap="none" spc="0" normalizeH="0" baseline="0" noProof="0" dirty="0">
              <a:ln>
                <a:noFill/>
              </a:ln>
              <a:solidFill>
                <a:srgbClr val="00B050"/>
              </a:solidFill>
              <a:effectLst/>
              <a:uLnTx/>
              <a:uFillTx/>
              <a:latin typeface="Perpetua"/>
              <a:ea typeface="宋体" panose="02010600030101010101" pitchFamily="2" charset="-122"/>
              <a:cs typeface="+mn-cs"/>
            </a:endParaRPr>
          </a:p>
        </p:txBody>
      </p:sp>
      <p:pic>
        <p:nvPicPr>
          <p:cNvPr id="5" name="图片 4"/>
          <p:cNvPicPr>
            <a:picLocks noChangeAspect="1"/>
          </p:cNvPicPr>
          <p:nvPr/>
        </p:nvPicPr>
        <p:blipFill>
          <a:blip r:embed="rId8"/>
          <a:stretch>
            <a:fillRect/>
          </a:stretch>
        </p:blipFill>
        <p:spPr>
          <a:xfrm>
            <a:off x="6318796" y="1971926"/>
            <a:ext cx="3927519" cy="3672581"/>
          </a:xfrm>
          <a:prstGeom prst="rect">
            <a:avLst/>
          </a:prstGeom>
        </p:spPr>
      </p:pic>
      <p:grpSp>
        <p:nvGrpSpPr>
          <p:cNvPr id="16" name="Group 15">
            <a:extLst>
              <a:ext uri="{FF2B5EF4-FFF2-40B4-BE49-F238E27FC236}">
                <a16:creationId xmlns:a16="http://schemas.microsoft.com/office/drawing/2014/main" id="{3E298048-D957-F2AD-C161-42F50364BDD3}"/>
              </a:ext>
            </a:extLst>
          </p:cNvPr>
          <p:cNvGrpSpPr/>
          <p:nvPr/>
        </p:nvGrpSpPr>
        <p:grpSpPr>
          <a:xfrm>
            <a:off x="8282556" y="1429587"/>
            <a:ext cx="1664140" cy="1275526"/>
            <a:chOff x="8282556" y="1429587"/>
            <a:chExt cx="1664140" cy="1275526"/>
          </a:xfrm>
        </p:grpSpPr>
        <p:sp>
          <p:nvSpPr>
            <p:cNvPr id="4" name="文本框 21">
              <a:extLst>
                <a:ext uri="{FF2B5EF4-FFF2-40B4-BE49-F238E27FC236}">
                  <a16:creationId xmlns:a16="http://schemas.microsoft.com/office/drawing/2014/main" id="{98969CC0-7965-4510-BEE3-BAFC11E50356}"/>
                </a:ext>
              </a:extLst>
            </p:cNvPr>
            <p:cNvSpPr txBox="1"/>
            <p:nvPr/>
          </p:nvSpPr>
          <p:spPr>
            <a:xfrm>
              <a:off x="8591531" y="1429587"/>
              <a:ext cx="1355165"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CC66FF"/>
                  </a:solidFill>
                  <a:effectLst/>
                  <a:uLnTx/>
                  <a:uFillTx/>
                  <a:latin typeface="Perpetua"/>
                  <a:ea typeface="宋体" panose="02010600030101010101" pitchFamily="2" charset="-122"/>
                  <a:cs typeface="+mn-cs"/>
                </a:rPr>
                <a:t>按位操作</a:t>
              </a:r>
              <a:endParaRPr kumimoji="0" lang="en-US" altLang="zh-CN" sz="2000" b="0" i="0" u="none" strike="noStrike" kern="1200" cap="none" spc="0" normalizeH="0" baseline="0" noProof="0" dirty="0">
                <a:ln>
                  <a:noFill/>
                </a:ln>
                <a:solidFill>
                  <a:srgbClr val="CC66FF"/>
                </a:solidFill>
                <a:effectLst/>
                <a:uLnTx/>
                <a:uFillTx/>
                <a:latin typeface="Perpetua"/>
                <a:ea typeface="宋体" panose="02010600030101010101" pitchFamily="2" charset="-122"/>
                <a:cs typeface="+mn-cs"/>
              </a:endParaRPr>
            </a:p>
          </p:txBody>
        </p:sp>
        <p:cxnSp>
          <p:nvCxnSpPr>
            <p:cNvPr id="6" name="直接箭头连接符 22">
              <a:extLst>
                <a:ext uri="{FF2B5EF4-FFF2-40B4-BE49-F238E27FC236}">
                  <a16:creationId xmlns:a16="http://schemas.microsoft.com/office/drawing/2014/main" id="{4638A47B-DCD9-F405-6818-20E209EA4071}"/>
                </a:ext>
              </a:extLst>
            </p:cNvPr>
            <p:cNvCxnSpPr>
              <a:cxnSpLocks/>
              <a:endCxn id="5" idx="0"/>
            </p:cNvCxnSpPr>
            <p:nvPr/>
          </p:nvCxnSpPr>
          <p:spPr>
            <a:xfrm flipH="1">
              <a:off x="8282556" y="1685094"/>
              <a:ext cx="308976" cy="286832"/>
            </a:xfrm>
            <a:prstGeom prst="straightConnector1">
              <a:avLst/>
            </a:prstGeom>
            <a:ln w="38100">
              <a:solidFill>
                <a:srgbClr val="CC66FF"/>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22">
              <a:extLst>
                <a:ext uri="{FF2B5EF4-FFF2-40B4-BE49-F238E27FC236}">
                  <a16:creationId xmlns:a16="http://schemas.microsoft.com/office/drawing/2014/main" id="{386DC00E-A558-5DE9-E42C-157EA42C710C}"/>
                </a:ext>
              </a:extLst>
            </p:cNvPr>
            <p:cNvCxnSpPr>
              <a:cxnSpLocks/>
            </p:cNvCxnSpPr>
            <p:nvPr/>
          </p:nvCxnSpPr>
          <p:spPr>
            <a:xfrm flipH="1">
              <a:off x="8358809" y="1837494"/>
              <a:ext cx="385123" cy="867619"/>
            </a:xfrm>
            <a:prstGeom prst="straightConnector1">
              <a:avLst/>
            </a:prstGeom>
            <a:ln w="38100">
              <a:solidFill>
                <a:srgbClr val="CC66FF"/>
              </a:solidFill>
              <a:tailEnd type="triangle"/>
            </a:ln>
          </p:spPr>
          <p:style>
            <a:lnRef idx="1">
              <a:schemeClr val="accent1"/>
            </a:lnRef>
            <a:fillRef idx="0">
              <a:schemeClr val="accent1"/>
            </a:fillRef>
            <a:effectRef idx="0">
              <a:schemeClr val="accent1"/>
            </a:effectRef>
            <a:fontRef idx="minor">
              <a:schemeClr val="tx1"/>
            </a:fontRef>
          </p:style>
        </p:cxnSp>
      </p:grpSp>
      <p:sp>
        <p:nvSpPr>
          <p:cNvPr id="7" name="文本框 27">
            <a:extLst>
              <a:ext uri="{FF2B5EF4-FFF2-40B4-BE49-F238E27FC236}">
                <a16:creationId xmlns:a16="http://schemas.microsoft.com/office/drawing/2014/main" id="{27DFCAA0-EF31-7058-0BBC-382190B9B569}"/>
              </a:ext>
            </a:extLst>
          </p:cNvPr>
          <p:cNvSpPr txBox="1"/>
          <p:nvPr/>
        </p:nvSpPr>
        <p:spPr>
          <a:xfrm>
            <a:off x="10021680" y="2820910"/>
            <a:ext cx="1620156"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按维度放缩</a:t>
            </a:r>
            <a:endParaRPr kumimoji="0" lang="en-US" altLang="zh-CN" sz="20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p:spTree>
    <p:extLst>
      <p:ext uri="{BB962C8B-B14F-4D97-AF65-F5344CB8AC3E}">
        <p14:creationId xmlns:p14="http://schemas.microsoft.com/office/powerpoint/2010/main" val="789492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13" grpId="0" animBg="1"/>
      <p:bldP spid="17" grpId="0"/>
      <p:bldP spid="19" grpId="0"/>
      <p:bldP spid="20" grpId="0"/>
      <p:bldP spid="22" grpId="0"/>
      <p:bldP spid="28" grpId="0"/>
      <p:bldP spid="31" grpId="0"/>
      <p:bldP spid="32" grpId="0"/>
      <p:bldP spid="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LSTM</a:t>
            </a:r>
            <a:r>
              <a:rPr lang="zh-CN" altLang="en-US" dirty="0"/>
              <a:t>模块：对于历史状态</a:t>
            </a:r>
            <a:r>
              <a:rPr lang="en-US" altLang="zh-CN" dirty="0"/>
              <a:t>s</a:t>
            </a:r>
            <a:r>
              <a:rPr lang="zh-CN" altLang="en-US" dirty="0"/>
              <a:t>的操作</a:t>
            </a:r>
          </a:p>
        </p:txBody>
      </p:sp>
      <p:pic>
        <p:nvPicPr>
          <p:cNvPr id="4" name="图片 3"/>
          <p:cNvPicPr>
            <a:picLocks noChangeAspect="1"/>
          </p:cNvPicPr>
          <p:nvPr/>
        </p:nvPicPr>
        <p:blipFill>
          <a:blip r:embed="rId2"/>
          <a:stretch>
            <a:fillRect/>
          </a:stretch>
        </p:blipFill>
        <p:spPr>
          <a:xfrm>
            <a:off x="2596577" y="1417638"/>
            <a:ext cx="6173712" cy="4640506"/>
          </a:xfrm>
          <a:prstGeom prst="rect">
            <a:avLst/>
          </a:prstGeom>
        </p:spPr>
      </p:pic>
      <mc:AlternateContent xmlns:mc="http://schemas.openxmlformats.org/markup-compatibility/2006" xmlns:a14="http://schemas.microsoft.com/office/drawing/2010/main">
        <mc:Choice Requires="a14">
          <p:sp>
            <p:nvSpPr>
              <p:cNvPr id="6" name="矩形 5"/>
              <p:cNvSpPr/>
              <p:nvPr/>
            </p:nvSpPr>
            <p:spPr>
              <a:xfrm>
                <a:off x="8093192" y="1936565"/>
                <a:ext cx="2138342" cy="41928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𝑠</m:t>
                          </m:r>
                        </m:e>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𝑠</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𝑠</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2</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 …,</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𝑠</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𝑚</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e>
                      </m:d>
                    </m:oMath>
                  </m:oMathPara>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6" name="矩形 5"/>
              <p:cNvSpPr>
                <a:spLocks noRot="1" noChangeAspect="1" noMove="1" noResize="1" noEditPoints="1" noAdjustHandles="1" noChangeArrowheads="1" noChangeShapeType="1" noTextEdit="1"/>
              </p:cNvSpPr>
              <p:nvPr/>
            </p:nvSpPr>
            <p:spPr>
              <a:xfrm>
                <a:off x="8093192" y="1936565"/>
                <a:ext cx="2138342" cy="419282"/>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a:off x="8164878" y="4122118"/>
                <a:ext cx="2156488" cy="40498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2</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 …,</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𝑚</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e>
                      </m:d>
                    </m:oMath>
                  </m:oMathPara>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8" name="矩形 7"/>
              <p:cNvSpPr>
                <a:spLocks noRot="1" noChangeAspect="1" noMove="1" noResize="1" noEditPoints="1" noAdjustHandles="1" noChangeArrowheads="1" noChangeShapeType="1" noTextEdit="1"/>
              </p:cNvSpPr>
              <p:nvPr/>
            </p:nvSpPr>
            <p:spPr>
              <a:xfrm>
                <a:off x="8164878" y="4122118"/>
                <a:ext cx="2156488" cy="404983"/>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4491375" y="5529499"/>
                <a:ext cx="2139817" cy="40498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2</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 …,</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𝑛</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e>
                      </m:d>
                    </m:oMath>
                  </m:oMathPara>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9" name="矩形 8"/>
              <p:cNvSpPr>
                <a:spLocks noRot="1" noChangeAspect="1" noMove="1" noResize="1" noEditPoints="1" noAdjustHandles="1" noChangeArrowheads="1" noChangeShapeType="1" noTextEdit="1"/>
              </p:cNvSpPr>
              <p:nvPr/>
            </p:nvSpPr>
            <p:spPr>
              <a:xfrm>
                <a:off x="4491375" y="5529499"/>
                <a:ext cx="2139817" cy="404983"/>
              </a:xfrm>
              <a:prstGeom prst="rect">
                <a:avLst/>
              </a:prstGeom>
              <a:blipFill>
                <a:blip r:embed="rId5"/>
                <a:stretch>
                  <a:fillRect/>
                </a:stretch>
              </a:blipFill>
            </p:spPr>
            <p:txBody>
              <a:bodyPr/>
              <a:lstStyle/>
              <a:p>
                <a:r>
                  <a:rPr lang="zh-CN" altLang="en-US">
                    <a:noFill/>
                  </a:rPr>
                  <a:t> </a:t>
                </a:r>
              </a:p>
            </p:txBody>
          </p:sp>
        </mc:Fallback>
      </mc:AlternateContent>
      <p:sp>
        <p:nvSpPr>
          <p:cNvPr id="10" name="文本框 9"/>
          <p:cNvSpPr txBox="1"/>
          <p:nvPr/>
        </p:nvSpPr>
        <p:spPr>
          <a:xfrm>
            <a:off x="8969076" y="2444502"/>
            <a:ext cx="739466"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状态</a:t>
            </a:r>
            <a:endParaRPr kumimoji="0" lang="en-US" altLang="zh-CN"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p:spTree>
    <p:extLst>
      <p:ext uri="{BB962C8B-B14F-4D97-AF65-F5344CB8AC3E}">
        <p14:creationId xmlns:p14="http://schemas.microsoft.com/office/powerpoint/2010/main" val="1117008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LSTM</a:t>
            </a:r>
            <a:r>
              <a:rPr lang="zh-CN" altLang="en-US" dirty="0"/>
              <a:t>模块：遗忘门操作历史状态</a:t>
            </a:r>
            <a:r>
              <a:rPr lang="en-US" altLang="zh-CN" dirty="0"/>
              <a:t>s</a:t>
            </a:r>
            <a:endParaRPr lang="zh-CN" altLang="en-US" dirty="0"/>
          </a:p>
        </p:txBody>
      </p:sp>
      <p:pic>
        <p:nvPicPr>
          <p:cNvPr id="4" name="图片 3"/>
          <p:cNvPicPr>
            <a:picLocks noChangeAspect="1"/>
          </p:cNvPicPr>
          <p:nvPr/>
        </p:nvPicPr>
        <p:blipFill>
          <a:blip r:embed="rId2"/>
          <a:stretch>
            <a:fillRect/>
          </a:stretch>
        </p:blipFill>
        <p:spPr>
          <a:xfrm>
            <a:off x="4564015" y="993046"/>
            <a:ext cx="6631389" cy="4984521"/>
          </a:xfrm>
          <a:prstGeom prst="rect">
            <a:avLst/>
          </a:prstGeom>
        </p:spPr>
      </p:pic>
      <p:sp>
        <p:nvSpPr>
          <p:cNvPr id="5" name="椭圆 4"/>
          <p:cNvSpPr/>
          <p:nvPr/>
        </p:nvSpPr>
        <p:spPr>
          <a:xfrm>
            <a:off x="5788516" y="3572928"/>
            <a:ext cx="924709" cy="1356880"/>
          </a:xfrm>
          <a:prstGeom prst="ellipse">
            <a:avLst/>
          </a:prstGeom>
          <a:noFill/>
          <a:ln w="19050">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文本框 5"/>
          <p:cNvSpPr txBox="1"/>
          <p:nvPr/>
        </p:nvSpPr>
        <p:spPr>
          <a:xfrm>
            <a:off x="7183839" y="5373500"/>
            <a:ext cx="99802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B0F0"/>
                </a:solidFill>
                <a:effectLst/>
                <a:uLnTx/>
                <a:uFillTx/>
                <a:latin typeface="Perpetua"/>
                <a:ea typeface="宋体" panose="02010600030101010101" pitchFamily="2" charset="-122"/>
                <a:cs typeface="+mn-cs"/>
              </a:rPr>
              <a:t>遗忘门</a:t>
            </a:r>
            <a:endParaRPr kumimoji="0" lang="en-US" altLang="zh-CN" sz="2000" b="1" i="0" u="none" strike="noStrike" kern="1200" cap="none" spc="0" normalizeH="0" baseline="0" noProof="0" dirty="0">
              <a:ln>
                <a:noFill/>
              </a:ln>
              <a:solidFill>
                <a:srgbClr val="00B0F0"/>
              </a:solidFill>
              <a:effectLst/>
              <a:uLnTx/>
              <a:uFillTx/>
              <a:latin typeface="Perpetua"/>
              <a:ea typeface="宋体" panose="02010600030101010101" pitchFamily="2" charset="-122"/>
              <a:cs typeface="+mn-cs"/>
            </a:endParaRPr>
          </a:p>
        </p:txBody>
      </p:sp>
      <p:cxnSp>
        <p:nvCxnSpPr>
          <p:cNvPr id="7" name="直接箭头连接符 6"/>
          <p:cNvCxnSpPr>
            <a:stCxn id="6" idx="1"/>
          </p:cNvCxnSpPr>
          <p:nvPr/>
        </p:nvCxnSpPr>
        <p:spPr>
          <a:xfrm flipH="1" flipV="1">
            <a:off x="6458975" y="4929809"/>
            <a:ext cx="724864" cy="643746"/>
          </a:xfrm>
          <a:prstGeom prst="straightConnector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矩形 14"/>
              <p:cNvSpPr/>
              <p:nvPr/>
            </p:nvSpPr>
            <p:spPr>
              <a:xfrm>
                <a:off x="2336290" y="4837736"/>
                <a:ext cx="3499932" cy="50481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p>
                      </m:s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p>
                          </m:sSub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2</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p>
                          </m:sSubSup>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 …,</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𝑚</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p>
                          </m:sSubSup>
                        </m:e>
                      </m:d>
                    </m:oMath>
                  </m:oMathPara>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15" name="矩形 14"/>
              <p:cNvSpPr>
                <a:spLocks noRot="1" noChangeAspect="1" noMove="1" noResize="1" noEditPoints="1" noAdjustHandles="1" noChangeArrowheads="1" noChangeShapeType="1" noTextEdit="1"/>
              </p:cNvSpPr>
              <p:nvPr/>
            </p:nvSpPr>
            <p:spPr>
              <a:xfrm>
                <a:off x="2336290" y="4837736"/>
                <a:ext cx="3499932" cy="504818"/>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p:cNvSpPr/>
              <p:nvPr/>
            </p:nvSpPr>
            <p:spPr>
              <a:xfrm>
                <a:off x="3966556" y="5467531"/>
                <a:ext cx="2139817" cy="40498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2</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 …,</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𝑛</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e>
                      </m:d>
                    </m:oMath>
                  </m:oMathPara>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16" name="矩形 15"/>
              <p:cNvSpPr>
                <a:spLocks noRot="1" noChangeAspect="1" noMove="1" noResize="1" noEditPoints="1" noAdjustHandles="1" noChangeArrowheads="1" noChangeShapeType="1" noTextEdit="1"/>
              </p:cNvSpPr>
              <p:nvPr/>
            </p:nvSpPr>
            <p:spPr>
              <a:xfrm>
                <a:off x="3966556" y="5467531"/>
                <a:ext cx="2139817" cy="404983"/>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矩形 16"/>
              <p:cNvSpPr/>
              <p:nvPr/>
            </p:nvSpPr>
            <p:spPr>
              <a:xfrm>
                <a:off x="3715538" y="3426398"/>
                <a:ext cx="2113912" cy="40498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𝑓</m:t>
                          </m:r>
                        </m:e>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𝑓</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𝑓</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2</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 …,</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𝑓</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𝑚</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e>
                      </m:d>
                    </m:oMath>
                  </m:oMathPara>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17" name="矩形 16"/>
              <p:cNvSpPr>
                <a:spLocks noRot="1" noChangeAspect="1" noMove="1" noResize="1" noEditPoints="1" noAdjustHandles="1" noChangeArrowheads="1" noChangeShapeType="1" noTextEdit="1"/>
              </p:cNvSpPr>
              <p:nvPr/>
            </p:nvSpPr>
            <p:spPr>
              <a:xfrm>
                <a:off x="3715538" y="3426398"/>
                <a:ext cx="2113912" cy="404983"/>
              </a:xfrm>
              <a:prstGeom prst="rect">
                <a:avLst/>
              </a:prstGeom>
              <a:blipFill>
                <a:blip r:embed="rId5"/>
                <a:stretch>
                  <a:fillRect b="-74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矩形 18"/>
              <p:cNvSpPr/>
              <p:nvPr/>
            </p:nvSpPr>
            <p:spPr>
              <a:xfrm>
                <a:off x="628136" y="2395021"/>
                <a:ext cx="4526944" cy="98405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zh-CN" altLang="en-US"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𝑓</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𝜎</m:t>
                      </m:r>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nary>
                            <m:naryPr>
                              <m:chr m:val="∑"/>
                              <m:limLoc m:val="undOv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naryPr>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𝑗</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sub>
                            <m:sup>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𝑚</m:t>
                              </m:r>
                            </m:sup>
                            <m:e>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𝑊</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𝑗</m:t>
                                  </m:r>
                                </m:sub>
                                <m:sup>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𝑓</m:t>
                                  </m:r>
                                </m:sup>
                              </m:sSubSup>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h</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𝑗</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nary>
                                <m:naryPr>
                                  <m:chr m:val="∑"/>
                                  <m:limLoc m:val="undOv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naryPr>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𝑗</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sub>
                                <m:sup>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𝑛</m:t>
                                  </m:r>
                                </m:sup>
                                <m:e>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𝑈</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𝑗</m:t>
                                      </m:r>
                                    </m:sub>
                                    <m:sup>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𝑓</m:t>
                                      </m:r>
                                    </m:sup>
                                  </m:sSubSup>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𝑥</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𝑗</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e>
                              </m:nary>
                            </m:e>
                          </m:nary>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𝑏</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sub>
                            <m:sup>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𝑓</m:t>
                              </m:r>
                            </m:sup>
                          </m:sSubSup>
                        </m:e>
                      </m:d>
                    </m:oMath>
                  </m:oMathPara>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19" name="矩形 18"/>
              <p:cNvSpPr>
                <a:spLocks noRot="1" noChangeAspect="1" noMove="1" noResize="1" noEditPoints="1" noAdjustHandles="1" noChangeArrowheads="1" noChangeShapeType="1" noTextEdit="1"/>
              </p:cNvSpPr>
              <p:nvPr/>
            </p:nvSpPr>
            <p:spPr>
              <a:xfrm>
                <a:off x="628136" y="2395021"/>
                <a:ext cx="4526944" cy="984052"/>
              </a:xfrm>
              <a:prstGeom prst="rect">
                <a:avLst/>
              </a:prstGeom>
              <a:blipFill>
                <a:blip r:embed="rId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413101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15" grpId="0"/>
      <p:bldP spid="16" grpId="0"/>
      <p:bldP spid="17" grpId="0"/>
      <p:bldP spid="1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28877" y="655623"/>
            <a:ext cx="6879057" cy="5124975"/>
          </a:xfrm>
          <a:prstGeom prst="rect">
            <a:avLst/>
          </a:prstGeom>
          <a:noFill/>
        </p:spPr>
      </p:pic>
      <p:sp>
        <p:nvSpPr>
          <p:cNvPr id="2" name="标题 1"/>
          <p:cNvSpPr>
            <a:spLocks noGrp="1"/>
          </p:cNvSpPr>
          <p:nvPr>
            <p:ph type="title"/>
          </p:nvPr>
        </p:nvSpPr>
        <p:spPr/>
        <p:txBody>
          <a:bodyPr/>
          <a:lstStyle/>
          <a:p>
            <a:r>
              <a:rPr lang="en-US" altLang="zh-CN" dirty="0"/>
              <a:t>LSTM</a:t>
            </a:r>
            <a:r>
              <a:rPr lang="zh-CN" altLang="en-US" dirty="0"/>
              <a:t>模块：输入门操作当前信息</a:t>
            </a:r>
          </a:p>
        </p:txBody>
      </p:sp>
      <p:sp>
        <p:nvSpPr>
          <p:cNvPr id="5" name="椭圆 4"/>
          <p:cNvSpPr/>
          <p:nvPr/>
        </p:nvSpPr>
        <p:spPr>
          <a:xfrm>
            <a:off x="6527987" y="3334389"/>
            <a:ext cx="924709" cy="1356880"/>
          </a:xfrm>
          <a:prstGeom prst="ellipse">
            <a:avLst/>
          </a:prstGeom>
          <a:noFill/>
          <a:ln w="19050">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文本框 5"/>
          <p:cNvSpPr txBox="1"/>
          <p:nvPr/>
        </p:nvSpPr>
        <p:spPr>
          <a:xfrm>
            <a:off x="7722861" y="5110428"/>
            <a:ext cx="1047427"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B0F0"/>
                </a:solidFill>
                <a:effectLst/>
                <a:uLnTx/>
                <a:uFillTx/>
                <a:latin typeface="Perpetua"/>
                <a:ea typeface="宋体" panose="02010600030101010101" pitchFamily="2" charset="-122"/>
                <a:cs typeface="+mn-cs"/>
              </a:rPr>
              <a:t>输入门</a:t>
            </a:r>
            <a:endParaRPr kumimoji="0" lang="en-US" altLang="zh-CN" sz="2000" b="1" i="0" u="none" strike="noStrike" kern="1200" cap="none" spc="0" normalizeH="0" baseline="0" noProof="0" dirty="0">
              <a:ln>
                <a:noFill/>
              </a:ln>
              <a:solidFill>
                <a:srgbClr val="00B0F0"/>
              </a:solidFill>
              <a:effectLst/>
              <a:uLnTx/>
              <a:uFillTx/>
              <a:latin typeface="Perpetua"/>
              <a:ea typeface="宋体" panose="02010600030101010101" pitchFamily="2" charset="-122"/>
              <a:cs typeface="+mn-cs"/>
            </a:endParaRPr>
          </a:p>
        </p:txBody>
      </p:sp>
      <p:cxnSp>
        <p:nvCxnSpPr>
          <p:cNvPr id="7" name="直接箭头连接符 6"/>
          <p:cNvCxnSpPr>
            <a:stCxn id="6" idx="1"/>
          </p:cNvCxnSpPr>
          <p:nvPr/>
        </p:nvCxnSpPr>
        <p:spPr>
          <a:xfrm flipH="1" flipV="1">
            <a:off x="7203882" y="4691269"/>
            <a:ext cx="518979" cy="619214"/>
          </a:xfrm>
          <a:prstGeom prst="straightConnector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矩形 9"/>
              <p:cNvSpPr/>
              <p:nvPr/>
            </p:nvSpPr>
            <p:spPr>
              <a:xfrm>
                <a:off x="1219200" y="4103706"/>
                <a:ext cx="3499932" cy="50481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p>
                      </m:s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p>
                          </m:sSub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2</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p>
                          </m:sSubSup>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 …,</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𝑚</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p>
                          </m:sSubSup>
                        </m:e>
                      </m:d>
                    </m:oMath>
                  </m:oMathPara>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10" name="矩形 9"/>
              <p:cNvSpPr>
                <a:spLocks noRot="1" noChangeAspect="1" noMove="1" noResize="1" noEditPoints="1" noAdjustHandles="1" noChangeArrowheads="1" noChangeShapeType="1" noTextEdit="1"/>
              </p:cNvSpPr>
              <p:nvPr/>
            </p:nvSpPr>
            <p:spPr>
              <a:xfrm>
                <a:off x="1219200" y="4103706"/>
                <a:ext cx="3499932" cy="504818"/>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3878454" y="5179696"/>
                <a:ext cx="2139817" cy="40498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2</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 …,</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𝑛</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e>
                      </m:d>
                    </m:oMath>
                  </m:oMathPara>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11" name="矩形 10"/>
              <p:cNvSpPr>
                <a:spLocks noRot="1" noChangeAspect="1" noMove="1" noResize="1" noEditPoints="1" noAdjustHandles="1" noChangeArrowheads="1" noChangeShapeType="1" noTextEdit="1"/>
              </p:cNvSpPr>
              <p:nvPr/>
            </p:nvSpPr>
            <p:spPr>
              <a:xfrm>
                <a:off x="3878454" y="5179696"/>
                <a:ext cx="2139817" cy="404983"/>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2572982" y="2243360"/>
                <a:ext cx="2184124" cy="40498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𝑔</m:t>
                          </m:r>
                        </m:e>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𝑔</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𝑔</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2</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 …,</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𝑔</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𝑚</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e>
                      </m:d>
                    </m:oMath>
                  </m:oMathPara>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12" name="矩形 11"/>
              <p:cNvSpPr>
                <a:spLocks noRot="1" noChangeAspect="1" noMove="1" noResize="1" noEditPoints="1" noAdjustHandles="1" noChangeArrowheads="1" noChangeShapeType="1" noTextEdit="1"/>
              </p:cNvSpPr>
              <p:nvPr/>
            </p:nvSpPr>
            <p:spPr>
              <a:xfrm>
                <a:off x="2572982" y="2243360"/>
                <a:ext cx="2184124" cy="404983"/>
              </a:xfrm>
              <a:prstGeom prst="rect">
                <a:avLst/>
              </a:prstGeom>
              <a:blipFill>
                <a:blip r:embed="rId5"/>
                <a:stretch>
                  <a:fillRect b="-30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1084240" y="2656331"/>
                <a:ext cx="4539320" cy="98405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zh-CN" altLang="en-US"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𝑔</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𝜎</m:t>
                      </m:r>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nary>
                            <m:naryPr>
                              <m:chr m:val="∑"/>
                              <m:limLoc m:val="undOv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naryPr>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𝑗</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sub>
                            <m:sup>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𝑚</m:t>
                              </m:r>
                            </m:sup>
                            <m:e>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𝑊</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𝑗</m:t>
                                  </m:r>
                                </m:sub>
                                <m:sup>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𝑔</m:t>
                                  </m:r>
                                </m:sup>
                              </m:sSubSup>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h</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𝑗</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nary>
                                <m:naryPr>
                                  <m:chr m:val="∑"/>
                                  <m:limLoc m:val="undOv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naryPr>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𝑗</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sub>
                                <m:sup>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𝑛</m:t>
                                  </m:r>
                                </m:sup>
                                <m:e>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𝑈</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𝑗</m:t>
                                      </m:r>
                                    </m:sub>
                                    <m:sup>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𝑔</m:t>
                                      </m:r>
                                    </m:sup>
                                  </m:sSubSup>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𝑥</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𝑗</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e>
                              </m:nary>
                            </m:e>
                          </m:nary>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𝑏</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sub>
                            <m:sup>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𝑔</m:t>
                              </m:r>
                            </m:sup>
                          </m:sSubSup>
                        </m:e>
                      </m:d>
                    </m:oMath>
                  </m:oMathPara>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13" name="矩形 12"/>
              <p:cNvSpPr>
                <a:spLocks noRot="1" noChangeAspect="1" noMove="1" noResize="1" noEditPoints="1" noAdjustHandles="1" noChangeArrowheads="1" noChangeShapeType="1" noTextEdit="1"/>
              </p:cNvSpPr>
              <p:nvPr/>
            </p:nvSpPr>
            <p:spPr>
              <a:xfrm>
                <a:off x="1084240" y="2656331"/>
                <a:ext cx="4539320" cy="984052"/>
              </a:xfrm>
              <a:prstGeom prst="rect">
                <a:avLst/>
              </a:prstGeom>
              <a:blipFill>
                <a:blip r:embed="rId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59092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10" grpId="0"/>
      <p:bldP spid="11" grpId="0"/>
      <p:bldP spid="12" grpId="0"/>
      <p:bldP spid="1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LSTM</a:t>
            </a:r>
            <a:r>
              <a:rPr lang="zh-CN" altLang="en-US" dirty="0"/>
              <a:t>模块：输入处理单元编码当前信息</a:t>
            </a:r>
          </a:p>
        </p:txBody>
      </p:sp>
      <p:pic>
        <p:nvPicPr>
          <p:cNvPr id="4" name="图片 3"/>
          <p:cNvPicPr>
            <a:picLocks noChangeAspect="1"/>
          </p:cNvPicPr>
          <p:nvPr/>
        </p:nvPicPr>
        <p:blipFill>
          <a:blip r:embed="rId2"/>
          <a:stretch>
            <a:fillRect/>
          </a:stretch>
        </p:blipFill>
        <p:spPr>
          <a:xfrm>
            <a:off x="4277801" y="793385"/>
            <a:ext cx="6321287" cy="4751432"/>
          </a:xfrm>
          <a:prstGeom prst="rect">
            <a:avLst/>
          </a:prstGeom>
        </p:spPr>
      </p:pic>
      <p:sp>
        <p:nvSpPr>
          <p:cNvPr id="5" name="椭圆 4"/>
          <p:cNvSpPr/>
          <p:nvPr/>
        </p:nvSpPr>
        <p:spPr>
          <a:xfrm>
            <a:off x="6893745" y="3093515"/>
            <a:ext cx="924709" cy="1356880"/>
          </a:xfrm>
          <a:prstGeom prst="ellipse">
            <a:avLst/>
          </a:prstGeom>
          <a:noFill/>
          <a:ln w="19050">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文本框 5"/>
          <p:cNvSpPr txBox="1"/>
          <p:nvPr/>
        </p:nvSpPr>
        <p:spPr>
          <a:xfrm>
            <a:off x="7474224" y="5061918"/>
            <a:ext cx="1796997"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B0F0"/>
                </a:solidFill>
                <a:effectLst/>
                <a:uLnTx/>
                <a:uFillTx/>
                <a:latin typeface="Perpetua"/>
                <a:ea typeface="宋体" panose="02010600030101010101" pitchFamily="2" charset="-122"/>
                <a:cs typeface="+mn-cs"/>
              </a:rPr>
              <a:t>输入处理单元</a:t>
            </a:r>
            <a:endParaRPr kumimoji="0" lang="en-US" altLang="zh-CN" sz="2000" b="1" i="0" u="none" strike="noStrike" kern="1200" cap="none" spc="0" normalizeH="0" baseline="0" noProof="0" dirty="0">
              <a:ln>
                <a:noFill/>
              </a:ln>
              <a:solidFill>
                <a:srgbClr val="00B0F0"/>
              </a:solidFill>
              <a:effectLst/>
              <a:uLnTx/>
              <a:uFillTx/>
              <a:latin typeface="Perpetua"/>
              <a:ea typeface="宋体" panose="02010600030101010101" pitchFamily="2" charset="-122"/>
              <a:cs typeface="+mn-cs"/>
            </a:endParaRPr>
          </a:p>
        </p:txBody>
      </p:sp>
      <p:cxnSp>
        <p:nvCxnSpPr>
          <p:cNvPr id="7" name="直接箭头连接符 6"/>
          <p:cNvCxnSpPr>
            <a:stCxn id="6" idx="0"/>
          </p:cNvCxnSpPr>
          <p:nvPr/>
        </p:nvCxnSpPr>
        <p:spPr>
          <a:xfrm flipH="1" flipV="1">
            <a:off x="7601413" y="4365266"/>
            <a:ext cx="771310" cy="696652"/>
          </a:xfrm>
          <a:prstGeom prst="straightConnector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矩形 10"/>
              <p:cNvSpPr/>
              <p:nvPr/>
            </p:nvSpPr>
            <p:spPr>
              <a:xfrm>
                <a:off x="905055" y="4075133"/>
                <a:ext cx="3499932" cy="50481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p>
                      </m:s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p>
                          </m:sSub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2</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p>
                          </m:sSubSup>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 …,</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𝑚</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p>
                          </m:sSubSup>
                        </m:e>
                      </m:d>
                    </m:oMath>
                  </m:oMathPara>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11" name="矩形 10"/>
              <p:cNvSpPr>
                <a:spLocks noRot="1" noChangeAspect="1" noMove="1" noResize="1" noEditPoints="1" noAdjustHandles="1" noChangeArrowheads="1" noChangeShapeType="1" noTextEdit="1"/>
              </p:cNvSpPr>
              <p:nvPr/>
            </p:nvSpPr>
            <p:spPr>
              <a:xfrm>
                <a:off x="905055" y="4075133"/>
                <a:ext cx="3499932" cy="504818"/>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3648035" y="5057045"/>
                <a:ext cx="2139817" cy="40498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2</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 …,</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𝑛</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e>
                      </m:d>
                    </m:oMath>
                  </m:oMathPara>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12" name="矩形 11"/>
              <p:cNvSpPr>
                <a:spLocks noRot="1" noChangeAspect="1" noMove="1" noResize="1" noEditPoints="1" noAdjustHandles="1" noChangeArrowheads="1" noChangeShapeType="1" noTextEdit="1"/>
              </p:cNvSpPr>
              <p:nvPr/>
            </p:nvSpPr>
            <p:spPr>
              <a:xfrm>
                <a:off x="3648035" y="5057045"/>
                <a:ext cx="2139817" cy="404983"/>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p:cNvSpPr/>
              <p:nvPr/>
            </p:nvSpPr>
            <p:spPr>
              <a:xfrm>
                <a:off x="463359" y="2852534"/>
                <a:ext cx="4901085" cy="98405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zh-CN" altLang="en-US"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𝑘</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𝑡𝑎𝑛h</m:t>
                      </m:r>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nary>
                            <m:naryPr>
                              <m:chr m:val="∑"/>
                              <m:limLoc m:val="undOv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naryPr>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𝑗</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sub>
                            <m:sup>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𝑚</m:t>
                              </m:r>
                            </m:sup>
                            <m:e>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𝑊</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𝑘</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𝑗</m:t>
                                  </m:r>
                                </m:sub>
                                <m:sup>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sup>
                              </m:sSubSup>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h</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𝑗</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nary>
                                <m:naryPr>
                                  <m:chr m:val="∑"/>
                                  <m:limLoc m:val="undOv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naryPr>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𝑗</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sub>
                                <m:sup>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𝑛</m:t>
                                  </m:r>
                                </m:sup>
                                <m:e>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𝑈</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𝑘</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𝑗</m:t>
                                      </m:r>
                                    </m:sub>
                                    <m:sup>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sup>
                                  </m:sSubSup>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𝑥</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𝑗</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e>
                              </m:nary>
                            </m:e>
                          </m:nary>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𝑏</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𝑘</m:t>
                              </m:r>
                            </m:sub>
                            <m:sup>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sup>
                          </m:sSubSup>
                        </m:e>
                      </m:d>
                    </m:oMath>
                  </m:oMathPara>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16" name="矩形 15"/>
              <p:cNvSpPr>
                <a:spLocks noRot="1" noChangeAspect="1" noMove="1" noResize="1" noEditPoints="1" noAdjustHandles="1" noChangeArrowheads="1" noChangeShapeType="1" noTextEdit="1"/>
              </p:cNvSpPr>
              <p:nvPr/>
            </p:nvSpPr>
            <p:spPr>
              <a:xfrm>
                <a:off x="463359" y="2852534"/>
                <a:ext cx="4901085" cy="984052"/>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矩形 16"/>
              <p:cNvSpPr/>
              <p:nvPr/>
            </p:nvSpPr>
            <p:spPr>
              <a:xfrm>
                <a:off x="3250532" y="2390669"/>
                <a:ext cx="1941814" cy="40498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e>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2</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 …,</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𝑚</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e>
                      </m:d>
                    </m:oMath>
                  </m:oMathPara>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17" name="矩形 16"/>
              <p:cNvSpPr>
                <a:spLocks noRot="1" noChangeAspect="1" noMove="1" noResize="1" noEditPoints="1" noAdjustHandles="1" noChangeArrowheads="1" noChangeShapeType="1" noTextEdit="1"/>
              </p:cNvSpPr>
              <p:nvPr/>
            </p:nvSpPr>
            <p:spPr>
              <a:xfrm>
                <a:off x="3250532" y="2390669"/>
                <a:ext cx="1941814" cy="404983"/>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F025504-199B-4525-CCC3-B1E92F3B0394}"/>
                  </a:ext>
                </a:extLst>
              </p:cNvPr>
              <p:cNvSpPr txBox="1"/>
              <p:nvPr/>
            </p:nvSpPr>
            <p:spPr>
              <a:xfrm>
                <a:off x="6114385" y="5665912"/>
                <a:ext cx="2483427" cy="369332"/>
              </a:xfrm>
              <a:prstGeom prst="rect">
                <a:avLst/>
              </a:prstGeom>
              <a:noFill/>
            </p:spPr>
            <p:txBody>
              <a:bodyPr wrap="square" rtlCol="0">
                <a:spAutoFit/>
              </a:bodyPr>
              <a:lstStyle/>
              <a:p>
                <a:r>
                  <a:rPr lang="en-US" dirty="0" err="1"/>
                  <a:t>提示</a:t>
                </a:r>
                <a:r>
                  <a:rPr lang="zh-CN" altLang="en-US" dirty="0"/>
                  <a:t>：</a:t>
                </a:r>
                <a:r>
                  <a:rPr lang="en-US" dirty="0"/>
                  <a:t>tan</a:t>
                </a:r>
                <a:r>
                  <a:rPr lang="en-US" altLang="zh-CN" dirty="0"/>
                  <a:t>h(x)</a:t>
                </a:r>
                <a14:m>
                  <m:oMath xmlns:m="http://schemas.openxmlformats.org/officeDocument/2006/math">
                    <m:r>
                      <a:rPr lang="en-US" altLang="zh-CN" b="0" i="1" smtClean="0">
                        <a:latin typeface="Cambria Math" panose="02040503050406030204" pitchFamily="18" charset="0"/>
                      </a:rPr>
                      <m:t>∈[−1,1]</m:t>
                    </m:r>
                  </m:oMath>
                </a14:m>
                <a:endParaRPr lang="en-US" dirty="0"/>
              </a:p>
            </p:txBody>
          </p:sp>
        </mc:Choice>
        <mc:Fallback xmlns="">
          <p:sp>
            <p:nvSpPr>
              <p:cNvPr id="3" name="TextBox 2">
                <a:extLst>
                  <a:ext uri="{FF2B5EF4-FFF2-40B4-BE49-F238E27FC236}">
                    <a16:creationId xmlns:a16="http://schemas.microsoft.com/office/drawing/2014/main" id="{BF025504-199B-4525-CCC3-B1E92F3B0394}"/>
                  </a:ext>
                </a:extLst>
              </p:cNvPr>
              <p:cNvSpPr txBox="1">
                <a:spLocks noRot="1" noChangeAspect="1" noMove="1" noResize="1" noEditPoints="1" noAdjustHandles="1" noChangeArrowheads="1" noChangeShapeType="1" noTextEdit="1"/>
              </p:cNvSpPr>
              <p:nvPr/>
            </p:nvSpPr>
            <p:spPr>
              <a:xfrm>
                <a:off x="6114385" y="5665912"/>
                <a:ext cx="2483427" cy="369332"/>
              </a:xfrm>
              <a:prstGeom prst="rect">
                <a:avLst/>
              </a:prstGeom>
              <a:blipFill>
                <a:blip r:embed="rId7"/>
                <a:stretch>
                  <a:fillRect l="-2041" t="-12903" b="-22581"/>
                </a:stretch>
              </a:blipFill>
            </p:spPr>
            <p:txBody>
              <a:bodyPr/>
              <a:lstStyle/>
              <a:p>
                <a:r>
                  <a:rPr lang="en-US">
                    <a:noFill/>
                  </a:rPr>
                  <a:t> </a:t>
                </a:r>
              </a:p>
            </p:txBody>
          </p:sp>
        </mc:Fallback>
      </mc:AlternateContent>
    </p:spTree>
    <p:extLst>
      <p:ext uri="{BB962C8B-B14F-4D97-AF65-F5344CB8AC3E}">
        <p14:creationId xmlns:p14="http://schemas.microsoft.com/office/powerpoint/2010/main" val="2550658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11" grpId="0"/>
      <p:bldP spid="12" grpId="0"/>
      <p:bldP spid="16" grpId="0"/>
      <p:bldP spid="17" grpId="0"/>
      <p:bldP spid="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LSTM</a:t>
            </a:r>
            <a:r>
              <a:rPr lang="zh-CN" altLang="en-US" dirty="0"/>
              <a:t>模块：使用当前信息更新状态</a:t>
            </a:r>
          </a:p>
        </p:txBody>
      </p:sp>
      <p:pic>
        <p:nvPicPr>
          <p:cNvPr id="8" name="图片 7"/>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28257" y="1203945"/>
            <a:ext cx="6337190" cy="4975211"/>
          </a:xfrm>
          <a:prstGeom prst="rect">
            <a:avLst/>
          </a:prstGeom>
          <a:noFill/>
        </p:spPr>
      </p:pic>
      <mc:AlternateContent xmlns:mc="http://schemas.openxmlformats.org/markup-compatibility/2006" xmlns:a14="http://schemas.microsoft.com/office/drawing/2010/main">
        <mc:Choice Requires="a14">
          <p:sp>
            <p:nvSpPr>
              <p:cNvPr id="9" name="矩形 8"/>
              <p:cNvSpPr/>
              <p:nvPr/>
            </p:nvSpPr>
            <p:spPr>
              <a:xfrm>
                <a:off x="8148936" y="2255207"/>
                <a:ext cx="2561470" cy="50481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zh-CN" altLang="en-US"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𝑠</m:t>
                          </m:r>
                        </m:e>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𝑠</m:t>
                              </m:r>
                            </m:e>
                            <m: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𝑠</m:t>
                              </m:r>
                            </m:e>
                            <m: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2</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𝑠</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𝑚</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bSup>
                        </m:e>
                      </m:d>
                    </m:oMath>
                  </m:oMathPara>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9" name="矩形 8"/>
              <p:cNvSpPr>
                <a:spLocks noRot="1" noChangeAspect="1" noMove="1" noResize="1" noEditPoints="1" noAdjustHandles="1" noChangeArrowheads="1" noChangeShapeType="1" noTextEdit="1"/>
              </p:cNvSpPr>
              <p:nvPr/>
            </p:nvSpPr>
            <p:spPr>
              <a:xfrm>
                <a:off x="8148936" y="2255207"/>
                <a:ext cx="2561470" cy="504818"/>
              </a:xfrm>
              <a:prstGeom prst="rect">
                <a:avLst/>
              </a:prstGeom>
              <a:blipFill>
                <a:blip r:embed="rId4"/>
                <a:stretch>
                  <a:fillRect/>
                </a:stretch>
              </a:blipFill>
            </p:spPr>
            <p:txBody>
              <a:bodyPr/>
              <a:lstStyle/>
              <a:p>
                <a:r>
                  <a:rPr lang="en-US">
                    <a:noFill/>
                  </a:rPr>
                  <a:t> </a:t>
                </a:r>
              </a:p>
            </p:txBody>
          </p:sp>
        </mc:Fallback>
      </mc:AlternateContent>
      <p:sp>
        <p:nvSpPr>
          <p:cNvPr id="5" name="文本框 4"/>
          <p:cNvSpPr txBox="1"/>
          <p:nvPr/>
        </p:nvSpPr>
        <p:spPr>
          <a:xfrm>
            <a:off x="8221653" y="2970158"/>
            <a:ext cx="1280155"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状态处理</a:t>
            </a:r>
            <a:endParaRPr kumimoji="0" lang="en-US" altLang="zh-CN"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p:sp>
        <p:nvSpPr>
          <p:cNvPr id="3" name="文本框 5">
            <a:extLst>
              <a:ext uri="{FF2B5EF4-FFF2-40B4-BE49-F238E27FC236}">
                <a16:creationId xmlns:a16="http://schemas.microsoft.com/office/drawing/2014/main" id="{51C0BA4C-B65A-DBAE-9E17-3B6E473972C6}"/>
              </a:ext>
            </a:extLst>
          </p:cNvPr>
          <p:cNvSpPr txBox="1"/>
          <p:nvPr/>
        </p:nvSpPr>
        <p:spPr>
          <a:xfrm>
            <a:off x="399381" y="3047102"/>
            <a:ext cx="2290811" cy="646331"/>
          </a:xfrm>
          <a:prstGeom prst="rect">
            <a:avLst/>
          </a:prstGeom>
          <a:noFill/>
        </p:spPr>
        <p:txBody>
          <a:bodyPr wrap="square" rtlCol="0">
            <a:spAutoFit/>
          </a:bodyPr>
          <a:lstStyle/>
          <a:p>
            <a:pPr lvl="0">
              <a:defRPr/>
            </a:pPr>
            <a:r>
              <a:rPr kumimoji="0" lang="zh-CN" altLang="en-US" b="1" i="0" u="none" strike="noStrike" kern="1200" cap="none" spc="0" normalizeH="0" baseline="0" noProof="0" dirty="0">
                <a:ln>
                  <a:noFill/>
                </a:ln>
                <a:solidFill>
                  <a:srgbClr val="00B0F0"/>
                </a:solidFill>
                <a:effectLst/>
                <a:uLnTx/>
                <a:uFillTx/>
                <a:latin typeface="Perpetua"/>
                <a:ea typeface="宋体" panose="02010600030101010101" pitchFamily="2" charset="-122"/>
                <a:cs typeface="+mn-cs"/>
              </a:rPr>
              <a:t>选择哪些当前信息</a:t>
            </a:r>
            <a:r>
              <a:rPr lang="zh-CN" altLang="en-US" b="1" dirty="0">
                <a:solidFill>
                  <a:srgbClr val="00B0F0"/>
                </a:solidFill>
              </a:rPr>
              <a:t>被记入更新的状态中</a:t>
            </a:r>
            <a:endParaRPr kumimoji="0" lang="en-US" altLang="zh-CN" b="1" i="0" u="none" strike="noStrike" kern="1200" cap="none" spc="0" normalizeH="0" baseline="0" noProof="0" dirty="0">
              <a:ln>
                <a:noFill/>
              </a:ln>
              <a:solidFill>
                <a:srgbClr val="00B0F0"/>
              </a:solidFill>
              <a:effectLst/>
              <a:uLnTx/>
              <a:uFillTx/>
              <a:latin typeface="Perpetua"/>
              <a:ea typeface="宋体" panose="02010600030101010101" pitchFamily="2" charset="-122"/>
              <a:cs typeface="+mn-cs"/>
            </a:endParaRPr>
          </a:p>
        </p:txBody>
      </p:sp>
      <p:cxnSp>
        <p:nvCxnSpPr>
          <p:cNvPr id="4" name="直接箭头连接符 6">
            <a:extLst>
              <a:ext uri="{FF2B5EF4-FFF2-40B4-BE49-F238E27FC236}">
                <a16:creationId xmlns:a16="http://schemas.microsoft.com/office/drawing/2014/main" id="{99836DCB-8237-90C3-CEC5-696A07F93EE3}"/>
              </a:ext>
            </a:extLst>
          </p:cNvPr>
          <p:cNvCxnSpPr>
            <a:cxnSpLocks/>
            <a:stCxn id="3" idx="3"/>
          </p:cNvCxnSpPr>
          <p:nvPr/>
        </p:nvCxnSpPr>
        <p:spPr>
          <a:xfrm flipV="1">
            <a:off x="2690192" y="3370267"/>
            <a:ext cx="1732721" cy="1"/>
          </a:xfrm>
          <a:prstGeom prst="straightConnector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874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LSTM</a:t>
            </a:r>
            <a:r>
              <a:rPr lang="zh-CN" altLang="en-US" dirty="0"/>
              <a:t>模块：输出门进行后向信息的选择</a:t>
            </a:r>
          </a:p>
        </p:txBody>
      </p:sp>
      <p:pic>
        <p:nvPicPr>
          <p:cNvPr id="4" name="图片 3"/>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56097" y="1073426"/>
            <a:ext cx="6543924" cy="4770783"/>
          </a:xfrm>
          <a:prstGeom prst="rect">
            <a:avLst/>
          </a:prstGeom>
          <a:noFill/>
        </p:spPr>
      </p:pic>
      <p:sp>
        <p:nvSpPr>
          <p:cNvPr id="5" name="椭圆 4"/>
          <p:cNvSpPr/>
          <p:nvPr/>
        </p:nvSpPr>
        <p:spPr>
          <a:xfrm>
            <a:off x="8094392" y="3334389"/>
            <a:ext cx="924709" cy="1356880"/>
          </a:xfrm>
          <a:prstGeom prst="ellipse">
            <a:avLst/>
          </a:prstGeom>
          <a:noFill/>
          <a:ln w="19050">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文本框 5"/>
          <p:cNvSpPr txBox="1"/>
          <p:nvPr/>
        </p:nvSpPr>
        <p:spPr>
          <a:xfrm>
            <a:off x="9233609" y="5110428"/>
            <a:ext cx="1047427"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B0F0"/>
                </a:solidFill>
                <a:effectLst/>
                <a:uLnTx/>
                <a:uFillTx/>
                <a:latin typeface="Perpetua"/>
                <a:ea typeface="宋体" panose="02010600030101010101" pitchFamily="2" charset="-122"/>
                <a:cs typeface="+mn-cs"/>
              </a:rPr>
              <a:t>输出门</a:t>
            </a:r>
            <a:endParaRPr kumimoji="0" lang="en-US" altLang="zh-CN" sz="2000" b="1" i="0" u="none" strike="noStrike" kern="1200" cap="none" spc="0" normalizeH="0" baseline="0" noProof="0" dirty="0">
              <a:ln>
                <a:noFill/>
              </a:ln>
              <a:solidFill>
                <a:srgbClr val="00B0F0"/>
              </a:solidFill>
              <a:effectLst/>
              <a:uLnTx/>
              <a:uFillTx/>
              <a:latin typeface="Perpetua"/>
              <a:ea typeface="宋体" panose="02010600030101010101" pitchFamily="2" charset="-122"/>
              <a:cs typeface="+mn-cs"/>
            </a:endParaRPr>
          </a:p>
        </p:txBody>
      </p:sp>
      <p:cxnSp>
        <p:nvCxnSpPr>
          <p:cNvPr id="7" name="直接箭头连接符 6"/>
          <p:cNvCxnSpPr>
            <a:stCxn id="6" idx="1"/>
          </p:cNvCxnSpPr>
          <p:nvPr/>
        </p:nvCxnSpPr>
        <p:spPr>
          <a:xfrm flipH="1" flipV="1">
            <a:off x="8714630" y="4691269"/>
            <a:ext cx="518979" cy="619214"/>
          </a:xfrm>
          <a:prstGeom prst="straightConnector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矩形 7"/>
              <p:cNvSpPr/>
              <p:nvPr/>
            </p:nvSpPr>
            <p:spPr>
              <a:xfrm>
                <a:off x="1219200" y="4242865"/>
                <a:ext cx="3499932" cy="50481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p>
                      </m:s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p>
                          </m:sSub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2</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p>
                          </m:sSubSup>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 …,</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h</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𝑚</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p>
                          </m:sSubSup>
                        </m:e>
                      </m:d>
                    </m:oMath>
                  </m:oMathPara>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8" name="矩形 7"/>
              <p:cNvSpPr>
                <a:spLocks noRot="1" noChangeAspect="1" noMove="1" noResize="1" noEditPoints="1" noAdjustHandles="1" noChangeArrowheads="1" noChangeShapeType="1" noTextEdit="1"/>
              </p:cNvSpPr>
              <p:nvPr/>
            </p:nvSpPr>
            <p:spPr>
              <a:xfrm>
                <a:off x="1219200" y="4242865"/>
                <a:ext cx="3499932" cy="504818"/>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3695743" y="5308046"/>
                <a:ext cx="2139817" cy="40498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2</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 …,</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𝑥</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𝑛</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e>
                      </m:d>
                    </m:oMath>
                  </m:oMathPara>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9" name="矩形 8"/>
              <p:cNvSpPr>
                <a:spLocks noRot="1" noChangeAspect="1" noMove="1" noResize="1" noEditPoints="1" noAdjustHandles="1" noChangeArrowheads="1" noChangeShapeType="1" noTextEdit="1"/>
              </p:cNvSpPr>
              <p:nvPr/>
            </p:nvSpPr>
            <p:spPr>
              <a:xfrm>
                <a:off x="3695743" y="5308046"/>
                <a:ext cx="2139817" cy="404983"/>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3250532" y="2621257"/>
                <a:ext cx="2133212" cy="40498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𝑞</m:t>
                          </m:r>
                        </m:e>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𝑞</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𝑞</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2</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 …,</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𝑞</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𝑚</m:t>
                              </m:r>
                            </m:sub>
                            <m:sup>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bSup>
                        </m:e>
                      </m:d>
                    </m:oMath>
                  </m:oMathPara>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10" name="矩形 9"/>
              <p:cNvSpPr>
                <a:spLocks noRot="1" noChangeAspect="1" noMove="1" noResize="1" noEditPoints="1" noAdjustHandles="1" noChangeArrowheads="1" noChangeShapeType="1" noTextEdit="1"/>
              </p:cNvSpPr>
              <p:nvPr/>
            </p:nvSpPr>
            <p:spPr>
              <a:xfrm>
                <a:off x="3250532" y="2621257"/>
                <a:ext cx="2133212" cy="404983"/>
              </a:xfrm>
              <a:prstGeom prst="rect">
                <a:avLst/>
              </a:prstGeom>
              <a:blipFill>
                <a:blip r:embed="rId5"/>
                <a:stretch>
                  <a:fillRect b="-15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1120491" y="3094577"/>
                <a:ext cx="4512325" cy="98405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zh-CN" altLang="en-US"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𝑞</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𝜎</m:t>
                      </m:r>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nary>
                            <m:naryPr>
                              <m:chr m:val="∑"/>
                              <m:limLoc m:val="undOv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naryPr>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𝑗</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sub>
                            <m:sup>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𝑚</m:t>
                              </m:r>
                            </m:sup>
                            <m:e>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𝑊</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𝑗</m:t>
                                  </m:r>
                                </m:sub>
                                <m:sup>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𝑞</m:t>
                                  </m:r>
                                </m:sup>
                              </m:sSubSup>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h</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𝑗</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nary>
                                <m:naryPr>
                                  <m:chr m:val="∑"/>
                                  <m:limLoc m:val="undOv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naryPr>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𝑗</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sub>
                                <m:sup>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𝑛</m:t>
                                  </m:r>
                                </m:sup>
                                <m:e>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𝑈</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𝑗</m:t>
                                      </m:r>
                                    </m:sub>
                                    <m:sup>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𝑞</m:t>
                                      </m:r>
                                    </m:sup>
                                  </m:sSubSup>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𝑥</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𝑗</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e>
                              </m:nary>
                            </m:e>
                          </m:nary>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𝑏</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sub>
                            <m:sup>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𝑞</m:t>
                              </m:r>
                            </m:sup>
                          </m:sSubSup>
                        </m:e>
                      </m:d>
                    </m:oMath>
                  </m:oMathPara>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11" name="矩形 10"/>
              <p:cNvSpPr>
                <a:spLocks noRot="1" noChangeAspect="1" noMove="1" noResize="1" noEditPoints="1" noAdjustHandles="1" noChangeArrowheads="1" noChangeShapeType="1" noTextEdit="1"/>
              </p:cNvSpPr>
              <p:nvPr/>
            </p:nvSpPr>
            <p:spPr>
              <a:xfrm>
                <a:off x="1120491" y="3094577"/>
                <a:ext cx="4512325" cy="984052"/>
              </a:xfrm>
              <a:prstGeom prst="rect">
                <a:avLst/>
              </a:prstGeom>
              <a:blipFill>
                <a:blip r:embed="rId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926420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8" grpId="0"/>
      <p:bldP spid="9" grpId="0"/>
      <p:bldP spid="10" grpId="0"/>
      <p:bldP spid="11"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LSTM</a:t>
            </a:r>
            <a:r>
              <a:rPr lang="zh-CN" altLang="en-US" dirty="0"/>
              <a:t>模块：信息输出</a:t>
            </a:r>
          </a:p>
        </p:txBody>
      </p:sp>
      <p:pic>
        <p:nvPicPr>
          <p:cNvPr id="4" name="图片 3"/>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19200" y="1144988"/>
            <a:ext cx="6551874" cy="4699221"/>
          </a:xfrm>
          <a:prstGeom prst="rect">
            <a:avLst/>
          </a:prstGeom>
          <a:noFill/>
        </p:spPr>
      </p:pic>
      <p:sp>
        <p:nvSpPr>
          <p:cNvPr id="5" name="椭圆 4"/>
          <p:cNvSpPr/>
          <p:nvPr/>
        </p:nvSpPr>
        <p:spPr>
          <a:xfrm>
            <a:off x="5438655" y="2822712"/>
            <a:ext cx="924709" cy="747179"/>
          </a:xfrm>
          <a:prstGeom prst="ellipse">
            <a:avLst/>
          </a:prstGeom>
          <a:noFill/>
          <a:ln w="19050">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文本框 5"/>
          <p:cNvSpPr txBox="1"/>
          <p:nvPr/>
        </p:nvSpPr>
        <p:spPr>
          <a:xfrm>
            <a:off x="7370856" y="2553134"/>
            <a:ext cx="3196062" cy="707886"/>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B0F0"/>
                </a:solidFill>
                <a:effectLst/>
                <a:uLnTx/>
                <a:uFillTx/>
                <a:latin typeface="Perpetua"/>
                <a:ea typeface="宋体" panose="02010600030101010101" pitchFamily="2" charset="-122"/>
                <a:cs typeface="+mn-cs"/>
              </a:rPr>
              <a:t>输出处理单元，只是一个</a:t>
            </a:r>
            <a:r>
              <a:rPr kumimoji="0" lang="en-US" altLang="zh-CN" sz="2000" b="1" i="0" u="none" strike="noStrike" kern="1200" cap="none" spc="0" normalizeH="0" baseline="0" noProof="0" dirty="0" err="1">
                <a:ln>
                  <a:noFill/>
                </a:ln>
                <a:solidFill>
                  <a:srgbClr val="00B0F0"/>
                </a:solidFill>
                <a:effectLst/>
                <a:uLnTx/>
                <a:uFillTx/>
                <a:latin typeface="Perpetua"/>
                <a:ea typeface="宋体" panose="02010600030101010101" pitchFamily="2" charset="-122"/>
                <a:cs typeface="+mn-cs"/>
              </a:rPr>
              <a:t>tanh</a:t>
            </a:r>
            <a:r>
              <a:rPr kumimoji="0" lang="zh-CN" altLang="en-US" sz="2000" b="1" i="0" u="none" strike="noStrike" kern="1200" cap="none" spc="0" normalizeH="0" baseline="0" noProof="0" dirty="0">
                <a:ln>
                  <a:noFill/>
                </a:ln>
                <a:solidFill>
                  <a:srgbClr val="00B0F0"/>
                </a:solidFill>
                <a:effectLst/>
                <a:uLnTx/>
                <a:uFillTx/>
                <a:latin typeface="Perpetua"/>
                <a:ea typeface="宋体" panose="02010600030101010101" pitchFamily="2" charset="-122"/>
                <a:cs typeface="+mn-cs"/>
              </a:rPr>
              <a:t>激活函数，没有参数</a:t>
            </a:r>
            <a:endParaRPr kumimoji="0" lang="en-US" altLang="zh-CN" sz="2000" b="1" i="0" u="none" strike="noStrike" kern="1200" cap="none" spc="0" normalizeH="0" baseline="0" noProof="0" dirty="0">
              <a:ln>
                <a:noFill/>
              </a:ln>
              <a:solidFill>
                <a:srgbClr val="00B0F0"/>
              </a:solidFill>
              <a:effectLst/>
              <a:uLnTx/>
              <a:uFillTx/>
              <a:latin typeface="Perpetua"/>
              <a:ea typeface="宋体" panose="02010600030101010101" pitchFamily="2" charset="-122"/>
              <a:cs typeface="+mn-cs"/>
            </a:endParaRPr>
          </a:p>
        </p:txBody>
      </p:sp>
      <p:cxnSp>
        <p:nvCxnSpPr>
          <p:cNvPr id="7" name="直接箭头连接符 6"/>
          <p:cNvCxnSpPr>
            <a:stCxn id="6" idx="1"/>
          </p:cNvCxnSpPr>
          <p:nvPr/>
        </p:nvCxnSpPr>
        <p:spPr>
          <a:xfrm flipH="1">
            <a:off x="6331560" y="2907077"/>
            <a:ext cx="1039296" cy="138273"/>
          </a:xfrm>
          <a:prstGeom prst="straightConnector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矩形 12"/>
              <p:cNvSpPr/>
              <p:nvPr/>
            </p:nvSpPr>
            <p:spPr>
              <a:xfrm>
                <a:off x="7162974" y="1613141"/>
                <a:ext cx="2561470" cy="50481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zh-CN" altLang="en-US"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𝑠</m:t>
                          </m:r>
                        </m:e>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𝑠</m:t>
                              </m:r>
                            </m:e>
                            <m: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𝑠</m:t>
                              </m:r>
                            </m:e>
                            <m: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2</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𝑠</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𝑚</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bSup>
                        </m:e>
                      </m:d>
                    </m:oMath>
                  </m:oMathPara>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13" name="矩形 12"/>
              <p:cNvSpPr>
                <a:spLocks noRot="1" noChangeAspect="1" noMove="1" noResize="1" noEditPoints="1" noAdjustHandles="1" noChangeArrowheads="1" noChangeShapeType="1" noTextEdit="1"/>
              </p:cNvSpPr>
              <p:nvPr/>
            </p:nvSpPr>
            <p:spPr>
              <a:xfrm>
                <a:off x="7162974" y="1613141"/>
                <a:ext cx="2561470" cy="504818"/>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p:cNvSpPr/>
              <p:nvPr/>
            </p:nvSpPr>
            <p:spPr>
              <a:xfrm>
                <a:off x="7459781" y="3316457"/>
                <a:ext cx="1331710" cy="50687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CN" altLang="en-US"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𝑡𝑎𝑛h</m:t>
                      </m:r>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𝑠</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bSup>
                        </m:e>
                      </m:d>
                    </m:oMath>
                  </m:oMathPara>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15" name="矩形 14"/>
              <p:cNvSpPr>
                <a:spLocks noRot="1" noChangeAspect="1" noMove="1" noResize="1" noEditPoints="1" noAdjustHandles="1" noChangeArrowheads="1" noChangeShapeType="1" noTextEdit="1"/>
              </p:cNvSpPr>
              <p:nvPr/>
            </p:nvSpPr>
            <p:spPr>
              <a:xfrm>
                <a:off x="7459781" y="3316457"/>
                <a:ext cx="1331710" cy="506870"/>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300653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1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LSTM</a:t>
            </a:r>
            <a:r>
              <a:rPr lang="zh-CN" altLang="en-US" dirty="0"/>
              <a:t>模块：信息输出</a:t>
            </a:r>
          </a:p>
        </p:txBody>
      </p:sp>
      <mc:AlternateContent xmlns:mc="http://schemas.openxmlformats.org/markup-compatibility/2006" xmlns:a14="http://schemas.microsoft.com/office/drawing/2010/main">
        <mc:Choice Requires="a14">
          <p:sp>
            <p:nvSpPr>
              <p:cNvPr id="8" name="矩形 7"/>
              <p:cNvSpPr/>
              <p:nvPr/>
            </p:nvSpPr>
            <p:spPr>
              <a:xfrm>
                <a:off x="7688912" y="3677523"/>
                <a:ext cx="2616870" cy="50481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zh-CN" altLang="en-US"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h</m:t>
                          </m:r>
                        </m:e>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h</m:t>
                              </m:r>
                            </m:e>
                            <m: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1</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h</m:t>
                              </m:r>
                            </m:e>
                            <m:sub>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2</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h</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𝑚</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bSup>
                        </m:e>
                      </m:d>
                    </m:oMath>
                  </m:oMathPara>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8" name="矩形 7"/>
              <p:cNvSpPr>
                <a:spLocks noRot="1" noChangeAspect="1" noMove="1" noResize="1" noEditPoints="1" noAdjustHandles="1" noChangeArrowheads="1" noChangeShapeType="1" noTextEdit="1"/>
              </p:cNvSpPr>
              <p:nvPr/>
            </p:nvSpPr>
            <p:spPr>
              <a:xfrm>
                <a:off x="7688912" y="3677523"/>
                <a:ext cx="2616870" cy="504818"/>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7688917" y="4182341"/>
                <a:ext cx="2352695" cy="50687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zh-CN" altLang="en-US"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h</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bSup>
                      <m:r>
                        <a:rPr kumimoji="0" lang="zh-CN" alt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m:t>
                      </m:r>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𝑞</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bSup>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𝑡𝑎𝑛h</m:t>
                      </m:r>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Sup>
                            <m:sSubSup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𝑠</m:t>
                              </m:r>
                            </m:e>
                            <m:sub>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sub>
                            <m:sup>
                              <m:d>
                                <m:dPr>
                                  <m:ctrlP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e>
                              </m:d>
                            </m:sup>
                          </m:sSubSup>
                        </m:e>
                      </m:d>
                    </m:oMath>
                  </m:oMathPara>
                </a14:m>
                <a:endParaRPr kumimoji="0" lang="zh-CN" altLang="en-US" sz="18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mc:Choice>
        <mc:Fallback xmlns="">
          <p:sp>
            <p:nvSpPr>
              <p:cNvPr id="9" name="矩形 8"/>
              <p:cNvSpPr>
                <a:spLocks noRot="1" noChangeAspect="1" noMove="1" noResize="1" noEditPoints="1" noAdjustHandles="1" noChangeArrowheads="1" noChangeShapeType="1" noTextEdit="1"/>
              </p:cNvSpPr>
              <p:nvPr/>
            </p:nvSpPr>
            <p:spPr>
              <a:xfrm>
                <a:off x="7688917" y="4182341"/>
                <a:ext cx="2352695" cy="506870"/>
              </a:xfrm>
              <a:prstGeom prst="rect">
                <a:avLst/>
              </a:prstGeom>
              <a:blipFill>
                <a:blip r:embed="rId3"/>
                <a:stretch>
                  <a:fillRect/>
                </a:stretch>
              </a:blipFill>
            </p:spPr>
            <p:txBody>
              <a:bodyPr/>
              <a:lstStyle/>
              <a:p>
                <a:r>
                  <a:rPr lang="zh-CN" altLang="en-US">
                    <a:noFill/>
                  </a:rPr>
                  <a:t> </a:t>
                </a:r>
              </a:p>
            </p:txBody>
          </p:sp>
        </mc:Fallback>
      </mc:AlternateContent>
      <p:pic>
        <p:nvPicPr>
          <p:cNvPr id="53" name="图片 52"/>
          <p:cNvPicPr>
            <a:picLocks noChangeAspect="1"/>
          </p:cNvPicPr>
          <p:nvPr/>
        </p:nvPicPr>
        <p:blipFill>
          <a:blip r:embed="rId4"/>
          <a:stretch>
            <a:fillRect/>
          </a:stretch>
        </p:blipFill>
        <p:spPr>
          <a:xfrm>
            <a:off x="1391477" y="1123439"/>
            <a:ext cx="6132397" cy="4609451"/>
          </a:xfrm>
          <a:prstGeom prst="rect">
            <a:avLst/>
          </a:prstGeom>
        </p:spPr>
      </p:pic>
      <p:sp>
        <p:nvSpPr>
          <p:cNvPr id="6" name="文本框 5"/>
          <p:cNvSpPr txBox="1"/>
          <p:nvPr/>
        </p:nvSpPr>
        <p:spPr>
          <a:xfrm>
            <a:off x="6543928" y="1217583"/>
            <a:ext cx="1280155"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模块输出</a:t>
            </a:r>
            <a:endParaRPr kumimoji="0" lang="en-US" altLang="zh-CN"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p:spTree>
    <p:extLst>
      <p:ext uri="{BB962C8B-B14F-4D97-AF65-F5344CB8AC3E}">
        <p14:creationId xmlns:p14="http://schemas.microsoft.com/office/powerpoint/2010/main" val="3891619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6"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DA160-8EF9-5D53-8051-2253285E9D27}"/>
              </a:ext>
            </a:extLst>
          </p:cNvPr>
          <p:cNvSpPr>
            <a:spLocks noGrp="1"/>
          </p:cNvSpPr>
          <p:nvPr>
            <p:ph type="title"/>
          </p:nvPr>
        </p:nvSpPr>
        <p:spPr/>
        <p:txBody>
          <a:bodyPr/>
          <a:lstStyle/>
          <a:p>
            <a:r>
              <a:rPr lang="en-US" dirty="0" err="1"/>
              <a:t>LSTM中的门控与信息传递</a:t>
            </a:r>
            <a:endParaRPr lang="en-US" dirty="0"/>
          </a:p>
        </p:txBody>
      </p:sp>
      <p:grpSp>
        <p:nvGrpSpPr>
          <p:cNvPr id="4" name="组合 1">
            <a:extLst>
              <a:ext uri="{FF2B5EF4-FFF2-40B4-BE49-F238E27FC236}">
                <a16:creationId xmlns:a16="http://schemas.microsoft.com/office/drawing/2014/main" id="{AD5B74E1-172E-6268-CD7F-58C50016DEA2}"/>
              </a:ext>
            </a:extLst>
          </p:cNvPr>
          <p:cNvGrpSpPr/>
          <p:nvPr/>
        </p:nvGrpSpPr>
        <p:grpSpPr>
          <a:xfrm>
            <a:off x="2171907" y="1214410"/>
            <a:ext cx="7270156" cy="5349865"/>
            <a:chOff x="939455" y="772433"/>
            <a:chExt cx="7270156" cy="5349865"/>
          </a:xfrm>
        </p:grpSpPr>
        <p:cxnSp>
          <p:nvCxnSpPr>
            <p:cNvPr id="5" name="直接箭头连接符 13">
              <a:extLst>
                <a:ext uri="{FF2B5EF4-FFF2-40B4-BE49-F238E27FC236}">
                  <a16:creationId xmlns:a16="http://schemas.microsoft.com/office/drawing/2014/main" id="{01F39009-0C6D-BBBE-E6D0-230B508B6F41}"/>
                </a:ext>
              </a:extLst>
            </p:cNvPr>
            <p:cNvCxnSpPr>
              <a:stCxn id="7" idx="6"/>
            </p:cNvCxnSpPr>
            <p:nvPr/>
          </p:nvCxnSpPr>
          <p:spPr>
            <a:xfrm>
              <a:off x="4684125" y="2180983"/>
              <a:ext cx="2962001" cy="1360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椭圆 14">
              <a:extLst>
                <a:ext uri="{FF2B5EF4-FFF2-40B4-BE49-F238E27FC236}">
                  <a16:creationId xmlns:a16="http://schemas.microsoft.com/office/drawing/2014/main" id="{88496FF1-BEDC-36D1-4DEC-C59877A646A9}"/>
                </a:ext>
              </a:extLst>
            </p:cNvPr>
            <p:cNvSpPr/>
            <p:nvPr/>
          </p:nvSpPr>
          <p:spPr>
            <a:xfrm>
              <a:off x="4180125" y="2904340"/>
              <a:ext cx="504000" cy="504000"/>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椭圆 15">
              <a:extLst>
                <a:ext uri="{FF2B5EF4-FFF2-40B4-BE49-F238E27FC236}">
                  <a16:creationId xmlns:a16="http://schemas.microsoft.com/office/drawing/2014/main" id="{76729B2F-87E1-3879-9CE8-F05BA3CA6A04}"/>
                </a:ext>
              </a:extLst>
            </p:cNvPr>
            <p:cNvSpPr/>
            <p:nvPr/>
          </p:nvSpPr>
          <p:spPr>
            <a:xfrm>
              <a:off x="4180125" y="1928983"/>
              <a:ext cx="504000" cy="504000"/>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p:txBody>
        </p:sp>
        <p:cxnSp>
          <p:nvCxnSpPr>
            <p:cNvPr id="8" name="直接箭头连接符 16">
              <a:extLst>
                <a:ext uri="{FF2B5EF4-FFF2-40B4-BE49-F238E27FC236}">
                  <a16:creationId xmlns:a16="http://schemas.microsoft.com/office/drawing/2014/main" id="{101925F6-0F52-1568-6C52-412B3A731829}"/>
                </a:ext>
              </a:extLst>
            </p:cNvPr>
            <p:cNvCxnSpPr>
              <a:stCxn id="6" idx="0"/>
              <a:endCxn id="7" idx="4"/>
            </p:cNvCxnSpPr>
            <p:nvPr/>
          </p:nvCxnSpPr>
          <p:spPr>
            <a:xfrm flipV="1">
              <a:off x="4432125" y="2432983"/>
              <a:ext cx="0" cy="47135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17">
              <a:extLst>
                <a:ext uri="{FF2B5EF4-FFF2-40B4-BE49-F238E27FC236}">
                  <a16:creationId xmlns:a16="http://schemas.microsoft.com/office/drawing/2014/main" id="{A8D052A9-3A60-356A-BFA9-C1DE4FEB4F5A}"/>
                </a:ext>
              </a:extLst>
            </p:cNvPr>
            <p:cNvCxnSpPr>
              <a:endCxn id="6" idx="4"/>
            </p:cNvCxnSpPr>
            <p:nvPr/>
          </p:nvCxnSpPr>
          <p:spPr>
            <a:xfrm flipV="1">
              <a:off x="4432125" y="3408340"/>
              <a:ext cx="0" cy="48823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椭圆 18">
              <a:extLst>
                <a:ext uri="{FF2B5EF4-FFF2-40B4-BE49-F238E27FC236}">
                  <a16:creationId xmlns:a16="http://schemas.microsoft.com/office/drawing/2014/main" id="{A6FB2C02-B6A6-53D3-D1DB-0BE26614DD65}"/>
                </a:ext>
              </a:extLst>
            </p:cNvPr>
            <p:cNvSpPr/>
            <p:nvPr/>
          </p:nvSpPr>
          <p:spPr>
            <a:xfrm>
              <a:off x="5842288" y="2904340"/>
              <a:ext cx="576000" cy="504000"/>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tanh</a:t>
              </a: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 name="椭圆 19">
              <a:extLst>
                <a:ext uri="{FF2B5EF4-FFF2-40B4-BE49-F238E27FC236}">
                  <a16:creationId xmlns:a16="http://schemas.microsoft.com/office/drawing/2014/main" id="{CA615A69-6324-2F9E-2F84-D6B05E075B9C}"/>
                </a:ext>
              </a:extLst>
            </p:cNvPr>
            <p:cNvSpPr/>
            <p:nvPr/>
          </p:nvSpPr>
          <p:spPr>
            <a:xfrm>
              <a:off x="5879452" y="3866606"/>
              <a:ext cx="504000" cy="533969"/>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2" name="椭圆 20">
              <a:extLst>
                <a:ext uri="{FF2B5EF4-FFF2-40B4-BE49-F238E27FC236}">
                  <a16:creationId xmlns:a16="http://schemas.microsoft.com/office/drawing/2014/main" id="{0ED322EB-2CB1-6D02-208F-93373E90D230}"/>
                </a:ext>
              </a:extLst>
            </p:cNvPr>
            <p:cNvSpPr/>
            <p:nvPr/>
          </p:nvSpPr>
          <p:spPr>
            <a:xfrm>
              <a:off x="2466228" y="1932275"/>
              <a:ext cx="504000" cy="504000"/>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圆角矩形 21">
              <a:extLst>
                <a:ext uri="{FF2B5EF4-FFF2-40B4-BE49-F238E27FC236}">
                  <a16:creationId xmlns:a16="http://schemas.microsoft.com/office/drawing/2014/main" id="{49E6455C-2BB7-DD62-698A-5EE289526E42}"/>
                </a:ext>
              </a:extLst>
            </p:cNvPr>
            <p:cNvSpPr/>
            <p:nvPr/>
          </p:nvSpPr>
          <p:spPr>
            <a:xfrm>
              <a:off x="2185851" y="1724297"/>
              <a:ext cx="4998720" cy="3535680"/>
            </a:xfrm>
            <a:prstGeom prst="roundRect">
              <a:avLst/>
            </a:prstGeom>
            <a:noFill/>
            <a:ln w="3810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14" name="直接箭头连接符 22">
              <a:extLst>
                <a:ext uri="{FF2B5EF4-FFF2-40B4-BE49-F238E27FC236}">
                  <a16:creationId xmlns:a16="http://schemas.microsoft.com/office/drawing/2014/main" id="{F79328DC-202E-C626-BCFB-DD1A1726B1E0}"/>
                </a:ext>
              </a:extLst>
            </p:cNvPr>
            <p:cNvCxnSpPr>
              <a:stCxn id="43" idx="0"/>
              <a:endCxn id="12" idx="4"/>
            </p:cNvCxnSpPr>
            <p:nvPr/>
          </p:nvCxnSpPr>
          <p:spPr>
            <a:xfrm flipV="1">
              <a:off x="2715102" y="2436275"/>
              <a:ext cx="3126" cy="148176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23">
              <a:extLst>
                <a:ext uri="{FF2B5EF4-FFF2-40B4-BE49-F238E27FC236}">
                  <a16:creationId xmlns:a16="http://schemas.microsoft.com/office/drawing/2014/main" id="{F1F0573D-7B3F-3375-D231-1B37B2AC2A94}"/>
                </a:ext>
              </a:extLst>
            </p:cNvPr>
            <p:cNvCxnSpPr>
              <a:stCxn id="44" idx="0"/>
              <a:endCxn id="6" idx="3"/>
            </p:cNvCxnSpPr>
            <p:nvPr/>
          </p:nvCxnSpPr>
          <p:spPr>
            <a:xfrm flipV="1">
              <a:off x="3555483" y="3334531"/>
              <a:ext cx="698451" cy="58785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24">
              <a:extLst>
                <a:ext uri="{FF2B5EF4-FFF2-40B4-BE49-F238E27FC236}">
                  <a16:creationId xmlns:a16="http://schemas.microsoft.com/office/drawing/2014/main" id="{048838F9-5E87-1DE3-ED2B-ED696A9BDFEF}"/>
                </a:ext>
              </a:extLst>
            </p:cNvPr>
            <p:cNvCxnSpPr>
              <a:stCxn id="46" idx="3"/>
              <a:endCxn id="11" idx="2"/>
            </p:cNvCxnSpPr>
            <p:nvPr/>
          </p:nvCxnSpPr>
          <p:spPr>
            <a:xfrm>
              <a:off x="5554147" y="4117775"/>
              <a:ext cx="325305" cy="1581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25">
              <a:extLst>
                <a:ext uri="{FF2B5EF4-FFF2-40B4-BE49-F238E27FC236}">
                  <a16:creationId xmlns:a16="http://schemas.microsoft.com/office/drawing/2014/main" id="{FC3C61BC-AE64-A446-0209-5B16E531E312}"/>
                </a:ext>
              </a:extLst>
            </p:cNvPr>
            <p:cNvCxnSpPr>
              <a:endCxn id="10" idx="0"/>
            </p:cNvCxnSpPr>
            <p:nvPr/>
          </p:nvCxnSpPr>
          <p:spPr>
            <a:xfrm flipH="1">
              <a:off x="6130288" y="2194591"/>
              <a:ext cx="9255" cy="70974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26">
              <a:extLst>
                <a:ext uri="{FF2B5EF4-FFF2-40B4-BE49-F238E27FC236}">
                  <a16:creationId xmlns:a16="http://schemas.microsoft.com/office/drawing/2014/main" id="{D88B72EE-1BB4-004B-A7AF-B2374CF17971}"/>
                </a:ext>
              </a:extLst>
            </p:cNvPr>
            <p:cNvCxnSpPr>
              <a:stCxn id="10" idx="4"/>
              <a:endCxn id="11" idx="0"/>
            </p:cNvCxnSpPr>
            <p:nvPr/>
          </p:nvCxnSpPr>
          <p:spPr>
            <a:xfrm>
              <a:off x="6130288" y="3408340"/>
              <a:ext cx="1164" cy="45826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27">
              <a:extLst>
                <a:ext uri="{FF2B5EF4-FFF2-40B4-BE49-F238E27FC236}">
                  <a16:creationId xmlns:a16="http://schemas.microsoft.com/office/drawing/2014/main" id="{CC2E3560-6931-D4A0-2278-16CFF6D4C7C9}"/>
                </a:ext>
              </a:extLst>
            </p:cNvPr>
            <p:cNvCxnSpPr/>
            <p:nvPr/>
          </p:nvCxnSpPr>
          <p:spPr>
            <a:xfrm>
              <a:off x="2165611" y="4758291"/>
              <a:ext cx="2903933" cy="22740"/>
            </a:xfrm>
            <a:prstGeom prst="straightConnector1">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直接箭头连接符 28">
              <a:extLst>
                <a:ext uri="{FF2B5EF4-FFF2-40B4-BE49-F238E27FC236}">
                  <a16:creationId xmlns:a16="http://schemas.microsoft.com/office/drawing/2014/main" id="{65F01B2D-465E-15A3-3D03-C14ED93A915A}"/>
                </a:ext>
              </a:extLst>
            </p:cNvPr>
            <p:cNvCxnSpPr/>
            <p:nvPr/>
          </p:nvCxnSpPr>
          <p:spPr>
            <a:xfrm flipV="1">
              <a:off x="2472949" y="4318147"/>
              <a:ext cx="130915" cy="42954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9">
              <a:extLst>
                <a:ext uri="{FF2B5EF4-FFF2-40B4-BE49-F238E27FC236}">
                  <a16:creationId xmlns:a16="http://schemas.microsoft.com/office/drawing/2014/main" id="{AFDF2EE7-0EE0-22CA-14B2-3520FC04E6CD}"/>
                </a:ext>
              </a:extLst>
            </p:cNvPr>
            <p:cNvCxnSpPr/>
            <p:nvPr/>
          </p:nvCxnSpPr>
          <p:spPr>
            <a:xfrm flipV="1">
              <a:off x="3328387" y="4316231"/>
              <a:ext cx="167678" cy="44701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30">
              <a:extLst>
                <a:ext uri="{FF2B5EF4-FFF2-40B4-BE49-F238E27FC236}">
                  <a16:creationId xmlns:a16="http://schemas.microsoft.com/office/drawing/2014/main" id="{C9C9717E-A8A8-19BD-72D5-65012550040E}"/>
                </a:ext>
              </a:extLst>
            </p:cNvPr>
            <p:cNvCxnSpPr/>
            <p:nvPr/>
          </p:nvCxnSpPr>
          <p:spPr>
            <a:xfrm flipV="1">
              <a:off x="4175854" y="4339612"/>
              <a:ext cx="163452" cy="44138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31">
              <a:extLst>
                <a:ext uri="{FF2B5EF4-FFF2-40B4-BE49-F238E27FC236}">
                  <a16:creationId xmlns:a16="http://schemas.microsoft.com/office/drawing/2014/main" id="{BA94FECD-DC61-F65E-32E6-A2CA75A28E5E}"/>
                </a:ext>
              </a:extLst>
            </p:cNvPr>
            <p:cNvCxnSpPr/>
            <p:nvPr/>
          </p:nvCxnSpPr>
          <p:spPr>
            <a:xfrm flipV="1">
              <a:off x="5067255" y="4333649"/>
              <a:ext cx="118431" cy="44735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32">
              <a:extLst>
                <a:ext uri="{FF2B5EF4-FFF2-40B4-BE49-F238E27FC236}">
                  <a16:creationId xmlns:a16="http://schemas.microsoft.com/office/drawing/2014/main" id="{32959D78-0C2F-84D8-D007-FBE7A5818F3A}"/>
                </a:ext>
              </a:extLst>
            </p:cNvPr>
            <p:cNvCxnSpPr/>
            <p:nvPr/>
          </p:nvCxnSpPr>
          <p:spPr>
            <a:xfrm>
              <a:off x="2735156" y="5000580"/>
              <a:ext cx="2577352" cy="7576"/>
            </a:xfrm>
            <a:prstGeom prst="straightConnector1">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直接箭头连接符 33">
              <a:extLst>
                <a:ext uri="{FF2B5EF4-FFF2-40B4-BE49-F238E27FC236}">
                  <a16:creationId xmlns:a16="http://schemas.microsoft.com/office/drawing/2014/main" id="{A4CE7C61-D71E-DED7-59B1-7DBC7926016C}"/>
                </a:ext>
              </a:extLst>
            </p:cNvPr>
            <p:cNvCxnSpPr/>
            <p:nvPr/>
          </p:nvCxnSpPr>
          <p:spPr>
            <a:xfrm flipV="1">
              <a:off x="1724296" y="2194928"/>
              <a:ext cx="466176" cy="572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34">
              <a:extLst>
                <a:ext uri="{FF2B5EF4-FFF2-40B4-BE49-F238E27FC236}">
                  <a16:creationId xmlns:a16="http://schemas.microsoft.com/office/drawing/2014/main" id="{4329605D-C0DF-4095-A83A-A2200593CCC7}"/>
                </a:ext>
              </a:extLst>
            </p:cNvPr>
            <p:cNvCxnSpPr/>
            <p:nvPr/>
          </p:nvCxnSpPr>
          <p:spPr>
            <a:xfrm flipV="1">
              <a:off x="1718009" y="4747693"/>
              <a:ext cx="466176" cy="572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35">
              <a:extLst>
                <a:ext uri="{FF2B5EF4-FFF2-40B4-BE49-F238E27FC236}">
                  <a16:creationId xmlns:a16="http://schemas.microsoft.com/office/drawing/2014/main" id="{D26F5C6F-0837-4B0B-C4B0-1ED2FFAAAA0C}"/>
                </a:ext>
              </a:extLst>
            </p:cNvPr>
            <p:cNvCxnSpPr/>
            <p:nvPr/>
          </p:nvCxnSpPr>
          <p:spPr>
            <a:xfrm flipV="1">
              <a:off x="3598252" y="4325242"/>
              <a:ext cx="7375" cy="68291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36">
              <a:extLst>
                <a:ext uri="{FF2B5EF4-FFF2-40B4-BE49-F238E27FC236}">
                  <a16:creationId xmlns:a16="http://schemas.microsoft.com/office/drawing/2014/main" id="{D7EE755B-8F47-90D7-44BB-02F9FB75F87F}"/>
                </a:ext>
              </a:extLst>
            </p:cNvPr>
            <p:cNvCxnSpPr>
              <a:endCxn id="43" idx="2"/>
            </p:cNvCxnSpPr>
            <p:nvPr/>
          </p:nvCxnSpPr>
          <p:spPr>
            <a:xfrm flipV="1">
              <a:off x="2714914" y="4318147"/>
              <a:ext cx="188" cy="118951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37">
              <a:extLst>
                <a:ext uri="{FF2B5EF4-FFF2-40B4-BE49-F238E27FC236}">
                  <a16:creationId xmlns:a16="http://schemas.microsoft.com/office/drawing/2014/main" id="{D8EF115E-6949-8B50-5026-D90A91D15271}"/>
                </a:ext>
              </a:extLst>
            </p:cNvPr>
            <p:cNvCxnSpPr/>
            <p:nvPr/>
          </p:nvCxnSpPr>
          <p:spPr>
            <a:xfrm flipV="1">
              <a:off x="4412412" y="4315655"/>
              <a:ext cx="6597" cy="69250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38">
              <a:extLst>
                <a:ext uri="{FF2B5EF4-FFF2-40B4-BE49-F238E27FC236}">
                  <a16:creationId xmlns:a16="http://schemas.microsoft.com/office/drawing/2014/main" id="{1B795E0F-7976-E264-B241-C79A0D8C8FA7}"/>
                </a:ext>
              </a:extLst>
            </p:cNvPr>
            <p:cNvCxnSpPr/>
            <p:nvPr/>
          </p:nvCxnSpPr>
          <p:spPr>
            <a:xfrm flipV="1">
              <a:off x="5292349" y="4326539"/>
              <a:ext cx="4216" cy="65947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9">
              <a:extLst>
                <a:ext uri="{FF2B5EF4-FFF2-40B4-BE49-F238E27FC236}">
                  <a16:creationId xmlns:a16="http://schemas.microsoft.com/office/drawing/2014/main" id="{253D2685-0039-D1F5-B012-D977F67F6BA0}"/>
                </a:ext>
              </a:extLst>
            </p:cNvPr>
            <p:cNvCxnSpPr>
              <a:stCxn id="11" idx="4"/>
            </p:cNvCxnSpPr>
            <p:nvPr/>
          </p:nvCxnSpPr>
          <p:spPr>
            <a:xfrm>
              <a:off x="6131452" y="4400575"/>
              <a:ext cx="7545" cy="389134"/>
            </a:xfrm>
            <a:prstGeom prst="straightConnector1">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直接箭头连接符 40">
              <a:extLst>
                <a:ext uri="{FF2B5EF4-FFF2-40B4-BE49-F238E27FC236}">
                  <a16:creationId xmlns:a16="http://schemas.microsoft.com/office/drawing/2014/main" id="{29D948FC-B437-64EF-B51E-0621EAF66F56}"/>
                </a:ext>
              </a:extLst>
            </p:cNvPr>
            <p:cNvCxnSpPr/>
            <p:nvPr/>
          </p:nvCxnSpPr>
          <p:spPr>
            <a:xfrm flipV="1">
              <a:off x="6119294" y="4749025"/>
              <a:ext cx="1402062" cy="3350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41">
              <a:extLst>
                <a:ext uri="{FF2B5EF4-FFF2-40B4-BE49-F238E27FC236}">
                  <a16:creationId xmlns:a16="http://schemas.microsoft.com/office/drawing/2014/main" id="{AA608858-6B90-74CE-2C70-D658C0F3C4EE}"/>
                </a:ext>
              </a:extLst>
            </p:cNvPr>
            <p:cNvCxnSpPr/>
            <p:nvPr/>
          </p:nvCxnSpPr>
          <p:spPr>
            <a:xfrm flipH="1" flipV="1">
              <a:off x="6661708" y="2270893"/>
              <a:ext cx="18918" cy="2476801"/>
            </a:xfrm>
            <a:prstGeom prst="straightConnector1">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直接箭头连接符 42">
              <a:extLst>
                <a:ext uri="{FF2B5EF4-FFF2-40B4-BE49-F238E27FC236}">
                  <a16:creationId xmlns:a16="http://schemas.microsoft.com/office/drawing/2014/main" id="{61FE6D6E-9282-F7F1-6EDA-85151551BC44}"/>
                </a:ext>
              </a:extLst>
            </p:cNvPr>
            <p:cNvCxnSpPr/>
            <p:nvPr/>
          </p:nvCxnSpPr>
          <p:spPr>
            <a:xfrm flipV="1">
              <a:off x="6653000" y="1272249"/>
              <a:ext cx="8708" cy="85056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文本框 43">
              <a:extLst>
                <a:ext uri="{FF2B5EF4-FFF2-40B4-BE49-F238E27FC236}">
                  <a16:creationId xmlns:a16="http://schemas.microsoft.com/office/drawing/2014/main" id="{F2C03DE6-E83F-EB31-28A5-9E60193F5EF6}"/>
                </a:ext>
              </a:extLst>
            </p:cNvPr>
            <p:cNvSpPr txBox="1"/>
            <p:nvPr/>
          </p:nvSpPr>
          <p:spPr>
            <a:xfrm>
              <a:off x="2507910" y="5660633"/>
              <a:ext cx="55097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x</a:t>
              </a:r>
              <a:r>
                <a:rPr kumimoji="0" lang="en-US" altLang="zh-CN" sz="2400" b="0" i="0" u="none" strike="noStrike" kern="0" cap="none" spc="0" normalizeH="0" baseline="3000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(t)</a:t>
              </a:r>
              <a:endParaRPr kumimoji="0" lang="zh-CN" altLang="en-US" sz="2400" b="0" i="0" u="none" strike="noStrike" kern="0" cap="none" spc="0" normalizeH="0" baseline="3000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6" name="文本框 44">
              <a:extLst>
                <a:ext uri="{FF2B5EF4-FFF2-40B4-BE49-F238E27FC236}">
                  <a16:creationId xmlns:a16="http://schemas.microsoft.com/office/drawing/2014/main" id="{F4863AFA-0C3B-D603-B727-80319070D32F}"/>
                </a:ext>
              </a:extLst>
            </p:cNvPr>
            <p:cNvSpPr txBox="1"/>
            <p:nvPr/>
          </p:nvSpPr>
          <p:spPr>
            <a:xfrm>
              <a:off x="7610535" y="4462440"/>
              <a:ext cx="55097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h</a:t>
              </a:r>
              <a:r>
                <a:rPr kumimoji="0" lang="en-US" altLang="zh-CN" sz="2400" b="0" i="0" u="none" strike="noStrike" kern="0" cap="none" spc="0" normalizeH="0" baseline="3000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(t)</a:t>
              </a:r>
              <a:endParaRPr kumimoji="0" lang="zh-CN" altLang="en-US" sz="2400" b="0" i="0" u="none" strike="noStrike" kern="0" cap="none" spc="0" normalizeH="0" baseline="3000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7" name="文本框 45">
              <a:extLst>
                <a:ext uri="{FF2B5EF4-FFF2-40B4-BE49-F238E27FC236}">
                  <a16:creationId xmlns:a16="http://schemas.microsoft.com/office/drawing/2014/main" id="{76F70E2D-FA7C-A86E-7CFC-73CBB4735142}"/>
                </a:ext>
              </a:extLst>
            </p:cNvPr>
            <p:cNvSpPr txBox="1"/>
            <p:nvPr/>
          </p:nvSpPr>
          <p:spPr>
            <a:xfrm>
              <a:off x="6395681" y="772433"/>
              <a:ext cx="55097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h</a:t>
              </a:r>
              <a:r>
                <a:rPr kumimoji="0" lang="en-US" altLang="zh-CN" sz="2400" b="0" i="0" u="none" strike="noStrike" kern="0" cap="none" spc="0" normalizeH="0" baseline="3000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(t)</a:t>
              </a:r>
              <a:endParaRPr kumimoji="0" lang="zh-CN" altLang="en-US" sz="2400" b="0" i="0" u="none" strike="noStrike" kern="0" cap="none" spc="0" normalizeH="0" baseline="3000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8" name="文本框 46">
              <a:extLst>
                <a:ext uri="{FF2B5EF4-FFF2-40B4-BE49-F238E27FC236}">
                  <a16:creationId xmlns:a16="http://schemas.microsoft.com/office/drawing/2014/main" id="{1FDF94D9-50F9-D0EE-972D-8DF457DDE5DB}"/>
                </a:ext>
              </a:extLst>
            </p:cNvPr>
            <p:cNvSpPr txBox="1"/>
            <p:nvPr/>
          </p:nvSpPr>
          <p:spPr>
            <a:xfrm>
              <a:off x="7658640" y="1935172"/>
              <a:ext cx="55097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s</a:t>
              </a:r>
              <a:r>
                <a:rPr kumimoji="0" lang="en-US" altLang="zh-CN" sz="2400" b="0" i="0" u="none" strike="noStrike" kern="0" cap="none" spc="0" normalizeH="0" baseline="3000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(t)</a:t>
              </a:r>
              <a:endParaRPr kumimoji="0" lang="zh-CN" altLang="en-US" sz="2400" b="0" i="0" u="none" strike="noStrike" kern="0" cap="none" spc="0" normalizeH="0" baseline="3000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9" name="文本框 47">
              <a:extLst>
                <a:ext uri="{FF2B5EF4-FFF2-40B4-BE49-F238E27FC236}">
                  <a16:creationId xmlns:a16="http://schemas.microsoft.com/office/drawing/2014/main" id="{5829A00F-AEF1-D73A-EEF2-0C6BBFDAE498}"/>
                </a:ext>
              </a:extLst>
            </p:cNvPr>
            <p:cNvSpPr txBox="1"/>
            <p:nvPr/>
          </p:nvSpPr>
          <p:spPr>
            <a:xfrm>
              <a:off x="939455" y="4528063"/>
              <a:ext cx="64609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h</a:t>
              </a:r>
              <a:r>
                <a:rPr kumimoji="0" lang="en-US" altLang="zh-CN" sz="2400" b="0" i="0" u="none" strike="noStrike" kern="0" cap="none" spc="0" normalizeH="0" baseline="3000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(t-1)</a:t>
              </a:r>
              <a:endParaRPr kumimoji="0" lang="zh-CN" altLang="en-US" sz="2400" b="0" i="0" u="none" strike="noStrike" kern="0" cap="none" spc="0" normalizeH="0" baseline="3000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0" name="文本框 48">
              <a:extLst>
                <a:ext uri="{FF2B5EF4-FFF2-40B4-BE49-F238E27FC236}">
                  <a16:creationId xmlns:a16="http://schemas.microsoft.com/office/drawing/2014/main" id="{DB354D28-7018-BBF8-3AB0-6D2CFA37B3AF}"/>
                </a:ext>
              </a:extLst>
            </p:cNvPr>
            <p:cNvSpPr txBox="1"/>
            <p:nvPr/>
          </p:nvSpPr>
          <p:spPr>
            <a:xfrm>
              <a:off x="1091745" y="1894147"/>
              <a:ext cx="73840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s</a:t>
              </a:r>
              <a:r>
                <a:rPr kumimoji="0" lang="en-US" altLang="zh-CN" sz="2400" b="0" i="0" u="none" strike="noStrike" kern="0" cap="none" spc="0" normalizeH="0" baseline="3000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(t-1)</a:t>
              </a:r>
              <a:endParaRPr kumimoji="0" lang="zh-CN" altLang="en-US" sz="2400" b="0" i="0" u="none" strike="noStrike" kern="0" cap="none" spc="0" normalizeH="0" baseline="3000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41" name="直接箭头连接符 49">
              <a:extLst>
                <a:ext uri="{FF2B5EF4-FFF2-40B4-BE49-F238E27FC236}">
                  <a16:creationId xmlns:a16="http://schemas.microsoft.com/office/drawing/2014/main" id="{028B6C38-8DCF-528F-B600-B1C6A99C6462}"/>
                </a:ext>
              </a:extLst>
            </p:cNvPr>
            <p:cNvCxnSpPr>
              <a:stCxn id="12" idx="6"/>
              <a:endCxn id="7" idx="2"/>
            </p:cNvCxnSpPr>
            <p:nvPr/>
          </p:nvCxnSpPr>
          <p:spPr>
            <a:xfrm flipV="1">
              <a:off x="2970228" y="2180983"/>
              <a:ext cx="1209897" cy="329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50">
              <a:extLst>
                <a:ext uri="{FF2B5EF4-FFF2-40B4-BE49-F238E27FC236}">
                  <a16:creationId xmlns:a16="http://schemas.microsoft.com/office/drawing/2014/main" id="{8C4AC9C5-3FFB-EC11-462E-B9407E44E7FB}"/>
                </a:ext>
              </a:extLst>
            </p:cNvPr>
            <p:cNvCxnSpPr>
              <a:endCxn id="12" idx="2"/>
            </p:cNvCxnSpPr>
            <p:nvPr/>
          </p:nvCxnSpPr>
          <p:spPr>
            <a:xfrm flipV="1">
              <a:off x="2165611" y="2184275"/>
              <a:ext cx="300617" cy="1031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矩形 51">
              <a:extLst>
                <a:ext uri="{FF2B5EF4-FFF2-40B4-BE49-F238E27FC236}">
                  <a16:creationId xmlns:a16="http://schemas.microsoft.com/office/drawing/2014/main" id="{95182F30-54F0-D0BB-755F-BEE0D1011C9F}"/>
                </a:ext>
              </a:extLst>
            </p:cNvPr>
            <p:cNvSpPr/>
            <p:nvPr/>
          </p:nvSpPr>
          <p:spPr>
            <a:xfrm>
              <a:off x="2457519" y="3918037"/>
              <a:ext cx="515165" cy="400110"/>
            </a:xfrm>
            <a:prstGeom prst="rect">
              <a:avLst/>
            </a:prstGeom>
            <a:ln w="31750">
              <a:solidFill>
                <a:schemeClr val="tx1"/>
              </a:solid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σ</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4" name="矩形 54">
              <a:extLst>
                <a:ext uri="{FF2B5EF4-FFF2-40B4-BE49-F238E27FC236}">
                  <a16:creationId xmlns:a16="http://schemas.microsoft.com/office/drawing/2014/main" id="{F7655012-C52B-5045-93A2-AC4CE1CAE7B6}"/>
                </a:ext>
              </a:extLst>
            </p:cNvPr>
            <p:cNvSpPr/>
            <p:nvPr/>
          </p:nvSpPr>
          <p:spPr>
            <a:xfrm>
              <a:off x="3297900" y="3922387"/>
              <a:ext cx="515165" cy="400110"/>
            </a:xfrm>
            <a:prstGeom prst="rect">
              <a:avLst/>
            </a:prstGeom>
            <a:ln w="31750">
              <a:solidFill>
                <a:schemeClr val="tx1"/>
              </a:solid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σ</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5" name="矩形 55">
              <a:extLst>
                <a:ext uri="{FF2B5EF4-FFF2-40B4-BE49-F238E27FC236}">
                  <a16:creationId xmlns:a16="http://schemas.microsoft.com/office/drawing/2014/main" id="{22F10C87-757E-378C-E200-F1ED6CE5AB25}"/>
                </a:ext>
              </a:extLst>
            </p:cNvPr>
            <p:cNvSpPr/>
            <p:nvPr/>
          </p:nvSpPr>
          <p:spPr>
            <a:xfrm>
              <a:off x="4125309" y="3915544"/>
              <a:ext cx="622236" cy="400110"/>
            </a:xfrm>
            <a:prstGeom prst="rect">
              <a:avLst/>
            </a:prstGeom>
            <a:ln w="31750">
              <a:solidFill>
                <a:schemeClr val="tx1"/>
              </a:solid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tanh</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6" name="矩形 58">
              <a:extLst>
                <a:ext uri="{FF2B5EF4-FFF2-40B4-BE49-F238E27FC236}">
                  <a16:creationId xmlns:a16="http://schemas.microsoft.com/office/drawing/2014/main" id="{17D7EE90-F22D-0BCD-4D9B-42B7D8D76F92}"/>
                </a:ext>
              </a:extLst>
            </p:cNvPr>
            <p:cNvSpPr/>
            <p:nvPr/>
          </p:nvSpPr>
          <p:spPr>
            <a:xfrm>
              <a:off x="5038982" y="3917720"/>
              <a:ext cx="515165" cy="400110"/>
            </a:xfrm>
            <a:prstGeom prst="rect">
              <a:avLst/>
            </a:prstGeom>
            <a:ln w="31750">
              <a:solidFill>
                <a:schemeClr val="tx1"/>
              </a:solid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σ</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pSp>
      <p:grpSp>
        <p:nvGrpSpPr>
          <p:cNvPr id="68" name="Group 67">
            <a:extLst>
              <a:ext uri="{FF2B5EF4-FFF2-40B4-BE49-F238E27FC236}">
                <a16:creationId xmlns:a16="http://schemas.microsoft.com/office/drawing/2014/main" id="{57992AA2-6C85-256F-BDB9-33C0A555A491}"/>
              </a:ext>
            </a:extLst>
          </p:cNvPr>
          <p:cNvGrpSpPr/>
          <p:nvPr/>
        </p:nvGrpSpPr>
        <p:grpSpPr>
          <a:xfrm>
            <a:off x="1744102" y="4375513"/>
            <a:ext cx="1890078" cy="400110"/>
            <a:chOff x="1744102" y="4375513"/>
            <a:chExt cx="1890078" cy="400110"/>
          </a:xfrm>
        </p:grpSpPr>
        <p:sp>
          <p:nvSpPr>
            <p:cNvPr id="47" name="文本框 5">
              <a:extLst>
                <a:ext uri="{FF2B5EF4-FFF2-40B4-BE49-F238E27FC236}">
                  <a16:creationId xmlns:a16="http://schemas.microsoft.com/office/drawing/2014/main" id="{D80836FB-6010-7DC8-A2A1-046D0F9D01F9}"/>
                </a:ext>
              </a:extLst>
            </p:cNvPr>
            <p:cNvSpPr txBox="1"/>
            <p:nvPr/>
          </p:nvSpPr>
          <p:spPr>
            <a:xfrm>
              <a:off x="1744102" y="4375513"/>
              <a:ext cx="99802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B0F0"/>
                  </a:solidFill>
                  <a:effectLst/>
                  <a:uLnTx/>
                  <a:uFillTx/>
                  <a:latin typeface="Perpetua"/>
                  <a:ea typeface="宋体" panose="02010600030101010101" pitchFamily="2" charset="-122"/>
                  <a:cs typeface="+mn-cs"/>
                </a:rPr>
                <a:t>遗忘门</a:t>
              </a:r>
              <a:endParaRPr kumimoji="0" lang="en-US" altLang="zh-CN" sz="2000" b="1" i="0" u="none" strike="noStrike" kern="1200" cap="none" spc="0" normalizeH="0" baseline="0" noProof="0" dirty="0">
                <a:ln>
                  <a:noFill/>
                </a:ln>
                <a:solidFill>
                  <a:srgbClr val="00B0F0"/>
                </a:solidFill>
                <a:effectLst/>
                <a:uLnTx/>
                <a:uFillTx/>
                <a:latin typeface="Perpetua"/>
                <a:ea typeface="宋体" panose="02010600030101010101" pitchFamily="2" charset="-122"/>
                <a:cs typeface="+mn-cs"/>
              </a:endParaRPr>
            </a:p>
          </p:txBody>
        </p:sp>
        <p:cxnSp>
          <p:nvCxnSpPr>
            <p:cNvPr id="48" name="直接箭头连接符 6">
              <a:extLst>
                <a:ext uri="{FF2B5EF4-FFF2-40B4-BE49-F238E27FC236}">
                  <a16:creationId xmlns:a16="http://schemas.microsoft.com/office/drawing/2014/main" id="{3E273996-DCB6-B018-0F0C-0D0C01CA67D3}"/>
                </a:ext>
              </a:extLst>
            </p:cNvPr>
            <p:cNvCxnSpPr>
              <a:cxnSpLocks/>
            </p:cNvCxnSpPr>
            <p:nvPr/>
          </p:nvCxnSpPr>
          <p:spPr>
            <a:xfrm flipV="1">
              <a:off x="2686331" y="4550373"/>
              <a:ext cx="947849" cy="15499"/>
            </a:xfrm>
            <a:prstGeom prst="straightConnector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9" name="Group 68">
            <a:extLst>
              <a:ext uri="{FF2B5EF4-FFF2-40B4-BE49-F238E27FC236}">
                <a16:creationId xmlns:a16="http://schemas.microsoft.com/office/drawing/2014/main" id="{9F77A556-F1E5-80EC-990E-74606FD3EFC5}"/>
              </a:ext>
            </a:extLst>
          </p:cNvPr>
          <p:cNvGrpSpPr/>
          <p:nvPr/>
        </p:nvGrpSpPr>
        <p:grpSpPr>
          <a:xfrm>
            <a:off x="4967514" y="4842552"/>
            <a:ext cx="1119945" cy="1378671"/>
            <a:chOff x="4967514" y="4842552"/>
            <a:chExt cx="1119945" cy="1378671"/>
          </a:xfrm>
        </p:grpSpPr>
        <p:sp>
          <p:nvSpPr>
            <p:cNvPr id="51" name="文本框 5">
              <a:extLst>
                <a:ext uri="{FF2B5EF4-FFF2-40B4-BE49-F238E27FC236}">
                  <a16:creationId xmlns:a16="http://schemas.microsoft.com/office/drawing/2014/main" id="{ACB6496A-9481-3F36-C50C-D525CF2F3344}"/>
                </a:ext>
              </a:extLst>
            </p:cNvPr>
            <p:cNvSpPr txBox="1"/>
            <p:nvPr/>
          </p:nvSpPr>
          <p:spPr>
            <a:xfrm>
              <a:off x="5040032" y="5821113"/>
              <a:ext cx="1047427"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B0F0"/>
                  </a:solidFill>
                  <a:effectLst/>
                  <a:uLnTx/>
                  <a:uFillTx/>
                  <a:latin typeface="Perpetua"/>
                  <a:ea typeface="宋体" panose="02010600030101010101" pitchFamily="2" charset="-122"/>
                  <a:cs typeface="+mn-cs"/>
                </a:rPr>
                <a:t>输入门</a:t>
              </a:r>
              <a:endParaRPr kumimoji="0" lang="en-US" altLang="zh-CN" sz="2000" b="1" i="0" u="none" strike="noStrike" kern="1200" cap="none" spc="0" normalizeH="0" baseline="0" noProof="0" dirty="0">
                <a:ln>
                  <a:noFill/>
                </a:ln>
                <a:solidFill>
                  <a:srgbClr val="00B0F0"/>
                </a:solidFill>
                <a:effectLst/>
                <a:uLnTx/>
                <a:uFillTx/>
                <a:latin typeface="Perpetua"/>
                <a:ea typeface="宋体" panose="02010600030101010101" pitchFamily="2" charset="-122"/>
                <a:cs typeface="+mn-cs"/>
              </a:endParaRPr>
            </a:p>
          </p:txBody>
        </p:sp>
        <p:cxnSp>
          <p:nvCxnSpPr>
            <p:cNvPr id="52" name="直接箭头连接符 6">
              <a:extLst>
                <a:ext uri="{FF2B5EF4-FFF2-40B4-BE49-F238E27FC236}">
                  <a16:creationId xmlns:a16="http://schemas.microsoft.com/office/drawing/2014/main" id="{06A86185-5423-BE1C-FD1E-D06BEA0A7EEE}"/>
                </a:ext>
              </a:extLst>
            </p:cNvPr>
            <p:cNvCxnSpPr>
              <a:cxnSpLocks/>
            </p:cNvCxnSpPr>
            <p:nvPr/>
          </p:nvCxnSpPr>
          <p:spPr>
            <a:xfrm flipH="1" flipV="1">
              <a:off x="4967514" y="4842552"/>
              <a:ext cx="431571" cy="917575"/>
            </a:xfrm>
            <a:prstGeom prst="straightConnector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70" name="Group 69">
            <a:extLst>
              <a:ext uri="{FF2B5EF4-FFF2-40B4-BE49-F238E27FC236}">
                <a16:creationId xmlns:a16="http://schemas.microsoft.com/office/drawing/2014/main" id="{E149BE9A-0F44-9817-6CCA-8A7A81E94A5E}"/>
              </a:ext>
            </a:extLst>
          </p:cNvPr>
          <p:cNvGrpSpPr/>
          <p:nvPr/>
        </p:nvGrpSpPr>
        <p:grpSpPr>
          <a:xfrm>
            <a:off x="6666167" y="4850030"/>
            <a:ext cx="1566406" cy="819269"/>
            <a:chOff x="6666167" y="4850030"/>
            <a:chExt cx="1566406" cy="819269"/>
          </a:xfrm>
        </p:grpSpPr>
        <p:sp>
          <p:nvSpPr>
            <p:cNvPr id="55" name="文本框 5">
              <a:extLst>
                <a:ext uri="{FF2B5EF4-FFF2-40B4-BE49-F238E27FC236}">
                  <a16:creationId xmlns:a16="http://schemas.microsoft.com/office/drawing/2014/main" id="{138CD8A0-3221-D4A3-CC06-D21F963A31BA}"/>
                </a:ext>
              </a:extLst>
            </p:cNvPr>
            <p:cNvSpPr txBox="1"/>
            <p:nvPr/>
          </p:nvSpPr>
          <p:spPr>
            <a:xfrm>
              <a:off x="7185146" y="5269189"/>
              <a:ext cx="1047427"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B0F0"/>
                  </a:solidFill>
                  <a:effectLst/>
                  <a:uLnTx/>
                  <a:uFillTx/>
                  <a:latin typeface="Perpetua"/>
                  <a:ea typeface="宋体" panose="02010600030101010101" pitchFamily="2" charset="-122"/>
                  <a:cs typeface="+mn-cs"/>
                </a:rPr>
                <a:t>输出门</a:t>
              </a:r>
              <a:endParaRPr kumimoji="0" lang="en-US" altLang="zh-CN" sz="2000" b="1" i="0" u="none" strike="noStrike" kern="1200" cap="none" spc="0" normalizeH="0" baseline="0" noProof="0" dirty="0">
                <a:ln>
                  <a:noFill/>
                </a:ln>
                <a:solidFill>
                  <a:srgbClr val="00B0F0"/>
                </a:solidFill>
                <a:effectLst/>
                <a:uLnTx/>
                <a:uFillTx/>
                <a:latin typeface="Perpetua"/>
                <a:ea typeface="宋体" panose="02010600030101010101" pitchFamily="2" charset="-122"/>
                <a:cs typeface="+mn-cs"/>
              </a:endParaRPr>
            </a:p>
          </p:txBody>
        </p:sp>
        <p:cxnSp>
          <p:nvCxnSpPr>
            <p:cNvPr id="56" name="直接箭头连接符 6">
              <a:extLst>
                <a:ext uri="{FF2B5EF4-FFF2-40B4-BE49-F238E27FC236}">
                  <a16:creationId xmlns:a16="http://schemas.microsoft.com/office/drawing/2014/main" id="{E050D04F-F837-1D7B-11B8-97C2D73740A6}"/>
                </a:ext>
              </a:extLst>
            </p:cNvPr>
            <p:cNvCxnSpPr>
              <a:stCxn id="55" idx="1"/>
            </p:cNvCxnSpPr>
            <p:nvPr/>
          </p:nvCxnSpPr>
          <p:spPr>
            <a:xfrm flipH="1" flipV="1">
              <a:off x="6666167" y="4850030"/>
              <a:ext cx="518979" cy="619214"/>
            </a:xfrm>
            <a:prstGeom prst="straightConnector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p:grpSp>
      <p:sp>
        <p:nvSpPr>
          <p:cNvPr id="57" name="文本框 4">
            <a:extLst>
              <a:ext uri="{FF2B5EF4-FFF2-40B4-BE49-F238E27FC236}">
                <a16:creationId xmlns:a16="http://schemas.microsoft.com/office/drawing/2014/main" id="{D7145F5B-6DDC-F05A-0818-B6AC04AA1C9B}"/>
              </a:ext>
            </a:extLst>
          </p:cNvPr>
          <p:cNvSpPr txBox="1"/>
          <p:nvPr/>
        </p:nvSpPr>
        <p:spPr>
          <a:xfrm>
            <a:off x="9475107" y="2436513"/>
            <a:ext cx="1280155"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长期记忆</a:t>
            </a:r>
            <a:endParaRPr kumimoji="0" lang="en-US" altLang="zh-CN"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p:sp>
        <p:nvSpPr>
          <p:cNvPr id="58" name="文本框 4">
            <a:extLst>
              <a:ext uri="{FF2B5EF4-FFF2-40B4-BE49-F238E27FC236}">
                <a16:creationId xmlns:a16="http://schemas.microsoft.com/office/drawing/2014/main" id="{3F1B70FD-ECC6-587E-A765-B367B2747C07}"/>
              </a:ext>
            </a:extLst>
          </p:cNvPr>
          <p:cNvSpPr txBox="1"/>
          <p:nvPr/>
        </p:nvSpPr>
        <p:spPr>
          <a:xfrm>
            <a:off x="9483137" y="4981715"/>
            <a:ext cx="1280155"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000" dirty="0">
                <a:solidFill>
                  <a:srgbClr val="FF0000"/>
                </a:solidFill>
                <a:latin typeface="Perpetua"/>
                <a:ea typeface="宋体" panose="02010600030101010101" pitchFamily="2" charset="-122"/>
              </a:rPr>
              <a:t>短</a:t>
            </a:r>
            <a:r>
              <a:rPr kumimoji="0" lang="zh-CN" altLang="en-US"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期记忆</a:t>
            </a:r>
            <a:endParaRPr kumimoji="0" lang="en-US" altLang="zh-CN" sz="2000" b="0"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p:grpSp>
        <p:nvGrpSpPr>
          <p:cNvPr id="66" name="Group 65">
            <a:extLst>
              <a:ext uri="{FF2B5EF4-FFF2-40B4-BE49-F238E27FC236}">
                <a16:creationId xmlns:a16="http://schemas.microsoft.com/office/drawing/2014/main" id="{20F02FA4-28AF-9E68-08F4-420722045113}"/>
              </a:ext>
            </a:extLst>
          </p:cNvPr>
          <p:cNvGrpSpPr/>
          <p:nvPr/>
        </p:nvGrpSpPr>
        <p:grpSpPr>
          <a:xfrm>
            <a:off x="3967608" y="1520538"/>
            <a:ext cx="3710398" cy="774120"/>
            <a:chOff x="3967608" y="1520538"/>
            <a:chExt cx="3710398" cy="774120"/>
          </a:xfrm>
        </p:grpSpPr>
        <p:sp>
          <p:nvSpPr>
            <p:cNvPr id="59" name="TextBox 58">
              <a:extLst>
                <a:ext uri="{FF2B5EF4-FFF2-40B4-BE49-F238E27FC236}">
                  <a16:creationId xmlns:a16="http://schemas.microsoft.com/office/drawing/2014/main" id="{F8548BAD-A6EA-DCEB-F1EF-2C6BAD95EA2A}"/>
                </a:ext>
              </a:extLst>
            </p:cNvPr>
            <p:cNvSpPr txBox="1"/>
            <p:nvPr/>
          </p:nvSpPr>
          <p:spPr>
            <a:xfrm>
              <a:off x="3967608" y="1520538"/>
              <a:ext cx="3710398" cy="369332"/>
            </a:xfrm>
            <a:prstGeom prst="rect">
              <a:avLst/>
            </a:prstGeom>
            <a:noFill/>
          </p:spPr>
          <p:txBody>
            <a:bodyPr wrap="square" rtlCol="0">
              <a:spAutoFit/>
            </a:bodyPr>
            <a:lstStyle/>
            <a:p>
              <a:r>
                <a:rPr lang="en-US" b="1" dirty="0" err="1">
                  <a:solidFill>
                    <a:srgbClr val="119F14"/>
                  </a:solidFill>
                </a:rPr>
                <a:t>更新由加减操作完成</a:t>
              </a:r>
              <a:r>
                <a:rPr lang="zh-CN" altLang="en-US" b="1" dirty="0">
                  <a:solidFill>
                    <a:srgbClr val="119F14"/>
                  </a:solidFill>
                </a:rPr>
                <a:t>，无连续乘法</a:t>
              </a:r>
              <a:endParaRPr lang="en-US" b="1" dirty="0">
                <a:solidFill>
                  <a:srgbClr val="119F14"/>
                </a:solidFill>
              </a:endParaRPr>
            </a:p>
          </p:txBody>
        </p:sp>
        <p:cxnSp>
          <p:nvCxnSpPr>
            <p:cNvPr id="61" name="Straight Arrow Connector 60">
              <a:extLst>
                <a:ext uri="{FF2B5EF4-FFF2-40B4-BE49-F238E27FC236}">
                  <a16:creationId xmlns:a16="http://schemas.microsoft.com/office/drawing/2014/main" id="{A9ABF129-5D25-AC4A-3070-D96CB437984B}"/>
                </a:ext>
              </a:extLst>
            </p:cNvPr>
            <p:cNvCxnSpPr/>
            <p:nvPr/>
          </p:nvCxnSpPr>
          <p:spPr>
            <a:xfrm>
              <a:off x="5664577" y="1928075"/>
              <a:ext cx="0" cy="366583"/>
            </a:xfrm>
            <a:prstGeom prst="straightConnector1">
              <a:avLst/>
            </a:prstGeom>
            <a:ln w="28575">
              <a:solidFill>
                <a:srgbClr val="119F14"/>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7" name="Group 66">
            <a:extLst>
              <a:ext uri="{FF2B5EF4-FFF2-40B4-BE49-F238E27FC236}">
                <a16:creationId xmlns:a16="http://schemas.microsoft.com/office/drawing/2014/main" id="{599465FE-B089-099B-7421-4DCCCD056F57}"/>
              </a:ext>
            </a:extLst>
          </p:cNvPr>
          <p:cNvGrpSpPr/>
          <p:nvPr/>
        </p:nvGrpSpPr>
        <p:grpSpPr>
          <a:xfrm>
            <a:off x="7748546" y="4393916"/>
            <a:ext cx="4492720" cy="369332"/>
            <a:chOff x="7748546" y="4393916"/>
            <a:chExt cx="4492720" cy="369332"/>
          </a:xfrm>
        </p:grpSpPr>
        <p:sp>
          <p:nvSpPr>
            <p:cNvPr id="62" name="TextBox 61">
              <a:extLst>
                <a:ext uri="{FF2B5EF4-FFF2-40B4-BE49-F238E27FC236}">
                  <a16:creationId xmlns:a16="http://schemas.microsoft.com/office/drawing/2014/main" id="{D7E688D0-32AF-A674-7742-420458F61D13}"/>
                </a:ext>
              </a:extLst>
            </p:cNvPr>
            <p:cNvSpPr txBox="1"/>
            <p:nvPr/>
          </p:nvSpPr>
          <p:spPr>
            <a:xfrm>
              <a:off x="8530868" y="4393916"/>
              <a:ext cx="3710398" cy="369332"/>
            </a:xfrm>
            <a:prstGeom prst="rect">
              <a:avLst/>
            </a:prstGeom>
            <a:noFill/>
          </p:spPr>
          <p:txBody>
            <a:bodyPr wrap="square" rtlCol="0">
              <a:spAutoFit/>
            </a:bodyPr>
            <a:lstStyle/>
            <a:p>
              <a:r>
                <a:rPr lang="en-US" b="1" dirty="0" err="1">
                  <a:solidFill>
                    <a:srgbClr val="119F14"/>
                  </a:solidFill>
                </a:rPr>
                <a:t>对于长期记忆的筛选和变换</a:t>
              </a:r>
              <a:endParaRPr lang="en-US" b="1" dirty="0">
                <a:solidFill>
                  <a:srgbClr val="119F14"/>
                </a:solidFill>
              </a:endParaRPr>
            </a:p>
          </p:txBody>
        </p:sp>
        <p:cxnSp>
          <p:nvCxnSpPr>
            <p:cNvPr id="63" name="Straight Arrow Connector 62">
              <a:extLst>
                <a:ext uri="{FF2B5EF4-FFF2-40B4-BE49-F238E27FC236}">
                  <a16:creationId xmlns:a16="http://schemas.microsoft.com/office/drawing/2014/main" id="{0B65F7B7-835D-4747-F1C7-CFA786B0D150}"/>
                </a:ext>
              </a:extLst>
            </p:cNvPr>
            <p:cNvCxnSpPr>
              <a:cxnSpLocks/>
              <a:stCxn id="62" idx="1"/>
            </p:cNvCxnSpPr>
            <p:nvPr/>
          </p:nvCxnSpPr>
          <p:spPr>
            <a:xfrm flipH="1">
              <a:off x="7748546" y="4578582"/>
              <a:ext cx="782322" cy="0"/>
            </a:xfrm>
            <a:prstGeom prst="straightConnector1">
              <a:avLst/>
            </a:prstGeom>
            <a:ln w="28575">
              <a:solidFill>
                <a:srgbClr val="119F14"/>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927A58DD-EF33-0D28-2DF2-0403200B5832}"/>
                  </a:ext>
                </a:extLst>
              </p:cNvPr>
              <p:cNvSpPr txBox="1"/>
              <p:nvPr/>
            </p:nvSpPr>
            <p:spPr>
              <a:xfrm>
                <a:off x="8345451" y="728192"/>
                <a:ext cx="3533934" cy="946991"/>
              </a:xfrm>
              <a:prstGeom prst="rect">
                <a:avLst/>
              </a:prstGeom>
              <a:noFill/>
            </p:spPr>
            <p:txBody>
              <a:bodyPr wrap="square" rtlCol="0">
                <a:spAutoFit/>
              </a:bodyPr>
              <a:lstStyle/>
              <a:p>
                <a:r>
                  <a:rPr lang="en-US" dirty="0"/>
                  <a:t>Q1:如果要对句子中每个位置进行预测输出</a:t>
                </a:r>
                <a:r>
                  <a:rPr lang="zh-CN" altLang="en-US" dirty="0"/>
                  <a:t>，例如中文分词，应该用</a:t>
                </a:r>
                <a14:m>
                  <m:oMath xmlns:m="http://schemas.openxmlformats.org/officeDocument/2006/math">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h</m:t>
                        </m:r>
                      </m:e>
                      <m:sup>
                        <m:r>
                          <a:rPr lang="en-US" altLang="zh-CN" b="0" i="1" smtClean="0">
                            <a:latin typeface="Cambria Math" panose="02040503050406030204" pitchFamily="18" charset="0"/>
                          </a:rPr>
                          <m:t>(</m:t>
                        </m:r>
                        <m:r>
                          <a:rPr lang="en-US" altLang="zh-CN" b="0" i="1" smtClean="0">
                            <a:latin typeface="Cambria Math" panose="02040503050406030204" pitchFamily="18" charset="0"/>
                          </a:rPr>
                          <m:t>𝑡</m:t>
                        </m:r>
                        <m:r>
                          <a:rPr lang="en-US" altLang="zh-CN" b="0" i="1" smtClean="0">
                            <a:latin typeface="Cambria Math" panose="02040503050406030204" pitchFamily="18" charset="0"/>
                          </a:rPr>
                          <m:t>)</m:t>
                        </m:r>
                      </m:sup>
                    </m:sSup>
                  </m:oMath>
                </a14:m>
                <a:r>
                  <a:rPr lang="zh-CN" altLang="en-US" dirty="0"/>
                  <a:t>还是</a:t>
                </a:r>
                <a14:m>
                  <m:oMath xmlns:m="http://schemas.openxmlformats.org/officeDocument/2006/math">
                    <m:sSup>
                      <m:sSupPr>
                        <m:ctrlPr>
                          <a:rPr lang="en-US" altLang="zh-CN" b="0" i="1" dirty="0" smtClean="0">
                            <a:latin typeface="Cambria Math" panose="02040503050406030204" pitchFamily="18" charset="0"/>
                          </a:rPr>
                        </m:ctrlPr>
                      </m:sSupPr>
                      <m:e>
                        <m:r>
                          <a:rPr lang="en-US" altLang="zh-CN" b="0" i="1" dirty="0" smtClean="0">
                            <a:latin typeface="Cambria Math" panose="02040503050406030204" pitchFamily="18" charset="0"/>
                          </a:rPr>
                          <m:t>𝑠</m:t>
                        </m:r>
                      </m:e>
                      <m:sup>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𝑡</m:t>
                        </m:r>
                        <m:r>
                          <a:rPr lang="en-US" altLang="zh-CN" b="0" i="1" dirty="0" smtClean="0">
                            <a:latin typeface="Cambria Math" panose="02040503050406030204" pitchFamily="18" charset="0"/>
                          </a:rPr>
                          <m:t>)</m:t>
                        </m:r>
                      </m:sup>
                    </m:sSup>
                  </m:oMath>
                </a14:m>
                <a:r>
                  <a:rPr lang="zh-CN" altLang="en-US" dirty="0"/>
                  <a:t>呢？</a:t>
                </a:r>
                <a:endParaRPr lang="en-US" dirty="0"/>
              </a:p>
            </p:txBody>
          </p:sp>
        </mc:Choice>
        <mc:Fallback xmlns="">
          <p:sp>
            <p:nvSpPr>
              <p:cNvPr id="71" name="TextBox 70">
                <a:extLst>
                  <a:ext uri="{FF2B5EF4-FFF2-40B4-BE49-F238E27FC236}">
                    <a16:creationId xmlns:a16="http://schemas.microsoft.com/office/drawing/2014/main" id="{927A58DD-EF33-0D28-2DF2-0403200B5832}"/>
                  </a:ext>
                </a:extLst>
              </p:cNvPr>
              <p:cNvSpPr txBox="1">
                <a:spLocks noRot="1" noChangeAspect="1" noMove="1" noResize="1" noEditPoints="1" noAdjustHandles="1" noChangeArrowheads="1" noChangeShapeType="1" noTextEdit="1"/>
              </p:cNvSpPr>
              <p:nvPr/>
            </p:nvSpPr>
            <p:spPr>
              <a:xfrm>
                <a:off x="8345451" y="728192"/>
                <a:ext cx="3533934" cy="946991"/>
              </a:xfrm>
              <a:prstGeom prst="rect">
                <a:avLst/>
              </a:prstGeom>
              <a:blipFill>
                <a:blip r:embed="rId3"/>
                <a:stretch>
                  <a:fillRect l="-1434" t="-6667" r="-358" b="-5333"/>
                </a:stretch>
              </a:blipFill>
            </p:spPr>
            <p:txBody>
              <a:bodyPr/>
              <a:lstStyle/>
              <a:p>
                <a:r>
                  <a:rPr lang="en-US">
                    <a:noFill/>
                  </a:rPr>
                  <a:t> </a:t>
                </a:r>
              </a:p>
            </p:txBody>
          </p:sp>
        </mc:Fallback>
      </mc:AlternateContent>
      <p:sp>
        <p:nvSpPr>
          <p:cNvPr id="72" name="TextBox 71">
            <a:extLst>
              <a:ext uri="{FF2B5EF4-FFF2-40B4-BE49-F238E27FC236}">
                <a16:creationId xmlns:a16="http://schemas.microsoft.com/office/drawing/2014/main" id="{510D8EDA-1C9A-73B1-D7CF-8EF3714D1CBE}"/>
              </a:ext>
            </a:extLst>
          </p:cNvPr>
          <p:cNvSpPr txBox="1"/>
          <p:nvPr/>
        </p:nvSpPr>
        <p:spPr>
          <a:xfrm>
            <a:off x="8341193" y="1675319"/>
            <a:ext cx="3803961" cy="646331"/>
          </a:xfrm>
          <a:prstGeom prst="rect">
            <a:avLst/>
          </a:prstGeom>
          <a:noFill/>
        </p:spPr>
        <p:txBody>
          <a:bodyPr wrap="square" rtlCol="0">
            <a:spAutoFit/>
          </a:bodyPr>
          <a:lstStyle/>
          <a:p>
            <a:r>
              <a:rPr lang="en-US" dirty="0"/>
              <a:t>Q</a:t>
            </a:r>
            <a:r>
              <a:rPr lang="en-US" altLang="zh-CN" dirty="0"/>
              <a:t>2</a:t>
            </a:r>
            <a:r>
              <a:rPr lang="en-US" dirty="0"/>
              <a:t>:如果要对整个句子进行预测输出</a:t>
            </a:r>
            <a:r>
              <a:rPr lang="zh-CN" altLang="en-US" dirty="0"/>
              <a:t>，例如情感分类或翻译，应该用谁呢？</a:t>
            </a:r>
            <a:endParaRPr lang="en-US" dirty="0"/>
          </a:p>
        </p:txBody>
      </p:sp>
      <p:sp>
        <p:nvSpPr>
          <p:cNvPr id="3" name="TextBox 2">
            <a:extLst>
              <a:ext uri="{FF2B5EF4-FFF2-40B4-BE49-F238E27FC236}">
                <a16:creationId xmlns:a16="http://schemas.microsoft.com/office/drawing/2014/main" id="{6468C09E-FA0A-5E79-BE42-08C3FAAC5B79}"/>
              </a:ext>
            </a:extLst>
          </p:cNvPr>
          <p:cNvSpPr txBox="1"/>
          <p:nvPr/>
        </p:nvSpPr>
        <p:spPr>
          <a:xfrm>
            <a:off x="704163" y="1520538"/>
            <a:ext cx="3077898" cy="369332"/>
          </a:xfrm>
          <a:prstGeom prst="rect">
            <a:avLst/>
          </a:prstGeom>
          <a:noFill/>
        </p:spPr>
        <p:txBody>
          <a:bodyPr wrap="square" rtlCol="0">
            <a:spAutoFit/>
          </a:bodyPr>
          <a:lstStyle/>
          <a:p>
            <a:r>
              <a:rPr lang="en-US" b="1" dirty="0" err="1">
                <a:solidFill>
                  <a:srgbClr val="00B050"/>
                </a:solidFill>
              </a:rPr>
              <a:t>这个操作似乎有些似曾相识</a:t>
            </a:r>
            <a:r>
              <a:rPr lang="zh-CN" altLang="en-US" b="1" dirty="0">
                <a:solidFill>
                  <a:srgbClr val="00B050"/>
                </a:solidFill>
              </a:rPr>
              <a:t>？</a:t>
            </a:r>
            <a:endParaRPr lang="en-US" b="1" dirty="0">
              <a:solidFill>
                <a:srgbClr val="00B050"/>
              </a:solidFill>
            </a:endParaRPr>
          </a:p>
        </p:txBody>
      </p:sp>
    </p:spTree>
    <p:extLst>
      <p:ext uri="{BB962C8B-B14F-4D97-AF65-F5344CB8AC3E}">
        <p14:creationId xmlns:p14="http://schemas.microsoft.com/office/powerpoint/2010/main" val="3623050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P spid="58" grpId="0"/>
      <p:bldP spid="71" grpId="0"/>
      <p:bldP spid="72" grpId="0"/>
      <p:bldP spid="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举例：机器翻译</a:t>
            </a:r>
          </a:p>
        </p:txBody>
      </p:sp>
      <p:pic>
        <p:nvPicPr>
          <p:cNvPr id="4" name="图片 3"/>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68557" y="1582309"/>
            <a:ext cx="6893781" cy="4158532"/>
          </a:xfrm>
          <a:prstGeom prst="rect">
            <a:avLst/>
          </a:prstGeom>
          <a:noFill/>
        </p:spPr>
      </p:pic>
      <p:sp>
        <p:nvSpPr>
          <p:cNvPr id="5" name="文本框 4"/>
          <p:cNvSpPr txBox="1"/>
          <p:nvPr/>
        </p:nvSpPr>
        <p:spPr>
          <a:xfrm>
            <a:off x="9501807" y="4004395"/>
            <a:ext cx="1311968"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编码器</a:t>
            </a:r>
            <a:endParaRPr kumimoji="0" lang="en-US" altLang="zh-CN" sz="20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p:cxnSp>
        <p:nvCxnSpPr>
          <p:cNvPr id="6" name="直接箭头连接符 5"/>
          <p:cNvCxnSpPr>
            <a:stCxn id="5" idx="2"/>
          </p:cNvCxnSpPr>
          <p:nvPr/>
        </p:nvCxnSpPr>
        <p:spPr>
          <a:xfrm flipH="1">
            <a:off x="8762338" y="4404505"/>
            <a:ext cx="1395453" cy="485547"/>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9543549" y="1750359"/>
            <a:ext cx="1311968"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rPr>
              <a:t>解码器</a:t>
            </a:r>
            <a:endParaRPr kumimoji="0" lang="en-US" altLang="zh-CN" sz="2000" b="1" i="0" u="none" strike="noStrike" kern="1200" cap="none" spc="0" normalizeH="0" baseline="0" noProof="0" dirty="0">
              <a:ln>
                <a:noFill/>
              </a:ln>
              <a:solidFill>
                <a:srgbClr val="FF0000"/>
              </a:solidFill>
              <a:effectLst/>
              <a:uLnTx/>
              <a:uFillTx/>
              <a:latin typeface="Perpetua"/>
              <a:ea typeface="宋体" panose="02010600030101010101" pitchFamily="2" charset="-122"/>
              <a:cs typeface="+mn-cs"/>
            </a:endParaRPr>
          </a:p>
        </p:txBody>
      </p:sp>
      <p:cxnSp>
        <p:nvCxnSpPr>
          <p:cNvPr id="12" name="直接箭头连接符 11"/>
          <p:cNvCxnSpPr>
            <a:stCxn id="11" idx="2"/>
          </p:cNvCxnSpPr>
          <p:nvPr/>
        </p:nvCxnSpPr>
        <p:spPr>
          <a:xfrm flipH="1">
            <a:off x="8804080" y="2150469"/>
            <a:ext cx="1395453" cy="485547"/>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4980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小结</a:t>
            </a:r>
          </a:p>
        </p:txBody>
      </p:sp>
      <p:sp>
        <p:nvSpPr>
          <p:cNvPr id="3" name="内容占位符 2"/>
          <p:cNvSpPr>
            <a:spLocks noGrp="1"/>
          </p:cNvSpPr>
          <p:nvPr>
            <p:ph sz="quarter" idx="1"/>
          </p:nvPr>
        </p:nvSpPr>
        <p:spPr>
          <a:xfrm>
            <a:off x="1163541" y="1417637"/>
            <a:ext cx="10363200" cy="4999065"/>
          </a:xfrm>
        </p:spPr>
        <p:txBody>
          <a:bodyPr>
            <a:normAutofit/>
          </a:bodyPr>
          <a:lstStyle/>
          <a:p>
            <a:r>
              <a:rPr lang="zh-CN" altLang="en-US" dirty="0"/>
              <a:t>循环神经网络的一种特殊实现</a:t>
            </a:r>
            <a:endParaRPr lang="en-US" altLang="zh-CN" dirty="0"/>
          </a:p>
          <a:p>
            <a:pPr lvl="1"/>
            <a:r>
              <a:rPr lang="zh-CN" altLang="en-US" dirty="0"/>
              <a:t>单向</a:t>
            </a:r>
            <a:r>
              <a:rPr lang="en-US" altLang="zh-CN" dirty="0"/>
              <a:t>LSTM</a:t>
            </a:r>
          </a:p>
          <a:p>
            <a:pPr lvl="1"/>
            <a:r>
              <a:rPr lang="zh-CN" altLang="en-US" dirty="0"/>
              <a:t>双向</a:t>
            </a:r>
            <a:r>
              <a:rPr lang="en-US" altLang="zh-CN" dirty="0"/>
              <a:t>LSTM</a:t>
            </a:r>
          </a:p>
          <a:p>
            <a:pPr lvl="1"/>
            <a:r>
              <a:rPr lang="zh-CN" altLang="en-US" dirty="0"/>
              <a:t>序列到序列的</a:t>
            </a:r>
            <a:r>
              <a:rPr lang="en-US" altLang="zh-CN" dirty="0"/>
              <a:t>LSTM</a:t>
            </a:r>
          </a:p>
          <a:p>
            <a:r>
              <a:rPr lang="zh-CN" altLang="en-US" dirty="0"/>
              <a:t>同简单循环神经网络一样，</a:t>
            </a:r>
            <a:r>
              <a:rPr lang="en-US" altLang="zh-CN" dirty="0"/>
              <a:t>LSTM</a:t>
            </a:r>
            <a:r>
              <a:rPr lang="zh-CN" altLang="en-US" dirty="0"/>
              <a:t>模块也是共用的</a:t>
            </a:r>
            <a:endParaRPr lang="en-US" altLang="zh-CN" dirty="0"/>
          </a:p>
          <a:p>
            <a:pPr lvl="1"/>
            <a:r>
              <a:rPr lang="zh-CN" altLang="en-US" dirty="0"/>
              <a:t>只有一个模块，循环使用</a:t>
            </a:r>
            <a:endParaRPr lang="en-US" altLang="zh-CN" dirty="0"/>
          </a:p>
          <a:p>
            <a:r>
              <a:rPr lang="zh-CN" altLang="en-US" dirty="0"/>
              <a:t>三个门</a:t>
            </a:r>
            <a:endParaRPr lang="en-US" altLang="zh-CN" dirty="0"/>
          </a:p>
          <a:p>
            <a:pPr lvl="1"/>
            <a:r>
              <a:rPr lang="zh-CN" altLang="en-US" dirty="0"/>
              <a:t>遗忘门，输入门，输出门</a:t>
            </a:r>
            <a:endParaRPr lang="en-US" altLang="zh-CN" dirty="0"/>
          </a:p>
          <a:p>
            <a:pPr lvl="1"/>
            <a:r>
              <a:rPr lang="zh-CN" altLang="en-US" dirty="0"/>
              <a:t>结构一样，参数不同</a:t>
            </a:r>
            <a:endParaRPr lang="en-US" altLang="zh-CN" dirty="0"/>
          </a:p>
          <a:p>
            <a:r>
              <a:rPr lang="en-US" altLang="zh-CN" dirty="0"/>
              <a:t>LSTM</a:t>
            </a:r>
            <a:r>
              <a:rPr lang="zh-CN" altLang="en-US" dirty="0"/>
              <a:t>变种</a:t>
            </a:r>
            <a:endParaRPr lang="en-US" altLang="zh-CN" dirty="0"/>
          </a:p>
          <a:p>
            <a:pPr lvl="1"/>
            <a:r>
              <a:rPr lang="en-US" altLang="zh-CN" dirty="0"/>
              <a:t>GRU</a:t>
            </a:r>
            <a:endParaRPr lang="zh-CN" altLang="en-US" dirty="0"/>
          </a:p>
        </p:txBody>
      </p:sp>
    </p:spTree>
    <p:extLst>
      <p:ext uri="{BB962C8B-B14F-4D97-AF65-F5344CB8AC3E}">
        <p14:creationId xmlns:p14="http://schemas.microsoft.com/office/powerpoint/2010/main" val="15518775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2.10 </a:t>
            </a:r>
            <a:r>
              <a:rPr lang="zh-CN" altLang="en-US" dirty="0"/>
              <a:t>深度学习框架</a:t>
            </a:r>
          </a:p>
        </p:txBody>
      </p:sp>
      <p:sp>
        <p:nvSpPr>
          <p:cNvPr id="3" name="内容占位符 2"/>
          <p:cNvSpPr>
            <a:spLocks noGrp="1"/>
          </p:cNvSpPr>
          <p:nvPr>
            <p:ph sz="quarter" idx="1"/>
          </p:nvPr>
        </p:nvSpPr>
        <p:spPr>
          <a:xfrm>
            <a:off x="1219200" y="1201310"/>
            <a:ext cx="10363200" cy="4572000"/>
          </a:xfrm>
        </p:spPr>
        <p:txBody>
          <a:bodyPr/>
          <a:lstStyle/>
          <a:p>
            <a:endParaRPr lang="en-US" altLang="zh-CN" dirty="0"/>
          </a:p>
          <a:p>
            <a:r>
              <a:rPr lang="zh-CN" altLang="en-US" dirty="0"/>
              <a:t>网络结构越来越复杂</a:t>
            </a:r>
            <a:endParaRPr lang="en-US" altLang="zh-CN" dirty="0"/>
          </a:p>
          <a:p>
            <a:r>
              <a:rPr lang="zh-CN" altLang="en-US" dirty="0"/>
              <a:t>网络层次越来越深</a:t>
            </a:r>
            <a:endParaRPr lang="en-US" altLang="zh-CN" dirty="0"/>
          </a:p>
          <a:p>
            <a:r>
              <a:rPr lang="zh-CN" altLang="en-US" dirty="0"/>
              <a:t>如何方便地构建神经网络？</a:t>
            </a:r>
            <a:endParaRPr lang="en-US" altLang="zh-CN" dirty="0"/>
          </a:p>
          <a:p>
            <a:r>
              <a:rPr lang="en-US" altLang="zh-CN" dirty="0"/>
              <a:t>BP</a:t>
            </a:r>
            <a:r>
              <a:rPr lang="zh-CN" altLang="en-US" dirty="0"/>
              <a:t>算法需要每次都推导吗？</a:t>
            </a:r>
            <a:endParaRPr lang="en-US" altLang="zh-CN" dirty="0"/>
          </a:p>
          <a:p>
            <a:endParaRPr lang="en-US" altLang="zh-CN" dirty="0"/>
          </a:p>
          <a:p>
            <a:r>
              <a:rPr lang="zh-CN" altLang="en-US" dirty="0"/>
              <a:t>深度学习框架</a:t>
            </a:r>
            <a:endParaRPr lang="en-US" altLang="zh-CN" dirty="0"/>
          </a:p>
          <a:p>
            <a:pPr marL="0" indent="0">
              <a:buNone/>
            </a:pPr>
            <a:endParaRPr lang="zh-CN" altLang="en-US" dirty="0"/>
          </a:p>
        </p:txBody>
      </p:sp>
    </p:spTree>
    <p:extLst>
      <p:ext uri="{BB962C8B-B14F-4D97-AF65-F5344CB8AC3E}">
        <p14:creationId xmlns:p14="http://schemas.microsoft.com/office/powerpoint/2010/main" val="25381457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常用的深度学习框架</a:t>
            </a:r>
          </a:p>
        </p:txBody>
      </p:sp>
      <p:sp>
        <p:nvSpPr>
          <p:cNvPr id="3" name="内容占位符 2"/>
          <p:cNvSpPr>
            <a:spLocks noGrp="1"/>
          </p:cNvSpPr>
          <p:nvPr>
            <p:ph sz="quarter" idx="1"/>
          </p:nvPr>
        </p:nvSpPr>
        <p:spPr>
          <a:xfrm>
            <a:off x="1219200" y="1082039"/>
            <a:ext cx="10363200" cy="5127929"/>
          </a:xfrm>
        </p:spPr>
        <p:txBody>
          <a:bodyPr/>
          <a:lstStyle/>
          <a:p>
            <a:endParaRPr lang="en-US" altLang="zh-CN" dirty="0"/>
          </a:p>
          <a:p>
            <a:r>
              <a:rPr lang="en-US" altLang="zh-CN" dirty="0" err="1"/>
              <a:t>TensorFlow</a:t>
            </a:r>
            <a:endParaRPr lang="en-US" altLang="zh-CN" dirty="0"/>
          </a:p>
          <a:p>
            <a:r>
              <a:rPr lang="en-US" altLang="zh-CN" dirty="0" err="1"/>
              <a:t>PyTorch</a:t>
            </a:r>
            <a:endParaRPr lang="en-US" altLang="zh-CN" dirty="0"/>
          </a:p>
          <a:p>
            <a:r>
              <a:rPr lang="en-US" altLang="zh-CN" dirty="0" err="1"/>
              <a:t>Keras</a:t>
            </a:r>
            <a:endParaRPr lang="en-US" altLang="zh-CN" dirty="0"/>
          </a:p>
          <a:p>
            <a:endParaRPr lang="en-US" altLang="zh-CN" dirty="0"/>
          </a:p>
          <a:p>
            <a:r>
              <a:rPr lang="zh-CN" altLang="en-US" dirty="0"/>
              <a:t>飞桨（</a:t>
            </a:r>
            <a:r>
              <a:rPr lang="en-US" altLang="zh-CN" dirty="0" err="1"/>
              <a:t>PaddlePaddle</a:t>
            </a:r>
            <a:r>
              <a:rPr lang="zh-CN" altLang="en-US" dirty="0"/>
              <a:t>）</a:t>
            </a:r>
            <a:endParaRPr lang="en-US" altLang="zh-CN" dirty="0"/>
          </a:p>
          <a:p>
            <a:pPr lvl="1"/>
            <a:r>
              <a:rPr lang="zh-CN" altLang="en-US" dirty="0"/>
              <a:t>百度公司</a:t>
            </a:r>
            <a:endParaRPr lang="en-US" altLang="zh-CN" dirty="0"/>
          </a:p>
          <a:p>
            <a:r>
              <a:rPr lang="zh-CN" altLang="en-US" dirty="0"/>
              <a:t>计图（</a:t>
            </a:r>
            <a:r>
              <a:rPr lang="en-US" altLang="zh-CN" dirty="0" err="1"/>
              <a:t>Jittor</a:t>
            </a:r>
            <a:r>
              <a:rPr lang="zh-CN" altLang="en-US" dirty="0"/>
              <a:t>）</a:t>
            </a:r>
            <a:endParaRPr lang="en-US" altLang="zh-CN" dirty="0"/>
          </a:p>
          <a:p>
            <a:pPr lvl="1"/>
            <a:r>
              <a:rPr lang="zh-CN" altLang="en-US" dirty="0"/>
              <a:t>清华大学</a:t>
            </a:r>
          </a:p>
        </p:txBody>
      </p:sp>
    </p:spTree>
    <p:extLst>
      <p:ext uri="{BB962C8B-B14F-4D97-AF65-F5344CB8AC3E}">
        <p14:creationId xmlns:p14="http://schemas.microsoft.com/office/powerpoint/2010/main" val="14059312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练习题</a:t>
            </a:r>
          </a:p>
        </p:txBody>
      </p:sp>
      <p:sp>
        <p:nvSpPr>
          <p:cNvPr id="3" name="内容占位符 2"/>
          <p:cNvSpPr>
            <a:spLocks noGrp="1"/>
          </p:cNvSpPr>
          <p:nvPr>
            <p:ph sz="quarter" idx="1"/>
          </p:nvPr>
        </p:nvSpPr>
        <p:spPr/>
        <p:txBody>
          <a:bodyPr/>
          <a:lstStyle/>
          <a:p>
            <a:endParaRPr lang="en-US" altLang="zh-CN" dirty="0"/>
          </a:p>
          <a:p>
            <a:r>
              <a:rPr lang="zh-CN" altLang="en-US" dirty="0"/>
              <a:t>采用神经网络实现拼音到汉字的转换。</a:t>
            </a:r>
            <a:endParaRPr lang="en-US" altLang="zh-CN" dirty="0"/>
          </a:p>
          <a:p>
            <a:pPr lvl="1"/>
            <a:r>
              <a:rPr lang="zh-CN" altLang="en-US"/>
              <a:t>神经网络语言模型</a:t>
            </a:r>
            <a:endParaRPr lang="en-US" altLang="zh-CN" dirty="0"/>
          </a:p>
          <a:p>
            <a:pPr lvl="1"/>
            <a:r>
              <a:rPr lang="zh-CN" altLang="en-US" dirty="0"/>
              <a:t>循环神经网络</a:t>
            </a:r>
          </a:p>
        </p:txBody>
      </p:sp>
    </p:spTree>
    <p:extLst>
      <p:ext uri="{BB962C8B-B14F-4D97-AF65-F5344CB8AC3E}">
        <p14:creationId xmlns:p14="http://schemas.microsoft.com/office/powerpoint/2010/main" val="38395554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2.11 </a:t>
            </a:r>
            <a:r>
              <a:rPr lang="zh-CN" altLang="en-US" dirty="0"/>
              <a:t>总结</a:t>
            </a:r>
          </a:p>
        </p:txBody>
      </p:sp>
      <p:sp>
        <p:nvSpPr>
          <p:cNvPr id="3" name="内容占位符 2"/>
          <p:cNvSpPr>
            <a:spLocks noGrp="1"/>
          </p:cNvSpPr>
          <p:nvPr>
            <p:ph sz="quarter" idx="1"/>
          </p:nvPr>
        </p:nvSpPr>
        <p:spPr>
          <a:xfrm>
            <a:off x="1219200" y="1789706"/>
            <a:ext cx="10363200" cy="4572000"/>
          </a:xfrm>
        </p:spPr>
        <p:txBody>
          <a:bodyPr/>
          <a:lstStyle/>
          <a:p>
            <a:r>
              <a:rPr lang="zh-CN" altLang="en-US" dirty="0"/>
              <a:t>神经网络（深度学习）的基础知识</a:t>
            </a:r>
            <a:endParaRPr lang="en-US" altLang="zh-CN" dirty="0"/>
          </a:p>
          <a:p>
            <a:pPr lvl="1"/>
            <a:r>
              <a:rPr lang="zh-CN" altLang="en-US" dirty="0"/>
              <a:t>神经元、神经网络</a:t>
            </a:r>
            <a:endParaRPr lang="en-US" altLang="zh-CN" dirty="0"/>
          </a:p>
          <a:p>
            <a:pPr lvl="1"/>
            <a:r>
              <a:rPr lang="zh-CN" altLang="en-US" dirty="0"/>
              <a:t>全连接神经网络</a:t>
            </a:r>
            <a:endParaRPr lang="en-US" altLang="zh-CN" dirty="0"/>
          </a:p>
          <a:p>
            <a:pPr lvl="1"/>
            <a:r>
              <a:rPr lang="zh-CN" altLang="en-US" dirty="0"/>
              <a:t>卷积神经网络</a:t>
            </a:r>
            <a:endParaRPr lang="en-US" altLang="zh-CN" dirty="0"/>
          </a:p>
          <a:p>
            <a:pPr lvl="1"/>
            <a:r>
              <a:rPr lang="zh-CN" altLang="en-US" dirty="0"/>
              <a:t>循环神经网络</a:t>
            </a:r>
            <a:endParaRPr lang="en-US" altLang="zh-CN" dirty="0"/>
          </a:p>
          <a:p>
            <a:pPr lvl="2"/>
            <a:r>
              <a:rPr lang="zh-CN" altLang="en-US" dirty="0"/>
              <a:t>简单循环神经网络</a:t>
            </a:r>
            <a:endParaRPr lang="en-US" altLang="zh-CN" dirty="0"/>
          </a:p>
          <a:p>
            <a:pPr lvl="2"/>
            <a:r>
              <a:rPr lang="zh-CN" altLang="en-US" dirty="0"/>
              <a:t>长短期记忆网络（</a:t>
            </a:r>
            <a:r>
              <a:rPr lang="en-US" altLang="zh-CN" dirty="0"/>
              <a:t>LSTM</a:t>
            </a:r>
            <a:r>
              <a:rPr lang="zh-CN" altLang="en-US" dirty="0"/>
              <a:t>）</a:t>
            </a:r>
            <a:endParaRPr lang="en-US" altLang="zh-CN" dirty="0"/>
          </a:p>
          <a:p>
            <a:pPr lvl="2"/>
            <a:r>
              <a:rPr lang="zh-CN" altLang="en-US" dirty="0"/>
              <a:t>双向循环神经网络</a:t>
            </a:r>
            <a:endParaRPr lang="en-US" altLang="zh-CN" dirty="0"/>
          </a:p>
          <a:p>
            <a:pPr lvl="2"/>
            <a:r>
              <a:rPr lang="zh-CN" altLang="en-US" dirty="0"/>
              <a:t>序列到序列神经网络</a:t>
            </a:r>
            <a:endParaRPr lang="en-US" altLang="zh-CN" dirty="0"/>
          </a:p>
          <a:p>
            <a:endParaRPr lang="zh-CN" altLang="en-US" dirty="0"/>
          </a:p>
        </p:txBody>
      </p:sp>
    </p:spTree>
    <p:extLst>
      <p:ext uri="{BB962C8B-B14F-4D97-AF65-F5344CB8AC3E}">
        <p14:creationId xmlns:p14="http://schemas.microsoft.com/office/powerpoint/2010/main" val="30016319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sz="quarter" idx="1"/>
          </p:nvPr>
        </p:nvSpPr>
        <p:spPr/>
        <p:txBody>
          <a:bodyPr>
            <a:normAutofit/>
          </a:bodyPr>
          <a:lstStyle/>
          <a:p>
            <a:pPr lvl="1"/>
            <a:r>
              <a:rPr lang="en-US" altLang="zh-CN" dirty="0"/>
              <a:t>BP</a:t>
            </a:r>
            <a:r>
              <a:rPr lang="zh-CN" altLang="en-US" dirty="0"/>
              <a:t>算法</a:t>
            </a:r>
            <a:endParaRPr lang="en-US" altLang="zh-CN" dirty="0"/>
          </a:p>
          <a:p>
            <a:pPr lvl="1"/>
            <a:r>
              <a:rPr lang="zh-CN" altLang="en-US" dirty="0"/>
              <a:t>过拟合问题</a:t>
            </a:r>
            <a:endParaRPr lang="en-US" altLang="zh-CN" dirty="0"/>
          </a:p>
          <a:p>
            <a:pPr lvl="1"/>
            <a:r>
              <a:rPr lang="zh-CN" altLang="en-US" dirty="0"/>
              <a:t>梯度消失问题</a:t>
            </a:r>
            <a:endParaRPr lang="en-US" altLang="zh-CN" dirty="0"/>
          </a:p>
          <a:p>
            <a:pPr lvl="1"/>
            <a:r>
              <a:rPr lang="zh-CN" altLang="en-US" dirty="0"/>
              <a:t>神经网络实现举例</a:t>
            </a:r>
            <a:endParaRPr lang="en-US" altLang="zh-CN" dirty="0"/>
          </a:p>
          <a:p>
            <a:pPr lvl="2"/>
            <a:r>
              <a:rPr lang="en-US" altLang="zh-CN" dirty="0" err="1"/>
              <a:t>LeNet</a:t>
            </a:r>
            <a:endParaRPr lang="en-US" altLang="zh-CN" dirty="0"/>
          </a:p>
          <a:p>
            <a:pPr lvl="2"/>
            <a:r>
              <a:rPr lang="en-US" altLang="zh-CN" dirty="0" err="1"/>
              <a:t>GoogLeNet</a:t>
            </a:r>
            <a:endParaRPr lang="en-US" altLang="zh-CN" dirty="0"/>
          </a:p>
          <a:p>
            <a:pPr lvl="2"/>
            <a:r>
              <a:rPr lang="en-US" altLang="zh-CN" dirty="0" err="1"/>
              <a:t>ResNet</a:t>
            </a:r>
            <a:endParaRPr lang="en-US" altLang="zh-CN" dirty="0"/>
          </a:p>
          <a:p>
            <a:pPr lvl="2"/>
            <a:r>
              <a:rPr lang="en-US" altLang="zh-CN" dirty="0"/>
              <a:t>VGG-16</a:t>
            </a:r>
          </a:p>
        </p:txBody>
      </p:sp>
    </p:spTree>
    <p:extLst>
      <p:ext uri="{BB962C8B-B14F-4D97-AF65-F5344CB8AC3E}">
        <p14:creationId xmlns:p14="http://schemas.microsoft.com/office/powerpoint/2010/main" val="30426926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sz="quarter" idx="1"/>
          </p:nvPr>
        </p:nvSpPr>
        <p:spPr/>
        <p:txBody>
          <a:bodyPr/>
          <a:lstStyle/>
          <a:p>
            <a:pPr lvl="1"/>
            <a:endParaRPr lang="en-US" altLang="zh-CN" dirty="0"/>
          </a:p>
          <a:p>
            <a:pPr lvl="1"/>
            <a:r>
              <a:rPr lang="zh-CN" altLang="en-US" dirty="0"/>
              <a:t>词向量</a:t>
            </a:r>
            <a:endParaRPr lang="en-US" altLang="zh-CN" dirty="0"/>
          </a:p>
          <a:p>
            <a:pPr lvl="2"/>
            <a:r>
              <a:rPr lang="zh-CN" altLang="en-US" dirty="0"/>
              <a:t>独热编码</a:t>
            </a:r>
            <a:endParaRPr lang="en-US" altLang="zh-CN" dirty="0"/>
          </a:p>
          <a:p>
            <a:pPr lvl="2"/>
            <a:r>
              <a:rPr lang="zh-CN" altLang="en-US" dirty="0"/>
              <a:t>分布式表示</a:t>
            </a:r>
            <a:endParaRPr lang="en-US" altLang="zh-CN" dirty="0"/>
          </a:p>
          <a:p>
            <a:pPr lvl="2"/>
            <a:r>
              <a:rPr lang="zh-CN" altLang="en-US" dirty="0"/>
              <a:t>神经网络语言模型</a:t>
            </a:r>
            <a:endParaRPr lang="en-US" altLang="zh-CN" dirty="0"/>
          </a:p>
          <a:p>
            <a:pPr lvl="3"/>
            <a:r>
              <a:rPr lang="zh-CN" altLang="en-US" dirty="0"/>
              <a:t>连续词袋模型（</a:t>
            </a:r>
            <a:r>
              <a:rPr lang="en-US" altLang="zh-CN" dirty="0"/>
              <a:t>CBOW</a:t>
            </a:r>
            <a:r>
              <a:rPr lang="zh-CN" altLang="en-US" dirty="0"/>
              <a:t>）</a:t>
            </a:r>
            <a:endParaRPr lang="en-US" altLang="zh-CN" dirty="0"/>
          </a:p>
          <a:p>
            <a:pPr lvl="3"/>
            <a:r>
              <a:rPr lang="zh-CN" altLang="en-US" dirty="0"/>
              <a:t>跳词模型（</a:t>
            </a:r>
            <a:r>
              <a:rPr lang="en-US" altLang="zh-CN" dirty="0"/>
              <a:t>Skip-Gram</a:t>
            </a:r>
            <a:r>
              <a:rPr lang="zh-CN" altLang="en-US" dirty="0"/>
              <a:t>）</a:t>
            </a:r>
            <a:endParaRPr lang="en-US" altLang="zh-CN" dirty="0"/>
          </a:p>
          <a:p>
            <a:pPr lvl="1"/>
            <a:r>
              <a:rPr lang="zh-CN" altLang="en-US" dirty="0"/>
              <a:t>循环神经网络应用举例</a:t>
            </a:r>
            <a:endParaRPr lang="en-US" altLang="zh-CN" dirty="0"/>
          </a:p>
          <a:p>
            <a:pPr lvl="2"/>
            <a:r>
              <a:rPr lang="zh-CN" altLang="en-US" dirty="0"/>
              <a:t>情感分类问题</a:t>
            </a:r>
            <a:endParaRPr lang="en-US" altLang="zh-CN" dirty="0"/>
          </a:p>
          <a:p>
            <a:pPr lvl="2"/>
            <a:r>
              <a:rPr lang="zh-CN" altLang="en-US" dirty="0"/>
              <a:t>分词问题</a:t>
            </a:r>
            <a:endParaRPr lang="en-US" altLang="zh-CN" dirty="0"/>
          </a:p>
          <a:p>
            <a:pPr lvl="2"/>
            <a:r>
              <a:rPr lang="zh-CN" altLang="en-US" dirty="0"/>
              <a:t>看图说话问题</a:t>
            </a:r>
          </a:p>
        </p:txBody>
      </p:sp>
    </p:spTree>
    <p:extLst>
      <p:ext uri="{BB962C8B-B14F-4D97-AF65-F5344CB8AC3E}">
        <p14:creationId xmlns:p14="http://schemas.microsoft.com/office/powerpoint/2010/main" val="5200487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神经网络应用问题</a:t>
            </a:r>
          </a:p>
        </p:txBody>
      </p:sp>
      <p:sp>
        <p:nvSpPr>
          <p:cNvPr id="3" name="内容占位符 2"/>
          <p:cNvSpPr>
            <a:spLocks noGrp="1"/>
          </p:cNvSpPr>
          <p:nvPr>
            <p:ph sz="quarter" idx="1"/>
          </p:nvPr>
        </p:nvSpPr>
        <p:spPr>
          <a:xfrm>
            <a:off x="1274859" y="1208598"/>
            <a:ext cx="10363200" cy="4683981"/>
          </a:xfrm>
        </p:spPr>
        <p:txBody>
          <a:bodyPr>
            <a:normAutofit lnSpcReduction="10000"/>
          </a:bodyPr>
          <a:lstStyle/>
          <a:p>
            <a:endParaRPr lang="en-US" altLang="zh-CN" dirty="0"/>
          </a:p>
          <a:p>
            <a:r>
              <a:rPr lang="zh-CN" altLang="en-US" dirty="0"/>
              <a:t>确认输入</a:t>
            </a:r>
            <a:r>
              <a:rPr lang="en-US" altLang="zh-CN" dirty="0"/>
              <a:t>-</a:t>
            </a:r>
            <a:r>
              <a:rPr lang="zh-CN" altLang="en-US" dirty="0"/>
              <a:t>输出关系</a:t>
            </a:r>
            <a:endParaRPr lang="en-US" altLang="zh-CN" dirty="0"/>
          </a:p>
          <a:p>
            <a:r>
              <a:rPr lang="zh-CN" altLang="en-US" dirty="0"/>
              <a:t>收集样本</a:t>
            </a:r>
            <a:endParaRPr lang="en-US" altLang="zh-CN" dirty="0"/>
          </a:p>
          <a:p>
            <a:r>
              <a:rPr lang="zh-CN" altLang="en-US" dirty="0"/>
              <a:t>设计网络结构</a:t>
            </a:r>
            <a:endParaRPr lang="en-US" altLang="zh-CN" dirty="0"/>
          </a:p>
          <a:p>
            <a:r>
              <a:rPr lang="zh-CN" altLang="en-US" dirty="0"/>
              <a:t>设计损失函数</a:t>
            </a:r>
            <a:endParaRPr lang="en-US" altLang="zh-CN" dirty="0"/>
          </a:p>
          <a:p>
            <a:r>
              <a:rPr lang="zh-CN" altLang="en-US" dirty="0"/>
              <a:t>框架实现</a:t>
            </a:r>
            <a:endParaRPr lang="en-US" altLang="zh-CN" dirty="0"/>
          </a:p>
          <a:p>
            <a:r>
              <a:rPr lang="zh-CN" altLang="en-US" dirty="0"/>
              <a:t>超参数选择</a:t>
            </a:r>
            <a:endParaRPr lang="en-US" altLang="zh-CN" dirty="0"/>
          </a:p>
          <a:p>
            <a:r>
              <a:rPr lang="zh-CN" altLang="en-US" dirty="0"/>
              <a:t>调整试错</a:t>
            </a:r>
            <a:endParaRPr lang="en-US" altLang="zh-CN" dirty="0"/>
          </a:p>
          <a:p>
            <a:endParaRPr lang="en-US" altLang="zh-CN" dirty="0"/>
          </a:p>
          <a:p>
            <a:r>
              <a:rPr lang="zh-CN" altLang="en-US" dirty="0"/>
              <a:t>关注发展动态</a:t>
            </a:r>
            <a:endParaRPr lang="en-US" altLang="zh-CN" dirty="0"/>
          </a:p>
        </p:txBody>
      </p:sp>
    </p:spTree>
    <p:extLst>
      <p:ext uri="{BB962C8B-B14F-4D97-AF65-F5344CB8AC3E}">
        <p14:creationId xmlns:p14="http://schemas.microsoft.com/office/powerpoint/2010/main" val="1001206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35C0A-7707-2198-F6F4-6D3F5E77B751}"/>
            </a:ext>
          </a:extLst>
        </p:cNvPr>
        <p:cNvGrpSpPr/>
        <p:nvPr/>
      </p:nvGrpSpPr>
      <p:grpSpPr>
        <a:xfrm>
          <a:off x="0" y="0"/>
          <a:ext cx="0" cy="0"/>
          <a:chOff x="0" y="0"/>
          <a:chExt cx="0" cy="0"/>
        </a:xfrm>
      </p:grpSpPr>
      <p:grpSp>
        <p:nvGrpSpPr>
          <p:cNvPr id="4" name="组合 1">
            <a:extLst>
              <a:ext uri="{FF2B5EF4-FFF2-40B4-BE49-F238E27FC236}">
                <a16:creationId xmlns:a16="http://schemas.microsoft.com/office/drawing/2014/main" id="{B542DCC8-191C-7AA3-4C28-13DDFD71C380}"/>
              </a:ext>
            </a:extLst>
          </p:cNvPr>
          <p:cNvGrpSpPr/>
          <p:nvPr/>
        </p:nvGrpSpPr>
        <p:grpSpPr>
          <a:xfrm>
            <a:off x="1595437" y="1214410"/>
            <a:ext cx="7270156" cy="5349865"/>
            <a:chOff x="939455" y="772433"/>
            <a:chExt cx="7270156" cy="5349865"/>
          </a:xfrm>
        </p:grpSpPr>
        <p:cxnSp>
          <p:nvCxnSpPr>
            <p:cNvPr id="5" name="直接箭头连接符 13">
              <a:extLst>
                <a:ext uri="{FF2B5EF4-FFF2-40B4-BE49-F238E27FC236}">
                  <a16:creationId xmlns:a16="http://schemas.microsoft.com/office/drawing/2014/main" id="{452BB0BF-88A9-8874-29D9-E8C6D7F23C01}"/>
                </a:ext>
              </a:extLst>
            </p:cNvPr>
            <p:cNvCxnSpPr>
              <a:stCxn id="7" idx="6"/>
            </p:cNvCxnSpPr>
            <p:nvPr/>
          </p:nvCxnSpPr>
          <p:spPr>
            <a:xfrm>
              <a:off x="4684125" y="2180983"/>
              <a:ext cx="2962001" cy="1360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椭圆 14">
              <a:extLst>
                <a:ext uri="{FF2B5EF4-FFF2-40B4-BE49-F238E27FC236}">
                  <a16:creationId xmlns:a16="http://schemas.microsoft.com/office/drawing/2014/main" id="{A5F93A10-483F-7884-381A-AD9D4FFAC078}"/>
                </a:ext>
              </a:extLst>
            </p:cNvPr>
            <p:cNvSpPr/>
            <p:nvPr/>
          </p:nvSpPr>
          <p:spPr>
            <a:xfrm>
              <a:off x="4180125" y="2904340"/>
              <a:ext cx="504000" cy="504000"/>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椭圆 15">
              <a:extLst>
                <a:ext uri="{FF2B5EF4-FFF2-40B4-BE49-F238E27FC236}">
                  <a16:creationId xmlns:a16="http://schemas.microsoft.com/office/drawing/2014/main" id="{034BB891-2289-F050-BCE9-AE8BD0F9EA3D}"/>
                </a:ext>
              </a:extLst>
            </p:cNvPr>
            <p:cNvSpPr/>
            <p:nvPr/>
          </p:nvSpPr>
          <p:spPr>
            <a:xfrm>
              <a:off x="4180125" y="1928983"/>
              <a:ext cx="504000" cy="504000"/>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8" name="直接箭头连接符 16">
              <a:extLst>
                <a:ext uri="{FF2B5EF4-FFF2-40B4-BE49-F238E27FC236}">
                  <a16:creationId xmlns:a16="http://schemas.microsoft.com/office/drawing/2014/main" id="{EAEB6F1F-7887-4DEC-ABFD-6F6D25AB3DBB}"/>
                </a:ext>
              </a:extLst>
            </p:cNvPr>
            <p:cNvCxnSpPr>
              <a:stCxn id="6" idx="0"/>
              <a:endCxn id="7" idx="4"/>
            </p:cNvCxnSpPr>
            <p:nvPr/>
          </p:nvCxnSpPr>
          <p:spPr>
            <a:xfrm flipV="1">
              <a:off x="4432125" y="2432983"/>
              <a:ext cx="0" cy="47135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17">
              <a:extLst>
                <a:ext uri="{FF2B5EF4-FFF2-40B4-BE49-F238E27FC236}">
                  <a16:creationId xmlns:a16="http://schemas.microsoft.com/office/drawing/2014/main" id="{1637AF27-3147-A913-ACEB-CFF07093FA17}"/>
                </a:ext>
              </a:extLst>
            </p:cNvPr>
            <p:cNvCxnSpPr>
              <a:endCxn id="6" idx="4"/>
            </p:cNvCxnSpPr>
            <p:nvPr/>
          </p:nvCxnSpPr>
          <p:spPr>
            <a:xfrm flipV="1">
              <a:off x="4432125" y="3408340"/>
              <a:ext cx="0" cy="48823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椭圆 18">
              <a:extLst>
                <a:ext uri="{FF2B5EF4-FFF2-40B4-BE49-F238E27FC236}">
                  <a16:creationId xmlns:a16="http://schemas.microsoft.com/office/drawing/2014/main" id="{3DED9843-E6A8-7595-35B2-1B942AA2137E}"/>
                </a:ext>
              </a:extLst>
            </p:cNvPr>
            <p:cNvSpPr/>
            <p:nvPr/>
          </p:nvSpPr>
          <p:spPr>
            <a:xfrm>
              <a:off x="5842288" y="2904340"/>
              <a:ext cx="576000" cy="504000"/>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tanh</a:t>
              </a:r>
              <a:endParaRPr kumimoji="0" lang="zh-CN"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 name="椭圆 19">
              <a:extLst>
                <a:ext uri="{FF2B5EF4-FFF2-40B4-BE49-F238E27FC236}">
                  <a16:creationId xmlns:a16="http://schemas.microsoft.com/office/drawing/2014/main" id="{25AB4C99-68F7-5E38-1D7D-BC9E31D8F462}"/>
                </a:ext>
              </a:extLst>
            </p:cNvPr>
            <p:cNvSpPr/>
            <p:nvPr/>
          </p:nvSpPr>
          <p:spPr>
            <a:xfrm>
              <a:off x="5879452" y="3856667"/>
              <a:ext cx="504000" cy="533969"/>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2" name="椭圆 20">
              <a:extLst>
                <a:ext uri="{FF2B5EF4-FFF2-40B4-BE49-F238E27FC236}">
                  <a16:creationId xmlns:a16="http://schemas.microsoft.com/office/drawing/2014/main" id="{77CDBB1B-83AD-E08A-B6B1-67C5FA25BE71}"/>
                </a:ext>
              </a:extLst>
            </p:cNvPr>
            <p:cNvSpPr/>
            <p:nvPr/>
          </p:nvSpPr>
          <p:spPr>
            <a:xfrm>
              <a:off x="2466228" y="1932275"/>
              <a:ext cx="504000" cy="504000"/>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圆角矩形 21">
              <a:extLst>
                <a:ext uri="{FF2B5EF4-FFF2-40B4-BE49-F238E27FC236}">
                  <a16:creationId xmlns:a16="http://schemas.microsoft.com/office/drawing/2014/main" id="{04A174FA-0CD4-F619-A4F6-7E0D5BF718DC}"/>
                </a:ext>
              </a:extLst>
            </p:cNvPr>
            <p:cNvSpPr/>
            <p:nvPr/>
          </p:nvSpPr>
          <p:spPr>
            <a:xfrm>
              <a:off x="2185851" y="1724297"/>
              <a:ext cx="4998720" cy="3535680"/>
            </a:xfrm>
            <a:prstGeom prst="roundRect">
              <a:avLst/>
            </a:prstGeom>
            <a:noFill/>
            <a:ln w="3810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14" name="直接箭头连接符 22">
              <a:extLst>
                <a:ext uri="{FF2B5EF4-FFF2-40B4-BE49-F238E27FC236}">
                  <a16:creationId xmlns:a16="http://schemas.microsoft.com/office/drawing/2014/main" id="{9531FF51-486F-515A-D0EC-01B001FD6773}"/>
                </a:ext>
              </a:extLst>
            </p:cNvPr>
            <p:cNvCxnSpPr>
              <a:cxnSpLocks/>
              <a:stCxn id="43" idx="0"/>
              <a:endCxn id="12" idx="4"/>
            </p:cNvCxnSpPr>
            <p:nvPr/>
          </p:nvCxnSpPr>
          <p:spPr>
            <a:xfrm flipV="1">
              <a:off x="2715102" y="2436275"/>
              <a:ext cx="3126" cy="148176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23">
              <a:extLst>
                <a:ext uri="{FF2B5EF4-FFF2-40B4-BE49-F238E27FC236}">
                  <a16:creationId xmlns:a16="http://schemas.microsoft.com/office/drawing/2014/main" id="{8885611E-D3EB-4836-5839-9E9BE6E9A0E4}"/>
                </a:ext>
              </a:extLst>
            </p:cNvPr>
            <p:cNvCxnSpPr>
              <a:stCxn id="44" idx="0"/>
              <a:endCxn id="6" idx="3"/>
            </p:cNvCxnSpPr>
            <p:nvPr/>
          </p:nvCxnSpPr>
          <p:spPr>
            <a:xfrm flipV="1">
              <a:off x="3555483" y="3334531"/>
              <a:ext cx="698451" cy="58785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24">
              <a:extLst>
                <a:ext uri="{FF2B5EF4-FFF2-40B4-BE49-F238E27FC236}">
                  <a16:creationId xmlns:a16="http://schemas.microsoft.com/office/drawing/2014/main" id="{C0B92676-7622-76F8-0512-29E5324F19F5}"/>
                </a:ext>
              </a:extLst>
            </p:cNvPr>
            <p:cNvCxnSpPr>
              <a:stCxn id="46" idx="3"/>
              <a:endCxn id="11" idx="2"/>
            </p:cNvCxnSpPr>
            <p:nvPr/>
          </p:nvCxnSpPr>
          <p:spPr>
            <a:xfrm>
              <a:off x="5554147" y="4117775"/>
              <a:ext cx="325305" cy="587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25">
              <a:extLst>
                <a:ext uri="{FF2B5EF4-FFF2-40B4-BE49-F238E27FC236}">
                  <a16:creationId xmlns:a16="http://schemas.microsoft.com/office/drawing/2014/main" id="{94EDD5C7-B04F-2D55-8CD6-D53F732A7B97}"/>
                </a:ext>
              </a:extLst>
            </p:cNvPr>
            <p:cNvCxnSpPr>
              <a:endCxn id="10" idx="0"/>
            </p:cNvCxnSpPr>
            <p:nvPr/>
          </p:nvCxnSpPr>
          <p:spPr>
            <a:xfrm flipH="1">
              <a:off x="6130288" y="2194591"/>
              <a:ext cx="9255" cy="70974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26">
              <a:extLst>
                <a:ext uri="{FF2B5EF4-FFF2-40B4-BE49-F238E27FC236}">
                  <a16:creationId xmlns:a16="http://schemas.microsoft.com/office/drawing/2014/main" id="{F20A4D07-88D5-FDB2-AB1D-4450A731AEEB}"/>
                </a:ext>
              </a:extLst>
            </p:cNvPr>
            <p:cNvCxnSpPr>
              <a:stCxn id="10" idx="4"/>
              <a:endCxn id="11" idx="0"/>
            </p:cNvCxnSpPr>
            <p:nvPr/>
          </p:nvCxnSpPr>
          <p:spPr>
            <a:xfrm>
              <a:off x="6130288" y="3408340"/>
              <a:ext cx="1164" cy="44832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27">
              <a:extLst>
                <a:ext uri="{FF2B5EF4-FFF2-40B4-BE49-F238E27FC236}">
                  <a16:creationId xmlns:a16="http://schemas.microsoft.com/office/drawing/2014/main" id="{B93F7357-3AAB-304D-552B-FD327E6E70FE}"/>
                </a:ext>
              </a:extLst>
            </p:cNvPr>
            <p:cNvCxnSpPr/>
            <p:nvPr/>
          </p:nvCxnSpPr>
          <p:spPr>
            <a:xfrm>
              <a:off x="2165611" y="4758291"/>
              <a:ext cx="2903933" cy="22740"/>
            </a:xfrm>
            <a:prstGeom prst="straightConnector1">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直接箭头连接符 28">
              <a:extLst>
                <a:ext uri="{FF2B5EF4-FFF2-40B4-BE49-F238E27FC236}">
                  <a16:creationId xmlns:a16="http://schemas.microsoft.com/office/drawing/2014/main" id="{20B46706-0127-D340-99EC-4D82C5B4BDFB}"/>
                </a:ext>
              </a:extLst>
            </p:cNvPr>
            <p:cNvCxnSpPr/>
            <p:nvPr/>
          </p:nvCxnSpPr>
          <p:spPr>
            <a:xfrm flipV="1">
              <a:off x="2472949" y="4318147"/>
              <a:ext cx="130915" cy="42954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9">
              <a:extLst>
                <a:ext uri="{FF2B5EF4-FFF2-40B4-BE49-F238E27FC236}">
                  <a16:creationId xmlns:a16="http://schemas.microsoft.com/office/drawing/2014/main" id="{D84E7639-77A2-B43A-C918-E7AC43C7E020}"/>
                </a:ext>
              </a:extLst>
            </p:cNvPr>
            <p:cNvCxnSpPr/>
            <p:nvPr/>
          </p:nvCxnSpPr>
          <p:spPr>
            <a:xfrm flipV="1">
              <a:off x="3328387" y="4316231"/>
              <a:ext cx="167678" cy="44701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30">
              <a:extLst>
                <a:ext uri="{FF2B5EF4-FFF2-40B4-BE49-F238E27FC236}">
                  <a16:creationId xmlns:a16="http://schemas.microsoft.com/office/drawing/2014/main" id="{D6AD2F21-CCCE-13A5-F781-3EF3D0CA0269}"/>
                </a:ext>
              </a:extLst>
            </p:cNvPr>
            <p:cNvCxnSpPr/>
            <p:nvPr/>
          </p:nvCxnSpPr>
          <p:spPr>
            <a:xfrm flipV="1">
              <a:off x="4175854" y="4339612"/>
              <a:ext cx="163452" cy="44138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31">
              <a:extLst>
                <a:ext uri="{FF2B5EF4-FFF2-40B4-BE49-F238E27FC236}">
                  <a16:creationId xmlns:a16="http://schemas.microsoft.com/office/drawing/2014/main" id="{FA68214F-8151-9F86-199B-0D04FC3D2A6E}"/>
                </a:ext>
              </a:extLst>
            </p:cNvPr>
            <p:cNvCxnSpPr/>
            <p:nvPr/>
          </p:nvCxnSpPr>
          <p:spPr>
            <a:xfrm flipV="1">
              <a:off x="5067255" y="4333649"/>
              <a:ext cx="118431" cy="44735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32">
              <a:extLst>
                <a:ext uri="{FF2B5EF4-FFF2-40B4-BE49-F238E27FC236}">
                  <a16:creationId xmlns:a16="http://schemas.microsoft.com/office/drawing/2014/main" id="{618CE8F8-EB33-8E0B-BF5B-99A6B38BAA47}"/>
                </a:ext>
              </a:extLst>
            </p:cNvPr>
            <p:cNvCxnSpPr/>
            <p:nvPr/>
          </p:nvCxnSpPr>
          <p:spPr>
            <a:xfrm>
              <a:off x="2735156" y="5000580"/>
              <a:ext cx="2577352" cy="7576"/>
            </a:xfrm>
            <a:prstGeom prst="straightConnector1">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直接箭头连接符 33">
              <a:extLst>
                <a:ext uri="{FF2B5EF4-FFF2-40B4-BE49-F238E27FC236}">
                  <a16:creationId xmlns:a16="http://schemas.microsoft.com/office/drawing/2014/main" id="{18FBB020-0A27-13CE-4420-EBF0CB967943}"/>
                </a:ext>
              </a:extLst>
            </p:cNvPr>
            <p:cNvCxnSpPr/>
            <p:nvPr/>
          </p:nvCxnSpPr>
          <p:spPr>
            <a:xfrm flipV="1">
              <a:off x="1724296" y="2194928"/>
              <a:ext cx="466176" cy="572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34">
              <a:extLst>
                <a:ext uri="{FF2B5EF4-FFF2-40B4-BE49-F238E27FC236}">
                  <a16:creationId xmlns:a16="http://schemas.microsoft.com/office/drawing/2014/main" id="{C50FDE01-5C04-3506-1482-658A9AD74844}"/>
                </a:ext>
              </a:extLst>
            </p:cNvPr>
            <p:cNvCxnSpPr/>
            <p:nvPr/>
          </p:nvCxnSpPr>
          <p:spPr>
            <a:xfrm flipV="1">
              <a:off x="1718009" y="4747693"/>
              <a:ext cx="466176" cy="572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35">
              <a:extLst>
                <a:ext uri="{FF2B5EF4-FFF2-40B4-BE49-F238E27FC236}">
                  <a16:creationId xmlns:a16="http://schemas.microsoft.com/office/drawing/2014/main" id="{CE258350-D211-25F0-C76C-6F28245147BE}"/>
                </a:ext>
              </a:extLst>
            </p:cNvPr>
            <p:cNvCxnSpPr/>
            <p:nvPr/>
          </p:nvCxnSpPr>
          <p:spPr>
            <a:xfrm flipV="1">
              <a:off x="3598252" y="4325242"/>
              <a:ext cx="7375" cy="68291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36">
              <a:extLst>
                <a:ext uri="{FF2B5EF4-FFF2-40B4-BE49-F238E27FC236}">
                  <a16:creationId xmlns:a16="http://schemas.microsoft.com/office/drawing/2014/main" id="{6D807735-6B09-8E1C-52B0-D048595CD75D}"/>
                </a:ext>
              </a:extLst>
            </p:cNvPr>
            <p:cNvCxnSpPr>
              <a:endCxn id="43" idx="2"/>
            </p:cNvCxnSpPr>
            <p:nvPr/>
          </p:nvCxnSpPr>
          <p:spPr>
            <a:xfrm flipV="1">
              <a:off x="2714914" y="4318147"/>
              <a:ext cx="188" cy="118951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37">
              <a:extLst>
                <a:ext uri="{FF2B5EF4-FFF2-40B4-BE49-F238E27FC236}">
                  <a16:creationId xmlns:a16="http://schemas.microsoft.com/office/drawing/2014/main" id="{4B98BFFF-4705-4B65-9090-6F45D7D134F2}"/>
                </a:ext>
              </a:extLst>
            </p:cNvPr>
            <p:cNvCxnSpPr/>
            <p:nvPr/>
          </p:nvCxnSpPr>
          <p:spPr>
            <a:xfrm flipV="1">
              <a:off x="4412412" y="4315655"/>
              <a:ext cx="6597" cy="69250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38">
              <a:extLst>
                <a:ext uri="{FF2B5EF4-FFF2-40B4-BE49-F238E27FC236}">
                  <a16:creationId xmlns:a16="http://schemas.microsoft.com/office/drawing/2014/main" id="{CFFA706C-1B5E-2C43-9C8C-5A555EFD6273}"/>
                </a:ext>
              </a:extLst>
            </p:cNvPr>
            <p:cNvCxnSpPr/>
            <p:nvPr/>
          </p:nvCxnSpPr>
          <p:spPr>
            <a:xfrm flipV="1">
              <a:off x="5292349" y="4326539"/>
              <a:ext cx="4216" cy="65947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9">
              <a:extLst>
                <a:ext uri="{FF2B5EF4-FFF2-40B4-BE49-F238E27FC236}">
                  <a16:creationId xmlns:a16="http://schemas.microsoft.com/office/drawing/2014/main" id="{9804AD3B-9BCF-749B-B757-5FF87FFF78D2}"/>
                </a:ext>
              </a:extLst>
            </p:cNvPr>
            <p:cNvCxnSpPr>
              <a:stCxn id="11" idx="4"/>
            </p:cNvCxnSpPr>
            <p:nvPr/>
          </p:nvCxnSpPr>
          <p:spPr>
            <a:xfrm>
              <a:off x="6131452" y="4390636"/>
              <a:ext cx="7545" cy="389134"/>
            </a:xfrm>
            <a:prstGeom prst="straightConnector1">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直接箭头连接符 40">
              <a:extLst>
                <a:ext uri="{FF2B5EF4-FFF2-40B4-BE49-F238E27FC236}">
                  <a16:creationId xmlns:a16="http://schemas.microsoft.com/office/drawing/2014/main" id="{7972DA7C-97BB-F707-3495-A6A2EE66B6E5}"/>
                </a:ext>
              </a:extLst>
            </p:cNvPr>
            <p:cNvCxnSpPr/>
            <p:nvPr/>
          </p:nvCxnSpPr>
          <p:spPr>
            <a:xfrm flipV="1">
              <a:off x="6119294" y="4749025"/>
              <a:ext cx="1402062" cy="3350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41">
              <a:extLst>
                <a:ext uri="{FF2B5EF4-FFF2-40B4-BE49-F238E27FC236}">
                  <a16:creationId xmlns:a16="http://schemas.microsoft.com/office/drawing/2014/main" id="{37FFD664-A62F-ED4B-7AAD-8DA2179351BD}"/>
                </a:ext>
              </a:extLst>
            </p:cNvPr>
            <p:cNvCxnSpPr/>
            <p:nvPr/>
          </p:nvCxnSpPr>
          <p:spPr>
            <a:xfrm flipH="1" flipV="1">
              <a:off x="6661708" y="2270893"/>
              <a:ext cx="18918" cy="2476801"/>
            </a:xfrm>
            <a:prstGeom prst="straightConnector1">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直接箭头连接符 42">
              <a:extLst>
                <a:ext uri="{FF2B5EF4-FFF2-40B4-BE49-F238E27FC236}">
                  <a16:creationId xmlns:a16="http://schemas.microsoft.com/office/drawing/2014/main" id="{E55E2C73-8EB5-4E74-E2C6-F572DCB530F0}"/>
                </a:ext>
              </a:extLst>
            </p:cNvPr>
            <p:cNvCxnSpPr/>
            <p:nvPr/>
          </p:nvCxnSpPr>
          <p:spPr>
            <a:xfrm flipV="1">
              <a:off x="6653000" y="1272249"/>
              <a:ext cx="8708" cy="85056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文本框 43">
              <a:extLst>
                <a:ext uri="{FF2B5EF4-FFF2-40B4-BE49-F238E27FC236}">
                  <a16:creationId xmlns:a16="http://schemas.microsoft.com/office/drawing/2014/main" id="{760A9368-4DD2-C8CE-7789-FEEAB144687D}"/>
                </a:ext>
              </a:extLst>
            </p:cNvPr>
            <p:cNvSpPr txBox="1"/>
            <p:nvPr/>
          </p:nvSpPr>
          <p:spPr>
            <a:xfrm>
              <a:off x="2507910" y="5660633"/>
              <a:ext cx="55097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rPr>
                <a:t>x</a:t>
              </a:r>
              <a:r>
                <a:rPr kumimoji="0" lang="en-US" altLang="zh-CN" sz="2400" b="0" i="0" u="none" strike="noStrike" kern="0" cap="none" spc="0" normalizeH="0" baseline="3000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rPr>
                <a:t>(t)</a:t>
              </a:r>
              <a:endParaRPr kumimoji="0" lang="zh-CN" altLang="en-US" sz="2400" b="0" i="0" u="none" strike="noStrike" kern="0" cap="none" spc="0" normalizeH="0" baseline="3000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6" name="文本框 44">
              <a:extLst>
                <a:ext uri="{FF2B5EF4-FFF2-40B4-BE49-F238E27FC236}">
                  <a16:creationId xmlns:a16="http://schemas.microsoft.com/office/drawing/2014/main" id="{B7B2DABD-BCA2-A480-9DC4-FB2A9BEA51AC}"/>
                </a:ext>
              </a:extLst>
            </p:cNvPr>
            <p:cNvSpPr txBox="1"/>
            <p:nvPr/>
          </p:nvSpPr>
          <p:spPr>
            <a:xfrm>
              <a:off x="7610535" y="4462440"/>
              <a:ext cx="55097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rPr>
                <a:t>h</a:t>
              </a:r>
              <a:r>
                <a:rPr kumimoji="0" lang="en-US" altLang="zh-CN" sz="2400" b="0" i="0" u="none" strike="noStrike" kern="0" cap="none" spc="0" normalizeH="0" baseline="3000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rPr>
                <a:t>(t)</a:t>
              </a:r>
              <a:endParaRPr kumimoji="0" lang="zh-CN" altLang="en-US" sz="2400" b="0" i="0" u="none" strike="noStrike" kern="0" cap="none" spc="0" normalizeH="0" baseline="3000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7" name="文本框 45">
              <a:extLst>
                <a:ext uri="{FF2B5EF4-FFF2-40B4-BE49-F238E27FC236}">
                  <a16:creationId xmlns:a16="http://schemas.microsoft.com/office/drawing/2014/main" id="{6F76BE56-179B-2DC6-1ED2-FAAD670FE5B7}"/>
                </a:ext>
              </a:extLst>
            </p:cNvPr>
            <p:cNvSpPr txBox="1"/>
            <p:nvPr/>
          </p:nvSpPr>
          <p:spPr>
            <a:xfrm>
              <a:off x="6395681" y="772433"/>
              <a:ext cx="55097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rPr>
                <a:t>h</a:t>
              </a:r>
              <a:r>
                <a:rPr kumimoji="0" lang="en-US" altLang="zh-CN" sz="2400" b="0" i="0" u="none" strike="noStrike" kern="0" cap="none" spc="0" normalizeH="0" baseline="3000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rPr>
                <a:t>(t)</a:t>
              </a:r>
              <a:endParaRPr kumimoji="0" lang="zh-CN" altLang="en-US" sz="2400" b="0" i="0" u="none" strike="noStrike" kern="0" cap="none" spc="0" normalizeH="0" baseline="3000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8" name="文本框 46">
              <a:extLst>
                <a:ext uri="{FF2B5EF4-FFF2-40B4-BE49-F238E27FC236}">
                  <a16:creationId xmlns:a16="http://schemas.microsoft.com/office/drawing/2014/main" id="{7B4B916F-49B9-3AA7-7FC9-7AA76C0D5C75}"/>
                </a:ext>
              </a:extLst>
            </p:cNvPr>
            <p:cNvSpPr txBox="1"/>
            <p:nvPr/>
          </p:nvSpPr>
          <p:spPr>
            <a:xfrm>
              <a:off x="7658640" y="1935172"/>
              <a:ext cx="55097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rPr>
                <a:t>s</a:t>
              </a:r>
              <a:r>
                <a:rPr kumimoji="0" lang="en-US" altLang="zh-CN" sz="2400" b="0" i="0" u="none" strike="noStrike" kern="0" cap="none" spc="0" normalizeH="0" baseline="3000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rPr>
                <a:t>(t)</a:t>
              </a:r>
              <a:endParaRPr kumimoji="0" lang="zh-CN" altLang="en-US" sz="2400" b="0" i="0" u="none" strike="noStrike" kern="0" cap="none" spc="0" normalizeH="0" baseline="3000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9" name="文本框 47">
              <a:extLst>
                <a:ext uri="{FF2B5EF4-FFF2-40B4-BE49-F238E27FC236}">
                  <a16:creationId xmlns:a16="http://schemas.microsoft.com/office/drawing/2014/main" id="{F19C11F1-9610-FE4D-17BF-A8A6B50E6877}"/>
                </a:ext>
              </a:extLst>
            </p:cNvPr>
            <p:cNvSpPr txBox="1"/>
            <p:nvPr/>
          </p:nvSpPr>
          <p:spPr>
            <a:xfrm>
              <a:off x="939455" y="4528063"/>
              <a:ext cx="64609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rPr>
                <a:t>h</a:t>
              </a:r>
              <a:r>
                <a:rPr kumimoji="0" lang="en-US" altLang="zh-CN" sz="2400" b="0" i="0" u="none" strike="noStrike" kern="0" cap="none" spc="0" normalizeH="0" baseline="3000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rPr>
                <a:t>(t-1)</a:t>
              </a:r>
              <a:endParaRPr kumimoji="0" lang="zh-CN" altLang="en-US" sz="2400" b="0" i="0" u="none" strike="noStrike" kern="0" cap="none" spc="0" normalizeH="0" baseline="3000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0" name="文本框 48">
              <a:extLst>
                <a:ext uri="{FF2B5EF4-FFF2-40B4-BE49-F238E27FC236}">
                  <a16:creationId xmlns:a16="http://schemas.microsoft.com/office/drawing/2014/main" id="{54B1CF7E-8174-B64E-B15E-88F98662DA25}"/>
                </a:ext>
              </a:extLst>
            </p:cNvPr>
            <p:cNvSpPr txBox="1"/>
            <p:nvPr/>
          </p:nvSpPr>
          <p:spPr>
            <a:xfrm>
              <a:off x="1091745" y="1894147"/>
              <a:ext cx="73840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rPr>
                <a:t>s</a:t>
              </a:r>
              <a:r>
                <a:rPr kumimoji="0" lang="en-US" altLang="zh-CN" sz="2400" b="0" i="0" u="none" strike="noStrike" kern="0" cap="none" spc="0" normalizeH="0" baseline="3000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rPr>
                <a:t>(t-1)</a:t>
              </a:r>
              <a:endParaRPr kumimoji="0" lang="zh-CN" altLang="en-US" sz="2400" b="0" i="0" u="none" strike="noStrike" kern="0" cap="none" spc="0" normalizeH="0" baseline="3000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41" name="直接箭头连接符 49">
              <a:extLst>
                <a:ext uri="{FF2B5EF4-FFF2-40B4-BE49-F238E27FC236}">
                  <a16:creationId xmlns:a16="http://schemas.microsoft.com/office/drawing/2014/main" id="{0C200A1D-F6B8-B07F-499D-069FDF87F18F}"/>
                </a:ext>
              </a:extLst>
            </p:cNvPr>
            <p:cNvCxnSpPr>
              <a:cxnSpLocks/>
              <a:stCxn id="12" idx="6"/>
              <a:endCxn id="7" idx="2"/>
            </p:cNvCxnSpPr>
            <p:nvPr/>
          </p:nvCxnSpPr>
          <p:spPr>
            <a:xfrm flipV="1">
              <a:off x="2970228" y="2180983"/>
              <a:ext cx="1209897" cy="329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50">
              <a:extLst>
                <a:ext uri="{FF2B5EF4-FFF2-40B4-BE49-F238E27FC236}">
                  <a16:creationId xmlns:a16="http://schemas.microsoft.com/office/drawing/2014/main" id="{C9A98BD4-6EC2-F5BE-FC9D-1F7D022EEAFA}"/>
                </a:ext>
              </a:extLst>
            </p:cNvPr>
            <p:cNvCxnSpPr>
              <a:cxnSpLocks/>
              <a:endCxn id="12" idx="2"/>
            </p:cNvCxnSpPr>
            <p:nvPr/>
          </p:nvCxnSpPr>
          <p:spPr>
            <a:xfrm flipV="1">
              <a:off x="2165611" y="2184275"/>
              <a:ext cx="300617" cy="1031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矩形 51">
              <a:extLst>
                <a:ext uri="{FF2B5EF4-FFF2-40B4-BE49-F238E27FC236}">
                  <a16:creationId xmlns:a16="http://schemas.microsoft.com/office/drawing/2014/main" id="{85A9B405-8EFB-F6BB-F49F-98F5587ADF52}"/>
                </a:ext>
              </a:extLst>
            </p:cNvPr>
            <p:cNvSpPr/>
            <p:nvPr/>
          </p:nvSpPr>
          <p:spPr>
            <a:xfrm>
              <a:off x="2457519" y="3918037"/>
              <a:ext cx="515165" cy="400110"/>
            </a:xfrm>
            <a:prstGeom prst="rect">
              <a:avLst/>
            </a:prstGeom>
            <a:ln w="31750">
              <a:solidFill>
                <a:schemeClr val="tx1"/>
              </a:solid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rPr>
                <a:t>σ</a:t>
              </a:r>
              <a:endParaRPr kumimoji="0" lang="zh-CN" altLang="en-US" sz="2000" b="0"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4" name="矩形 54">
              <a:extLst>
                <a:ext uri="{FF2B5EF4-FFF2-40B4-BE49-F238E27FC236}">
                  <a16:creationId xmlns:a16="http://schemas.microsoft.com/office/drawing/2014/main" id="{E2A05692-C79F-7D87-96DF-4014A349242C}"/>
                </a:ext>
              </a:extLst>
            </p:cNvPr>
            <p:cNvSpPr/>
            <p:nvPr/>
          </p:nvSpPr>
          <p:spPr>
            <a:xfrm>
              <a:off x="3297900" y="3922387"/>
              <a:ext cx="515165" cy="400110"/>
            </a:xfrm>
            <a:prstGeom prst="rect">
              <a:avLst/>
            </a:prstGeom>
            <a:ln w="31750">
              <a:solidFill>
                <a:schemeClr val="tx1"/>
              </a:solid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rPr>
                <a:t>σ</a:t>
              </a:r>
              <a:endParaRPr kumimoji="0" lang="zh-CN" altLang="en-US" sz="2000" b="0"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5" name="矩形 55">
              <a:extLst>
                <a:ext uri="{FF2B5EF4-FFF2-40B4-BE49-F238E27FC236}">
                  <a16:creationId xmlns:a16="http://schemas.microsoft.com/office/drawing/2014/main" id="{7B3157D5-3D61-F7FF-53D5-C2AA126484AC}"/>
                </a:ext>
              </a:extLst>
            </p:cNvPr>
            <p:cNvSpPr/>
            <p:nvPr/>
          </p:nvSpPr>
          <p:spPr>
            <a:xfrm>
              <a:off x="4125309" y="3915544"/>
              <a:ext cx="622236" cy="400110"/>
            </a:xfrm>
            <a:prstGeom prst="rect">
              <a:avLst/>
            </a:prstGeom>
            <a:ln w="31750">
              <a:solidFill>
                <a:schemeClr val="tx1"/>
              </a:solid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rPr>
                <a:t>tanh</a:t>
              </a:r>
              <a:endParaRPr kumimoji="0" lang="zh-CN" altLang="en-US" sz="2000" b="0"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6" name="矩形 58">
              <a:extLst>
                <a:ext uri="{FF2B5EF4-FFF2-40B4-BE49-F238E27FC236}">
                  <a16:creationId xmlns:a16="http://schemas.microsoft.com/office/drawing/2014/main" id="{2BF52A9E-DC40-68B1-E33F-4FF1D13FF9B8}"/>
                </a:ext>
              </a:extLst>
            </p:cNvPr>
            <p:cNvSpPr/>
            <p:nvPr/>
          </p:nvSpPr>
          <p:spPr>
            <a:xfrm>
              <a:off x="5038982" y="3917720"/>
              <a:ext cx="515165" cy="400110"/>
            </a:xfrm>
            <a:prstGeom prst="rect">
              <a:avLst/>
            </a:prstGeom>
            <a:ln w="31750">
              <a:solidFill>
                <a:schemeClr val="tx1"/>
              </a:solid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rPr>
                <a:t>σ</a:t>
              </a:r>
              <a:endParaRPr kumimoji="0" lang="zh-CN" altLang="en-US" sz="2000" b="0"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pSp>
      <p:cxnSp>
        <p:nvCxnSpPr>
          <p:cNvPr id="48" name="直接箭头连接符 6">
            <a:extLst>
              <a:ext uri="{FF2B5EF4-FFF2-40B4-BE49-F238E27FC236}">
                <a16:creationId xmlns:a16="http://schemas.microsoft.com/office/drawing/2014/main" id="{B80AC221-E9FB-B738-7E0A-9A585B76B668}"/>
              </a:ext>
            </a:extLst>
          </p:cNvPr>
          <p:cNvCxnSpPr>
            <a:cxnSpLocks/>
          </p:cNvCxnSpPr>
          <p:nvPr/>
        </p:nvCxnSpPr>
        <p:spPr>
          <a:xfrm flipV="1">
            <a:off x="2109861" y="4550373"/>
            <a:ext cx="947849" cy="0"/>
          </a:xfrm>
          <a:prstGeom prst="straightConnector1">
            <a:avLst/>
          </a:prstGeom>
          <a:ln w="19050">
            <a:solidFill>
              <a:srgbClr val="000000"/>
            </a:solidFill>
            <a:prstDash val="dashDot"/>
            <a:tailEnd type="triangle"/>
          </a:ln>
        </p:spPr>
        <p:style>
          <a:lnRef idx="1">
            <a:schemeClr val="accent1"/>
          </a:lnRef>
          <a:fillRef idx="0">
            <a:schemeClr val="accent1"/>
          </a:fillRef>
          <a:effectRef idx="0">
            <a:schemeClr val="accent1"/>
          </a:effectRef>
          <a:fontRef idx="minor">
            <a:schemeClr val="tx1"/>
          </a:fontRef>
        </p:style>
      </p:cxnSp>
      <p:cxnSp>
        <p:nvCxnSpPr>
          <p:cNvPr id="52" name="直接箭头连接符 6">
            <a:extLst>
              <a:ext uri="{FF2B5EF4-FFF2-40B4-BE49-F238E27FC236}">
                <a16:creationId xmlns:a16="http://schemas.microsoft.com/office/drawing/2014/main" id="{369759E2-1786-9FFF-0720-3AA0EFB89D40}"/>
              </a:ext>
            </a:extLst>
          </p:cNvPr>
          <p:cNvCxnSpPr>
            <a:cxnSpLocks/>
            <a:stCxn id="53" idx="1"/>
          </p:cNvCxnSpPr>
          <p:nvPr/>
        </p:nvCxnSpPr>
        <p:spPr>
          <a:xfrm flipH="1" flipV="1">
            <a:off x="4391044" y="4842552"/>
            <a:ext cx="455984" cy="1210138"/>
          </a:xfrm>
          <a:prstGeom prst="straightConnector1">
            <a:avLst/>
          </a:prstGeom>
          <a:ln w="19050">
            <a:solidFill>
              <a:srgbClr val="000000"/>
            </a:solidFill>
            <a:prstDash val="dashDot"/>
            <a:tailEnd type="triangle"/>
          </a:ln>
        </p:spPr>
        <p:style>
          <a:lnRef idx="1">
            <a:schemeClr val="accent1"/>
          </a:lnRef>
          <a:fillRef idx="0">
            <a:schemeClr val="accent1"/>
          </a:fillRef>
          <a:effectRef idx="0">
            <a:schemeClr val="accent1"/>
          </a:effectRef>
          <a:fontRef idx="minor">
            <a:schemeClr val="tx1"/>
          </a:fontRef>
        </p:style>
      </p:cxnSp>
      <p:cxnSp>
        <p:nvCxnSpPr>
          <p:cNvPr id="56" name="直接箭头连接符 6">
            <a:extLst>
              <a:ext uri="{FF2B5EF4-FFF2-40B4-BE49-F238E27FC236}">
                <a16:creationId xmlns:a16="http://schemas.microsoft.com/office/drawing/2014/main" id="{EE9C3ABC-6732-00F8-97A4-D9C239530CED}"/>
              </a:ext>
            </a:extLst>
          </p:cNvPr>
          <p:cNvCxnSpPr>
            <a:cxnSpLocks/>
            <a:stCxn id="54" idx="1"/>
          </p:cNvCxnSpPr>
          <p:nvPr/>
        </p:nvCxnSpPr>
        <p:spPr>
          <a:xfrm flipH="1" flipV="1">
            <a:off x="6097925" y="4824184"/>
            <a:ext cx="668461" cy="1211684"/>
          </a:xfrm>
          <a:prstGeom prst="straightConnector1">
            <a:avLst/>
          </a:prstGeom>
          <a:ln w="19050">
            <a:solidFill>
              <a:srgbClr val="000000"/>
            </a:solidFill>
            <a:prstDash val="dashDot"/>
            <a:tailEnd type="triangle"/>
          </a:ln>
        </p:spPr>
        <p:style>
          <a:lnRef idx="1">
            <a:schemeClr val="accent1"/>
          </a:lnRef>
          <a:fillRef idx="0">
            <a:schemeClr val="accent1"/>
          </a:fillRef>
          <a:effectRef idx="0">
            <a:schemeClr val="accent1"/>
          </a:effectRef>
          <a:fontRef idx="minor">
            <a:schemeClr val="tx1"/>
          </a:fontRef>
        </p:style>
      </p:cxnSp>
      <p:sp>
        <p:nvSpPr>
          <p:cNvPr id="57" name="文本框 4">
            <a:extLst>
              <a:ext uri="{FF2B5EF4-FFF2-40B4-BE49-F238E27FC236}">
                <a16:creationId xmlns:a16="http://schemas.microsoft.com/office/drawing/2014/main" id="{9A0573D8-C158-38D8-59C8-D97202E39CB0}"/>
              </a:ext>
            </a:extLst>
          </p:cNvPr>
          <p:cNvSpPr txBox="1"/>
          <p:nvPr/>
        </p:nvSpPr>
        <p:spPr>
          <a:xfrm>
            <a:off x="9475106" y="2436513"/>
            <a:ext cx="2101825"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strike="noStrike" kern="1200" cap="none" spc="0" normalizeH="0" noProof="0" dirty="0">
                <a:ln>
                  <a:noFill/>
                </a:ln>
                <a:effectLst/>
                <a:uLnTx/>
                <a:uFillTx/>
                <a:latin typeface="Perpetua"/>
                <a:ea typeface="宋体" panose="02010600030101010101" pitchFamily="2" charset="-122"/>
                <a:cs typeface="+mn-cs"/>
              </a:rPr>
              <a:t>(e)</a:t>
            </a:r>
            <a:r>
              <a:rPr kumimoji="0" lang="zh-CN" altLang="en-US" sz="2000" b="0" i="0" u="sng" strike="noStrike" kern="1200" cap="none" spc="0" normalizeH="0" noProof="0" dirty="0">
                <a:ln>
                  <a:noFill/>
                </a:ln>
                <a:effectLst/>
                <a:uLnTx/>
                <a:uFillTx/>
                <a:latin typeface="Perpetua"/>
                <a:ea typeface="宋体" panose="02010600030101010101" pitchFamily="2" charset="-122"/>
                <a:cs typeface="+mn-cs"/>
              </a:rPr>
              <a:t>                  </a:t>
            </a:r>
            <a:r>
              <a:rPr kumimoji="0" lang="zh-CN" altLang="en-US" sz="2000" b="0" i="0" u="none" strike="noStrike" kern="1200" cap="none" spc="0" normalizeH="0" baseline="0" noProof="0" dirty="0">
                <a:ln>
                  <a:noFill/>
                </a:ln>
                <a:effectLst/>
                <a:uLnTx/>
                <a:uFillTx/>
                <a:latin typeface="Perpetua"/>
                <a:ea typeface="宋体" panose="02010600030101010101" pitchFamily="2" charset="-122"/>
                <a:cs typeface="+mn-cs"/>
              </a:rPr>
              <a:t>记忆</a:t>
            </a:r>
            <a:endParaRPr kumimoji="0" lang="en-US" altLang="zh-CN" sz="2000" b="0" i="0" u="none" strike="noStrike" kern="1200" cap="none" spc="0" normalizeH="0" baseline="0" noProof="0" dirty="0">
              <a:ln>
                <a:noFill/>
              </a:ln>
              <a:effectLst/>
              <a:uLnTx/>
              <a:uFillTx/>
              <a:latin typeface="Perpetua"/>
              <a:ea typeface="宋体" panose="02010600030101010101" pitchFamily="2" charset="-122"/>
              <a:cs typeface="+mn-cs"/>
            </a:endParaRPr>
          </a:p>
        </p:txBody>
      </p:sp>
      <p:sp>
        <p:nvSpPr>
          <p:cNvPr id="53" name="文本框 5">
            <a:extLst>
              <a:ext uri="{FF2B5EF4-FFF2-40B4-BE49-F238E27FC236}">
                <a16:creationId xmlns:a16="http://schemas.microsoft.com/office/drawing/2014/main" id="{510C3B15-E1A9-F8F3-14D0-6690D87287EB}"/>
              </a:ext>
            </a:extLst>
          </p:cNvPr>
          <p:cNvSpPr txBox="1"/>
          <p:nvPr/>
        </p:nvSpPr>
        <p:spPr>
          <a:xfrm>
            <a:off x="4847028" y="5852635"/>
            <a:ext cx="1575204"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dirty="0">
                <a:latin typeface="Perpetua"/>
                <a:ea typeface="宋体" panose="02010600030101010101" pitchFamily="2" charset="-122"/>
              </a:rPr>
              <a:t>(b)</a:t>
            </a:r>
            <a:r>
              <a:rPr lang="zh-CN" altLang="en-US" sz="2000" b="1" u="sng" dirty="0">
                <a:latin typeface="Perpetua"/>
                <a:ea typeface="宋体" panose="02010600030101010101" pitchFamily="2" charset="-122"/>
              </a:rPr>
              <a:t>               </a:t>
            </a:r>
            <a:endParaRPr kumimoji="0" lang="en-US" altLang="zh-CN" sz="2000" b="1" i="0" u="none" strike="noStrike" kern="1200" cap="none" spc="0" normalizeH="0" baseline="0" noProof="0" dirty="0">
              <a:ln>
                <a:noFill/>
              </a:ln>
              <a:effectLst/>
              <a:uLnTx/>
              <a:uFillTx/>
              <a:latin typeface="Perpetua"/>
              <a:ea typeface="宋体" panose="02010600030101010101" pitchFamily="2" charset="-122"/>
              <a:cs typeface="+mn-cs"/>
            </a:endParaRPr>
          </a:p>
        </p:txBody>
      </p:sp>
      <p:sp>
        <p:nvSpPr>
          <p:cNvPr id="54" name="文本框 5">
            <a:extLst>
              <a:ext uri="{FF2B5EF4-FFF2-40B4-BE49-F238E27FC236}">
                <a16:creationId xmlns:a16="http://schemas.microsoft.com/office/drawing/2014/main" id="{C9F20E3C-88BB-2557-3313-99F822D03E9A}"/>
              </a:ext>
            </a:extLst>
          </p:cNvPr>
          <p:cNvSpPr txBox="1"/>
          <p:nvPr/>
        </p:nvSpPr>
        <p:spPr>
          <a:xfrm>
            <a:off x="6766386" y="5835813"/>
            <a:ext cx="168187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000" dirty="0">
                <a:latin typeface="Perpetua"/>
                <a:ea typeface="宋体" panose="02010600030101010101" pitchFamily="2" charset="-122"/>
              </a:rPr>
              <a:t> </a:t>
            </a:r>
            <a:r>
              <a:rPr lang="en-US" altLang="zh-CN" sz="2000" dirty="0">
                <a:latin typeface="Perpetua"/>
                <a:ea typeface="宋体" panose="02010600030101010101" pitchFamily="2" charset="-122"/>
              </a:rPr>
              <a:t>(c)</a:t>
            </a:r>
            <a:r>
              <a:rPr lang="zh-CN" altLang="en-US" sz="2000" b="1" u="sng" dirty="0">
                <a:latin typeface="Perpetua"/>
                <a:ea typeface="宋体" panose="02010600030101010101" pitchFamily="2" charset="-122"/>
              </a:rPr>
              <a:t>              </a:t>
            </a:r>
            <a:endParaRPr kumimoji="0" lang="en-US" altLang="zh-CN" sz="2000" b="1" i="0" u="none" strike="noStrike" kern="1200" cap="none" spc="0" normalizeH="0" baseline="0" noProof="0" dirty="0">
              <a:ln>
                <a:noFill/>
              </a:ln>
              <a:effectLst/>
              <a:uLnTx/>
              <a:uFillTx/>
              <a:latin typeface="Perpetua"/>
              <a:ea typeface="宋体" panose="02010600030101010101" pitchFamily="2" charset="-122"/>
              <a:cs typeface="+mn-cs"/>
            </a:endParaRPr>
          </a:p>
        </p:txBody>
      </p:sp>
      <p:sp>
        <p:nvSpPr>
          <p:cNvPr id="75" name="TextBox 74">
            <a:extLst>
              <a:ext uri="{FF2B5EF4-FFF2-40B4-BE49-F238E27FC236}">
                <a16:creationId xmlns:a16="http://schemas.microsoft.com/office/drawing/2014/main" id="{FEC5E208-7C94-A056-E6E7-3E41E2ECF1C6}"/>
              </a:ext>
            </a:extLst>
          </p:cNvPr>
          <p:cNvSpPr txBox="1"/>
          <p:nvPr/>
        </p:nvSpPr>
        <p:spPr>
          <a:xfrm>
            <a:off x="3515625" y="2195455"/>
            <a:ext cx="428908" cy="369332"/>
          </a:xfrm>
          <a:prstGeom prst="rect">
            <a:avLst/>
          </a:prstGeom>
          <a:noFill/>
        </p:spPr>
        <p:txBody>
          <a:bodyPr wrap="square" rtlCol="0">
            <a:spAutoFit/>
          </a:bodyPr>
          <a:lstStyle/>
          <a:p>
            <a:r>
              <a:rPr lang="zh-CN" altLang="en-US" dirty="0"/>
              <a:t> </a:t>
            </a:r>
            <a:r>
              <a:rPr lang="en-US" altLang="zh-CN" dirty="0"/>
              <a:t>(f)</a:t>
            </a:r>
            <a:endParaRPr lang="en-US" dirty="0"/>
          </a:p>
        </p:txBody>
      </p:sp>
      <p:sp>
        <p:nvSpPr>
          <p:cNvPr id="76" name="文本框 5">
            <a:extLst>
              <a:ext uri="{FF2B5EF4-FFF2-40B4-BE49-F238E27FC236}">
                <a16:creationId xmlns:a16="http://schemas.microsoft.com/office/drawing/2014/main" id="{D4421E80-7E6E-1FCF-8133-C6882A653A7D}"/>
              </a:ext>
            </a:extLst>
          </p:cNvPr>
          <p:cNvSpPr txBox="1"/>
          <p:nvPr/>
        </p:nvSpPr>
        <p:spPr>
          <a:xfrm>
            <a:off x="536713" y="4379917"/>
            <a:ext cx="1733857"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dirty="0">
                <a:latin typeface="Perpetua"/>
                <a:ea typeface="宋体" panose="02010600030101010101" pitchFamily="2" charset="-122"/>
              </a:rPr>
              <a:t>(a)</a:t>
            </a:r>
            <a:r>
              <a:rPr lang="zh-CN" altLang="en-US" sz="2000" u="sng" dirty="0">
                <a:latin typeface="Perpetua"/>
                <a:ea typeface="宋体" panose="02010600030101010101" pitchFamily="2" charset="-122"/>
              </a:rPr>
              <a:t>       </a:t>
            </a:r>
            <a:r>
              <a:rPr lang="zh-CN" altLang="en-US" sz="2000" b="1" u="sng" dirty="0">
                <a:latin typeface="Perpetua"/>
                <a:ea typeface="宋体" panose="02010600030101010101" pitchFamily="2" charset="-122"/>
              </a:rPr>
              <a:t>               </a:t>
            </a:r>
            <a:endParaRPr kumimoji="0" lang="en-US" altLang="zh-CN" sz="2000" b="1" i="0" u="none" strike="noStrike" kern="1200" cap="none" spc="0" normalizeH="0" baseline="0" noProof="0" dirty="0">
              <a:ln>
                <a:noFill/>
              </a:ln>
              <a:effectLst/>
              <a:uLnTx/>
              <a:uFillTx/>
              <a:latin typeface="Perpetua"/>
              <a:ea typeface="宋体" panose="02010600030101010101" pitchFamily="2" charset="-122"/>
              <a:cs typeface="+mn-cs"/>
            </a:endParaRPr>
          </a:p>
        </p:txBody>
      </p:sp>
      <p:sp>
        <p:nvSpPr>
          <p:cNvPr id="80" name="文本框 4">
            <a:extLst>
              <a:ext uri="{FF2B5EF4-FFF2-40B4-BE49-F238E27FC236}">
                <a16:creationId xmlns:a16="http://schemas.microsoft.com/office/drawing/2014/main" id="{9257CBFF-27AD-647E-90F6-F8653343F7A8}"/>
              </a:ext>
            </a:extLst>
          </p:cNvPr>
          <p:cNvSpPr txBox="1"/>
          <p:nvPr/>
        </p:nvSpPr>
        <p:spPr>
          <a:xfrm>
            <a:off x="9504923" y="4936155"/>
            <a:ext cx="207416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strike="noStrike" kern="1200" cap="none" spc="0" normalizeH="0" noProof="0" dirty="0">
                <a:ln>
                  <a:noFill/>
                </a:ln>
                <a:effectLst/>
                <a:uLnTx/>
                <a:uFillTx/>
                <a:latin typeface="Perpetua"/>
                <a:ea typeface="宋体" panose="02010600030101010101" pitchFamily="2" charset="-122"/>
                <a:cs typeface="+mn-cs"/>
              </a:rPr>
              <a:t>(d)</a:t>
            </a:r>
            <a:r>
              <a:rPr kumimoji="0" lang="zh-CN" altLang="en-US" sz="2000" b="0" i="0" u="sng" strike="noStrike" kern="1200" cap="none" spc="0" normalizeH="0" noProof="0" dirty="0">
                <a:ln>
                  <a:noFill/>
                </a:ln>
                <a:effectLst/>
                <a:uLnTx/>
                <a:uFillTx/>
                <a:latin typeface="Perpetua"/>
                <a:ea typeface="宋体" panose="02010600030101010101" pitchFamily="2" charset="-122"/>
                <a:cs typeface="+mn-cs"/>
              </a:rPr>
              <a:t>                  </a:t>
            </a:r>
            <a:r>
              <a:rPr kumimoji="0" lang="zh-CN" altLang="en-US" sz="2000" b="0" i="0" u="none" strike="noStrike" kern="1200" cap="none" spc="0" normalizeH="0" baseline="0" noProof="0" dirty="0">
                <a:ln>
                  <a:noFill/>
                </a:ln>
                <a:effectLst/>
                <a:uLnTx/>
                <a:uFillTx/>
                <a:latin typeface="Perpetua"/>
                <a:ea typeface="宋体" panose="02010600030101010101" pitchFamily="2" charset="-122"/>
                <a:cs typeface="+mn-cs"/>
              </a:rPr>
              <a:t>记忆</a:t>
            </a:r>
            <a:endParaRPr kumimoji="0" lang="en-US" altLang="zh-CN" sz="2000" b="0" i="0" u="none" strike="noStrike" kern="1200" cap="none" spc="0" normalizeH="0" baseline="0" noProof="0" dirty="0">
              <a:ln>
                <a:noFill/>
              </a:ln>
              <a:effectLst/>
              <a:uLnTx/>
              <a:uFillTx/>
              <a:latin typeface="Perpetua"/>
              <a:ea typeface="宋体" panose="02010600030101010101" pitchFamily="2" charset="-122"/>
              <a:cs typeface="+mn-cs"/>
            </a:endParaRPr>
          </a:p>
        </p:txBody>
      </p:sp>
      <p:sp>
        <p:nvSpPr>
          <p:cNvPr id="84" name="TextBox 83">
            <a:extLst>
              <a:ext uri="{FF2B5EF4-FFF2-40B4-BE49-F238E27FC236}">
                <a16:creationId xmlns:a16="http://schemas.microsoft.com/office/drawing/2014/main" id="{A2AFC4D5-4677-4DC0-5587-47C805117FBC}"/>
              </a:ext>
            </a:extLst>
          </p:cNvPr>
          <p:cNvSpPr txBox="1"/>
          <p:nvPr/>
        </p:nvSpPr>
        <p:spPr>
          <a:xfrm>
            <a:off x="5282498" y="2196912"/>
            <a:ext cx="428908" cy="369332"/>
          </a:xfrm>
          <a:prstGeom prst="rect">
            <a:avLst/>
          </a:prstGeom>
          <a:noFill/>
        </p:spPr>
        <p:txBody>
          <a:bodyPr wrap="square" rtlCol="0">
            <a:spAutoFit/>
          </a:bodyPr>
          <a:lstStyle/>
          <a:p>
            <a:r>
              <a:rPr lang="zh-CN" altLang="en-US" dirty="0"/>
              <a:t> </a:t>
            </a:r>
            <a:r>
              <a:rPr lang="en-US" altLang="zh-CN" dirty="0"/>
              <a:t>(g)</a:t>
            </a:r>
            <a:endParaRPr lang="en-US" dirty="0"/>
          </a:p>
        </p:txBody>
      </p:sp>
      <p:sp>
        <p:nvSpPr>
          <p:cNvPr id="85" name="TextBox 84">
            <a:extLst>
              <a:ext uri="{FF2B5EF4-FFF2-40B4-BE49-F238E27FC236}">
                <a16:creationId xmlns:a16="http://schemas.microsoft.com/office/drawing/2014/main" id="{2372AC8A-881B-EAC0-6C3A-F6EB71F2F733}"/>
              </a:ext>
            </a:extLst>
          </p:cNvPr>
          <p:cNvSpPr txBox="1"/>
          <p:nvPr/>
        </p:nvSpPr>
        <p:spPr>
          <a:xfrm>
            <a:off x="5288483" y="3249590"/>
            <a:ext cx="428908" cy="369332"/>
          </a:xfrm>
          <a:prstGeom prst="rect">
            <a:avLst/>
          </a:prstGeom>
          <a:noFill/>
        </p:spPr>
        <p:txBody>
          <a:bodyPr wrap="square" rtlCol="0">
            <a:spAutoFit/>
          </a:bodyPr>
          <a:lstStyle/>
          <a:p>
            <a:r>
              <a:rPr lang="zh-CN" altLang="en-US" dirty="0"/>
              <a:t> </a:t>
            </a:r>
            <a:r>
              <a:rPr lang="en-US" altLang="zh-CN" dirty="0"/>
              <a:t>(h)</a:t>
            </a:r>
            <a:endParaRPr lang="en-US" dirty="0"/>
          </a:p>
        </p:txBody>
      </p:sp>
      <p:sp>
        <p:nvSpPr>
          <p:cNvPr id="86" name="TextBox 85">
            <a:extLst>
              <a:ext uri="{FF2B5EF4-FFF2-40B4-BE49-F238E27FC236}">
                <a16:creationId xmlns:a16="http://schemas.microsoft.com/office/drawing/2014/main" id="{8AD421E9-FCC5-148C-235A-F0D578E2D33E}"/>
              </a:ext>
            </a:extLst>
          </p:cNvPr>
          <p:cNvSpPr txBox="1"/>
          <p:nvPr/>
        </p:nvSpPr>
        <p:spPr>
          <a:xfrm>
            <a:off x="6875654" y="4113978"/>
            <a:ext cx="428908" cy="369332"/>
          </a:xfrm>
          <a:prstGeom prst="rect">
            <a:avLst/>
          </a:prstGeom>
          <a:noFill/>
        </p:spPr>
        <p:txBody>
          <a:bodyPr wrap="square" rtlCol="0">
            <a:spAutoFit/>
          </a:bodyPr>
          <a:lstStyle/>
          <a:p>
            <a:r>
              <a:rPr lang="zh-CN" altLang="en-US" dirty="0"/>
              <a:t> </a:t>
            </a:r>
            <a:r>
              <a:rPr lang="en-US" altLang="zh-CN" dirty="0"/>
              <a:t>(</a:t>
            </a:r>
            <a:r>
              <a:rPr lang="en-US" altLang="zh-CN" dirty="0" err="1"/>
              <a:t>i</a:t>
            </a:r>
            <a:r>
              <a:rPr lang="en-US" altLang="zh-CN" dirty="0"/>
              <a:t>)</a:t>
            </a:r>
            <a:endParaRPr lang="en-US" dirty="0"/>
          </a:p>
        </p:txBody>
      </p:sp>
      <p:cxnSp>
        <p:nvCxnSpPr>
          <p:cNvPr id="87" name="直接箭头连接符 6">
            <a:extLst>
              <a:ext uri="{FF2B5EF4-FFF2-40B4-BE49-F238E27FC236}">
                <a16:creationId xmlns:a16="http://schemas.microsoft.com/office/drawing/2014/main" id="{C3BBA69A-F3A8-182A-E7EA-7CF41821805A}"/>
              </a:ext>
            </a:extLst>
          </p:cNvPr>
          <p:cNvCxnSpPr>
            <a:cxnSpLocks/>
          </p:cNvCxnSpPr>
          <p:nvPr/>
        </p:nvCxnSpPr>
        <p:spPr>
          <a:xfrm>
            <a:off x="8835776" y="2647738"/>
            <a:ext cx="609513" cy="0"/>
          </a:xfrm>
          <a:prstGeom prst="straightConnector1">
            <a:avLst/>
          </a:prstGeom>
          <a:ln w="19050">
            <a:solidFill>
              <a:srgbClr val="000000"/>
            </a:solidFill>
            <a:prstDash val="dashDot"/>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1" name="直接箭头连接符 6">
            <a:extLst>
              <a:ext uri="{FF2B5EF4-FFF2-40B4-BE49-F238E27FC236}">
                <a16:creationId xmlns:a16="http://schemas.microsoft.com/office/drawing/2014/main" id="{9A3139CA-EFEF-16D4-AD66-C49F0B428B98}"/>
              </a:ext>
            </a:extLst>
          </p:cNvPr>
          <p:cNvCxnSpPr>
            <a:cxnSpLocks/>
          </p:cNvCxnSpPr>
          <p:nvPr/>
        </p:nvCxnSpPr>
        <p:spPr>
          <a:xfrm>
            <a:off x="8855499" y="5159853"/>
            <a:ext cx="609513" cy="0"/>
          </a:xfrm>
          <a:prstGeom prst="straightConnector1">
            <a:avLst/>
          </a:prstGeom>
          <a:ln w="19050">
            <a:solidFill>
              <a:srgbClr val="000000"/>
            </a:solidFill>
            <a:prstDash val="dashDot"/>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EF484127-E1B3-72EF-F718-9E155F7E24AF}"/>
              </a:ext>
            </a:extLst>
          </p:cNvPr>
          <p:cNvCxnSpPr/>
          <p:nvPr/>
        </p:nvCxnSpPr>
        <p:spPr>
          <a:xfrm>
            <a:off x="944217" y="4697997"/>
            <a:ext cx="1013792" cy="0"/>
          </a:xfrm>
          <a:prstGeom prst="line">
            <a:avLst/>
          </a:prstGeom>
          <a:ln w="1270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66B1BAAD-C7DE-8936-7D67-3516997B1AC8}"/>
              </a:ext>
            </a:extLst>
          </p:cNvPr>
          <p:cNvCxnSpPr/>
          <p:nvPr/>
        </p:nvCxnSpPr>
        <p:spPr>
          <a:xfrm>
            <a:off x="7252725" y="6145882"/>
            <a:ext cx="1013792" cy="0"/>
          </a:xfrm>
          <a:prstGeom prst="line">
            <a:avLst/>
          </a:prstGeom>
          <a:ln w="1270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EE8F2D1F-DCAF-8ECE-9445-C4393B9E5515}"/>
              </a:ext>
            </a:extLst>
          </p:cNvPr>
          <p:cNvCxnSpPr/>
          <p:nvPr/>
        </p:nvCxnSpPr>
        <p:spPr>
          <a:xfrm>
            <a:off x="5271824" y="6155720"/>
            <a:ext cx="1013792" cy="0"/>
          </a:xfrm>
          <a:prstGeom prst="line">
            <a:avLst/>
          </a:prstGeom>
          <a:ln w="12700">
            <a:solidFill>
              <a:srgbClr val="0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64521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15DF3B90-2999-1378-E0DB-64C76009E25C}"/>
              </a:ext>
            </a:extLst>
          </p:cNvPr>
          <p:cNvGrpSpPr/>
          <p:nvPr>
            <p:custDataLst>
              <p:tags r:id="rId2"/>
            </p:custDataLst>
          </p:nvPr>
        </p:nvGrpSpPr>
        <p:grpSpPr>
          <a:xfrm>
            <a:off x="0" y="0"/>
            <a:ext cx="12192000" cy="635000"/>
            <a:chOff x="0" y="0"/>
            <a:chExt cx="12192000" cy="635000"/>
          </a:xfrm>
        </p:grpSpPr>
        <p:sp>
          <p:nvSpPr>
            <p:cNvPr id="6" name="TitleBackground">
              <a:extLst>
                <a:ext uri="{FF2B5EF4-FFF2-40B4-BE49-F238E27FC236}">
                  <a16:creationId xmlns:a16="http://schemas.microsoft.com/office/drawing/2014/main" id="{834D79F0-4199-60BD-B51E-D20D450CE878}"/>
                </a:ext>
              </a:extLst>
            </p:cNvPr>
            <p:cNvSpPr/>
            <p:nvPr>
              <p:custDataLst>
                <p:tags r:id="rId14"/>
              </p:custDataLst>
            </p:nvPr>
          </p:nvSpPr>
          <p:spPr>
            <a:xfrm>
              <a:off x="0" y="0"/>
              <a:ext cx="12192000" cy="635000"/>
            </a:xfrm>
            <a:prstGeom prst="rect">
              <a:avLst/>
            </a:prstGeom>
            <a:solidFill>
              <a:srgbClr val="F6F7F8"/>
            </a:solidFill>
            <a:ln w="38100" cap="flat" cmpd="sng" algn="ctr">
              <a:noFill/>
              <a:prstDash val="solid"/>
            </a:ln>
            <a:effectLst/>
            <a:extLst>
              <a:ext uri="{91240B29-F687-4F45-9708-019B960494DF}">
                <a14:hiddenLine xmlns:a14="http://schemas.microsoft.com/office/drawing/2010/main" w="38100" cap="flat" cmpd="sng" algn="ctr">
                  <a:solidFill>
                    <a:schemeClr val="tx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en-US" dirty="0" err="1">
                <a:solidFill>
                  <a:schemeClr val="tx1"/>
                </a:solidFill>
                <a:latin typeface="Times New Roman" panose="02020603050405020304" pitchFamily="18" charset="0"/>
                <a:cs typeface="Times New Roman" panose="02020603050405020304" pitchFamily="18" charset="0"/>
              </a:endParaRPr>
            </a:p>
          </p:txBody>
        </p:sp>
        <p:sp>
          <p:nvSpPr>
            <p:cNvPr id="7" name="ColorBlock">
              <a:extLst>
                <a:ext uri="{FF2B5EF4-FFF2-40B4-BE49-F238E27FC236}">
                  <a16:creationId xmlns:a16="http://schemas.microsoft.com/office/drawing/2014/main" id="{40F7E32A-E340-A553-5F98-03D079DF552C}"/>
                </a:ext>
              </a:extLst>
            </p:cNvPr>
            <p:cNvSpPr/>
            <p:nvPr>
              <p:custDataLst>
                <p:tags r:id="rId15"/>
              </p:custDataLst>
            </p:nvPr>
          </p:nvSpPr>
          <p:spPr>
            <a:xfrm>
              <a:off x="0" y="0"/>
              <a:ext cx="190500" cy="635000"/>
            </a:xfrm>
            <a:prstGeom prst="rect">
              <a:avLst/>
            </a:prstGeom>
            <a:solidFill>
              <a:srgbClr val="639EF4"/>
            </a:solidFill>
            <a:ln w="38100" cap="flat" cmpd="sng" algn="ctr">
              <a:noFill/>
              <a:prstDash val="solid"/>
            </a:ln>
            <a:effectLst/>
            <a:extLst>
              <a:ext uri="{91240B29-F687-4F45-9708-019B960494DF}">
                <a14:hiddenLine xmlns:a14="http://schemas.microsoft.com/office/drawing/2010/main" w="38100" cap="flat" cmpd="sng" algn="ctr">
                  <a:solidFill>
                    <a:schemeClr val="tx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en-US" dirty="0" err="1">
                <a:solidFill>
                  <a:schemeClr val="tx1"/>
                </a:solidFill>
                <a:latin typeface="Times New Roman" panose="02020603050405020304" pitchFamily="18" charset="0"/>
                <a:cs typeface="Times New Roman" panose="02020603050405020304" pitchFamily="18" charset="0"/>
              </a:endParaRPr>
            </a:p>
          </p:txBody>
        </p:sp>
        <p:sp>
          <p:nvSpPr>
            <p:cNvPr id="8" name="TypeText">
              <a:extLst>
                <a:ext uri="{FF2B5EF4-FFF2-40B4-BE49-F238E27FC236}">
                  <a16:creationId xmlns:a16="http://schemas.microsoft.com/office/drawing/2014/main" id="{9D898B61-EEFA-CBC4-5761-F2539C62E1E8}"/>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ja-JP"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endParaRPr 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TipText">
              <a:extLst>
                <a:ext uri="{FF2B5EF4-FFF2-40B4-BE49-F238E27FC236}">
                  <a16:creationId xmlns:a16="http://schemas.microsoft.com/office/drawing/2014/main" id="{A40EADDC-F3CB-46B4-550A-3FEC64217DB5}"/>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ja-JP"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ja-JP"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sp>
        <p:nvSpPr>
          <p:cNvPr id="11" name="TextBox 10">
            <a:extLst>
              <a:ext uri="{FF2B5EF4-FFF2-40B4-BE49-F238E27FC236}">
                <a16:creationId xmlns:a16="http://schemas.microsoft.com/office/drawing/2014/main" id="{B0ACA549-4DB6-8F93-3580-DB8350EB3CDB}"/>
              </a:ext>
            </a:extLst>
          </p:cNvPr>
          <p:cNvSpPr txBox="1"/>
          <p:nvPr>
            <p:custDataLst>
              <p:tags r:id="rId3"/>
            </p:custDataLst>
          </p:nvPr>
        </p:nvSpPr>
        <p:spPr>
          <a:xfrm>
            <a:off x="1219200" y="635000"/>
            <a:ext cx="9753600" cy="2143125"/>
          </a:xfrm>
          <a:prstGeom prst="rect">
            <a:avLst/>
          </a:prstGeom>
          <a:noFill/>
        </p:spPr>
        <p:txBody>
          <a:bodyPr vert="horz" wrap="square" rtlCol="0" anchor="ctr" anchorCtr="0">
            <a:noAutofit/>
          </a:bodyPr>
          <a:lstStyle/>
          <a:p>
            <a:r>
              <a:rPr lang="ja-JP"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图中哪一个是</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“遗忘门”</a:t>
            </a:r>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TextBox 11">
            <a:extLst>
              <a:ext uri="{FF2B5EF4-FFF2-40B4-BE49-F238E27FC236}">
                <a16:creationId xmlns:a16="http://schemas.microsoft.com/office/drawing/2014/main" id="{330FFE44-987E-044A-AEEA-E6E32AE619BE}"/>
              </a:ext>
            </a:extLst>
          </p:cNvPr>
          <p:cNvSpPr txBox="1"/>
          <p:nvPr>
            <p:custDataLst>
              <p:tags r:id="rId4"/>
            </p:custDataLst>
          </p:nvPr>
        </p:nvSpPr>
        <p:spPr>
          <a:xfrm>
            <a:off x="2438400" y="2786063"/>
            <a:ext cx="85344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门</a:t>
            </a:r>
            <a:endPar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TextBox 12">
            <a:extLst>
              <a:ext uri="{FF2B5EF4-FFF2-40B4-BE49-F238E27FC236}">
                <a16:creationId xmlns:a16="http://schemas.microsoft.com/office/drawing/2014/main" id="{E328E3D2-14B5-6CDD-158B-8BFFD7B0F765}"/>
              </a:ext>
            </a:extLst>
          </p:cNvPr>
          <p:cNvSpPr txBox="1"/>
          <p:nvPr>
            <p:custDataLst>
              <p:tags r:id="rId5"/>
            </p:custDataLst>
          </p:nvPr>
        </p:nvSpPr>
        <p:spPr>
          <a:xfrm>
            <a:off x="2438400" y="3643313"/>
            <a:ext cx="8534400" cy="642938"/>
          </a:xfrm>
          <a:prstGeom prst="rect">
            <a:avLst/>
          </a:prstGeom>
          <a:noFill/>
        </p:spPr>
        <p:txBody>
          <a:bodyPr vert="horz" rtlCol="0" anchor="ctr" anchorCtr="0">
            <a:noAutofit/>
          </a:bodyPr>
          <a:lstStyle/>
          <a:p>
            <a:r>
              <a:rPr lang="en-US" altLang="ja-JP"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B</a:t>
            </a:r>
            <a:r>
              <a:rPr lang="ja-JP"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门</a:t>
            </a:r>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TextBox 13">
            <a:extLst>
              <a:ext uri="{FF2B5EF4-FFF2-40B4-BE49-F238E27FC236}">
                <a16:creationId xmlns:a16="http://schemas.microsoft.com/office/drawing/2014/main" id="{8A1AF2CD-79E0-0E38-A273-84EE35F1A11D}"/>
              </a:ext>
            </a:extLst>
          </p:cNvPr>
          <p:cNvSpPr txBox="1"/>
          <p:nvPr>
            <p:custDataLst>
              <p:tags r:id="rId6"/>
            </p:custDataLst>
          </p:nvPr>
        </p:nvSpPr>
        <p:spPr>
          <a:xfrm>
            <a:off x="2438400" y="4500563"/>
            <a:ext cx="8534400" cy="642938"/>
          </a:xfrm>
          <a:prstGeom prst="rect">
            <a:avLst/>
          </a:prstGeom>
          <a:noFill/>
        </p:spPr>
        <p:txBody>
          <a:bodyPr vert="horz" rtlCol="0" anchor="ctr" anchorCtr="0">
            <a:noAutofit/>
          </a:bodyPr>
          <a:lstStyle/>
          <a:p>
            <a:r>
              <a:rPr lang="en-US" altLang="ja-JP"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a:t>
            </a:r>
            <a:r>
              <a:rPr lang="ja-JP"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门</a:t>
            </a:r>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TextBox 14">
            <a:extLst>
              <a:ext uri="{FF2B5EF4-FFF2-40B4-BE49-F238E27FC236}">
                <a16:creationId xmlns:a16="http://schemas.microsoft.com/office/drawing/2014/main" id="{F951F1C2-145E-E789-59ED-161FC6811EBB}"/>
              </a:ext>
            </a:extLst>
          </p:cNvPr>
          <p:cNvSpPr txBox="1"/>
          <p:nvPr>
            <p:custDataLst>
              <p:tags r:id="rId7"/>
            </p:custDataLst>
          </p:nvPr>
        </p:nvSpPr>
        <p:spPr>
          <a:xfrm>
            <a:off x="2438400" y="5357813"/>
            <a:ext cx="8534400" cy="642938"/>
          </a:xfrm>
          <a:prstGeom prst="rect">
            <a:avLst/>
          </a:prstGeom>
          <a:noFill/>
        </p:spPr>
        <p:txBody>
          <a:bodyPr vert="horz" rtlCol="0" anchor="ctr" anchorCtr="0">
            <a:noAutofit/>
          </a:bodyPr>
          <a:lstStyle/>
          <a:p>
            <a:r>
              <a:rPr lang="ja-JP"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以上都不是</a:t>
            </a:r>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6" name="Oval 15">
            <a:extLst>
              <a:ext uri="{FF2B5EF4-FFF2-40B4-BE49-F238E27FC236}">
                <a16:creationId xmlns:a16="http://schemas.microsoft.com/office/drawing/2014/main" id="{A16679F1-AF86-35BB-FB39-D7F6D438E79F}"/>
              </a:ext>
            </a:extLst>
          </p:cNvPr>
          <p:cNvSpPr>
            <a:spLocks noChangeAspect="1"/>
          </p:cNvSpPr>
          <p:nvPr>
            <p:custDataLst>
              <p:tags r:id="rId8"/>
            </p:custDataLst>
          </p:nvPr>
        </p:nvSpPr>
        <p:spPr>
          <a:xfrm>
            <a:off x="1571625" y="28503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lIns="36000" rIns="36000"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cs typeface="Times New Roman" panose="02020603050405020304" pitchFamily="18" charset="0"/>
                <a:sym typeface="Microsoft Yahei" panose="020B0503020204020204" pitchFamily="34" charset="-122"/>
              </a:rPr>
              <a:t>A</a:t>
            </a:r>
            <a:endParaRPr lang="en-US" sz="1600" dirty="0">
              <a:solidFill>
                <a:srgbClr val="FFFFFF"/>
              </a:solidFill>
              <a:latin typeface="Microsoft Yahei" panose="020B0503020204020204" pitchFamily="34" charset="-122"/>
              <a:ea typeface="Microsoft Yahei" panose="020B0503020204020204" pitchFamily="34" charset="-122"/>
              <a:cs typeface="Times New Roman" panose="02020603050405020304" pitchFamily="18" charset="0"/>
              <a:sym typeface="Microsoft Yahei" panose="020B0503020204020204" pitchFamily="34" charset="-122"/>
            </a:endParaRPr>
          </a:p>
        </p:txBody>
      </p:sp>
      <p:sp>
        <p:nvSpPr>
          <p:cNvPr id="17" name="Oval 16">
            <a:extLst>
              <a:ext uri="{FF2B5EF4-FFF2-40B4-BE49-F238E27FC236}">
                <a16:creationId xmlns:a16="http://schemas.microsoft.com/office/drawing/2014/main" id="{A94F7A08-A264-C859-A360-B7CD8BCC779D}"/>
              </a:ext>
            </a:extLst>
          </p:cNvPr>
          <p:cNvSpPr>
            <a:spLocks noChangeAspect="1"/>
          </p:cNvSpPr>
          <p:nvPr>
            <p:custDataLst>
              <p:tags r:id="rId9"/>
            </p:custDataLst>
          </p:nvPr>
        </p:nvSpPr>
        <p:spPr>
          <a:xfrm>
            <a:off x="1571625" y="37076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lIns="36000" rIns="36000"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cs typeface="Times New Roman" panose="02020603050405020304" pitchFamily="18" charset="0"/>
                <a:sym typeface="Microsoft Yahei" panose="020B0503020204020204" pitchFamily="34" charset="-122"/>
              </a:rPr>
              <a:t>B</a:t>
            </a:r>
            <a:endParaRPr lang="en-US" sz="1600" dirty="0" err="1">
              <a:solidFill>
                <a:srgbClr val="FFFFFF"/>
              </a:solidFill>
              <a:latin typeface="Microsoft Yahei" panose="020B0503020204020204" pitchFamily="34" charset="-122"/>
              <a:ea typeface="Microsoft Yahei" panose="020B0503020204020204" pitchFamily="34" charset="-122"/>
              <a:cs typeface="Times New Roman" panose="02020603050405020304" pitchFamily="18" charset="0"/>
              <a:sym typeface="Microsoft Yahei" panose="020B0503020204020204" pitchFamily="34" charset="-122"/>
            </a:endParaRPr>
          </a:p>
        </p:txBody>
      </p:sp>
      <p:sp>
        <p:nvSpPr>
          <p:cNvPr id="18" name="Oval 17">
            <a:extLst>
              <a:ext uri="{FF2B5EF4-FFF2-40B4-BE49-F238E27FC236}">
                <a16:creationId xmlns:a16="http://schemas.microsoft.com/office/drawing/2014/main" id="{1E93F8E4-B840-376E-CBAE-42F0C038A838}"/>
              </a:ext>
            </a:extLst>
          </p:cNvPr>
          <p:cNvSpPr>
            <a:spLocks noChangeAspect="1"/>
          </p:cNvSpPr>
          <p:nvPr>
            <p:custDataLst>
              <p:tags r:id="rId10"/>
            </p:custDataLst>
          </p:nvPr>
        </p:nvSpPr>
        <p:spPr>
          <a:xfrm>
            <a:off x="1571625" y="45648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lIns="36000" rIns="36000"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cs typeface="Times New Roman" panose="02020603050405020304" pitchFamily="18" charset="0"/>
                <a:sym typeface="Microsoft Yahei" panose="020B0503020204020204" pitchFamily="34" charset="-122"/>
              </a:rPr>
              <a:t>C</a:t>
            </a:r>
            <a:endParaRPr lang="en-US" sz="1600" dirty="0" err="1">
              <a:solidFill>
                <a:srgbClr val="FFFFFF"/>
              </a:solidFill>
              <a:latin typeface="Microsoft Yahei" panose="020B0503020204020204" pitchFamily="34" charset="-122"/>
              <a:ea typeface="Microsoft Yahei" panose="020B0503020204020204" pitchFamily="34" charset="-122"/>
              <a:cs typeface="Times New Roman" panose="02020603050405020304" pitchFamily="18" charset="0"/>
              <a:sym typeface="Microsoft Yahei" panose="020B0503020204020204" pitchFamily="34" charset="-122"/>
            </a:endParaRPr>
          </a:p>
        </p:txBody>
      </p:sp>
      <p:sp>
        <p:nvSpPr>
          <p:cNvPr id="19" name="Oval 18">
            <a:extLst>
              <a:ext uri="{FF2B5EF4-FFF2-40B4-BE49-F238E27FC236}">
                <a16:creationId xmlns:a16="http://schemas.microsoft.com/office/drawing/2014/main" id="{DA0F558A-4D2E-A929-DF07-A373B1D799D1}"/>
              </a:ext>
            </a:extLst>
          </p:cNvPr>
          <p:cNvSpPr>
            <a:spLocks noChangeAspect="1"/>
          </p:cNvSpPr>
          <p:nvPr>
            <p:custDataLst>
              <p:tags r:id="rId11"/>
            </p:custDataLst>
          </p:nvPr>
        </p:nvSpPr>
        <p:spPr>
          <a:xfrm>
            <a:off x="1571625" y="54221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lIns="36000" rIns="36000"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cs typeface="Times New Roman" panose="02020603050405020304" pitchFamily="18" charset="0"/>
                <a:sym typeface="Microsoft Yahei" panose="020B0503020204020204" pitchFamily="34" charset="-122"/>
              </a:rPr>
              <a:t>D</a:t>
            </a:r>
            <a:endParaRPr lang="en-US" sz="1600" dirty="0" err="1">
              <a:solidFill>
                <a:srgbClr val="FFFFFF"/>
              </a:solidFill>
              <a:latin typeface="Microsoft Yahei" panose="020B0503020204020204" pitchFamily="34" charset="-122"/>
              <a:ea typeface="Microsoft Yahei" panose="020B0503020204020204" pitchFamily="34" charset="-122"/>
              <a:cs typeface="Times New Roman" panose="02020603050405020304" pitchFamily="18" charset="0"/>
              <a:sym typeface="Microsoft Yahei" panose="020B0503020204020204" pitchFamily="34" charset="-122"/>
            </a:endParaRPr>
          </a:p>
        </p:txBody>
      </p:sp>
      <p:sp>
        <p:nvSpPr>
          <p:cNvPr id="20" name="Rounded Rectangle 19">
            <a:extLst>
              <a:ext uri="{FF2B5EF4-FFF2-40B4-BE49-F238E27FC236}">
                <a16:creationId xmlns:a16="http://schemas.microsoft.com/office/drawing/2014/main" id="{7B212436-E540-6DCF-20B2-D5BF71774B95}"/>
              </a:ext>
            </a:extLst>
          </p:cNvPr>
          <p:cNvSpPr/>
          <p:nvPr>
            <p:custDataLst>
              <p:tags r:id="rId12"/>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lIns="36000" rIns="36000" rtlCol="0" anchor="ctr" anchorCtr="1">
            <a:noAutofit/>
          </a:bodyPr>
          <a:lstStyle/>
          <a:p>
            <a:pPr algn="ctr"/>
            <a:r>
              <a:rPr lang="ja-JP" altLang="en-US" sz="1600">
                <a:solidFill>
                  <a:srgbClr val="FFFFFF"/>
                </a:solidFill>
                <a:latin typeface="Microsoft Yahei" panose="020B0503020204020204" pitchFamily="34" charset="-122"/>
                <a:ea typeface="Microsoft Yahei" panose="020B0503020204020204" pitchFamily="34" charset="-122"/>
                <a:cs typeface="Times New Roman" panose="02020603050405020304" pitchFamily="18" charset="0"/>
                <a:sym typeface="Microsoft Yahei" panose="020B0503020204020204" pitchFamily="34" charset="-122"/>
              </a:rPr>
              <a:t>提交</a:t>
            </a:r>
            <a:endParaRPr lang="en-US" sz="1600" dirty="0" err="1">
              <a:solidFill>
                <a:srgbClr val="FFFFFF"/>
              </a:solidFill>
              <a:latin typeface="Microsoft Yahei" panose="020B0503020204020204" pitchFamily="34" charset="-122"/>
              <a:ea typeface="Microsoft Yahei" panose="020B0503020204020204" pitchFamily="34" charset="-122"/>
              <a:cs typeface="Times New Roman" panose="02020603050405020304" pitchFamily="18" charset="0"/>
              <a:sym typeface="Microsoft Yahei" panose="020B0503020204020204" pitchFamily="34" charset="-122"/>
            </a:endParaRPr>
          </a:p>
        </p:txBody>
      </p:sp>
      <p:pic>
        <p:nvPicPr>
          <p:cNvPr id="22" name="Picture 21">
            <a:extLst>
              <a:ext uri="{FF2B5EF4-FFF2-40B4-BE49-F238E27FC236}">
                <a16:creationId xmlns:a16="http://schemas.microsoft.com/office/drawing/2014/main" id="{14A4B00D-C212-38C2-8D61-B8CC8D70E14F}"/>
              </a:ext>
            </a:extLst>
          </p:cNvPr>
          <p:cNvPicPr>
            <a:picLocks noChangeAspect="1"/>
          </p:cNvPicPr>
          <p:nvPr/>
        </p:nvPicPr>
        <p:blipFill>
          <a:blip r:embed="rId19"/>
          <a:stretch>
            <a:fillRect/>
          </a:stretch>
        </p:blipFill>
        <p:spPr>
          <a:xfrm>
            <a:off x="5343594" y="1268285"/>
            <a:ext cx="6150414" cy="4441296"/>
          </a:xfrm>
          <a:prstGeom prst="rect">
            <a:avLst/>
          </a:prstGeom>
        </p:spPr>
      </p:pic>
      <p:pic>
        <p:nvPicPr>
          <p:cNvPr id="5" name="Picture 4">
            <a:extLst>
              <a:ext uri="{FF2B5EF4-FFF2-40B4-BE49-F238E27FC236}">
                <a16:creationId xmlns:a16="http://schemas.microsoft.com/office/drawing/2014/main" id="{2F6357B3-DAB0-9F8C-B03E-F1D04E537F5C}"/>
              </a:ext>
            </a:extLst>
          </p:cNvPr>
          <p:cNvPicPr>
            <a:picLocks/>
          </p:cNvPicPr>
          <p:nvPr>
            <p:custDataLst>
              <p:tags r:id="rId13"/>
            </p:custDataLst>
          </p:nvPr>
        </p:nvPicPr>
        <p:blipFill>
          <a:blip r:embed="rId20">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1566969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AF3329F1-E148-755A-836A-8820ECDDB3F5}"/>
              </a:ext>
            </a:extLst>
          </p:cNvPr>
          <p:cNvGrpSpPr/>
          <p:nvPr>
            <p:custDataLst>
              <p:tags r:id="rId2"/>
            </p:custDataLst>
          </p:nvPr>
        </p:nvGrpSpPr>
        <p:grpSpPr>
          <a:xfrm>
            <a:off x="0" y="0"/>
            <a:ext cx="12192000" cy="635000"/>
            <a:chOff x="0" y="0"/>
            <a:chExt cx="12192000" cy="635000"/>
          </a:xfrm>
        </p:grpSpPr>
        <p:sp>
          <p:nvSpPr>
            <p:cNvPr id="4" name="TitleBackground">
              <a:extLst>
                <a:ext uri="{FF2B5EF4-FFF2-40B4-BE49-F238E27FC236}">
                  <a16:creationId xmlns:a16="http://schemas.microsoft.com/office/drawing/2014/main" id="{C52798A4-464F-8779-7DA6-C7ADAAF6905A}"/>
                </a:ext>
              </a:extLst>
            </p:cNvPr>
            <p:cNvSpPr/>
            <p:nvPr>
              <p:custDataLst>
                <p:tags r:id="rId14"/>
              </p:custDataLst>
            </p:nvPr>
          </p:nvSpPr>
          <p:spPr>
            <a:xfrm>
              <a:off x="0" y="0"/>
              <a:ext cx="12192000" cy="635000"/>
            </a:xfrm>
            <a:prstGeom prst="rect">
              <a:avLst/>
            </a:prstGeom>
            <a:solidFill>
              <a:srgbClr val="F6F7F8"/>
            </a:solidFill>
            <a:ln w="38100" cap="flat" cmpd="sng" algn="ctr">
              <a:noFill/>
              <a:prstDash val="solid"/>
            </a:ln>
            <a:effectLst/>
            <a:extLst>
              <a:ext uri="{91240B29-F687-4F45-9708-019B960494DF}">
                <a14:hiddenLine xmlns:a14="http://schemas.microsoft.com/office/drawing/2010/main" w="38100" cap="flat" cmpd="sng" algn="ctr">
                  <a:solidFill>
                    <a:schemeClr val="tx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en-US" dirty="0" err="1">
                <a:solidFill>
                  <a:schemeClr val="tx1"/>
                </a:solidFill>
                <a:latin typeface="Times New Roman" panose="02020603050405020304" pitchFamily="18" charset="0"/>
                <a:cs typeface="Times New Roman" panose="02020603050405020304" pitchFamily="18" charset="0"/>
              </a:endParaRPr>
            </a:p>
          </p:txBody>
        </p:sp>
        <p:sp>
          <p:nvSpPr>
            <p:cNvPr id="5" name="ColorBlock">
              <a:extLst>
                <a:ext uri="{FF2B5EF4-FFF2-40B4-BE49-F238E27FC236}">
                  <a16:creationId xmlns:a16="http://schemas.microsoft.com/office/drawing/2014/main" id="{902499A2-60AB-8593-4B74-0A44FB9DFC6F}"/>
                </a:ext>
              </a:extLst>
            </p:cNvPr>
            <p:cNvSpPr/>
            <p:nvPr>
              <p:custDataLst>
                <p:tags r:id="rId15"/>
              </p:custDataLst>
            </p:nvPr>
          </p:nvSpPr>
          <p:spPr>
            <a:xfrm>
              <a:off x="0" y="0"/>
              <a:ext cx="190500" cy="635000"/>
            </a:xfrm>
            <a:prstGeom prst="rect">
              <a:avLst/>
            </a:prstGeom>
            <a:solidFill>
              <a:srgbClr val="639EF4"/>
            </a:solidFill>
            <a:ln w="38100" cap="flat" cmpd="sng" algn="ctr">
              <a:noFill/>
              <a:prstDash val="solid"/>
            </a:ln>
            <a:effectLst/>
            <a:extLst>
              <a:ext uri="{91240B29-F687-4F45-9708-019B960494DF}">
                <a14:hiddenLine xmlns:a14="http://schemas.microsoft.com/office/drawing/2010/main" w="38100" cap="flat" cmpd="sng" algn="ctr">
                  <a:solidFill>
                    <a:schemeClr val="tx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en-US" dirty="0" err="1">
                <a:solidFill>
                  <a:schemeClr val="tx1"/>
                </a:solidFill>
                <a:latin typeface="Times New Roman" panose="02020603050405020304" pitchFamily="18" charset="0"/>
                <a:cs typeface="Times New Roman" panose="02020603050405020304" pitchFamily="18" charset="0"/>
              </a:endParaRPr>
            </a:p>
          </p:txBody>
        </p:sp>
        <p:sp>
          <p:nvSpPr>
            <p:cNvPr id="6" name="TypeText">
              <a:extLst>
                <a:ext uri="{FF2B5EF4-FFF2-40B4-BE49-F238E27FC236}">
                  <a16:creationId xmlns:a16="http://schemas.microsoft.com/office/drawing/2014/main" id="{88D26A7D-D177-1145-5AD8-9C2722BC548F}"/>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ja-JP"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endParaRPr 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TipText">
              <a:extLst>
                <a:ext uri="{FF2B5EF4-FFF2-40B4-BE49-F238E27FC236}">
                  <a16:creationId xmlns:a16="http://schemas.microsoft.com/office/drawing/2014/main" id="{1BF63569-3C30-8878-C0A9-6F3143D96CBC}"/>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ja-JP"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ja-JP"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sp>
        <p:nvSpPr>
          <p:cNvPr id="9" name="TextBox 8">
            <a:extLst>
              <a:ext uri="{FF2B5EF4-FFF2-40B4-BE49-F238E27FC236}">
                <a16:creationId xmlns:a16="http://schemas.microsoft.com/office/drawing/2014/main" id="{D51ED3D5-620B-9813-C87D-5EB797E76245}"/>
              </a:ext>
            </a:extLst>
          </p:cNvPr>
          <p:cNvSpPr txBox="1"/>
          <p:nvPr>
            <p:custDataLst>
              <p:tags r:id="rId3"/>
            </p:custDataLst>
          </p:nvPr>
        </p:nvSpPr>
        <p:spPr>
          <a:xfrm>
            <a:off x="1219200" y="635000"/>
            <a:ext cx="9753600" cy="2143125"/>
          </a:xfrm>
          <a:prstGeom prst="rect">
            <a:avLst/>
          </a:prstGeom>
          <a:noFill/>
        </p:spPr>
        <p:txBody>
          <a:bodyPr vert="horz" wrap="square" rtlCol="0" anchor="ctr" anchorCtr="0">
            <a:noAutofit/>
          </a:bodyPr>
          <a:lstStyle/>
          <a:p>
            <a:r>
              <a:rPr lang="en-US"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为什么s</a:t>
            </a:r>
            <a:r>
              <a:rPr lang="en-US" altLang="zh-CN" sz="2600" baseline="30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(t)</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保留了长期记忆？</a:t>
            </a:r>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TextBox 9">
            <a:extLst>
              <a:ext uri="{FF2B5EF4-FFF2-40B4-BE49-F238E27FC236}">
                <a16:creationId xmlns:a16="http://schemas.microsoft.com/office/drawing/2014/main" id="{09B6AD6F-1EC6-9B07-B5F6-B891FC4423B7}"/>
              </a:ext>
            </a:extLst>
          </p:cNvPr>
          <p:cNvSpPr txBox="1"/>
          <p:nvPr>
            <p:custDataLst>
              <p:tags r:id="rId4"/>
            </p:custDataLst>
          </p:nvPr>
        </p:nvSpPr>
        <p:spPr>
          <a:xfrm>
            <a:off x="2438400" y="2786063"/>
            <a:ext cx="8534400" cy="642938"/>
          </a:xfrm>
          <a:prstGeom prst="rect">
            <a:avLst/>
          </a:prstGeom>
          <a:noFill/>
        </p:spPr>
        <p:txBody>
          <a:bodyPr vert="horz" rtlCol="0" anchor="ctr" anchorCtr="0">
            <a:noAutofit/>
          </a:bodyPr>
          <a:lstStyle/>
          <a:p>
            <a:r>
              <a:rPr lang="ja-JP"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不直接参与输出</a:t>
            </a:r>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TextBox 10">
            <a:extLst>
              <a:ext uri="{FF2B5EF4-FFF2-40B4-BE49-F238E27FC236}">
                <a16:creationId xmlns:a16="http://schemas.microsoft.com/office/drawing/2014/main" id="{C18EA129-53F3-7917-EF36-591B6ACD8D0B}"/>
              </a:ext>
            </a:extLst>
          </p:cNvPr>
          <p:cNvSpPr txBox="1"/>
          <p:nvPr>
            <p:custDataLst>
              <p:tags r:id="rId5"/>
            </p:custDataLst>
          </p:nvPr>
        </p:nvSpPr>
        <p:spPr>
          <a:xfrm>
            <a:off x="2438400" y="3643313"/>
            <a:ext cx="8534400" cy="642938"/>
          </a:xfrm>
          <a:prstGeom prst="rect">
            <a:avLst/>
          </a:prstGeom>
          <a:noFill/>
        </p:spPr>
        <p:txBody>
          <a:bodyPr vert="horz" rtlCol="0" anchor="ctr" anchorCtr="0">
            <a:noAutofit/>
          </a:bodyPr>
          <a:lstStyle/>
          <a:p>
            <a:r>
              <a:rPr lang="ja-JP"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更新主要由加减操作完成</a:t>
            </a:r>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TextBox 11">
            <a:extLst>
              <a:ext uri="{FF2B5EF4-FFF2-40B4-BE49-F238E27FC236}">
                <a16:creationId xmlns:a16="http://schemas.microsoft.com/office/drawing/2014/main" id="{1547B660-A914-BDCF-49A7-E323B613DFDB}"/>
              </a:ext>
            </a:extLst>
          </p:cNvPr>
          <p:cNvSpPr txBox="1"/>
          <p:nvPr>
            <p:custDataLst>
              <p:tags r:id="rId6"/>
            </p:custDataLst>
          </p:nvPr>
        </p:nvSpPr>
        <p:spPr>
          <a:xfrm>
            <a:off x="2438400" y="4500563"/>
            <a:ext cx="8534400" cy="642938"/>
          </a:xfrm>
          <a:prstGeom prst="rect">
            <a:avLst/>
          </a:prstGeom>
          <a:noFill/>
        </p:spPr>
        <p:txBody>
          <a:bodyPr vert="horz" rtlCol="0" anchor="ctr" anchorCtr="0">
            <a:noAutofit/>
          </a:bodyPr>
          <a:lstStyle/>
          <a:p>
            <a:r>
              <a:rPr lang="ja-JP"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梯度更新的频率较低</a:t>
            </a:r>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TextBox 12">
            <a:extLst>
              <a:ext uri="{FF2B5EF4-FFF2-40B4-BE49-F238E27FC236}">
                <a16:creationId xmlns:a16="http://schemas.microsoft.com/office/drawing/2014/main" id="{545D61E1-259A-00D1-D4CD-A09D62F9250C}"/>
              </a:ext>
            </a:extLst>
          </p:cNvPr>
          <p:cNvSpPr txBox="1"/>
          <p:nvPr>
            <p:custDataLst>
              <p:tags r:id="rId7"/>
            </p:custDataLst>
          </p:nvPr>
        </p:nvSpPr>
        <p:spPr>
          <a:xfrm>
            <a:off x="2438400" y="5357813"/>
            <a:ext cx="8534400" cy="642938"/>
          </a:xfrm>
          <a:prstGeom prst="rect">
            <a:avLst/>
          </a:prstGeom>
          <a:noFill/>
        </p:spPr>
        <p:txBody>
          <a:bodyPr vert="horz" rtlCol="0" anchor="ctr" anchorCtr="0">
            <a:noAutofit/>
          </a:bodyPr>
          <a:lstStyle/>
          <a:p>
            <a:r>
              <a:rPr lang="ja-JP"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这只是一个名字</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，不代表实际情况</a:t>
            </a:r>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Oval 13">
            <a:extLst>
              <a:ext uri="{FF2B5EF4-FFF2-40B4-BE49-F238E27FC236}">
                <a16:creationId xmlns:a16="http://schemas.microsoft.com/office/drawing/2014/main" id="{E61D3CA8-A4EA-9106-85A3-1C0742D046E7}"/>
              </a:ext>
            </a:extLst>
          </p:cNvPr>
          <p:cNvSpPr>
            <a:spLocks noChangeAspect="1"/>
          </p:cNvSpPr>
          <p:nvPr>
            <p:custDataLst>
              <p:tags r:id="rId8"/>
            </p:custDataLst>
          </p:nvPr>
        </p:nvSpPr>
        <p:spPr>
          <a:xfrm>
            <a:off x="15716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lIns="36000" rIns="36000"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cs typeface="Times New Roman" panose="02020603050405020304" pitchFamily="18" charset="0"/>
                <a:sym typeface="Microsoft Yahei" panose="020B0503020204020204" pitchFamily="34" charset="-122"/>
              </a:rPr>
              <a:t>A</a:t>
            </a:r>
            <a:endParaRPr lang="en-US" sz="1600" dirty="0" err="1">
              <a:solidFill>
                <a:srgbClr val="FFFFFF"/>
              </a:solidFill>
              <a:latin typeface="Microsoft Yahei" panose="020B0503020204020204" pitchFamily="34" charset="-122"/>
              <a:ea typeface="Microsoft Yahei" panose="020B0503020204020204" pitchFamily="34" charset="-122"/>
              <a:cs typeface="Times New Roman" panose="02020603050405020304" pitchFamily="18" charset="0"/>
              <a:sym typeface="Microsoft Yahei" panose="020B0503020204020204" pitchFamily="34" charset="-122"/>
            </a:endParaRPr>
          </a:p>
        </p:txBody>
      </p:sp>
      <p:sp>
        <p:nvSpPr>
          <p:cNvPr id="15" name="Oval 14">
            <a:extLst>
              <a:ext uri="{FF2B5EF4-FFF2-40B4-BE49-F238E27FC236}">
                <a16:creationId xmlns:a16="http://schemas.microsoft.com/office/drawing/2014/main" id="{FC3A84BD-F1A3-EC36-0F3C-AF0306915260}"/>
              </a:ext>
            </a:extLst>
          </p:cNvPr>
          <p:cNvSpPr>
            <a:spLocks noChangeAspect="1"/>
          </p:cNvSpPr>
          <p:nvPr>
            <p:custDataLst>
              <p:tags r:id="rId9"/>
            </p:custDataLst>
          </p:nvPr>
        </p:nvSpPr>
        <p:spPr>
          <a:xfrm>
            <a:off x="1571625" y="37076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lIns="36000" rIns="36000"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cs typeface="Times New Roman" panose="02020603050405020304" pitchFamily="18" charset="0"/>
                <a:sym typeface="Microsoft Yahei" panose="020B0503020204020204" pitchFamily="34" charset="-122"/>
              </a:rPr>
              <a:t>B</a:t>
            </a:r>
            <a:endParaRPr lang="en-US" sz="1600" dirty="0" err="1">
              <a:solidFill>
                <a:srgbClr val="FFFFFF"/>
              </a:solidFill>
              <a:latin typeface="Microsoft Yahei" panose="020B0503020204020204" pitchFamily="34" charset="-122"/>
              <a:ea typeface="Microsoft Yahei" panose="020B0503020204020204" pitchFamily="34" charset="-122"/>
              <a:cs typeface="Times New Roman" panose="02020603050405020304" pitchFamily="18" charset="0"/>
              <a:sym typeface="Microsoft Yahei" panose="020B0503020204020204" pitchFamily="34" charset="-122"/>
            </a:endParaRPr>
          </a:p>
        </p:txBody>
      </p:sp>
      <p:sp>
        <p:nvSpPr>
          <p:cNvPr id="16" name="Oval 15">
            <a:extLst>
              <a:ext uri="{FF2B5EF4-FFF2-40B4-BE49-F238E27FC236}">
                <a16:creationId xmlns:a16="http://schemas.microsoft.com/office/drawing/2014/main" id="{D70BF133-8D31-C088-FAE8-A705C810CE03}"/>
              </a:ext>
            </a:extLst>
          </p:cNvPr>
          <p:cNvSpPr>
            <a:spLocks noChangeAspect="1"/>
          </p:cNvSpPr>
          <p:nvPr>
            <p:custDataLst>
              <p:tags r:id="rId10"/>
            </p:custDataLst>
          </p:nvPr>
        </p:nvSpPr>
        <p:spPr>
          <a:xfrm>
            <a:off x="1571625" y="45648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lIns="36000" rIns="36000"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cs typeface="Times New Roman" panose="02020603050405020304" pitchFamily="18" charset="0"/>
                <a:sym typeface="Microsoft Yahei" panose="020B0503020204020204" pitchFamily="34" charset="-122"/>
              </a:rPr>
              <a:t>C</a:t>
            </a:r>
            <a:endParaRPr lang="en-US" sz="1600" dirty="0" err="1">
              <a:solidFill>
                <a:srgbClr val="FFFFFF"/>
              </a:solidFill>
              <a:latin typeface="Microsoft Yahei" panose="020B0503020204020204" pitchFamily="34" charset="-122"/>
              <a:ea typeface="Microsoft Yahei" panose="020B0503020204020204" pitchFamily="34" charset="-122"/>
              <a:cs typeface="Times New Roman" panose="02020603050405020304" pitchFamily="18" charset="0"/>
              <a:sym typeface="Microsoft Yahei" panose="020B0503020204020204" pitchFamily="34" charset="-122"/>
            </a:endParaRPr>
          </a:p>
        </p:txBody>
      </p:sp>
      <p:sp>
        <p:nvSpPr>
          <p:cNvPr id="17" name="Oval 16">
            <a:extLst>
              <a:ext uri="{FF2B5EF4-FFF2-40B4-BE49-F238E27FC236}">
                <a16:creationId xmlns:a16="http://schemas.microsoft.com/office/drawing/2014/main" id="{8DAD1915-3D88-5EB3-787D-80F018013997}"/>
              </a:ext>
            </a:extLst>
          </p:cNvPr>
          <p:cNvSpPr>
            <a:spLocks noChangeAspect="1"/>
          </p:cNvSpPr>
          <p:nvPr>
            <p:custDataLst>
              <p:tags r:id="rId11"/>
            </p:custDataLst>
          </p:nvPr>
        </p:nvSpPr>
        <p:spPr>
          <a:xfrm>
            <a:off x="1571625" y="54221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lIns="36000" rIns="36000"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cs typeface="Times New Roman" panose="02020603050405020304" pitchFamily="18" charset="0"/>
                <a:sym typeface="Microsoft Yahei" panose="020B0503020204020204" pitchFamily="34" charset="-122"/>
              </a:rPr>
              <a:t>D</a:t>
            </a:r>
            <a:endParaRPr lang="en-US" sz="1600" dirty="0" err="1">
              <a:solidFill>
                <a:srgbClr val="FFFFFF"/>
              </a:solidFill>
              <a:latin typeface="Microsoft Yahei" panose="020B0503020204020204" pitchFamily="34" charset="-122"/>
              <a:ea typeface="Microsoft Yahei" panose="020B0503020204020204" pitchFamily="34" charset="-122"/>
              <a:cs typeface="Times New Roman" panose="02020603050405020304" pitchFamily="18" charset="0"/>
              <a:sym typeface="Microsoft Yahei" panose="020B0503020204020204" pitchFamily="34" charset="-122"/>
            </a:endParaRPr>
          </a:p>
        </p:txBody>
      </p:sp>
      <p:sp>
        <p:nvSpPr>
          <p:cNvPr id="18" name="Rounded Rectangle 17">
            <a:extLst>
              <a:ext uri="{FF2B5EF4-FFF2-40B4-BE49-F238E27FC236}">
                <a16:creationId xmlns:a16="http://schemas.microsoft.com/office/drawing/2014/main" id="{F110ADEC-D47B-15CF-724C-1D7D821303EA}"/>
              </a:ext>
            </a:extLst>
          </p:cNvPr>
          <p:cNvSpPr/>
          <p:nvPr>
            <p:custDataLst>
              <p:tags r:id="rId12"/>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lIns="36000" rIns="36000" rtlCol="0" anchor="ctr" anchorCtr="1">
            <a:noAutofit/>
          </a:bodyPr>
          <a:lstStyle/>
          <a:p>
            <a:pPr algn="ctr"/>
            <a:r>
              <a:rPr lang="ja-JP" altLang="en-US" sz="1600">
                <a:solidFill>
                  <a:srgbClr val="FFFFFF"/>
                </a:solidFill>
                <a:latin typeface="Microsoft Yahei" panose="020B0503020204020204" pitchFamily="34" charset="-122"/>
                <a:ea typeface="Microsoft Yahei" panose="020B0503020204020204" pitchFamily="34" charset="-122"/>
                <a:cs typeface="Times New Roman" panose="02020603050405020304" pitchFamily="18" charset="0"/>
                <a:sym typeface="Microsoft Yahei" panose="020B0503020204020204" pitchFamily="34" charset="-122"/>
              </a:rPr>
              <a:t>提交</a:t>
            </a:r>
            <a:endParaRPr lang="en-US" sz="1600" dirty="0" err="1">
              <a:solidFill>
                <a:srgbClr val="FFFFFF"/>
              </a:solidFill>
              <a:latin typeface="Microsoft Yahei" panose="020B0503020204020204" pitchFamily="34" charset="-122"/>
              <a:ea typeface="Microsoft Yahei" panose="020B0503020204020204" pitchFamily="34" charset="-122"/>
              <a:cs typeface="Times New Roman" panose="02020603050405020304" pitchFamily="18" charset="0"/>
              <a:sym typeface="Microsoft Yahei" panose="020B0503020204020204" pitchFamily="34" charset="-122"/>
            </a:endParaRPr>
          </a:p>
        </p:txBody>
      </p:sp>
      <p:pic>
        <p:nvPicPr>
          <p:cNvPr id="21" name="Picture 20">
            <a:extLst>
              <a:ext uri="{FF2B5EF4-FFF2-40B4-BE49-F238E27FC236}">
                <a16:creationId xmlns:a16="http://schemas.microsoft.com/office/drawing/2014/main" id="{65BFA392-2D43-1B8E-5272-EC2D306F5989}"/>
              </a:ext>
            </a:extLst>
          </p:cNvPr>
          <p:cNvPicPr>
            <a:picLocks noChangeAspect="1"/>
          </p:cNvPicPr>
          <p:nvPr/>
        </p:nvPicPr>
        <p:blipFill>
          <a:blip r:embed="rId19"/>
          <a:stretch>
            <a:fillRect/>
          </a:stretch>
        </p:blipFill>
        <p:spPr>
          <a:xfrm>
            <a:off x="6567874" y="1168611"/>
            <a:ext cx="5370126" cy="3877840"/>
          </a:xfrm>
          <a:prstGeom prst="rect">
            <a:avLst/>
          </a:prstGeom>
        </p:spPr>
      </p:pic>
      <p:pic>
        <p:nvPicPr>
          <p:cNvPr id="3" name="Picture 2">
            <a:extLst>
              <a:ext uri="{FF2B5EF4-FFF2-40B4-BE49-F238E27FC236}">
                <a16:creationId xmlns:a16="http://schemas.microsoft.com/office/drawing/2014/main" id="{E6C2F395-F1FF-3294-E813-6415B034DCD5}"/>
              </a:ext>
            </a:extLst>
          </p:cNvPr>
          <p:cNvPicPr>
            <a:picLocks/>
          </p:cNvPicPr>
          <p:nvPr>
            <p:custDataLst>
              <p:tags r:id="rId13"/>
            </p:custDataLst>
          </p:nvPr>
        </p:nvPicPr>
        <p:blipFill>
          <a:blip r:embed="rId20">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421073175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
  <p:tag name="PROBLEMSCORE" val="1"/>
</p:tagLst>
</file>

<file path=ppt/tags/tag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 val="MultipleChoice"/>
  <p:tag name="PROBLEMSCORE" val="1"/>
</p:tagLst>
</file>

<file path=ppt/tags/tag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3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spDef>
      <a:spPr>
        <a:noFill/>
        <a:ln w="38100">
          <a:solidFill>
            <a:schemeClr val="tx1"/>
          </a:solidFill>
        </a:ln>
      </a:spPr>
      <a:bodyPr lIns="36000" rIns="36000" rtlCol="0" anchor="ctr">
        <a:noAutofit/>
      </a:bodyPr>
      <a:lstStyle>
        <a:defPPr algn="ctr">
          <a:defRPr dirty="0" err="1" smtClean="0">
            <a:solidFill>
              <a:schemeClr val="tx1"/>
            </a:solidFill>
            <a:latin typeface="Times New Roman" panose="02020603050405020304" pitchFamily="18" charset="0"/>
            <a:cs typeface="Times New Roman" panose="02020603050405020304" pitchFamily="18" charset="0"/>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223083</TotalTime>
  <Words>1492</Words>
  <Application>Microsoft Macintosh PowerPoint</Application>
  <PresentationFormat>Widescreen</PresentationFormat>
  <Paragraphs>410</Paragraphs>
  <Slides>44</Slides>
  <Notes>14</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44</vt:i4>
      </vt:variant>
    </vt:vector>
  </HeadingPairs>
  <TitlesOfParts>
    <vt:vector size="59" baseType="lpstr">
      <vt:lpstr>Linux Libertine</vt:lpstr>
      <vt:lpstr>Microsoft YaHei</vt:lpstr>
      <vt:lpstr>Microsoft YaHei</vt:lpstr>
      <vt:lpstr>SimSun</vt:lpstr>
      <vt:lpstr>华文楷体</vt:lpstr>
      <vt:lpstr>arial</vt:lpstr>
      <vt:lpstr>arial</vt:lpstr>
      <vt:lpstr>Calibri</vt:lpstr>
      <vt:lpstr>Cambria Math</vt:lpstr>
      <vt:lpstr>Franklin Gothic Book</vt:lpstr>
      <vt:lpstr>Perpetua</vt:lpstr>
      <vt:lpstr>Times New Roman</vt:lpstr>
      <vt:lpstr>Wingdings</vt:lpstr>
      <vt:lpstr>Wingdings 2</vt:lpstr>
      <vt:lpstr>Equity</vt:lpstr>
      <vt:lpstr>循环神经网络</vt:lpstr>
      <vt:lpstr>2.8 循环神经网络（RNN: Recurrent Neural Network）</vt:lpstr>
      <vt:lpstr>从句子理解说起</vt:lpstr>
      <vt:lpstr>PowerPoint Presentation</vt:lpstr>
      <vt:lpstr>状态空间模型：控制论对于物理世界的经典建模手段</vt:lpstr>
      <vt:lpstr>使用神经网络进行实现</vt:lpstr>
      <vt:lpstr>PowerPoint Presentation</vt:lpstr>
      <vt:lpstr>前情回顾：神经语言模型</vt:lpstr>
      <vt:lpstr>前情回顾：循环神经网络</vt:lpstr>
      <vt:lpstr>循环神经网络的一般性结构</vt:lpstr>
      <vt:lpstr>循环神经网络的训练：BP</vt:lpstr>
      <vt:lpstr>举例：中文分词问题</vt:lpstr>
      <vt:lpstr>举例：看图说话问题</vt:lpstr>
      <vt:lpstr>PowerPoint Presentation</vt:lpstr>
      <vt:lpstr>基础循环神经网络的局限</vt:lpstr>
      <vt:lpstr>双向循环神经网络</vt:lpstr>
      <vt:lpstr>“序列到序列”循环神经网络: seq2seq</vt:lpstr>
      <vt:lpstr>与神经语言模型对比</vt:lpstr>
      <vt:lpstr>与TextCNN对比</vt:lpstr>
      <vt:lpstr>小结</vt:lpstr>
      <vt:lpstr>2.9 长短期记忆网络（LSTM：Long Short-Term Memory） </vt:lpstr>
      <vt:lpstr>PowerPoint Presentation</vt:lpstr>
      <vt:lpstr>“门”的概念</vt:lpstr>
      <vt:lpstr>LSTM模块：对于历史状态s的操作</vt:lpstr>
      <vt:lpstr>LSTM模块：遗忘门操作历史状态s</vt:lpstr>
      <vt:lpstr>LSTM模块：输入门操作当前信息</vt:lpstr>
      <vt:lpstr>LSTM模块：输入处理单元编码当前信息</vt:lpstr>
      <vt:lpstr>LSTM模块：使用当前信息更新状态</vt:lpstr>
      <vt:lpstr>LSTM模块：输出门进行后向信息的选择</vt:lpstr>
      <vt:lpstr>LSTM模块：信息输出</vt:lpstr>
      <vt:lpstr>LSTM模块：信息输出</vt:lpstr>
      <vt:lpstr>LSTM中的门控与信息传递</vt:lpstr>
      <vt:lpstr>举例：机器翻译</vt:lpstr>
      <vt:lpstr>小结</vt:lpstr>
      <vt:lpstr>2.10 深度学习框架</vt:lpstr>
      <vt:lpstr>常用的深度学习框架</vt:lpstr>
      <vt:lpstr>练习题</vt:lpstr>
      <vt:lpstr>2.11 总结</vt:lpstr>
      <vt:lpstr>PowerPoint Presentation</vt:lpstr>
      <vt:lpstr>PowerPoint Presentation</vt:lpstr>
      <vt:lpstr>神经网络应用问题</vt:lpstr>
      <vt:lpstr>PowerPoint Presentation</vt:lpstr>
      <vt:lpstr>PowerPoint Presentation</vt:lpstr>
      <vt:lpstr>PowerPoint Presentation</vt:lpstr>
    </vt:vector>
  </TitlesOfParts>
  <Company>Carnegie Mellon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Infinite SVM: a DP Mixture of Large-margin Kernel Machines</dc:title>
  <dc:creator>SCS</dc:creator>
  <cp:lastModifiedBy>hongning wang</cp:lastModifiedBy>
  <cp:revision>7316</cp:revision>
  <dcterms:created xsi:type="dcterms:W3CDTF">2011-04-24T18:48:21Z</dcterms:created>
  <dcterms:modified xsi:type="dcterms:W3CDTF">2026-04-27T06:35:42Z</dcterms:modified>
</cp:coreProperties>
</file>