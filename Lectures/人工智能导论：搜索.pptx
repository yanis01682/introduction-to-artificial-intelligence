
<file path=[Content_Types].xml><?xml version="1.0" encoding="utf-8"?>
<Types xmlns="http://schemas.openxmlformats.org/package/2006/content-types">
  <Default Extension="vml" ContentType="application/vnd.openxmlformats-officedocument.vmlDrawing"/>
  <Default Extension="doc" ContentType="application/msword"/>
  <Default Extension="bin" ContentType="application/vnd.openxmlformats-officedocument.oleObject"/>
  <Default Extension="gif" ContentType="image/gif"/>
  <Default Extension="png" ContentType="image/png"/>
  <Default Extension="jpeg" ContentType="image/jpeg"/>
  <Default Extension="JPG" ContentType="image/.jp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2"/>
  </p:handoutMasterIdLst>
  <p:sldIdLst>
    <p:sldId id="499" r:id="rId3"/>
    <p:sldId id="382" r:id="rId5"/>
    <p:sldId id="384" r:id="rId6"/>
    <p:sldId id="478" r:id="rId7"/>
    <p:sldId id="489" r:id="rId8"/>
    <p:sldId id="385" r:id="rId9"/>
    <p:sldId id="526" r:id="rId10"/>
    <p:sldId id="387" r:id="rId11"/>
    <p:sldId id="388" r:id="rId12"/>
    <p:sldId id="389" r:id="rId13"/>
    <p:sldId id="390" r:id="rId14"/>
    <p:sldId id="391" r:id="rId15"/>
    <p:sldId id="392" r:id="rId16"/>
    <p:sldId id="393" r:id="rId17"/>
    <p:sldId id="394" r:id="rId18"/>
    <p:sldId id="395" r:id="rId19"/>
    <p:sldId id="396" r:id="rId20"/>
    <p:sldId id="397" r:id="rId21"/>
    <p:sldId id="398" r:id="rId22"/>
    <p:sldId id="479" r:id="rId23"/>
    <p:sldId id="490" r:id="rId24"/>
    <p:sldId id="480" r:id="rId25"/>
    <p:sldId id="424" r:id="rId26"/>
    <p:sldId id="425" r:id="rId27"/>
    <p:sldId id="506" r:id="rId28"/>
    <p:sldId id="507" r:id="rId29"/>
    <p:sldId id="508" r:id="rId30"/>
    <p:sldId id="509" r:id="rId31"/>
    <p:sldId id="434" r:id="rId32"/>
    <p:sldId id="510" r:id="rId33"/>
    <p:sldId id="435" r:id="rId34"/>
    <p:sldId id="436" r:id="rId35"/>
    <p:sldId id="513" r:id="rId36"/>
    <p:sldId id="440" r:id="rId37"/>
    <p:sldId id="439" r:id="rId38"/>
    <p:sldId id="437" r:id="rId39"/>
    <p:sldId id="438" r:id="rId40"/>
    <p:sldId id="516" r:id="rId41"/>
    <p:sldId id="534" r:id="rId42"/>
    <p:sldId id="535" r:id="rId43"/>
    <p:sldId id="536" r:id="rId44"/>
    <p:sldId id="441" r:id="rId45"/>
    <p:sldId id="442" r:id="rId46"/>
    <p:sldId id="443" r:id="rId47"/>
    <p:sldId id="444" r:id="rId48"/>
    <p:sldId id="445" r:id="rId49"/>
    <p:sldId id="446" r:id="rId50"/>
    <p:sldId id="449" r:id="rId51"/>
    <p:sldId id="450" r:id="rId52"/>
    <p:sldId id="451" r:id="rId53"/>
    <p:sldId id="457" r:id="rId54"/>
    <p:sldId id="456" r:id="rId55"/>
    <p:sldId id="459" r:id="rId56"/>
    <p:sldId id="460" r:id="rId57"/>
    <p:sldId id="521" r:id="rId58"/>
    <p:sldId id="461" r:id="rId59"/>
    <p:sldId id="462" r:id="rId60"/>
    <p:sldId id="525" r:id="rId61"/>
    <p:sldId id="511" r:id="rId62"/>
    <p:sldId id="463" r:id="rId63"/>
    <p:sldId id="464" r:id="rId64"/>
    <p:sldId id="527" r:id="rId65"/>
    <p:sldId id="528" r:id="rId66"/>
    <p:sldId id="529" r:id="rId67"/>
    <p:sldId id="530" r:id="rId68"/>
    <p:sldId id="531" r:id="rId69"/>
    <p:sldId id="498" r:id="rId70"/>
    <p:sldId id="471" r:id="rId71"/>
    <p:sldId id="472" r:id="rId72"/>
    <p:sldId id="473" r:id="rId73"/>
    <p:sldId id="474" r:id="rId74"/>
    <p:sldId id="500" r:id="rId75"/>
    <p:sldId id="501" r:id="rId76"/>
    <p:sldId id="502" r:id="rId77"/>
    <p:sldId id="520" r:id="rId78"/>
    <p:sldId id="519" r:id="rId79"/>
    <p:sldId id="537" r:id="rId80"/>
    <p:sldId id="504" r:id="rId81"/>
    <p:sldId id="505" r:id="rId82"/>
    <p:sldId id="486" r:id="rId83"/>
    <p:sldId id="533" r:id="rId84"/>
    <p:sldId id="494" r:id="rId85"/>
    <p:sldId id="495" r:id="rId86"/>
    <p:sldId id="481" r:id="rId87"/>
    <p:sldId id="488" r:id="rId88"/>
    <p:sldId id="447" r:id="rId89"/>
    <p:sldId id="523" r:id="rId90"/>
    <p:sldId id="524" r:id="rId91"/>
    <p:sldId id="448" r:id="rId92"/>
    <p:sldId id="496" r:id="rId93"/>
    <p:sldId id="452" r:id="rId94"/>
    <p:sldId id="453" r:id="rId95"/>
    <p:sldId id="454" r:id="rId96"/>
    <p:sldId id="491" r:id="rId97"/>
    <p:sldId id="497" r:id="rId98"/>
    <p:sldId id="475" r:id="rId99"/>
    <p:sldId id="476" r:id="rId100"/>
    <p:sldId id="477" r:id="rId10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第二堂课第一节" id="{8213C05D-483B-A146-AF76-921E148F0BCD}">
          <p14:sldIdLst>
            <p14:sldId id="499"/>
            <p14:sldId id="382"/>
            <p14:sldId id="384"/>
            <p14:sldId id="478"/>
            <p14:sldId id="489"/>
            <p14:sldId id="385"/>
            <p14:sldId id="526"/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8"/>
            <p14:sldId id="479"/>
            <p14:sldId id="490"/>
            <p14:sldId id="480"/>
            <p14:sldId id="424"/>
            <p14:sldId id="425"/>
            <p14:sldId id="506"/>
            <p14:sldId id="507"/>
          </p14:sldIdLst>
        </p14:section>
        <p14:section name="第二堂课第二节" id="{E9F84E7A-5E95-4B4C-AB5F-C368B61B231C}">
          <p14:sldIdLst>
            <p14:sldId id="508"/>
            <p14:sldId id="509"/>
            <p14:sldId id="434"/>
            <p14:sldId id="510"/>
            <p14:sldId id="435"/>
            <p14:sldId id="436"/>
            <p14:sldId id="513"/>
            <p14:sldId id="440"/>
            <p14:sldId id="439"/>
            <p14:sldId id="437"/>
            <p14:sldId id="438"/>
            <p14:sldId id="516"/>
            <p14:sldId id="534"/>
            <p14:sldId id="535"/>
            <p14:sldId id="536"/>
            <p14:sldId id="441"/>
            <p14:sldId id="442"/>
            <p14:sldId id="443"/>
          </p14:sldIdLst>
        </p14:section>
        <p14:section name="第三堂课第一节" id="{AF4152AA-AD22-D342-B285-88A0DF895841}">
          <p14:sldIdLst>
            <p14:sldId id="444"/>
            <p14:sldId id="445"/>
            <p14:sldId id="446"/>
            <p14:sldId id="449"/>
            <p14:sldId id="450"/>
            <p14:sldId id="451"/>
            <p14:sldId id="457"/>
            <p14:sldId id="456"/>
          </p14:sldIdLst>
        </p14:section>
        <p14:section name="第三堂课第二节" id="{31127804-0273-3449-AA71-00DD083E9ECF}">
          <p14:sldIdLst>
            <p14:sldId id="459"/>
            <p14:sldId id="460"/>
            <p14:sldId id="521"/>
            <p14:sldId id="461"/>
            <p14:sldId id="462"/>
            <p14:sldId id="525"/>
            <p14:sldId id="511"/>
            <p14:sldId id="463"/>
            <p14:sldId id="464"/>
            <p14:sldId id="527"/>
            <p14:sldId id="528"/>
            <p14:sldId id="529"/>
            <p14:sldId id="530"/>
            <p14:sldId id="531"/>
            <p14:sldId id="498"/>
          </p14:sldIdLst>
        </p14:section>
        <p14:section name="第四堂课第一节" id="{6A265DA9-C559-0243-AA95-7B0FE3410843}">
          <p14:sldIdLst>
            <p14:sldId id="471"/>
            <p14:sldId id="472"/>
            <p14:sldId id="473"/>
            <p14:sldId id="474"/>
            <p14:sldId id="500"/>
            <p14:sldId id="501"/>
            <p14:sldId id="502"/>
            <p14:sldId id="520"/>
            <p14:sldId id="519"/>
            <p14:sldId id="537"/>
            <p14:sldId id="504"/>
            <p14:sldId id="505"/>
            <p14:sldId id="486"/>
            <p14:sldId id="533"/>
            <p14:sldId id="494"/>
            <p14:sldId id="495"/>
          </p14:sldIdLst>
        </p14:section>
        <p14:section name="附录" id="{B6DBD144-B376-F04B-B0E8-942B1A9A45FC}">
          <p14:sldIdLst>
            <p14:sldId id="481"/>
            <p14:sldId id="488"/>
            <p14:sldId id="447"/>
            <p14:sldId id="523"/>
            <p14:sldId id="524"/>
            <p14:sldId id="448"/>
            <p14:sldId id="496"/>
            <p14:sldId id="452"/>
            <p14:sldId id="453"/>
            <p14:sldId id="454"/>
            <p14:sldId id="491"/>
            <p14:sldId id="497"/>
            <p14:sldId id="475"/>
            <p14:sldId id="476"/>
            <p14:sldId id="4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2B11EF"/>
    <a:srgbClr val="EFF343"/>
    <a:srgbClr val="86F260"/>
    <a:srgbClr val="ECF127"/>
    <a:srgbClr val="FB81E1"/>
    <a:srgbClr val="119F14"/>
    <a:srgbClr val="FEC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512" autoAdjust="0"/>
    <p:restoredTop sz="96301" autoAdjust="0"/>
  </p:normalViewPr>
  <p:slideViewPr>
    <p:cSldViewPr snapToGrid="0" showGuides="1">
      <p:cViewPr varScale="1">
        <p:scale>
          <a:sx n="127" d="100"/>
          <a:sy n="127" d="100"/>
        </p:scale>
        <p:origin x="192" y="4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-3870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5" Type="http://schemas.openxmlformats.org/officeDocument/2006/relationships/tableStyles" Target="tableStyles.xml"/><Relationship Id="rId104" Type="http://schemas.openxmlformats.org/officeDocument/2006/relationships/viewProps" Target="viewProps.xml"/><Relationship Id="rId103" Type="http://schemas.openxmlformats.org/officeDocument/2006/relationships/presProps" Target="presProps.xml"/><Relationship Id="rId102" Type="http://schemas.openxmlformats.org/officeDocument/2006/relationships/handoutMaster" Target="handoutMasters/handoutMaster1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emf"/></Relationships>
</file>

<file path=ppt/drawings/_rels/vmlDrawing21.vml.rels><?xml version="1.0" encoding="UTF-8" standalone="yes"?>
<Relationships xmlns="http://schemas.openxmlformats.org/package/2006/relationships"><Relationship Id="rId6" Type="http://schemas.openxmlformats.org/officeDocument/2006/relationships/image" Target="../media/image48.emf"/><Relationship Id="rId5" Type="http://schemas.openxmlformats.org/officeDocument/2006/relationships/image" Target="../media/image47.emf"/><Relationship Id="rId4" Type="http://schemas.openxmlformats.org/officeDocument/2006/relationships/image" Target="../media/image27.emf"/><Relationship Id="rId3" Type="http://schemas.openxmlformats.org/officeDocument/2006/relationships/image" Target="../media/image46.emf"/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5A66E1-596A-496E-B96E-FE454130F1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53B57A-208D-4E21-8008-BCE8E94FCB4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02705F-8347-41A8-82E6-B2920132BF3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63.xml.rels><?xml version="1.0" encoding="UTF-8" standalone="yes"?>
<Relationships xmlns="http://schemas.openxmlformats.org/package/2006/relationships"><Relationship Id="rId4" Type="http://schemas.openxmlformats.org/officeDocument/2006/relationships/hyperlink" Target="https://baike.baidu.com/item/%E5%85%B3%E4%BA%8E%E7%9B%AE%E5%89%8D%E5%85%9A%E7%9A%84%E6%94%BF%E7%AD%96%E4%B8%AD%E7%9A%84%E5%87%A0%E4%B8%AA%E9%87%8D%E8%A6%81%E9%97%AE%E9%A2%98/56668631?fromModule=lemma_inlink" TargetMode="External"/><Relationship Id="rId3" Type="http://schemas.openxmlformats.org/officeDocument/2006/relationships/hyperlink" Target="https://baike.baidu.com/item/%E6%AF%9B%E6%B3%BD%E4%B8%9C/113835?fromModule=lemma_inlink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找到南楼食堂</a:t>
            </a:r>
            <a:endParaRPr kumimoji="1" lang="en-US" altLang="zh-CN" dirty="0"/>
          </a:p>
          <a:p>
            <a:r>
              <a:rPr kumimoji="1" lang="zh-CN" altLang="en-US" dirty="0"/>
              <a:t>吃遍所有食堂</a:t>
            </a:r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dirty="0"/>
              <a:t>随机游走，第一天进校找宿舍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用笔介绍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举个例子，导航的例子，</a:t>
            </a:r>
            <a:endParaRPr lang="en-US" altLang="zh-CN" dirty="0"/>
          </a:p>
          <a:p>
            <a:r>
              <a:rPr lang="zh-CN" altLang="en-US" dirty="0"/>
              <a:t>宽度优先搜索算法 </a:t>
            </a:r>
            <a:r>
              <a:rPr lang="en-US" altLang="zh-CN" dirty="0"/>
              <a:t>-》</a:t>
            </a:r>
            <a:r>
              <a:rPr lang="zh-CN" altLang="en-US" dirty="0"/>
              <a:t> 从出发点绕圈走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深度优先搜索算法 </a:t>
            </a:r>
            <a:r>
              <a:rPr lang="en-US" altLang="zh-CN" dirty="0"/>
              <a:t>-》</a:t>
            </a:r>
            <a:r>
              <a:rPr lang="zh-CN" altLang="en-US" dirty="0"/>
              <a:t> 从出发点先按一个方向走，发现没有，回来以后再往另一个方向走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每行每列都要摆皇后，但每个斜线都只能有一个，否则会打架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用笔描述放的过程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4F0D90-C7AE-4561-B43C-D1D3146A487F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深度限制， 限制单次搜索的最深的深度</a:t>
            </a:r>
            <a:endParaRPr lang="en-US" altLang="zh-CN" dirty="0">
              <a:ea typeface="黑体" panose="02010609060101010101" pitchFamily="49" charset="-122"/>
            </a:endParaRPr>
          </a:p>
          <a:p>
            <a:pPr eaLnBrk="1" hangingPunct="1"/>
            <a:endParaRPr lang="en-US" altLang="zh-CN" dirty="0"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节省内存，不用记那么多东西</a:t>
            </a:r>
            <a:endParaRPr lang="zh-CN" altLang="zh-CN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不用交，写程序或者手作都行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用图描述，四张嘴，三个杯子</a:t>
            </a:r>
            <a:endParaRPr kumimoji="1" lang="en-US" altLang="zh-CN" dirty="0"/>
          </a:p>
          <a:p>
            <a:r>
              <a:rPr kumimoji="1" lang="en-US" altLang="zh-CN" dirty="0"/>
              <a:t>25-30m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用图先描述一下，八数码任务是什么，类似华容道，最终实现右下角的状态，</a:t>
            </a:r>
            <a:endParaRPr kumimoji="1" lang="en-US" altLang="zh-CN" dirty="0"/>
          </a:p>
          <a:p>
            <a:r>
              <a:rPr kumimoji="1" lang="en-US" altLang="zh-CN" dirty="0"/>
              <a:t>1</a:t>
            </a:r>
            <a:r>
              <a:rPr kumimoji="1" lang="zh-CN" altLang="en-US" dirty="0"/>
              <a:t> </a:t>
            </a:r>
            <a:r>
              <a:rPr kumimoji="1" lang="en-US" altLang="zh-CN" dirty="0"/>
              <a:t>2</a:t>
            </a:r>
            <a:r>
              <a:rPr kumimoji="1" lang="zh-CN" altLang="en-US" dirty="0"/>
              <a:t> </a:t>
            </a:r>
            <a:r>
              <a:rPr kumimoji="1" lang="en-US" altLang="zh-CN" dirty="0"/>
              <a:t>3</a:t>
            </a:r>
            <a:endParaRPr kumimoji="1" lang="en-US" altLang="zh-CN" dirty="0"/>
          </a:p>
          <a:p>
            <a:r>
              <a:rPr kumimoji="1" lang="en-US" altLang="zh-CN" dirty="0"/>
              <a:t>8</a:t>
            </a:r>
            <a:r>
              <a:rPr kumimoji="1" lang="zh-CN" altLang="en-US" dirty="0"/>
              <a:t>    </a:t>
            </a:r>
            <a:r>
              <a:rPr kumimoji="1" lang="en-US" altLang="zh-CN" dirty="0"/>
              <a:t>4</a:t>
            </a:r>
            <a:endParaRPr kumimoji="1" lang="en-US" altLang="zh-CN" dirty="0"/>
          </a:p>
          <a:p>
            <a:r>
              <a:rPr kumimoji="1" lang="en-US" altLang="zh-CN" dirty="0"/>
              <a:t>7</a:t>
            </a:r>
            <a:r>
              <a:rPr kumimoji="1" lang="zh-CN" altLang="en-US" dirty="0"/>
              <a:t> </a:t>
            </a:r>
            <a:r>
              <a:rPr kumimoji="1" lang="en-US" altLang="zh-CN" dirty="0"/>
              <a:t>6</a:t>
            </a:r>
            <a:r>
              <a:rPr kumimoji="1" lang="zh-CN" altLang="en-US" dirty="0"/>
              <a:t> </a:t>
            </a:r>
            <a:r>
              <a:rPr kumimoji="1" lang="en-US" altLang="zh-CN" dirty="0"/>
              <a:t>5</a:t>
            </a:r>
            <a:endParaRPr kumimoji="1" lang="en-US" altLang="zh-CN" dirty="0"/>
          </a:p>
          <a:p>
            <a:r>
              <a:rPr kumimoji="1" lang="en-US" altLang="zh-CN" dirty="0"/>
              <a:t>9</a:t>
            </a:r>
            <a:r>
              <a:rPr kumimoji="1" lang="zh-CN" altLang="en-US" dirty="0"/>
              <a:t>！个可能状态，不是所有都能实现上面的状态，只有</a:t>
            </a:r>
            <a:r>
              <a:rPr kumimoji="1" lang="en-US" altLang="zh-CN" dirty="0"/>
              <a:t>9</a:t>
            </a:r>
            <a:r>
              <a:rPr kumimoji="1" lang="zh-CN" altLang="en-US" dirty="0"/>
              <a:t>！除以</a:t>
            </a:r>
            <a:r>
              <a:rPr kumimoji="1" lang="en-US" altLang="zh-CN" dirty="0"/>
              <a:t>2</a:t>
            </a:r>
            <a:r>
              <a:rPr kumimoji="1" lang="zh-CN" altLang="en-US" dirty="0"/>
              <a:t>个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每移动一次将排算一步，那宽度优先搜索必然找到最短的路径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结束条件不是已找到终点就结束，而是当终点距离是当前队列里最短的时候才结束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和同学互动，演示算法进行的过程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45m</a:t>
            </a:r>
            <a:r>
              <a:rPr kumimoji="1" lang="zh-CN" altLang="en-US" dirty="0"/>
              <a:t>，第二次课第一节课结束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不足，没有利用到终点的距离的信息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本科生，</a:t>
            </a:r>
            <a:r>
              <a:rPr lang="en-US" altLang="zh-CN" dirty="0"/>
              <a:t>20200224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演示计算过程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宽度优先比迪杰斯塔拉慢，比</a:t>
            </a:r>
            <a:r>
              <a:rPr lang="en-US" altLang="zh-CN" dirty="0"/>
              <a:t>A</a:t>
            </a:r>
            <a:r>
              <a:rPr lang="zh-CN" altLang="en-US" dirty="0"/>
              <a:t>算法慢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32390A7-0B3E-4F9F-9908-E8E791932D77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CN" dirty="0">
              <a:ea typeface="黑体" panose="02010609060101010101" pitchFamily="49" charset="-122"/>
            </a:endParaRPr>
          </a:p>
          <a:p>
            <a:pPr eaLnBrk="1" hangingPunct="1"/>
            <a:r>
              <a:rPr lang="en-US" altLang="zh-CN" dirty="0">
                <a:ea typeface="黑体" panose="02010609060101010101" pitchFamily="49" charset="-122"/>
              </a:rPr>
              <a:t>A</a:t>
            </a:r>
            <a:r>
              <a:rPr lang="zh-CN" altLang="en-US" dirty="0">
                <a:ea typeface="黑体" panose="02010609060101010101" pitchFamily="49" charset="-122"/>
              </a:rPr>
              <a:t>算法的思想，从</a:t>
            </a:r>
            <a:r>
              <a:rPr lang="en-US" altLang="zh-CN" dirty="0">
                <a:ea typeface="黑体" panose="02010609060101010101" pitchFamily="49" charset="-122"/>
              </a:rPr>
              <a:t>open</a:t>
            </a:r>
            <a:r>
              <a:rPr lang="zh-CN" altLang="en-US" dirty="0">
                <a:ea typeface="黑体" panose="02010609060101010101" pitchFamily="49" charset="-122"/>
              </a:rPr>
              <a:t>中选择一个节点</a:t>
            </a:r>
            <a:endParaRPr lang="en-US" altLang="zh-CN" dirty="0">
              <a:ea typeface="黑体" panose="02010609060101010101" pitchFamily="49" charset="-122"/>
            </a:endParaRPr>
          </a:p>
          <a:p>
            <a:pPr eaLnBrk="1" hangingPunct="1"/>
            <a:endParaRPr lang="en-US" altLang="zh-CN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假定这是算法执行中的一个中间过程</a:t>
            </a:r>
            <a:endParaRPr kumimoji="1" lang="en-US" altLang="zh-CN" dirty="0"/>
          </a:p>
          <a:p>
            <a:r>
              <a:rPr kumimoji="1" lang="zh-CN" altLang="en-US" dirty="0"/>
              <a:t>黑色的点是扩展过的，当前要扩展的是节点</a:t>
            </a:r>
            <a:r>
              <a:rPr kumimoji="1" lang="en-US" altLang="zh-CN" dirty="0"/>
              <a:t>n</a:t>
            </a:r>
            <a:endParaRPr kumimoji="1" lang="en-US" altLang="zh-CN" dirty="0"/>
          </a:p>
          <a:p>
            <a:r>
              <a:rPr kumimoji="1" lang="en-US" altLang="zh-CN" dirty="0" err="1"/>
              <a:t>M_j</a:t>
            </a:r>
            <a:r>
              <a:rPr kumimoji="1" lang="zh-CN" altLang="en-US" dirty="0"/>
              <a:t>是看到</a:t>
            </a:r>
            <a:r>
              <a:rPr kumimoji="1" lang="en-US" altLang="zh-CN" dirty="0"/>
              <a:t>n</a:t>
            </a:r>
            <a:r>
              <a:rPr kumimoji="1" lang="zh-CN" altLang="en-US" dirty="0"/>
              <a:t>之前没有看到的，可以称谓新节点</a:t>
            </a:r>
            <a:endParaRPr kumimoji="1" lang="en-US" altLang="zh-CN" dirty="0"/>
          </a:p>
          <a:p>
            <a:r>
              <a:rPr kumimoji="1" lang="en-US" altLang="zh-CN" dirty="0" err="1"/>
              <a:t>M_k</a:t>
            </a:r>
            <a:r>
              <a:rPr kumimoji="1" lang="zh-CN" altLang="en-US" dirty="0"/>
              <a:t>是在扩展</a:t>
            </a:r>
            <a:r>
              <a:rPr kumimoji="1" lang="en-US" altLang="zh-CN" dirty="0"/>
              <a:t>n</a:t>
            </a:r>
            <a:r>
              <a:rPr kumimoji="1" lang="zh-CN" altLang="en-US" dirty="0"/>
              <a:t>之前已经看到的，但找到</a:t>
            </a:r>
            <a:r>
              <a:rPr kumimoji="1" lang="en-US" altLang="zh-CN" dirty="0"/>
              <a:t>n</a:t>
            </a:r>
            <a:r>
              <a:rPr kumimoji="1" lang="zh-CN" altLang="en-US" dirty="0"/>
              <a:t>的时候又出现</a:t>
            </a:r>
            <a:endParaRPr kumimoji="1" lang="en-US" altLang="zh-CN" dirty="0"/>
          </a:p>
          <a:p>
            <a:r>
              <a:rPr kumimoji="1" lang="en-US" altLang="zh-CN" dirty="0" err="1"/>
              <a:t>M_l</a:t>
            </a:r>
            <a:r>
              <a:rPr kumimoji="1" lang="zh-CN" altLang="en-US" dirty="0"/>
              <a:t>是已经被扩展过的节点，也是</a:t>
            </a:r>
            <a:r>
              <a:rPr kumimoji="1" lang="en-US" altLang="zh-CN" dirty="0"/>
              <a:t>n</a:t>
            </a:r>
            <a:r>
              <a:rPr kumimoji="1" lang="zh-CN" altLang="en-US" dirty="0"/>
              <a:t>的子节点</a:t>
            </a:r>
            <a:endParaRPr kumimoji="1" lang="en-US" altLang="zh-CN" dirty="0"/>
          </a:p>
          <a:p>
            <a:r>
              <a:rPr kumimoji="1" lang="zh-CN" altLang="en-US" dirty="0"/>
              <a:t>以上所有构成了</a:t>
            </a:r>
            <a:r>
              <a:rPr kumimoji="1" lang="en-US" altLang="zh-CN" dirty="0"/>
              <a:t>n</a:t>
            </a:r>
            <a:r>
              <a:rPr kumimoji="1" lang="zh-CN" altLang="en-US" dirty="0"/>
              <a:t>的所有子节点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059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 dirty="0">
                <a:ea typeface="黑体" panose="02010609060101010101" pitchFamily="49" charset="-122"/>
              </a:rPr>
              <a:t>Mk</a:t>
            </a:r>
            <a:r>
              <a:rPr lang="zh-CN" altLang="en-US" dirty="0">
                <a:ea typeface="黑体" panose="02010609060101010101" pitchFamily="49" charset="-122"/>
              </a:rPr>
              <a:t>都在</a:t>
            </a:r>
            <a:r>
              <a:rPr lang="en-US" altLang="zh-CN" dirty="0">
                <a:ea typeface="黑体" panose="02010609060101010101" pitchFamily="49" charset="-122"/>
              </a:rPr>
              <a:t>open</a:t>
            </a:r>
            <a:r>
              <a:rPr lang="zh-CN" altLang="en-US" dirty="0">
                <a:ea typeface="黑体" panose="02010609060101010101" pitchFamily="49" charset="-122"/>
              </a:rPr>
              <a:t>里</a:t>
            </a:r>
            <a:endParaRPr lang="en-US" altLang="zh-CN" dirty="0">
              <a:ea typeface="黑体" panose="02010609060101010101" pitchFamily="49" charset="-122"/>
            </a:endParaRPr>
          </a:p>
          <a:p>
            <a:endParaRPr lang="en-US" altLang="zh-CN" dirty="0">
              <a:ea typeface="黑体" panose="02010609060101010101" pitchFamily="49" charset="-122"/>
            </a:endParaRPr>
          </a:p>
          <a:p>
            <a:r>
              <a:rPr lang="en-US" altLang="zh-CN" dirty="0" err="1">
                <a:ea typeface="黑体" panose="02010609060101010101" pitchFamily="49" charset="-122"/>
              </a:rPr>
              <a:t>Ml</a:t>
            </a:r>
            <a:r>
              <a:rPr lang="zh-CN" altLang="en-US" dirty="0">
                <a:ea typeface="黑体" panose="02010609060101010101" pitchFamily="49" charset="-122"/>
              </a:rPr>
              <a:t>本来在</a:t>
            </a:r>
            <a:r>
              <a:rPr lang="en-US" altLang="zh-CN" dirty="0">
                <a:ea typeface="黑体" panose="02010609060101010101" pitchFamily="49" charset="-122"/>
              </a:rPr>
              <a:t>close</a:t>
            </a:r>
            <a:r>
              <a:rPr lang="zh-CN" altLang="en-US" dirty="0">
                <a:ea typeface="黑体" panose="02010609060101010101" pitchFamily="49" charset="-122"/>
              </a:rPr>
              <a:t>里，又被拿回到</a:t>
            </a:r>
            <a:r>
              <a:rPr lang="en-US" altLang="zh-CN" dirty="0">
                <a:ea typeface="黑体" panose="02010609060101010101" pitchFamily="49" charset="-122"/>
              </a:rPr>
              <a:t>open</a:t>
            </a:r>
            <a:r>
              <a:rPr lang="zh-CN" altLang="en-US" dirty="0">
                <a:ea typeface="黑体" panose="02010609060101010101" pitchFamily="49" charset="-122"/>
              </a:rPr>
              <a:t>里</a:t>
            </a:r>
            <a:endParaRPr lang="en-US" altLang="zh-CN" dirty="0">
              <a:ea typeface="黑体" panose="02010609060101010101" pitchFamily="49" charset="-122"/>
            </a:endParaRPr>
          </a:p>
          <a:p>
            <a:r>
              <a:rPr lang="en-US" altLang="zh-CN" dirty="0" err="1">
                <a:ea typeface="黑体" panose="02010609060101010101" pitchFamily="49" charset="-122"/>
              </a:rPr>
              <a:t>m_l</a:t>
            </a:r>
            <a:r>
              <a:rPr lang="zh-CN" altLang="en-US" dirty="0">
                <a:ea typeface="黑体" panose="02010609060101010101" pitchFamily="49" charset="-122"/>
              </a:rPr>
              <a:t>再次被扩展的时候，它的子节点会被更新</a:t>
            </a:r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1105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B5700B5-08DC-424D-ABE5-85BB57773E77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演示计算过程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宽度优先比迪杰斯塔拉慢，比</a:t>
            </a:r>
            <a:r>
              <a:rPr lang="en-US" altLang="zh-CN" dirty="0"/>
              <a:t>A</a:t>
            </a:r>
            <a:r>
              <a:rPr lang="zh-CN" altLang="en-US" dirty="0"/>
              <a:t>算法慢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059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 dirty="0">
                <a:ea typeface="黑体" panose="02010609060101010101" pitchFamily="49" charset="-122"/>
              </a:rPr>
              <a:t>Mk</a:t>
            </a:r>
            <a:r>
              <a:rPr lang="zh-CN" altLang="en-US" dirty="0">
                <a:ea typeface="黑体" panose="02010609060101010101" pitchFamily="49" charset="-122"/>
              </a:rPr>
              <a:t>都在</a:t>
            </a:r>
            <a:r>
              <a:rPr lang="en-US" altLang="zh-CN" dirty="0">
                <a:ea typeface="黑体" panose="02010609060101010101" pitchFamily="49" charset="-122"/>
              </a:rPr>
              <a:t>open</a:t>
            </a:r>
            <a:r>
              <a:rPr lang="zh-CN" altLang="en-US" dirty="0">
                <a:ea typeface="黑体" panose="02010609060101010101" pitchFamily="49" charset="-122"/>
              </a:rPr>
              <a:t>里</a:t>
            </a:r>
            <a:endParaRPr lang="en-US" altLang="zh-CN" dirty="0">
              <a:ea typeface="黑体" panose="02010609060101010101" pitchFamily="49" charset="-122"/>
            </a:endParaRPr>
          </a:p>
          <a:p>
            <a:endParaRPr lang="en-US" altLang="zh-CN" dirty="0">
              <a:ea typeface="黑体" panose="02010609060101010101" pitchFamily="49" charset="-122"/>
            </a:endParaRPr>
          </a:p>
          <a:p>
            <a:r>
              <a:rPr lang="en-US" altLang="zh-CN" dirty="0" err="1">
                <a:ea typeface="黑体" panose="02010609060101010101" pitchFamily="49" charset="-122"/>
              </a:rPr>
              <a:t>Ml</a:t>
            </a:r>
            <a:r>
              <a:rPr lang="zh-CN" altLang="en-US" dirty="0">
                <a:ea typeface="黑体" panose="02010609060101010101" pitchFamily="49" charset="-122"/>
              </a:rPr>
              <a:t>本来在</a:t>
            </a:r>
            <a:r>
              <a:rPr lang="en-US" altLang="zh-CN" dirty="0">
                <a:ea typeface="黑体" panose="02010609060101010101" pitchFamily="49" charset="-122"/>
              </a:rPr>
              <a:t>close</a:t>
            </a:r>
            <a:r>
              <a:rPr lang="zh-CN" altLang="en-US" dirty="0">
                <a:ea typeface="黑体" panose="02010609060101010101" pitchFamily="49" charset="-122"/>
              </a:rPr>
              <a:t>里，又被拿回到</a:t>
            </a:r>
            <a:r>
              <a:rPr lang="en-US" altLang="zh-CN" dirty="0">
                <a:ea typeface="黑体" panose="02010609060101010101" pitchFamily="49" charset="-122"/>
              </a:rPr>
              <a:t>open</a:t>
            </a:r>
            <a:r>
              <a:rPr lang="zh-CN" altLang="en-US" dirty="0">
                <a:ea typeface="黑体" panose="02010609060101010101" pitchFamily="49" charset="-122"/>
              </a:rPr>
              <a:t>里</a:t>
            </a:r>
            <a:endParaRPr lang="en-US" altLang="zh-CN" dirty="0">
              <a:ea typeface="黑体" panose="02010609060101010101" pitchFamily="49" charset="-122"/>
            </a:endParaRPr>
          </a:p>
          <a:p>
            <a:r>
              <a:rPr lang="en-US" altLang="zh-CN" dirty="0" err="1">
                <a:ea typeface="黑体" panose="02010609060101010101" pitchFamily="49" charset="-122"/>
              </a:rPr>
              <a:t>m_l</a:t>
            </a:r>
            <a:r>
              <a:rPr lang="zh-CN" altLang="en-US" dirty="0">
                <a:ea typeface="黑体" panose="02010609060101010101" pitchFamily="49" charset="-122"/>
              </a:rPr>
              <a:t>再次被扩展的时候，它的子节点会被更新</a:t>
            </a:r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1105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B5700B5-08DC-424D-ABE5-85BB57773E77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4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黑体" panose="02010609060101010101" pitchFamily="49" charset="-122"/>
            </a:endParaRPr>
          </a:p>
        </p:txBody>
      </p:sp>
      <p:sp>
        <p:nvSpPr>
          <p:cNvPr id="11264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73A9DA3-4070-4B4A-B0AE-5CBE179FAE95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2D4A9F-6CD6-4A52-AC34-3BD7B14FB704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介绍算法计算过程</a:t>
            </a:r>
            <a:endParaRPr lang="en-US" altLang="zh-CN" dirty="0">
              <a:ea typeface="黑体" panose="02010609060101010101" pitchFamily="49" charset="-122"/>
            </a:endParaRPr>
          </a:p>
          <a:p>
            <a:pPr eaLnBrk="1" hangingPunct="1"/>
            <a:endParaRPr lang="en-US" altLang="zh-CN" dirty="0"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为什么</a:t>
            </a:r>
            <a:r>
              <a:rPr lang="en-US" altLang="zh-CN" dirty="0">
                <a:ea typeface="黑体" panose="02010609060101010101" pitchFamily="49" charset="-122"/>
              </a:rPr>
              <a:t>A</a:t>
            </a:r>
            <a:r>
              <a:rPr lang="zh-CN" altLang="en-US" dirty="0">
                <a:ea typeface="黑体" panose="02010609060101010101" pitchFamily="49" charset="-122"/>
              </a:rPr>
              <a:t>是</a:t>
            </a:r>
            <a:r>
              <a:rPr lang="en-US" altLang="zh-CN" dirty="0">
                <a:ea typeface="黑体" panose="02010609060101010101" pitchFamily="49" charset="-122"/>
              </a:rPr>
              <a:t>6</a:t>
            </a:r>
            <a:r>
              <a:rPr lang="zh-CN" altLang="en-US" dirty="0">
                <a:ea typeface="黑体" panose="02010609060101010101" pitchFamily="49" charset="-122"/>
              </a:rPr>
              <a:t>？ 步数</a:t>
            </a:r>
            <a:r>
              <a:rPr lang="en-US" altLang="zh-CN" dirty="0">
                <a:ea typeface="黑体" panose="02010609060101010101" pitchFamily="49" charset="-122"/>
              </a:rPr>
              <a:t>g</a:t>
            </a:r>
            <a:r>
              <a:rPr lang="zh-CN" altLang="en-US" dirty="0">
                <a:ea typeface="黑体" panose="02010609060101010101" pitchFamily="49" charset="-122"/>
              </a:rPr>
              <a:t>为</a:t>
            </a:r>
            <a:r>
              <a:rPr lang="en-US" altLang="zh-CN" dirty="0">
                <a:ea typeface="黑体" panose="02010609060101010101" pitchFamily="49" charset="-122"/>
              </a:rPr>
              <a:t>1</a:t>
            </a:r>
            <a:r>
              <a:rPr lang="zh-CN" altLang="en-US" dirty="0">
                <a:ea typeface="黑体" panose="02010609060101010101" pitchFamily="49" charset="-122"/>
              </a:rPr>
              <a:t>，距离</a:t>
            </a:r>
            <a:r>
              <a:rPr lang="en-US" altLang="zh-CN" dirty="0">
                <a:ea typeface="黑体" panose="02010609060101010101" pitchFamily="49" charset="-122"/>
              </a:rPr>
              <a:t>h</a:t>
            </a:r>
            <a:r>
              <a:rPr lang="zh-CN" altLang="en-US" dirty="0">
                <a:ea typeface="黑体" panose="02010609060101010101" pitchFamily="49" charset="-122"/>
              </a:rPr>
              <a:t>为</a:t>
            </a:r>
            <a:r>
              <a:rPr lang="en-US" altLang="zh-CN" dirty="0">
                <a:ea typeface="黑体" panose="02010609060101010101" pitchFamily="49" charset="-122"/>
              </a:rPr>
              <a:t>5</a:t>
            </a:r>
            <a:r>
              <a:rPr lang="zh-CN" altLang="en-US" dirty="0">
                <a:ea typeface="黑体" panose="02010609060101010101" pitchFamily="49" charset="-122"/>
              </a:rPr>
              <a:t>，加起来</a:t>
            </a:r>
            <a:r>
              <a:rPr lang="en-US" altLang="zh-CN" dirty="0">
                <a:ea typeface="黑体" panose="02010609060101010101" pitchFamily="49" charset="-122"/>
              </a:rPr>
              <a:t>f</a:t>
            </a:r>
            <a:r>
              <a:rPr lang="zh-CN" altLang="en-US" dirty="0">
                <a:ea typeface="黑体" panose="02010609060101010101" pitchFamily="49" charset="-122"/>
              </a:rPr>
              <a:t>为</a:t>
            </a:r>
            <a:r>
              <a:rPr lang="en-US" altLang="zh-CN" dirty="0">
                <a:ea typeface="黑体" panose="02010609060101010101" pitchFamily="49" charset="-122"/>
              </a:rPr>
              <a:t>6</a:t>
            </a:r>
            <a:endParaRPr lang="en-US" altLang="zh-CN" dirty="0">
              <a:ea typeface="黑体" panose="02010609060101010101" pitchFamily="49" charset="-122"/>
            </a:endParaRPr>
          </a:p>
          <a:p>
            <a:pPr eaLnBrk="1" hangingPunct="1"/>
            <a:endParaRPr lang="en-US" altLang="zh-CN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solidFill>
                <a:srgbClr val="333333"/>
              </a:solidFill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  <a:p>
            <a:r>
              <a:rPr lang="zh-CN" altLang="en-US" dirty="0"/>
              <a:t>欧式距离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所谓“放宽限制条件”，就是先把问题简化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可以不走路，可以飞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八数码错位数字 </a:t>
            </a:r>
            <a:r>
              <a:rPr lang="en-US" altLang="zh-CN" dirty="0"/>
              <a:t>-》</a:t>
            </a:r>
            <a:r>
              <a:rPr lang="zh-CN" altLang="en-US" dirty="0"/>
              <a:t> 数字可以跳着走</a:t>
            </a:r>
            <a:endParaRPr lang="en-US" altLang="zh-CN" dirty="0"/>
          </a:p>
          <a:p>
            <a:r>
              <a:rPr lang="zh-CN" altLang="en-US" dirty="0"/>
              <a:t>八数码距离目标位置的距离 </a:t>
            </a:r>
            <a:r>
              <a:rPr lang="en-US" altLang="zh-CN" dirty="0"/>
              <a:t>-》</a:t>
            </a:r>
            <a:r>
              <a:rPr lang="zh-CN" altLang="en-US" dirty="0"/>
              <a:t> 数字可以走到别的数字上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h2&gt;=h1</a:t>
            </a:r>
            <a:r>
              <a:rPr kumimoji="1" lang="zh-CN" altLang="en-US" dirty="0"/>
              <a:t>的时候不成立，只有</a:t>
            </a:r>
            <a:r>
              <a:rPr kumimoji="1" lang="en-US" altLang="zh-CN" dirty="0"/>
              <a:t>h2&gt;h1</a:t>
            </a:r>
            <a:r>
              <a:rPr kumimoji="1" lang="zh-CN" altLang="en-US" dirty="0"/>
              <a:t>才成立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扩展的节点数 不能于 扩展的节点次数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7754E9-042C-4BDB-83CA-013DA6F939A9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ea typeface="黑体" panose="02010609060101010101" pitchFamily="49" charset="-12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C79C94-A0A6-4698-B3D2-3973CCE446EC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第三次课第一节结束</a:t>
            </a:r>
            <a:endParaRPr lang="en-US" altLang="zh-CN" dirty="0">
              <a:ea typeface="黑体" panose="02010609060101010101" pitchFamily="49" charset="-122"/>
            </a:endParaRPr>
          </a:p>
          <a:p>
            <a:pPr eaLnBrk="1" hangingPunct="1"/>
            <a:endParaRPr lang="en-US" altLang="zh-CN" dirty="0"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科协，</a:t>
            </a:r>
            <a:r>
              <a:rPr lang="en-US" altLang="zh-CN" dirty="0">
                <a:ea typeface="黑体" panose="02010609060101010101" pitchFamily="49" charset="-122"/>
              </a:rPr>
              <a:t>16</a:t>
            </a:r>
            <a:r>
              <a:rPr lang="zh-CN" altLang="en-US" dirty="0">
                <a:ea typeface="黑体" panose="02010609060101010101" pitchFamily="49" charset="-122"/>
              </a:rPr>
              <a:t>强免做大作业，</a:t>
            </a:r>
            <a:r>
              <a:rPr lang="en-US" altLang="zh-CN" dirty="0">
                <a:ea typeface="黑体" panose="02010609060101010101" pitchFamily="49" charset="-122"/>
              </a:rPr>
              <a:t>32</a:t>
            </a:r>
            <a:r>
              <a:rPr lang="zh-CN" altLang="en-US" dirty="0">
                <a:ea typeface="黑体" panose="02010609060101010101" pitchFamily="49" charset="-122"/>
              </a:rPr>
              <a:t>强大作业加五分</a:t>
            </a:r>
            <a:endParaRPr lang="en-US" altLang="zh-CN" dirty="0">
              <a:ea typeface="黑体" panose="02010609060101010101" pitchFamily="49" charset="-122"/>
            </a:endParaRPr>
          </a:p>
          <a:p>
            <a:pPr eaLnBrk="1" hangingPunct="1"/>
            <a:endParaRPr lang="en-US" altLang="zh-CN" dirty="0"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必考知识点</a:t>
            </a:r>
            <a:endParaRPr lang="en-US" altLang="zh-CN" dirty="0">
              <a:ea typeface="黑体" panose="02010609060101010101" pitchFamily="49" charset="-122"/>
            </a:endParaRPr>
          </a:p>
          <a:p>
            <a:pPr eaLnBrk="1" hangingPunct="1"/>
            <a:endParaRPr lang="en-US" altLang="zh-CN" dirty="0"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左图括号中是</a:t>
            </a:r>
            <a:r>
              <a:rPr lang="en-US" altLang="zh-CN" dirty="0">
                <a:ea typeface="黑体" panose="02010609060101010101" pitchFamily="49" charset="-122"/>
              </a:rPr>
              <a:t>h</a:t>
            </a:r>
            <a:r>
              <a:rPr lang="zh-CN" altLang="en-US" dirty="0">
                <a:ea typeface="黑体" panose="02010609060101010101" pitchFamily="49" charset="-122"/>
              </a:rPr>
              <a:t>值，右表中的括号里是</a:t>
            </a:r>
            <a:r>
              <a:rPr lang="en-US" altLang="zh-CN" dirty="0">
                <a:ea typeface="黑体" panose="02010609060101010101" pitchFamily="49" charset="-122"/>
              </a:rPr>
              <a:t>f</a:t>
            </a:r>
            <a:r>
              <a:rPr lang="zh-CN" altLang="en-US" dirty="0">
                <a:ea typeface="黑体" panose="02010609060101010101" pitchFamily="49" charset="-122"/>
              </a:rPr>
              <a:t>值</a:t>
            </a:r>
            <a:endParaRPr lang="zh-CN" altLang="zh-CN" dirty="0">
              <a:ea typeface="黑体" panose="02010609060101010101" pitchFamily="49" charset="-122"/>
            </a:endParaRPr>
          </a:p>
          <a:p>
            <a:pPr eaLnBrk="1" hangingPunct="1"/>
            <a:endParaRPr lang="zh-CN" altLang="zh-CN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981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11981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EDFD1EB-7560-45B6-88CA-CB1BA48E6CBB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因为在</a:t>
            </a:r>
            <a:r>
              <a:rPr lang="en-US" altLang="zh-CN" dirty="0" err="1"/>
              <a:t>ni</a:t>
            </a:r>
            <a:r>
              <a:rPr lang="zh-CN" altLang="en-US" dirty="0"/>
              <a:t>估计值为</a:t>
            </a:r>
            <a:r>
              <a:rPr lang="en-US" altLang="zh-CN" dirty="0"/>
              <a:t>h(</a:t>
            </a:r>
            <a:r>
              <a:rPr lang="en-US" altLang="zh-CN" dirty="0" err="1"/>
              <a:t>ni</a:t>
            </a:r>
            <a:r>
              <a:rPr lang="en-US" altLang="zh-CN" dirty="0"/>
              <a:t>)</a:t>
            </a:r>
            <a:r>
              <a:rPr lang="zh-CN" altLang="en-US" dirty="0"/>
              <a:t>，现在从</a:t>
            </a:r>
            <a:r>
              <a:rPr lang="en-US" altLang="zh-CN" dirty="0" err="1"/>
              <a:t>ni</a:t>
            </a:r>
            <a:r>
              <a:rPr lang="zh-CN" altLang="en-US" dirty="0"/>
              <a:t>走到了</a:t>
            </a:r>
            <a:r>
              <a:rPr lang="en-US" altLang="zh-CN" dirty="0" err="1"/>
              <a:t>nj</a:t>
            </a:r>
            <a:r>
              <a:rPr lang="zh-CN" altLang="en-US" dirty="0"/>
              <a:t>，那么</a:t>
            </a:r>
            <a:r>
              <a:rPr lang="en-US" altLang="zh-CN" dirty="0"/>
              <a:t>h(</a:t>
            </a:r>
            <a:r>
              <a:rPr lang="en-US" altLang="zh-CN" dirty="0" err="1"/>
              <a:t>nj</a:t>
            </a:r>
            <a:r>
              <a:rPr lang="en-US" altLang="zh-CN" dirty="0"/>
              <a:t>)</a:t>
            </a:r>
            <a:r>
              <a:rPr lang="zh-CN" altLang="en-US" dirty="0"/>
              <a:t>至少应该为</a:t>
            </a:r>
            <a:r>
              <a:rPr lang="en-US" altLang="zh-CN" dirty="0"/>
              <a:t>h(</a:t>
            </a:r>
            <a:r>
              <a:rPr lang="en-US" altLang="zh-CN" dirty="0" err="1"/>
              <a:t>ni</a:t>
            </a:r>
            <a:r>
              <a:rPr lang="en-US" altLang="zh-CN" dirty="0"/>
              <a:t>)-C(</a:t>
            </a:r>
            <a:r>
              <a:rPr lang="en-US" altLang="zh-CN" dirty="0" err="1"/>
              <a:t>ni,nj</a:t>
            </a:r>
            <a:r>
              <a:rPr lang="en-US" altLang="zh-CN" dirty="0"/>
              <a:t>)</a:t>
            </a:r>
            <a:r>
              <a:rPr lang="zh-CN" altLang="en-US" dirty="0"/>
              <a:t>，小于这个值就不合理了。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加个例子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C79C94-A0A6-4698-B3D2-3973CCE446EC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第三次课第一节结束</a:t>
            </a:r>
            <a:endParaRPr lang="en-US" altLang="zh-CN" dirty="0">
              <a:ea typeface="黑体" panose="02010609060101010101" pitchFamily="49" charset="-122"/>
            </a:endParaRPr>
          </a:p>
          <a:p>
            <a:pPr eaLnBrk="1" hangingPunct="1"/>
            <a:endParaRPr lang="en-US" altLang="zh-CN" dirty="0"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科协，</a:t>
            </a:r>
            <a:r>
              <a:rPr lang="en-US" altLang="zh-CN" dirty="0">
                <a:ea typeface="黑体" panose="02010609060101010101" pitchFamily="49" charset="-122"/>
              </a:rPr>
              <a:t>16</a:t>
            </a:r>
            <a:r>
              <a:rPr lang="zh-CN" altLang="en-US" dirty="0">
                <a:ea typeface="黑体" panose="02010609060101010101" pitchFamily="49" charset="-122"/>
              </a:rPr>
              <a:t>强免做大作业，</a:t>
            </a:r>
            <a:r>
              <a:rPr lang="en-US" altLang="zh-CN" dirty="0">
                <a:ea typeface="黑体" panose="02010609060101010101" pitchFamily="49" charset="-122"/>
              </a:rPr>
              <a:t>32</a:t>
            </a:r>
            <a:r>
              <a:rPr lang="zh-CN" altLang="en-US" dirty="0">
                <a:ea typeface="黑体" panose="02010609060101010101" pitchFamily="49" charset="-122"/>
              </a:rPr>
              <a:t>强大作业加五分</a:t>
            </a:r>
            <a:endParaRPr lang="en-US" altLang="zh-CN" dirty="0">
              <a:ea typeface="黑体" panose="02010609060101010101" pitchFamily="49" charset="-122"/>
            </a:endParaRPr>
          </a:p>
          <a:p>
            <a:pPr eaLnBrk="1" hangingPunct="1"/>
            <a:endParaRPr lang="en-US" altLang="zh-CN" dirty="0"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必考知识点</a:t>
            </a:r>
            <a:endParaRPr lang="en-US" altLang="zh-CN" dirty="0">
              <a:ea typeface="黑体" panose="02010609060101010101" pitchFamily="49" charset="-122"/>
            </a:endParaRPr>
          </a:p>
          <a:p>
            <a:pPr eaLnBrk="1" hangingPunct="1"/>
            <a:endParaRPr lang="en-US" altLang="zh-CN" dirty="0"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左图括号中是</a:t>
            </a:r>
            <a:r>
              <a:rPr lang="en-US" altLang="zh-CN" dirty="0">
                <a:ea typeface="黑体" panose="02010609060101010101" pitchFamily="49" charset="-122"/>
              </a:rPr>
              <a:t>h</a:t>
            </a:r>
            <a:r>
              <a:rPr lang="zh-CN" altLang="en-US" dirty="0">
                <a:ea typeface="黑体" panose="02010609060101010101" pitchFamily="49" charset="-122"/>
              </a:rPr>
              <a:t>值，右表中的括号里是</a:t>
            </a:r>
            <a:r>
              <a:rPr lang="en-US" altLang="zh-CN" dirty="0">
                <a:ea typeface="黑体" panose="02010609060101010101" pitchFamily="49" charset="-122"/>
              </a:rPr>
              <a:t>f</a:t>
            </a:r>
            <a:r>
              <a:rPr lang="zh-CN" altLang="en-US" dirty="0">
                <a:ea typeface="黑体" panose="02010609060101010101" pitchFamily="49" charset="-122"/>
              </a:rPr>
              <a:t>值</a:t>
            </a:r>
            <a:endParaRPr lang="zh-CN" altLang="zh-CN" dirty="0">
              <a:ea typeface="黑体" panose="02010609060101010101" pitchFamily="49" charset="-122"/>
            </a:endParaRPr>
          </a:p>
          <a:p>
            <a:pPr eaLnBrk="1" hangingPunct="1"/>
            <a:endParaRPr lang="zh-CN" altLang="zh-CN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083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dirty="0">
                <a:ea typeface="黑体" panose="02010609060101010101" pitchFamily="49" charset="-122"/>
              </a:rPr>
              <a:t>传教士</a:t>
            </a:r>
            <a:r>
              <a:rPr lang="en-US" altLang="zh-CN" dirty="0">
                <a:ea typeface="黑体" panose="02010609060101010101" pitchFamily="49" charset="-122"/>
              </a:rPr>
              <a:t>M+C-2B</a:t>
            </a:r>
            <a:r>
              <a:rPr lang="zh-CN" altLang="en-US" dirty="0">
                <a:ea typeface="黑体" panose="02010609060101010101" pitchFamily="49" charset="-122"/>
              </a:rPr>
              <a:t>不满足单调</a:t>
            </a:r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12083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CD34B02-43E8-4539-8C88-3881B312A5E2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65991C1-CBAC-4D98-B8FB-92D702FEF521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dirty="0">
                <a:ea typeface="黑体" panose="02010609060101010101" pitchFamily="49" charset="-122"/>
              </a:rPr>
              <a:t>25m</a:t>
            </a:r>
            <a:endParaRPr lang="zh-CN" altLang="zh-CN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F(</a:t>
            </a:r>
            <a:r>
              <a:rPr kumimoji="1" lang="en-US" altLang="zh-CN" dirty="0" err="1"/>
              <a:t>n_i</a:t>
            </a:r>
            <a:r>
              <a:rPr kumimoji="1" lang="en-US" altLang="zh-CN" dirty="0"/>
              <a:t>)&lt;</a:t>
            </a:r>
            <a:r>
              <a:rPr kumimoji="1" lang="en-US" altLang="zh-CN" dirty="0" err="1"/>
              <a:t>f_m</a:t>
            </a:r>
            <a:r>
              <a:rPr kumimoji="1" lang="zh-CN" altLang="en-US" dirty="0"/>
              <a:t> 不能是小于等于，否则可能会有重复拓展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059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1105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B5700B5-08DC-424D-ABE5-85BB57773E77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算法上的改进能彻底解决重复扩展的问题么？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第三次课第二节结束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用爬山的方式举例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用塞尔达举例 神庙雷达</a:t>
            </a:r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随机搜索：</a:t>
            </a: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dirty="0"/>
              <a:t>清醒的人很难爬到最高峰</a:t>
            </a: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dirty="0"/>
              <a:t>喝醉的人却很有可能到最高峰</a:t>
            </a:r>
            <a:endParaRPr kumimoji="1" lang="zh-CN" altLang="en-US" dirty="0"/>
          </a:p>
          <a:p>
            <a:endParaRPr kumimoji="1" lang="en-US" altLang="zh-CN" dirty="0"/>
          </a:p>
          <a:p>
            <a:r>
              <a:rPr kumimoji="1" lang="zh-CN" altLang="en-US" dirty="0"/>
              <a:t>动态规划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层状结构，没有跳层的情况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核心在于利用对状态节点的记录，避免重复运算，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横着看，按层算，复杂度是线性的</a:t>
            </a:r>
            <a:endParaRPr kumimoji="1" lang="en-US" altLang="zh-CN" dirty="0"/>
          </a:p>
          <a:p>
            <a:r>
              <a:rPr kumimoji="1" lang="zh-CN" altLang="en-US" dirty="0"/>
              <a:t>纵着看，按点算，复杂度是平方的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汉语大概</a:t>
            </a:r>
            <a:r>
              <a:rPr kumimoji="1" lang="en-US" altLang="zh-CN" dirty="0"/>
              <a:t>400</a:t>
            </a:r>
            <a:r>
              <a:rPr kumimoji="1" lang="zh-CN" altLang="en-US" dirty="0"/>
              <a:t>个音，不包括音调</a:t>
            </a:r>
            <a:endParaRPr kumimoji="1" lang="en-US" altLang="zh-CN" dirty="0"/>
          </a:p>
          <a:p>
            <a:r>
              <a:rPr kumimoji="1" lang="zh-CN" altLang="en-US" dirty="0"/>
              <a:t>常用汉字</a:t>
            </a:r>
            <a:r>
              <a:rPr kumimoji="1" lang="en-US" altLang="zh-CN" dirty="0"/>
              <a:t>4000</a:t>
            </a:r>
            <a:r>
              <a:rPr kumimoji="1" lang="zh-CN" altLang="en-US" dirty="0"/>
              <a:t>个， 所谓的</a:t>
            </a:r>
            <a:r>
              <a:rPr kumimoji="1" lang="en-US" altLang="zh-CN" dirty="0"/>
              <a:t>1</a:t>
            </a:r>
            <a:r>
              <a:rPr kumimoji="1" lang="zh-CN" altLang="en-US" dirty="0"/>
              <a:t>级汉字，统计预料中的</a:t>
            </a:r>
            <a:r>
              <a:rPr kumimoji="1" lang="en-US" altLang="zh-CN" dirty="0"/>
              <a:t>99%+</a:t>
            </a:r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</a:t>
            </a:r>
            <a:r>
              <a:rPr lang="zh-CN" altLang="en-US" dirty="0"/>
              <a:t>是句子， </a:t>
            </a:r>
            <a:r>
              <a:rPr lang="en-US" altLang="zh-CN" dirty="0"/>
              <a:t>O</a:t>
            </a:r>
            <a:r>
              <a:rPr lang="zh-CN" altLang="en-US" dirty="0"/>
              <a:t>是拼音</a:t>
            </a:r>
            <a:endParaRPr lang="en-US" altLang="zh-CN" dirty="0"/>
          </a:p>
          <a:p>
            <a:r>
              <a:rPr lang="zh-CN" altLang="en-US" dirty="0"/>
              <a:t>贝叶斯公式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P(O)</a:t>
            </a:r>
            <a:r>
              <a:rPr lang="zh-CN" altLang="en-US" dirty="0"/>
              <a:t> 为</a:t>
            </a:r>
            <a:r>
              <a:rPr lang="en-US" altLang="zh-CN" dirty="0"/>
              <a:t>1</a:t>
            </a:r>
            <a:endParaRPr lang="en-US" altLang="zh-CN" dirty="0"/>
          </a:p>
          <a:p>
            <a:r>
              <a:rPr lang="en-US" altLang="zh-CN" dirty="0"/>
              <a:t>P(O|S)</a:t>
            </a:r>
            <a:r>
              <a:rPr lang="zh-CN" altLang="en-US" dirty="0"/>
              <a:t> 表示给定于这个句子后，它对应的拼音是什么的概率</a:t>
            </a:r>
            <a:endParaRPr lang="en-US" altLang="zh-CN" dirty="0"/>
          </a:p>
          <a:p>
            <a:r>
              <a:rPr lang="zh-CN" altLang="en-US" dirty="0"/>
              <a:t>通常给定句子之后他的拼音也确定，但个别时候会有多音字的问题，但可以忽略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你去河北省反省一下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南京市长江大桥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P(wi|w1…w_i-1)</a:t>
            </a:r>
            <a:r>
              <a:rPr kumimoji="1" lang="zh-CN" altLang="en-US" dirty="0"/>
              <a:t> 概率太小，组合爆炸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用</a:t>
            </a:r>
            <a:r>
              <a:rPr kumimoji="1" lang="en-US" altLang="zh-CN" dirty="0"/>
              <a:t>Viterbi</a:t>
            </a:r>
            <a:r>
              <a:rPr kumimoji="1" lang="zh-CN" altLang="en-US" dirty="0"/>
              <a:t>算法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考虑更多前置的字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用词代替字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第一次作业就是拼音输入法</a:t>
            </a:r>
            <a:endParaRPr kumimoji="1" lang="en-US" altLang="zh-CN" dirty="0"/>
          </a:p>
          <a:p>
            <a:r>
              <a:rPr kumimoji="1" lang="zh-CN" altLang="en-US" dirty="0"/>
              <a:t>按字做就行</a:t>
            </a:r>
            <a:endParaRPr kumimoji="1" lang="en-US" altLang="zh-CN" dirty="0"/>
          </a:p>
          <a:p>
            <a:r>
              <a:rPr kumimoji="1" lang="zh-CN" altLang="en-US" dirty="0"/>
              <a:t>作业中的拼音用空格做了分隔 （真实中更复杂，没有空格）</a:t>
            </a:r>
            <a:endParaRPr kumimoji="1" lang="en-US" altLang="zh-CN" dirty="0"/>
          </a:p>
          <a:p>
            <a:r>
              <a:rPr kumimoji="1" lang="zh-CN" altLang="en-US" dirty="0"/>
              <a:t>数据可能有错</a:t>
            </a:r>
            <a:endParaRPr kumimoji="1" lang="en-US" altLang="zh-CN" dirty="0"/>
          </a:p>
          <a:p>
            <a:r>
              <a:rPr kumimoji="1" lang="zh-CN" altLang="en-US" dirty="0"/>
              <a:t>一切以助教为准</a:t>
            </a:r>
            <a:endParaRPr kumimoji="1" lang="en-US" altLang="zh-CN" dirty="0"/>
          </a:p>
          <a:p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dirty="0"/>
              <a:t>搜狗的创始人是我们组的博士生</a:t>
            </a:r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  <a:p>
            <a:r>
              <a:rPr kumimoji="1" lang="en-US" altLang="zh-CN" dirty="0" err="1"/>
              <a:t>dirichlet</a:t>
            </a:r>
            <a:r>
              <a:rPr kumimoji="1" lang="zh-CN" altLang="en-US" dirty="0"/>
              <a:t> </a:t>
            </a:r>
            <a:r>
              <a:rPr kumimoji="1" lang="en-US" altLang="zh-CN" dirty="0"/>
              <a:t>smoothing</a:t>
            </a:r>
            <a:endParaRPr kumimoji="1" lang="en-US" altLang="zh-CN" dirty="0"/>
          </a:p>
          <a:p>
            <a:r>
              <a:rPr kumimoji="1" lang="en-US" altLang="zh-CN" dirty="0"/>
              <a:t>JM</a:t>
            </a:r>
            <a:r>
              <a:rPr kumimoji="1" lang="zh-CN" altLang="en-US" dirty="0"/>
              <a:t> </a:t>
            </a:r>
            <a:r>
              <a:rPr kumimoji="1" lang="en-US" altLang="zh-CN" dirty="0"/>
              <a:t>smoothing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  <a:p>
            <a:r>
              <a:rPr kumimoji="1" lang="en-US" altLang="zh-CN" dirty="0" err="1"/>
              <a:t>dirichlet</a:t>
            </a:r>
            <a:r>
              <a:rPr kumimoji="1" lang="zh-CN" altLang="en-US" dirty="0"/>
              <a:t> </a:t>
            </a:r>
            <a:r>
              <a:rPr kumimoji="1" lang="en-US" altLang="zh-CN" dirty="0"/>
              <a:t>smoothing</a:t>
            </a:r>
            <a:endParaRPr kumimoji="1" lang="en-US" altLang="zh-CN" dirty="0"/>
          </a:p>
          <a:p>
            <a:r>
              <a:rPr kumimoji="1" lang="en-US" altLang="zh-CN" dirty="0"/>
              <a:t>JM</a:t>
            </a:r>
            <a:r>
              <a:rPr kumimoji="1" lang="zh-CN" altLang="en-US" dirty="0"/>
              <a:t> </a:t>
            </a:r>
            <a:r>
              <a:rPr kumimoji="1" lang="en-US" altLang="zh-CN" dirty="0"/>
              <a:t>smoothing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第四次课第一节将近结束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传教士人数不能少于野人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S0</a:t>
            </a:r>
            <a:r>
              <a:rPr kumimoji="1" lang="zh-CN" altLang="en-US" dirty="0"/>
              <a:t>是起点，</a:t>
            </a:r>
            <a:r>
              <a:rPr kumimoji="1" lang="en-US" altLang="zh-CN" dirty="0" err="1"/>
              <a:t>s_g</a:t>
            </a:r>
            <a:r>
              <a:rPr kumimoji="1" lang="zh-CN" altLang="en-US" dirty="0"/>
              <a:t>是终点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用画图描述传教士与野人问题，先考虑</a:t>
            </a:r>
            <a:r>
              <a:rPr kumimoji="1" lang="en-US" altLang="zh-CN" dirty="0"/>
              <a:t>3</a:t>
            </a:r>
            <a:r>
              <a:rPr kumimoji="1" lang="zh-CN" altLang="en-US" dirty="0"/>
              <a:t>个野人和</a:t>
            </a:r>
            <a:r>
              <a:rPr kumimoji="1" lang="en-US" altLang="zh-CN" dirty="0"/>
              <a:t>3</a:t>
            </a:r>
            <a:r>
              <a:rPr kumimoji="1" lang="zh-CN" altLang="en-US" dirty="0"/>
              <a:t>个传教士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假设左岸现在有：</a:t>
            </a:r>
            <a:r>
              <a:rPr kumimoji="1" lang="en-US" altLang="zh-CN" dirty="0"/>
              <a:t>M</a:t>
            </a:r>
            <a:r>
              <a:rPr kumimoji="1" lang="zh-CN" altLang="en-US" dirty="0"/>
              <a:t>个传教士，</a:t>
            </a:r>
            <a:r>
              <a:rPr kumimoji="1" lang="en-US" altLang="zh-CN" dirty="0"/>
              <a:t>C</a:t>
            </a:r>
            <a:r>
              <a:rPr kumimoji="1" lang="zh-CN" altLang="en-US" dirty="0"/>
              <a:t>个野人，从左岸到右岸</a:t>
            </a:r>
            <a:endParaRPr kumimoji="1" lang="en-US" altLang="zh-CN" dirty="0"/>
          </a:p>
          <a:p>
            <a:r>
              <a:rPr kumimoji="1" lang="zh-CN" altLang="en-US" dirty="0"/>
              <a:t>船一次最多坐</a:t>
            </a:r>
            <a:r>
              <a:rPr kumimoji="1" lang="en-US" altLang="zh-CN" dirty="0"/>
              <a:t>3</a:t>
            </a:r>
            <a:r>
              <a:rPr kumimoji="1" lang="zh-CN" altLang="en-US" dirty="0"/>
              <a:t>个人</a:t>
            </a:r>
            <a:endParaRPr kumimoji="1" lang="en-US" altLang="zh-CN" dirty="0"/>
          </a:p>
          <a:p>
            <a:r>
              <a:rPr kumimoji="1" lang="zh-CN" altLang="en-US" dirty="0"/>
              <a:t>在任何一个时刻，如果有出现野人数量多于传教士，野人就会吃掉传教士</a:t>
            </a:r>
            <a:endParaRPr kumimoji="1" lang="en-US" altLang="zh-CN" dirty="0"/>
          </a:p>
          <a:p>
            <a:r>
              <a:rPr kumimoji="1" lang="zh-CN" altLang="en-US" dirty="0"/>
              <a:t>如何让大家安全渡河？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B</a:t>
            </a:r>
            <a:r>
              <a:rPr kumimoji="1" lang="zh-CN" altLang="en-US" dirty="0"/>
              <a:t>表示船在左岸</a:t>
            </a:r>
            <a:r>
              <a:rPr kumimoji="1" lang="en-US" altLang="zh-CN" dirty="0"/>
              <a:t>(1)</a:t>
            </a:r>
            <a:r>
              <a:rPr kumimoji="1" lang="zh-CN" altLang="en-US" dirty="0"/>
              <a:t>还是右岸</a:t>
            </a:r>
            <a:r>
              <a:rPr kumimoji="1" lang="en-US" altLang="zh-CN" dirty="0"/>
              <a:t>(0)</a:t>
            </a:r>
            <a:r>
              <a:rPr kumimoji="1" lang="zh-CN" altLang="en-US" dirty="0"/>
              <a:t>，用</a:t>
            </a:r>
            <a:r>
              <a:rPr kumimoji="1" lang="en-US" altLang="zh-CN" dirty="0"/>
              <a:t>1</a:t>
            </a:r>
            <a:r>
              <a:rPr kumimoji="1" lang="zh-CN" altLang="en-US" dirty="0"/>
              <a:t>和</a:t>
            </a:r>
            <a:r>
              <a:rPr kumimoji="1" lang="en-US" altLang="zh-CN" dirty="0"/>
              <a:t>0</a:t>
            </a:r>
            <a:r>
              <a:rPr kumimoji="1" lang="zh-CN" altLang="en-US" dirty="0"/>
              <a:t>表示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运一次的耗散值是</a:t>
            </a:r>
            <a:r>
              <a:rPr kumimoji="1" lang="en-US" altLang="zh-CN" dirty="0"/>
              <a:t>1</a:t>
            </a:r>
            <a:endParaRPr kumimoji="1" lang="en-US" altLang="zh-CN" dirty="0"/>
          </a:p>
          <a:p>
            <a:r>
              <a:rPr kumimoji="1" lang="zh-CN" altLang="en-US" dirty="0"/>
              <a:t>不考虑限制条件下，往返一次可以运过来</a:t>
            </a:r>
            <a:r>
              <a:rPr kumimoji="1" lang="en-US" altLang="zh-CN" dirty="0"/>
              <a:t>2</a:t>
            </a:r>
            <a:r>
              <a:rPr kumimoji="1" lang="zh-CN" altLang="en-US" dirty="0"/>
              <a:t>个人，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算出来这个值化简一下，就是</a:t>
            </a:r>
            <a:r>
              <a:rPr kumimoji="1" lang="en-US" altLang="zh-CN" dirty="0"/>
              <a:t>M+C-2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用画图描述传教士与野人问题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假设左岸现在有：</a:t>
            </a:r>
            <a:r>
              <a:rPr kumimoji="1" lang="en-US" altLang="zh-CN" dirty="0"/>
              <a:t>M</a:t>
            </a:r>
            <a:r>
              <a:rPr kumimoji="1" lang="zh-CN" altLang="en-US" dirty="0"/>
              <a:t>个传教士，</a:t>
            </a:r>
            <a:r>
              <a:rPr kumimoji="1" lang="en-US" altLang="zh-CN" dirty="0"/>
              <a:t>C</a:t>
            </a:r>
            <a:r>
              <a:rPr kumimoji="1" lang="zh-CN" altLang="en-US" dirty="0"/>
              <a:t>个野人，从左岸到右岸</a:t>
            </a:r>
            <a:endParaRPr kumimoji="1" lang="en-US" altLang="zh-CN" dirty="0"/>
          </a:p>
          <a:p>
            <a:r>
              <a:rPr kumimoji="1" lang="zh-CN" altLang="en-US" dirty="0"/>
              <a:t>船一次最多坐</a:t>
            </a:r>
            <a:r>
              <a:rPr kumimoji="1" lang="en-US" altLang="zh-CN" dirty="0"/>
              <a:t>3</a:t>
            </a:r>
            <a:r>
              <a:rPr kumimoji="1" lang="zh-CN" altLang="en-US" dirty="0"/>
              <a:t>个人</a:t>
            </a:r>
            <a:endParaRPr kumimoji="1" lang="en-US" altLang="zh-CN" dirty="0"/>
          </a:p>
          <a:p>
            <a:r>
              <a:rPr kumimoji="1" lang="zh-CN" altLang="en-US" dirty="0"/>
              <a:t>在任何一个时刻，如果有出现野人数量多于传教士，野人就会吃掉传教士</a:t>
            </a:r>
            <a:endParaRPr kumimoji="1" lang="en-US" altLang="zh-CN" dirty="0"/>
          </a:p>
          <a:p>
            <a:r>
              <a:rPr kumimoji="1" lang="zh-CN" altLang="en-US" dirty="0"/>
              <a:t>如何让大家安全渡河？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B</a:t>
            </a:r>
            <a:r>
              <a:rPr kumimoji="1" lang="zh-CN" altLang="en-US" dirty="0"/>
              <a:t>表示船在左岸</a:t>
            </a:r>
            <a:r>
              <a:rPr kumimoji="1" lang="en-US" altLang="zh-CN" dirty="0"/>
              <a:t>(1)</a:t>
            </a:r>
            <a:r>
              <a:rPr kumimoji="1" lang="zh-CN" altLang="en-US" dirty="0"/>
              <a:t>还是右岸</a:t>
            </a:r>
            <a:r>
              <a:rPr kumimoji="1" lang="en-US" altLang="zh-CN" dirty="0"/>
              <a:t>(0)</a:t>
            </a:r>
            <a:r>
              <a:rPr kumimoji="1" lang="zh-CN" altLang="en-US" dirty="0"/>
              <a:t>，用</a:t>
            </a:r>
            <a:r>
              <a:rPr kumimoji="1" lang="en-US" altLang="zh-CN" dirty="0"/>
              <a:t>1</a:t>
            </a:r>
            <a:r>
              <a:rPr kumimoji="1" lang="zh-CN" altLang="en-US" dirty="0"/>
              <a:t>和</a:t>
            </a:r>
            <a:r>
              <a:rPr kumimoji="1" lang="en-US" altLang="zh-CN" dirty="0"/>
              <a:t>0</a:t>
            </a:r>
            <a:r>
              <a:rPr kumimoji="1" lang="zh-CN" altLang="en-US" dirty="0"/>
              <a:t>表示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运一次的耗散值是</a:t>
            </a:r>
            <a:r>
              <a:rPr kumimoji="1" lang="en-US" altLang="zh-CN" dirty="0"/>
              <a:t>1</a:t>
            </a:r>
            <a:endParaRPr kumimoji="1" lang="en-US" altLang="zh-CN" dirty="0"/>
          </a:p>
          <a:p>
            <a:r>
              <a:rPr kumimoji="1" lang="zh-CN" altLang="en-US" dirty="0"/>
              <a:t>不考虑限制条件下，往返一次可以运过来</a:t>
            </a:r>
            <a:r>
              <a:rPr kumimoji="1" lang="en-US" altLang="zh-CN" dirty="0"/>
              <a:t>2</a:t>
            </a:r>
            <a:r>
              <a:rPr kumimoji="1" lang="zh-CN" altLang="en-US" dirty="0"/>
              <a:t>个人，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算出来这个值化简一下，就是</a:t>
            </a:r>
            <a:r>
              <a:rPr kumimoji="1" lang="en-US" altLang="zh-CN" dirty="0"/>
              <a:t>M+C-2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如果左岸有</a:t>
            </a:r>
            <a:r>
              <a:rPr kumimoji="1" lang="en-US" altLang="zh-CN" dirty="0"/>
              <a:t>M</a:t>
            </a:r>
            <a:r>
              <a:rPr kumimoji="1" lang="zh-CN" altLang="en-US" dirty="0"/>
              <a:t>个传教士，</a:t>
            </a:r>
            <a:r>
              <a:rPr kumimoji="1" lang="en-US" altLang="zh-CN" dirty="0"/>
              <a:t>C</a:t>
            </a:r>
            <a:r>
              <a:rPr kumimoji="1" lang="zh-CN" altLang="en-US" dirty="0"/>
              <a:t>个野人，但船在右岸（</a:t>
            </a:r>
            <a:r>
              <a:rPr kumimoji="1" lang="en-US" altLang="zh-CN" dirty="0"/>
              <a:t>B=0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zh-CN" altLang="en-US" dirty="0"/>
              <a:t>需要一个人把船运过来，变成（</a:t>
            </a:r>
            <a:r>
              <a:rPr kumimoji="1" lang="en-US" altLang="zh-CN" dirty="0"/>
              <a:t>M+1,C,1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en-US" altLang="zh-CN" dirty="0"/>
              <a:t>h(M+1,C,1)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M+C+1-2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M+C-1</a:t>
            </a:r>
            <a:endParaRPr kumimoji="1" lang="en-US" altLang="zh-CN" dirty="0"/>
          </a:p>
          <a:p>
            <a:r>
              <a:rPr kumimoji="1" lang="zh-CN" altLang="en-US" dirty="0"/>
              <a:t>加上第一次把船运过来，变成</a:t>
            </a:r>
            <a:r>
              <a:rPr kumimoji="1" lang="en-US" altLang="zh-CN" dirty="0"/>
              <a:t>h(M,C,0)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M+C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如果左岸有</a:t>
            </a:r>
            <a:r>
              <a:rPr kumimoji="1" lang="en-US" altLang="zh-CN" dirty="0"/>
              <a:t>M</a:t>
            </a:r>
            <a:r>
              <a:rPr kumimoji="1" lang="zh-CN" altLang="en-US" dirty="0"/>
              <a:t>个传教士，</a:t>
            </a:r>
            <a:r>
              <a:rPr kumimoji="1" lang="en-US" altLang="zh-CN" dirty="0"/>
              <a:t>C</a:t>
            </a:r>
            <a:r>
              <a:rPr kumimoji="1" lang="zh-CN" altLang="en-US" dirty="0"/>
              <a:t>个野人，但船在右岸（</a:t>
            </a:r>
            <a:r>
              <a:rPr kumimoji="1" lang="en-US" altLang="zh-CN" dirty="0"/>
              <a:t>B=0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zh-CN" altLang="en-US" dirty="0"/>
              <a:t>需要一个人把船运过来，变成（</a:t>
            </a:r>
            <a:r>
              <a:rPr kumimoji="1" lang="en-US" altLang="zh-CN" dirty="0"/>
              <a:t>M+1,C,1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en-US" altLang="zh-CN" dirty="0"/>
              <a:t>h(M+1,C,1)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M+C+1-2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M+C-1</a:t>
            </a:r>
            <a:endParaRPr kumimoji="1" lang="en-US" altLang="zh-CN" dirty="0"/>
          </a:p>
          <a:p>
            <a:r>
              <a:rPr kumimoji="1" lang="zh-CN" altLang="en-US" dirty="0"/>
              <a:t>加上第一次把船运过来，变成</a:t>
            </a:r>
            <a:r>
              <a:rPr kumimoji="1" lang="en-US" altLang="zh-CN" dirty="0"/>
              <a:t>h(M,C,0)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M+C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ea typeface="黑体" panose="02010609060101010101" pitchFamily="49" charset="-122"/>
              </a:rPr>
              <a:t>45m</a:t>
            </a:r>
            <a:r>
              <a:rPr lang="zh-CN" altLang="en-US" dirty="0">
                <a:ea typeface="黑体" panose="02010609060101010101" pitchFamily="49" charset="-122"/>
              </a:rPr>
              <a:t>， 第二次课第二节结束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571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11571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0B52F7-1676-4C81-AF59-27C2D0DEF748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673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dirty="0">
                <a:ea typeface="黑体" panose="02010609060101010101" pitchFamily="49" charset="-122"/>
              </a:rPr>
              <a:t>怎么评价</a:t>
            </a:r>
            <a:r>
              <a:rPr lang="en-US" altLang="zh-CN" dirty="0">
                <a:ea typeface="黑体" panose="02010609060101010101" pitchFamily="49" charset="-122"/>
              </a:rPr>
              <a:t>h</a:t>
            </a:r>
            <a:r>
              <a:rPr lang="zh-CN" altLang="en-US" dirty="0">
                <a:ea typeface="黑体" panose="02010609060101010101" pitchFamily="49" charset="-122"/>
              </a:rPr>
              <a:t>的好坏呢？</a:t>
            </a:r>
            <a:endParaRPr lang="en-US" altLang="zh-CN" dirty="0">
              <a:ea typeface="黑体" panose="02010609060101010101" pitchFamily="49" charset="-122"/>
            </a:endParaRPr>
          </a:p>
          <a:p>
            <a:endParaRPr lang="en-US" altLang="zh-CN" dirty="0">
              <a:ea typeface="黑体" panose="02010609060101010101" pitchFamily="49" charset="-122"/>
            </a:endParaRPr>
          </a:p>
          <a:p>
            <a:r>
              <a:rPr lang="zh-CN" altLang="en-US" dirty="0">
                <a:ea typeface="黑体" panose="02010609060101010101" pitchFamily="49" charset="-122"/>
              </a:rPr>
              <a:t>跑跑程序看，用运行的情况来比较</a:t>
            </a:r>
            <a:endParaRPr lang="en-US" altLang="zh-CN" dirty="0">
              <a:ea typeface="黑体" panose="02010609060101010101" pitchFamily="49" charset="-122"/>
            </a:endParaRPr>
          </a:p>
          <a:p>
            <a:endParaRPr lang="en-US" altLang="zh-CN" dirty="0">
              <a:ea typeface="黑体" panose="02010609060101010101" pitchFamily="49" charset="-122"/>
            </a:endParaRPr>
          </a:p>
          <a:p>
            <a:r>
              <a:rPr lang="zh-CN" altLang="en-US" dirty="0">
                <a:ea typeface="黑体" panose="02010609060101010101" pitchFamily="49" charset="-122"/>
              </a:rPr>
              <a:t>最优解的深度是</a:t>
            </a:r>
            <a:r>
              <a:rPr lang="en-US" altLang="zh-CN" dirty="0">
                <a:ea typeface="黑体" panose="02010609060101010101" pitchFamily="49" charset="-122"/>
              </a:rPr>
              <a:t>d</a:t>
            </a:r>
            <a:endParaRPr lang="en-US" altLang="zh-CN" dirty="0">
              <a:ea typeface="黑体" panose="02010609060101010101" pitchFamily="49" charset="-122"/>
            </a:endParaRPr>
          </a:p>
          <a:p>
            <a:endParaRPr lang="en-US" altLang="zh-CN" dirty="0">
              <a:ea typeface="黑体" panose="02010609060101010101" pitchFamily="49" charset="-122"/>
            </a:endParaRPr>
          </a:p>
          <a:p>
            <a:r>
              <a:rPr lang="en-US" altLang="zh-CN" dirty="0">
                <a:ea typeface="黑体" panose="02010609060101010101" pitchFamily="49" charset="-122"/>
              </a:rPr>
              <a:t>1+b^1+b^2+b^3+….+</a:t>
            </a:r>
            <a:r>
              <a:rPr lang="en-US" altLang="zh-CN" dirty="0" err="1">
                <a:ea typeface="黑体" panose="02010609060101010101" pitchFamily="49" charset="-122"/>
              </a:rPr>
              <a:t>b^d</a:t>
            </a:r>
            <a:r>
              <a:rPr lang="zh-CN" altLang="en-US" dirty="0">
                <a:ea typeface="黑体" panose="02010609060101010101" pitchFamily="49" charset="-122"/>
              </a:rPr>
              <a:t> </a:t>
            </a:r>
            <a:r>
              <a:rPr lang="en-US" altLang="zh-CN" dirty="0">
                <a:ea typeface="黑体" panose="02010609060101010101" pitchFamily="49" charset="-122"/>
              </a:rPr>
              <a:t>=</a:t>
            </a:r>
            <a:r>
              <a:rPr lang="zh-CN" altLang="en-US" dirty="0">
                <a:ea typeface="黑体" panose="02010609060101010101" pitchFamily="49" charset="-122"/>
              </a:rPr>
              <a:t> </a:t>
            </a:r>
            <a:r>
              <a:rPr lang="en-US" altLang="zh-CN" dirty="0">
                <a:ea typeface="黑体" panose="02010609060101010101" pitchFamily="49" charset="-122"/>
              </a:rPr>
              <a:t>(1-b^(d+1))/(1-b)</a:t>
            </a:r>
            <a:r>
              <a:rPr lang="zh-CN" altLang="en-US" dirty="0">
                <a:ea typeface="黑体" panose="02010609060101010101" pitchFamily="49" charset="-122"/>
              </a:rPr>
              <a:t> 等比数列求和</a:t>
            </a:r>
            <a:endParaRPr lang="en-US" altLang="zh-CN" dirty="0">
              <a:ea typeface="黑体" panose="02010609060101010101" pitchFamily="49" charset="-122"/>
            </a:endParaRPr>
          </a:p>
          <a:p>
            <a:endParaRPr lang="en-US" altLang="zh-CN" dirty="0">
              <a:ea typeface="黑体" panose="02010609060101010101" pitchFamily="49" charset="-122"/>
            </a:endParaRPr>
          </a:p>
          <a:p>
            <a:r>
              <a:rPr lang="en-US" altLang="zh-CN" dirty="0">
                <a:ea typeface="黑体" panose="02010609060101010101" pitchFamily="49" charset="-122"/>
              </a:rPr>
              <a:t>b*</a:t>
            </a:r>
            <a:r>
              <a:rPr lang="zh-CN" altLang="en-US" dirty="0">
                <a:ea typeface="黑体" panose="02010609060101010101" pitchFamily="49" charset="-122"/>
              </a:rPr>
              <a:t>没有解析解，但可以求出数值解</a:t>
            </a:r>
            <a:endParaRPr lang="en-US" altLang="zh-CN" dirty="0">
              <a:ea typeface="黑体" panose="02010609060101010101" pitchFamily="49" charset="-122"/>
            </a:endParaRPr>
          </a:p>
          <a:p>
            <a:endParaRPr lang="en-US" altLang="zh-CN" dirty="0">
              <a:ea typeface="黑体" panose="02010609060101010101" pitchFamily="49" charset="-122"/>
            </a:endParaRPr>
          </a:p>
          <a:p>
            <a:r>
              <a:rPr lang="en-US" altLang="zh-CN" dirty="0">
                <a:ea typeface="黑体" panose="02010609060101010101" pitchFamily="49" charset="-122"/>
              </a:rPr>
              <a:t>N</a:t>
            </a:r>
            <a:r>
              <a:rPr lang="zh-CN" altLang="en-US" dirty="0">
                <a:ea typeface="黑体" panose="02010609060101010101" pitchFamily="49" charset="-122"/>
              </a:rPr>
              <a:t>是</a:t>
            </a:r>
            <a:r>
              <a:rPr lang="en-US" altLang="zh-CN" dirty="0">
                <a:ea typeface="黑体" panose="02010609060101010101" pitchFamily="49" charset="-122"/>
              </a:rPr>
              <a:t>close</a:t>
            </a:r>
            <a:r>
              <a:rPr lang="zh-CN" altLang="en-US" dirty="0">
                <a:ea typeface="黑体" panose="02010609060101010101" pitchFamily="49" charset="-122"/>
              </a:rPr>
              <a:t>的节点数</a:t>
            </a:r>
            <a:endParaRPr lang="zh-CN" altLang="en-US" dirty="0"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11674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CB92F33-1858-442D-9B5E-C4DEE8C6201E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srgbClr val="333333"/>
                </a:solidFill>
                <a:effectLst/>
              </a:rPr>
              <a:t>战略上藐视敌人，战术上重视敌人是</a:t>
            </a:r>
            <a:r>
              <a:rPr lang="en-US" altLang="zh-CN" dirty="0">
                <a:solidFill>
                  <a:srgbClr val="333333"/>
                </a:solidFill>
                <a:effectLst/>
              </a:rPr>
              <a:t>1948</a:t>
            </a:r>
            <a:r>
              <a:rPr lang="zh-CN" altLang="en-US" dirty="0">
                <a:solidFill>
                  <a:srgbClr val="333333"/>
                </a:solidFill>
                <a:effectLst/>
              </a:rPr>
              <a:t>年</a:t>
            </a:r>
            <a:r>
              <a:rPr lang="en-US" altLang="zh-CN" dirty="0">
                <a:solidFill>
                  <a:srgbClr val="333333"/>
                </a:solidFill>
                <a:effectLst/>
              </a:rPr>
              <a:t>1</a:t>
            </a:r>
            <a:r>
              <a:rPr lang="zh-CN" altLang="en-US" dirty="0">
                <a:solidFill>
                  <a:srgbClr val="333333"/>
                </a:solidFill>
                <a:effectLst/>
              </a:rPr>
              <a:t>月</a:t>
            </a:r>
            <a:r>
              <a:rPr lang="en-US" altLang="zh-CN" dirty="0">
                <a:solidFill>
                  <a:srgbClr val="333333"/>
                </a:solidFill>
                <a:effectLst/>
              </a:rPr>
              <a:t>18</a:t>
            </a:r>
            <a:r>
              <a:rPr lang="zh-CN" altLang="en-US" dirty="0">
                <a:solidFill>
                  <a:srgbClr val="333333"/>
                </a:solidFill>
                <a:effectLst/>
              </a:rPr>
              <a:t>日，</a:t>
            </a:r>
            <a:r>
              <a:rPr lang="zh-CN" altLang="en-US" u="none" strike="noStrike" dirty="0">
                <a:solidFill>
                  <a:srgbClr val="136EC2"/>
                </a:solidFill>
                <a:effectLst/>
                <a:hlinkClick r:id="rId3"/>
              </a:rPr>
              <a:t>毛泽东</a:t>
            </a:r>
            <a:r>
              <a:rPr lang="zh-CN" altLang="en-US" dirty="0">
                <a:solidFill>
                  <a:srgbClr val="333333"/>
                </a:solidFill>
                <a:effectLst/>
              </a:rPr>
              <a:t>在为中共中央起草的决议草案</a:t>
            </a:r>
            <a:r>
              <a:rPr lang="en-US" altLang="zh-CN" dirty="0">
                <a:solidFill>
                  <a:srgbClr val="333333"/>
                </a:solidFill>
                <a:effectLst/>
              </a:rPr>
              <a:t>《</a:t>
            </a:r>
            <a:r>
              <a:rPr lang="zh-CN" altLang="en-US" u="none" strike="noStrike" dirty="0">
                <a:solidFill>
                  <a:srgbClr val="136EC2"/>
                </a:solidFill>
                <a:effectLst/>
                <a:hlinkClick r:id="rId4"/>
              </a:rPr>
              <a:t>关于目前党的政策中的几个重要问题</a:t>
            </a:r>
            <a:r>
              <a:rPr lang="en-US" altLang="zh-CN" dirty="0">
                <a:solidFill>
                  <a:srgbClr val="333333"/>
                </a:solidFill>
                <a:effectLst/>
              </a:rPr>
              <a:t>》</a:t>
            </a:r>
            <a:r>
              <a:rPr lang="zh-CN" altLang="en-US" dirty="0">
                <a:solidFill>
                  <a:srgbClr val="333333"/>
                </a:solidFill>
                <a:effectLst/>
              </a:rPr>
              <a:t>中又说：“当着我们正确地指出在全体上，在战略上，应当轻视敌人的时候，却决不可在每一个局部上，在每一个具体问题上，也轻视敌人。”这些论述后来被概括为“战略上藐视敌人，战术上重视敌人”口号，成为毛泽东战略和策略思想的集中表达。</a:t>
            </a:r>
            <a:endParaRPr lang="en-US" altLang="zh-CN">
              <a:solidFill>
                <a:srgbClr val="333333"/>
              </a:solidFill>
              <a:effectLst/>
            </a:endParaRPr>
          </a:p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勤能补拙</a:t>
            </a:r>
            <a:endParaRPr kumimoji="1" lang="en-US" altLang="zh-CN" dirty="0"/>
          </a:p>
          <a:p>
            <a:r>
              <a:rPr kumimoji="1" lang="zh-CN" altLang="en-US" dirty="0"/>
              <a:t>杜甫能动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横着一行是对一个字的潜在识别结果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我们要振奋精神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单字错误率</a:t>
            </a:r>
            <a:r>
              <a:rPr kumimoji="1" lang="en-US" altLang="zh-CN" dirty="0"/>
              <a:t>80%</a:t>
            </a:r>
            <a:r>
              <a:rPr kumimoji="1" lang="zh-CN" altLang="en-US" dirty="0"/>
              <a:t>的情况下，可以纠正为</a:t>
            </a:r>
            <a:r>
              <a:rPr kumimoji="1" lang="en-US" altLang="zh-CN" dirty="0"/>
              <a:t>95%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马老师著名的工作之一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可以做的更复杂，考虑后面的字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101B3-0010-49BE-8236-66B90211FF04}" type="datetime1">
              <a:rPr lang="en-US" altLang="zh-CN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5501D8D0-7646-4D22-887C-459A4F2FEB61}" type="slidenum">
              <a:rPr lang="en-US" smtClean="0"/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0" lang="en-US" dirty="0"/>
              <a:t>Click to edit Master title style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4328-A6FB-477A-B9C5-7FEFDBDE1042}" type="datetime1">
              <a:rPr lang="en-US" altLang="zh-C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D8D0-7646-4D22-887C-459A4F2FEB61}" type="slidenum">
              <a:rPr lang="en-US" smtClean="0"/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>
            <a:lvl1pPr>
              <a:buFontTx/>
              <a:buBlip>
                <a:blip r:embed="rId2"/>
              </a:buBlip>
              <a:defRPr/>
            </a:lvl1pPr>
            <a:lvl2pPr>
              <a:buClr>
                <a:srgbClr val="503DDB"/>
              </a:buClr>
              <a:buSzPct val="45000"/>
              <a:buFont typeface="Wingdings" panose="05000000000000000000" pitchFamily="2" charset="2"/>
              <a:buChar char="q"/>
              <a:defRPr/>
            </a:lvl2pPr>
          </a:lstStyle>
          <a:p>
            <a:pPr lvl="0" eaLnBrk="1" latinLnBrk="0" hangingPunct="1"/>
            <a:r>
              <a:rPr lang="en-US" dirty="0"/>
              <a:t>Click to edit Master text styles</a:t>
            </a:r>
            <a:endParaRPr lang="en-US" dirty="0"/>
          </a:p>
          <a:p>
            <a:pPr lvl="1" eaLnBrk="1" latinLnBrk="0" hangingPunct="1"/>
            <a:r>
              <a:rPr lang="en-US" dirty="0"/>
              <a:t>Second level</a:t>
            </a:r>
            <a:endParaRPr lang="en-US" dirty="0"/>
          </a:p>
          <a:p>
            <a:pPr lvl="2" eaLnBrk="1" latinLnBrk="0" hangingPunct="1"/>
            <a:r>
              <a:rPr lang="en-US" dirty="0"/>
              <a:t>Third level</a:t>
            </a:r>
            <a:endParaRPr lang="en-US" dirty="0"/>
          </a:p>
          <a:p>
            <a:pPr lvl="3" eaLnBrk="1" latinLnBrk="0" hangingPunct="1"/>
            <a:r>
              <a:rPr lang="en-US" dirty="0"/>
              <a:t>Fourth level</a:t>
            </a:r>
            <a:endParaRPr lang="en-US" dirty="0"/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pic>
        <p:nvPicPr>
          <p:cNvPr id="302081" name="Picture 1" descr="E:\resume\logo-tsinghua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1560" y="90151"/>
            <a:ext cx="2045531" cy="643813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29C65-C267-4342-9116-A00B6E7C55AD}" type="datetime1">
              <a:rPr lang="en-US" altLang="zh-C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5501D8D0-7646-4D22-887C-459A4F2FEB61}" type="slidenum">
              <a:rPr lang="en-US" smtClean="0"/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8BA6D-2268-450C-9E6F-6553A2809D14}" type="datetime1">
              <a:rPr lang="en-US" altLang="zh-C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D8D0-7646-4D22-887C-459A4F2FEB61}" type="slidenum">
              <a:rPr lang="en-US" smtClean="0"/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76173-FFAF-40B2-BD71-0C474124F5CA}" type="datetime1">
              <a:rPr lang="en-US" altLang="zh-CN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D8D0-7646-4D22-887C-459A4F2FEB61}" type="slidenum">
              <a:rPr lang="en-US" smtClean="0"/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AAC5F-3C7D-47E2-8137-0D0E13270C17}" type="datetime1">
              <a:rPr lang="en-US" altLang="zh-CN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D8D0-7646-4D22-887C-459A4F2FEB6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44C75-2845-4A49-8407-B10E57DDCB66}" type="datetime1">
              <a:rPr lang="en-US" altLang="zh-CN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D8D0-7646-4D22-887C-459A4F2FEB6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D93C6-C0E5-4C94-83B0-EBE524181AA9}" type="datetime1">
              <a:rPr lang="en-US" altLang="zh-C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D8D0-7646-4D22-887C-459A4F2FEB61}" type="slidenum">
              <a:rPr lang="en-US" smtClean="0"/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46CFF-7119-486E-A242-14937EB72380}" type="datetime1">
              <a:rPr lang="en-US" altLang="zh-C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5501D8D0-7646-4D22-887C-459A4F2FEB61}" type="slidenum">
              <a:rPr lang="en-US" smtClean="0"/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D574-52BE-4187-8AF7-E201A70CB6DC}" type="datetime1">
              <a:rPr lang="en-US" altLang="zh-C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D8D0-7646-4D22-887C-459A4F2FEB6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C6442-F0BB-4DBA-B030-4A0192701801}" type="datetime1">
              <a:rPr lang="en-US" altLang="zh-C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D8D0-7646-4D22-887C-459A4F2FEB6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  <a:p>
            <a:pPr lvl="1" eaLnBrk="1" latinLnBrk="0" hangingPunct="1"/>
            <a:r>
              <a:rPr kumimoji="0" lang="en-US"/>
              <a:t>Second level</a:t>
            </a:r>
            <a:endParaRPr kumimoji="0" lang="en-US"/>
          </a:p>
          <a:p>
            <a:pPr lvl="2" eaLnBrk="1" latinLnBrk="0" hangingPunct="1"/>
            <a:r>
              <a:rPr kumimoji="0" lang="en-US"/>
              <a:t>Third level</a:t>
            </a:r>
            <a:endParaRPr kumimoji="0" lang="en-US"/>
          </a:p>
          <a:p>
            <a:pPr lvl="3" eaLnBrk="1" latinLnBrk="0" hangingPunct="1"/>
            <a:r>
              <a:rPr kumimoji="0" lang="en-US"/>
              <a:t>Fourth level</a:t>
            </a:r>
            <a:endParaRPr kumimoji="0" lang="en-US"/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17F057F-A64E-4BDF-9C5A-7B9C1755BBD0}" type="datetime1">
              <a:rPr lang="en-US" altLang="zh-CN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5501D8D0-7646-4D22-887C-459A4F2FEB6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emf"/><Relationship Id="rId1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emf"/><Relationship Id="rId1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emf"/><Relationship Id="rId1" Type="http://schemas.openxmlformats.org/officeDocument/2006/relationships/oleObject" Target="../embeddings/Document1.doc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emf"/><Relationship Id="rId1" Type="http://schemas.openxmlformats.org/officeDocument/2006/relationships/oleObject" Target="../embeddings/Document2.doc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emf"/><Relationship Id="rId1" Type="http://schemas.openxmlformats.org/officeDocument/2006/relationships/oleObject" Target="../embeddings/Document3.doc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emf"/><Relationship Id="rId1" Type="http://schemas.openxmlformats.org/officeDocument/2006/relationships/oleObject" Target="../embeddings/Document4.doc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emf"/><Relationship Id="rId1" Type="http://schemas.openxmlformats.org/officeDocument/2006/relationships/oleObject" Target="../embeddings/Document5.doc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emf"/><Relationship Id="rId1" Type="http://schemas.openxmlformats.org/officeDocument/2006/relationships/oleObject" Target="../embeddings/Document6.doc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emf"/><Relationship Id="rId1" Type="http://schemas.openxmlformats.org/officeDocument/2006/relationships/oleObject" Target="../embeddings/Document7.doc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emf"/><Relationship Id="rId1" Type="http://schemas.openxmlformats.org/officeDocument/2006/relationships/oleObject" Target="../embeddings/Document8.doc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emf"/><Relationship Id="rId1" Type="http://schemas.openxmlformats.org/officeDocument/2006/relationships/oleObject" Target="../embeddings/Document9.doc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emf"/><Relationship Id="rId1" Type="http://schemas.openxmlformats.org/officeDocument/2006/relationships/oleObject" Target="../embeddings/Document10.doc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emf"/><Relationship Id="rId1" Type="http://schemas.openxmlformats.org/officeDocument/2006/relationships/oleObject" Target="../embeddings/Document11.doc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emf"/><Relationship Id="rId1" Type="http://schemas.openxmlformats.org/officeDocument/2006/relationships/oleObject" Target="../embeddings/Document12.doc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image" Target="../media/image16.jpe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7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5.xml"/><Relationship Id="rId4" Type="http://schemas.openxmlformats.org/officeDocument/2006/relationships/vmlDrawing" Target="../drawings/vmlDrawing1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emf"/><Relationship Id="rId1" Type="http://schemas.openxmlformats.org/officeDocument/2006/relationships/oleObject" Target="../embeddings/oleObject3.bin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jpe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GIF"/></Relationships>
</file>

<file path=ppt/slides/_rels/slide7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oleObject" Target="../embeddings/oleObject7.bin"/><Relationship Id="rId7" Type="http://schemas.openxmlformats.org/officeDocument/2006/relationships/image" Target="../media/image28.png"/><Relationship Id="rId6" Type="http://schemas.openxmlformats.org/officeDocument/2006/relationships/image" Target="../media/image27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26.e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25.emf"/><Relationship Id="rId11" Type="http://schemas.openxmlformats.org/officeDocument/2006/relationships/notesSlide" Target="../notesSlides/notesSlide48.xml"/><Relationship Id="rId10" Type="http://schemas.openxmlformats.org/officeDocument/2006/relationships/vmlDrawing" Target="../drawings/vmlDrawing16.vml"/><Relationship Id="rId1" Type="http://schemas.openxmlformats.org/officeDocument/2006/relationships/oleObject" Target="../embeddings/oleObject4.bin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9.xml"/><Relationship Id="rId7" Type="http://schemas.openxmlformats.org/officeDocument/2006/relationships/vmlDrawing" Target="../drawings/vmlDrawing17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5.emf"/><Relationship Id="rId1" Type="http://schemas.openxmlformats.org/officeDocument/2006/relationships/oleObject" Target="../embeddings/oleObject8.bin"/></Relationships>
</file>

<file path=ppt/slides/_rels/slide7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8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1.xml"/><Relationship Id="rId6" Type="http://schemas.openxmlformats.org/officeDocument/2006/relationships/vmlDrawing" Target="../drawings/vmlDrawing18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6.png"/><Relationship Id="rId3" Type="http://schemas.openxmlformats.org/officeDocument/2006/relationships/image" Target="../media/image35.emf"/><Relationship Id="rId2" Type="http://schemas.openxmlformats.org/officeDocument/2006/relationships/oleObject" Target="../embeddings/oleObject9.bin"/><Relationship Id="rId1" Type="http://schemas.openxmlformats.org/officeDocument/2006/relationships/image" Target="../media/image34.png"/></Relationships>
</file>

<file path=ppt/slides/_rels/slide8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1" Type="http://schemas.openxmlformats.org/officeDocument/2006/relationships/image" Target="../media/image34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image" Target="../media/image38.jpe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7.xml"/><Relationship Id="rId4" Type="http://schemas.openxmlformats.org/officeDocument/2006/relationships/vmlDrawing" Target="../drawings/vmlDrawing1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1.wmf"/><Relationship Id="rId1" Type="http://schemas.openxmlformats.org/officeDocument/2006/relationships/oleObject" Target="../embeddings/oleObject10.bin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2" Type="http://schemas.openxmlformats.org/officeDocument/2006/relationships/notesSlide" Target="../notesSlides/notesSlide60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19.xml"/><Relationship Id="rId2" Type="http://schemas.openxmlformats.org/officeDocument/2006/relationships/tags" Target="../tags/tag2.xml"/><Relationship Id="rId19" Type="http://schemas.openxmlformats.org/officeDocument/2006/relationships/image" Target="../media/image42.jpeg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2.xml"/><Relationship Id="rId4" Type="http://schemas.openxmlformats.org/officeDocument/2006/relationships/vmlDrawing" Target="../drawings/vmlDrawing20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3.emf"/><Relationship Id="rId1" Type="http://schemas.openxmlformats.org/officeDocument/2006/relationships/oleObject" Target="../embeddings/oleObject11.bin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8" Type="http://schemas.openxmlformats.org/officeDocument/2006/relationships/notesSlide" Target="../notesSlides/notesSlide65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34.xml"/><Relationship Id="rId15" Type="http://schemas.openxmlformats.org/officeDocument/2006/relationships/image" Target="../media/image42.jpeg"/><Relationship Id="rId14" Type="http://schemas.openxmlformats.org/officeDocument/2006/relationships/tags" Target="../tags/tag33.xml"/><Relationship Id="rId13" Type="http://schemas.openxmlformats.org/officeDocument/2006/relationships/tags" Target="../tags/tag32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tags" Target="../tags/tag20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jpe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png"/></Relationships>
</file>

<file path=ppt/slides/_rels/slide9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.bin"/><Relationship Id="rId8" Type="http://schemas.openxmlformats.org/officeDocument/2006/relationships/image" Target="../media/image27.emf"/><Relationship Id="rId7" Type="http://schemas.openxmlformats.org/officeDocument/2006/relationships/oleObject" Target="../embeddings/oleObject15.bin"/><Relationship Id="rId6" Type="http://schemas.openxmlformats.org/officeDocument/2006/relationships/image" Target="../media/image46.e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26.e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25.emf"/><Relationship Id="rId15" Type="http://schemas.openxmlformats.org/officeDocument/2006/relationships/notesSlide" Target="../notesSlides/notesSlide68.xml"/><Relationship Id="rId14" Type="http://schemas.openxmlformats.org/officeDocument/2006/relationships/vmlDrawing" Target="../drawings/vmlDrawing21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48.emf"/><Relationship Id="rId11" Type="http://schemas.openxmlformats.org/officeDocument/2006/relationships/oleObject" Target="../embeddings/oleObject17.bin"/><Relationship Id="rId10" Type="http://schemas.openxmlformats.org/officeDocument/2006/relationships/image" Target="../media/image47.emf"/><Relationship Id="rId1" Type="http://schemas.openxmlformats.org/officeDocument/2006/relationships/oleObject" Target="../embeddings/oleObject1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第一章 搜索问题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什么是搜索问题？</a:t>
            </a:r>
            <a:endParaRPr lang="en-US" altLang="zh-CN" dirty="0"/>
          </a:p>
          <a:p>
            <a:r>
              <a:rPr lang="zh-CN" altLang="en-US" dirty="0"/>
              <a:t>从身边说起</a:t>
            </a:r>
            <a:endParaRPr lang="en-US" altLang="zh-CN" dirty="0"/>
          </a:p>
          <a:p>
            <a:pPr lvl="1"/>
            <a:r>
              <a:rPr lang="zh-CN" altLang="en-US" dirty="0"/>
              <a:t>导航</a:t>
            </a:r>
            <a:endParaRPr lang="en-US" altLang="zh-CN" dirty="0"/>
          </a:p>
          <a:p>
            <a:pPr lvl="1"/>
            <a:r>
              <a:rPr lang="zh-CN" altLang="en-US" dirty="0"/>
              <a:t>机器证明</a:t>
            </a:r>
            <a:endParaRPr lang="en-US" altLang="zh-CN" dirty="0"/>
          </a:p>
          <a:p>
            <a:pPr lvl="1"/>
            <a:r>
              <a:rPr lang="zh-CN" altLang="en-US" dirty="0"/>
              <a:t>大模型解码</a:t>
            </a:r>
            <a:endParaRPr lang="en-US" altLang="zh-CN" dirty="0"/>
          </a:p>
          <a:p>
            <a:pPr marL="320040" lvl="1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pic>
        <p:nvPicPr>
          <p:cNvPr id="1026" name="Picture 2" descr="Einstein Field Equations: A Step-By-Step Derivation (Two Methods) –  Profound Physic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2461259"/>
            <a:ext cx="4873625" cy="4220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68" b="3066"/>
          <a:stretch>
            <a:fillRect/>
          </a:stretch>
        </p:blipFill>
        <p:spPr>
          <a:xfrm>
            <a:off x="4968345" y="1091044"/>
            <a:ext cx="2709333" cy="5590311"/>
          </a:xfrm>
          <a:prstGeom prst="rect">
            <a:avLst/>
          </a:prstGeom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8788" y="2332037"/>
            <a:ext cx="4901037" cy="4349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C54941F-B3B4-41B7-B57C-4DBF7C9AC447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搜索问题</a:t>
            </a:r>
            <a:endParaRPr lang="zh-CN" altLang="en-US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4648200"/>
          </a:xfrm>
        </p:spPr>
        <p:txBody>
          <a:bodyPr/>
          <a:lstStyle/>
          <a:p>
            <a:pPr eaLnBrk="1" hangingPunct="1"/>
            <a:r>
              <a:rPr lang="zh-CN" altLang="en-US" sz="3200" b="1" dirty="0"/>
              <a:t>内容：</a:t>
            </a:r>
            <a:endParaRPr lang="zh-CN" altLang="en-US" sz="3200" b="1" dirty="0"/>
          </a:p>
          <a:p>
            <a:pPr lvl="1"/>
            <a:r>
              <a:rPr lang="zh-CN" altLang="en-US" sz="2800" b="1" dirty="0"/>
              <a:t>状态空间的搜索问题</a:t>
            </a:r>
            <a:endParaRPr lang="zh-CN" altLang="en-US" sz="2800" b="1" dirty="0"/>
          </a:p>
          <a:p>
            <a:pPr eaLnBrk="1" hangingPunct="1"/>
            <a:r>
              <a:rPr lang="zh-CN" altLang="en-US" sz="3200" b="1" dirty="0"/>
              <a:t>搜索方式：</a:t>
            </a:r>
            <a:endParaRPr lang="zh-CN" altLang="en-US" sz="3200" b="1" dirty="0"/>
          </a:p>
          <a:p>
            <a:pPr lvl="1" eaLnBrk="1" hangingPunct="1"/>
            <a:r>
              <a:rPr lang="zh-CN" altLang="en-US" sz="2800" b="1" dirty="0"/>
              <a:t>蛮力搜索</a:t>
            </a:r>
            <a:endParaRPr lang="zh-CN" altLang="en-US" sz="2800" b="1" dirty="0"/>
          </a:p>
          <a:p>
            <a:pPr lvl="1" eaLnBrk="1" hangingPunct="1"/>
            <a:r>
              <a:rPr lang="zh-CN" altLang="en-US" sz="2800" b="1" dirty="0"/>
              <a:t>启发式搜索</a:t>
            </a:r>
            <a:endParaRPr lang="zh-CN" altLang="en-US" sz="2800" b="1" dirty="0"/>
          </a:p>
          <a:p>
            <a:pPr eaLnBrk="1" hangingPunct="1"/>
            <a:r>
              <a:rPr lang="zh-CN" altLang="en-US" sz="3200" b="1" dirty="0"/>
              <a:t>关键问题：</a:t>
            </a:r>
            <a:endParaRPr lang="zh-CN" altLang="en-US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200" b="1" dirty="0"/>
              <a:t>	如何</a:t>
            </a:r>
            <a:r>
              <a:rPr lang="zh-CN" altLang="en-US" sz="3200" b="1" dirty="0">
                <a:solidFill>
                  <a:srgbClr val="FF0000"/>
                </a:solidFill>
              </a:rPr>
              <a:t>利用知识</a:t>
            </a:r>
            <a:r>
              <a:rPr lang="zh-CN" altLang="en-US" sz="3200" b="1" dirty="0"/>
              <a:t>，尽可能有效地找到问题的解（最佳解）</a:t>
            </a:r>
            <a:endParaRPr lang="zh-CN" altLang="en-US" b="1" dirty="0"/>
          </a:p>
        </p:txBody>
      </p:sp>
      <p:grpSp>
        <p:nvGrpSpPr>
          <p:cNvPr id="2" name="Group 2"/>
          <p:cNvGrpSpPr/>
          <p:nvPr/>
        </p:nvGrpSpPr>
        <p:grpSpPr bwMode="auto">
          <a:xfrm>
            <a:off x="4293216" y="647699"/>
            <a:ext cx="4612038" cy="3953125"/>
            <a:chOff x="3240" y="3060"/>
            <a:chExt cx="4770" cy="4620"/>
          </a:xfrm>
        </p:grpSpPr>
        <p:sp>
          <p:nvSpPr>
            <p:cNvPr id="3" name="AutoShape 3"/>
            <p:cNvSpPr>
              <a:spLocks noChangeArrowheads="1"/>
            </p:cNvSpPr>
            <p:nvPr/>
          </p:nvSpPr>
          <p:spPr bwMode="auto">
            <a:xfrm>
              <a:off x="3240" y="3555"/>
              <a:ext cx="3060" cy="3495"/>
            </a:xfrm>
            <a:prstGeom prst="flowChartExtract">
              <a:avLst/>
            </a:prstGeom>
            <a:noFill/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" name="Freeform 4"/>
            <p:cNvSpPr/>
            <p:nvPr/>
          </p:nvSpPr>
          <p:spPr bwMode="auto">
            <a:xfrm>
              <a:off x="3780" y="3585"/>
              <a:ext cx="990" cy="3465"/>
            </a:xfrm>
            <a:custGeom>
              <a:avLst/>
              <a:gdLst/>
              <a:ahLst/>
              <a:cxnLst>
                <a:cxn ang="0">
                  <a:pos x="990" y="0"/>
                </a:cxn>
                <a:cxn ang="0">
                  <a:pos x="840" y="630"/>
                </a:cxn>
                <a:cxn ang="0">
                  <a:pos x="825" y="975"/>
                </a:cxn>
                <a:cxn ang="0">
                  <a:pos x="810" y="1500"/>
                </a:cxn>
                <a:cxn ang="0">
                  <a:pos x="660" y="1785"/>
                </a:cxn>
                <a:cxn ang="0">
                  <a:pos x="390" y="2055"/>
                </a:cxn>
                <a:cxn ang="0">
                  <a:pos x="435" y="2535"/>
                </a:cxn>
                <a:cxn ang="0">
                  <a:pos x="360" y="3030"/>
                </a:cxn>
                <a:cxn ang="0">
                  <a:pos x="0" y="3465"/>
                </a:cxn>
              </a:cxnLst>
              <a:rect l="0" t="0" r="r" b="b"/>
              <a:pathLst>
                <a:path w="990" h="3465">
                  <a:moveTo>
                    <a:pt x="990" y="0"/>
                  </a:moveTo>
                  <a:lnTo>
                    <a:pt x="840" y="630"/>
                  </a:lnTo>
                  <a:lnTo>
                    <a:pt x="825" y="975"/>
                  </a:lnTo>
                  <a:lnTo>
                    <a:pt x="810" y="1500"/>
                  </a:lnTo>
                  <a:lnTo>
                    <a:pt x="660" y="1785"/>
                  </a:lnTo>
                  <a:lnTo>
                    <a:pt x="390" y="2055"/>
                  </a:lnTo>
                  <a:lnTo>
                    <a:pt x="435" y="2535"/>
                  </a:lnTo>
                  <a:lnTo>
                    <a:pt x="360" y="3030"/>
                  </a:lnTo>
                  <a:lnTo>
                    <a:pt x="0" y="3465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" name="Freeform 5"/>
            <p:cNvSpPr/>
            <p:nvPr/>
          </p:nvSpPr>
          <p:spPr bwMode="auto">
            <a:xfrm>
              <a:off x="4770" y="3600"/>
              <a:ext cx="870" cy="34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5" y="465"/>
                </a:cxn>
                <a:cxn ang="0">
                  <a:pos x="195" y="975"/>
                </a:cxn>
                <a:cxn ang="0">
                  <a:pos x="285" y="1605"/>
                </a:cxn>
                <a:cxn ang="0">
                  <a:pos x="435" y="2280"/>
                </a:cxn>
                <a:cxn ang="0">
                  <a:pos x="705" y="2775"/>
                </a:cxn>
                <a:cxn ang="0">
                  <a:pos x="810" y="3180"/>
                </a:cxn>
                <a:cxn ang="0">
                  <a:pos x="870" y="3450"/>
                </a:cxn>
              </a:cxnLst>
              <a:rect l="0" t="0" r="r" b="b"/>
              <a:pathLst>
                <a:path w="870" h="3450">
                  <a:moveTo>
                    <a:pt x="0" y="0"/>
                  </a:moveTo>
                  <a:lnTo>
                    <a:pt x="45" y="465"/>
                  </a:lnTo>
                  <a:lnTo>
                    <a:pt x="195" y="975"/>
                  </a:lnTo>
                  <a:lnTo>
                    <a:pt x="285" y="1605"/>
                  </a:lnTo>
                  <a:lnTo>
                    <a:pt x="435" y="2280"/>
                  </a:lnTo>
                  <a:lnTo>
                    <a:pt x="705" y="2775"/>
                  </a:lnTo>
                  <a:lnTo>
                    <a:pt x="810" y="3180"/>
                  </a:lnTo>
                  <a:lnTo>
                    <a:pt x="870" y="345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6"/>
            <p:cNvSpPr/>
            <p:nvPr/>
          </p:nvSpPr>
          <p:spPr bwMode="auto">
            <a:xfrm>
              <a:off x="4530" y="3555"/>
              <a:ext cx="585" cy="3495"/>
            </a:xfrm>
            <a:custGeom>
              <a:avLst/>
              <a:gdLst/>
              <a:ahLst/>
              <a:cxnLst>
                <a:cxn ang="0">
                  <a:pos x="240" y="0"/>
                </a:cxn>
                <a:cxn ang="0">
                  <a:pos x="180" y="720"/>
                </a:cxn>
                <a:cxn ang="0">
                  <a:pos x="345" y="1185"/>
                </a:cxn>
                <a:cxn ang="0">
                  <a:pos x="45" y="1905"/>
                </a:cxn>
                <a:cxn ang="0">
                  <a:pos x="585" y="2865"/>
                </a:cxn>
                <a:cxn ang="0">
                  <a:pos x="0" y="3495"/>
                </a:cxn>
              </a:cxnLst>
              <a:rect l="0" t="0" r="r" b="b"/>
              <a:pathLst>
                <a:path w="585" h="3495">
                  <a:moveTo>
                    <a:pt x="240" y="0"/>
                  </a:moveTo>
                  <a:lnTo>
                    <a:pt x="180" y="720"/>
                  </a:lnTo>
                  <a:lnTo>
                    <a:pt x="345" y="1185"/>
                  </a:lnTo>
                  <a:lnTo>
                    <a:pt x="45" y="1905"/>
                  </a:lnTo>
                  <a:lnTo>
                    <a:pt x="585" y="2865"/>
                  </a:lnTo>
                  <a:lnTo>
                    <a:pt x="0" y="3495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dash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auto">
            <a:xfrm flipV="1">
              <a:off x="5010" y="6705"/>
              <a:ext cx="54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 flipV="1">
              <a:off x="4635" y="6420"/>
              <a:ext cx="870" cy="6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 flipV="1">
              <a:off x="4260" y="6225"/>
              <a:ext cx="1140" cy="8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V="1">
              <a:off x="3930" y="6060"/>
              <a:ext cx="1350" cy="9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 flipV="1">
              <a:off x="4155" y="5880"/>
              <a:ext cx="1065" cy="7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 flipV="1">
              <a:off x="4185" y="5655"/>
              <a:ext cx="975" cy="6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 flipV="1">
              <a:off x="4215" y="5355"/>
              <a:ext cx="855" cy="6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 flipV="1">
              <a:off x="4185" y="5085"/>
              <a:ext cx="840" cy="6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 flipV="1">
              <a:off x="4545" y="4770"/>
              <a:ext cx="450" cy="40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 flipV="1">
              <a:off x="4605" y="4500"/>
              <a:ext cx="330" cy="31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 flipV="1">
              <a:off x="4620" y="4215"/>
              <a:ext cx="225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 flipV="1">
              <a:off x="4650" y="3945"/>
              <a:ext cx="150" cy="1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Oval 19"/>
            <p:cNvSpPr>
              <a:spLocks noChangeArrowheads="1"/>
            </p:cNvSpPr>
            <p:nvPr/>
          </p:nvSpPr>
          <p:spPr bwMode="auto">
            <a:xfrm>
              <a:off x="4485" y="6960"/>
              <a:ext cx="143" cy="14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Oval 20"/>
            <p:cNvSpPr>
              <a:spLocks noChangeArrowheads="1"/>
            </p:cNvSpPr>
            <p:nvPr/>
          </p:nvSpPr>
          <p:spPr bwMode="auto">
            <a:xfrm>
              <a:off x="5025" y="6330"/>
              <a:ext cx="143" cy="14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Oval 21"/>
            <p:cNvSpPr>
              <a:spLocks noChangeArrowheads="1"/>
            </p:cNvSpPr>
            <p:nvPr/>
          </p:nvSpPr>
          <p:spPr bwMode="auto">
            <a:xfrm>
              <a:off x="4515" y="5370"/>
              <a:ext cx="143" cy="14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Oval 22"/>
            <p:cNvSpPr>
              <a:spLocks noChangeArrowheads="1"/>
            </p:cNvSpPr>
            <p:nvPr/>
          </p:nvSpPr>
          <p:spPr bwMode="auto">
            <a:xfrm>
              <a:off x="4815" y="4650"/>
              <a:ext cx="143" cy="14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Oval 23"/>
            <p:cNvSpPr>
              <a:spLocks noChangeArrowheads="1"/>
            </p:cNvSpPr>
            <p:nvPr/>
          </p:nvSpPr>
          <p:spPr bwMode="auto">
            <a:xfrm>
              <a:off x="4650" y="4140"/>
              <a:ext cx="143" cy="14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Text Box 24"/>
            <p:cNvSpPr txBox="1">
              <a:spLocks noChangeArrowheads="1"/>
            </p:cNvSpPr>
            <p:nvPr/>
          </p:nvSpPr>
          <p:spPr bwMode="auto">
            <a:xfrm>
              <a:off x="4455" y="3060"/>
              <a:ext cx="795" cy="48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S</a:t>
              </a:r>
              <a:r>
                <a:rPr kumimoji="0" lang="en-US" altLang="zh-CN" b="1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0</a:t>
              </a:r>
              <a:endParaRPr kumimoji="0" lang="zh-CN" altLang="zh-CN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5" name="AutoShape 25"/>
            <p:cNvSpPr>
              <a:spLocks noChangeArrowheads="1"/>
            </p:cNvSpPr>
            <p:nvPr/>
          </p:nvSpPr>
          <p:spPr bwMode="auto">
            <a:xfrm>
              <a:off x="6150" y="3585"/>
              <a:ext cx="1860" cy="450"/>
            </a:xfrm>
            <a:prstGeom prst="wedgeRectCallout">
              <a:avLst>
                <a:gd name="adj1" fmla="val -105644"/>
                <a:gd name="adj2" fmla="val 173333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问题全状态空间</a:t>
              </a:r>
              <a:endParaRPr kumimoji="0" lang="zh-CN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6" name="AutoShape 26"/>
            <p:cNvSpPr>
              <a:spLocks noChangeArrowheads="1"/>
            </p:cNvSpPr>
            <p:nvPr/>
          </p:nvSpPr>
          <p:spPr bwMode="auto">
            <a:xfrm>
              <a:off x="5940" y="4425"/>
              <a:ext cx="1260" cy="450"/>
            </a:xfrm>
            <a:prstGeom prst="wedgeRectCallout">
              <a:avLst>
                <a:gd name="adj1" fmla="val -132144"/>
                <a:gd name="adj2" fmla="val 173333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搜索空间</a:t>
              </a:r>
              <a:endParaRPr kumimoji="0" lang="zh-CN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7" name="AutoShape 27"/>
            <p:cNvSpPr>
              <a:spLocks noChangeArrowheads="1"/>
            </p:cNvSpPr>
            <p:nvPr/>
          </p:nvSpPr>
          <p:spPr bwMode="auto">
            <a:xfrm>
              <a:off x="6000" y="5130"/>
              <a:ext cx="1260" cy="450"/>
            </a:xfrm>
            <a:prstGeom prst="wedgeRectCallout">
              <a:avLst>
                <a:gd name="adj1" fmla="val -132144"/>
                <a:gd name="adj2" fmla="val 173333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解路径</a:t>
              </a:r>
              <a:endParaRPr kumimoji="0" lang="zh-CN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8" name="Text Box 28"/>
            <p:cNvSpPr txBox="1">
              <a:spLocks noChangeArrowheads="1"/>
            </p:cNvSpPr>
            <p:nvPr/>
          </p:nvSpPr>
          <p:spPr bwMode="auto">
            <a:xfrm>
              <a:off x="4170" y="7200"/>
              <a:ext cx="795" cy="48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S</a:t>
              </a:r>
              <a:r>
                <a:rPr kumimoji="0" lang="en-US" altLang="zh-CN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g</a:t>
              </a:r>
              <a:endParaRPr kumimoji="0" lang="zh-CN" altLang="zh-CN" sz="4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6B59F20-37A8-4022-AF6D-61C7891DC590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搜索问题</a:t>
            </a:r>
            <a:endParaRPr lang="zh-CN" altLang="en-US" dirty="0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3200" b="1" dirty="0"/>
              <a:t>需讨论的问题：</a:t>
            </a:r>
            <a:endParaRPr lang="zh-CN" altLang="en-US" sz="3200" b="1" dirty="0"/>
          </a:p>
          <a:p>
            <a:pPr lvl="1" eaLnBrk="1" hangingPunct="1"/>
            <a:endParaRPr lang="zh-CN" altLang="en-US" sz="3200" b="1" dirty="0"/>
          </a:p>
          <a:p>
            <a:pPr lvl="1" eaLnBrk="1" hangingPunct="1"/>
            <a:r>
              <a:rPr lang="zh-CN" altLang="en-US" sz="2800" b="1" dirty="0"/>
              <a:t>有哪些常用的搜索算法。</a:t>
            </a:r>
            <a:endParaRPr lang="zh-CN" altLang="en-US" sz="2800" b="1" dirty="0"/>
          </a:p>
          <a:p>
            <a:pPr lvl="1" eaLnBrk="1" hangingPunct="1"/>
            <a:r>
              <a:rPr lang="zh-CN" altLang="en-US" sz="2800" b="1" dirty="0"/>
              <a:t>问题有解时能否找到解。</a:t>
            </a:r>
            <a:endParaRPr lang="zh-CN" altLang="en-US" sz="2800" b="1" dirty="0"/>
          </a:p>
          <a:p>
            <a:pPr lvl="1" eaLnBrk="1" hangingPunct="1"/>
            <a:r>
              <a:rPr lang="zh-CN" altLang="en-US" sz="2800" b="1" dirty="0"/>
              <a:t>找到的解是最佳的吗？</a:t>
            </a:r>
            <a:endParaRPr lang="zh-CN" altLang="en-US" sz="2800" b="1" dirty="0"/>
          </a:p>
          <a:p>
            <a:pPr lvl="1" eaLnBrk="1" hangingPunct="1"/>
            <a:r>
              <a:rPr lang="zh-CN" altLang="en-US" sz="2800" b="1" dirty="0"/>
              <a:t>什么情况下可以找到最佳解？</a:t>
            </a:r>
            <a:endParaRPr lang="zh-CN" altLang="en-US" sz="2800" b="1" dirty="0"/>
          </a:p>
          <a:p>
            <a:pPr lvl="1" eaLnBrk="1" hangingPunct="1"/>
            <a:r>
              <a:rPr lang="zh-CN" altLang="en-US" sz="2800" b="1" dirty="0"/>
              <a:t>求解的效率如何？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bldLvl="2" autoUpdateAnimBg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蛮力搜索与启发式搜索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sz="3200" b="1" dirty="0"/>
              <a:t>蛮力搜索：</a:t>
            </a:r>
            <a:endParaRPr lang="en-US" altLang="zh-CN" sz="3200" b="1" dirty="0"/>
          </a:p>
          <a:p>
            <a:pPr lvl="1"/>
            <a:r>
              <a:rPr lang="zh-CN" altLang="en-US" sz="2800" b="1" dirty="0"/>
              <a:t>深度优先搜索</a:t>
            </a:r>
            <a:endParaRPr lang="en-US" altLang="zh-CN" sz="2800" b="1" dirty="0"/>
          </a:p>
          <a:p>
            <a:pPr lvl="1"/>
            <a:r>
              <a:rPr lang="zh-CN" altLang="en-US" sz="2800" b="1" dirty="0"/>
              <a:t>宽度优先搜索</a:t>
            </a:r>
            <a:endParaRPr lang="en-US" altLang="zh-CN" sz="2800" b="1" dirty="0"/>
          </a:p>
          <a:p>
            <a:pPr lvl="1"/>
            <a:endParaRPr lang="en-US" altLang="zh-CN" sz="2800" b="1" dirty="0"/>
          </a:p>
          <a:p>
            <a:r>
              <a:rPr lang="zh-CN" altLang="en-US" sz="3200" b="1" dirty="0"/>
              <a:t>启发式搜索</a:t>
            </a:r>
            <a:endParaRPr lang="en-US" altLang="zh-CN" sz="3200" b="1" dirty="0"/>
          </a:p>
          <a:p>
            <a:pPr lvl="1"/>
            <a:r>
              <a:rPr lang="en-US" altLang="zh-CN" sz="2800" b="1" dirty="0"/>
              <a:t>A</a:t>
            </a:r>
            <a:r>
              <a:rPr lang="zh-CN" altLang="en-US" sz="2800" b="1" dirty="0"/>
              <a:t>算法</a:t>
            </a:r>
            <a:endParaRPr lang="en-US" altLang="zh-CN" sz="2800" b="1" dirty="0"/>
          </a:p>
          <a:p>
            <a:pPr lvl="1"/>
            <a:r>
              <a:rPr lang="en-US" altLang="zh-CN" sz="2800" b="1" dirty="0"/>
              <a:t>A*</a:t>
            </a:r>
            <a:r>
              <a:rPr lang="zh-CN" altLang="en-US" sz="2800" b="1" dirty="0"/>
              <a:t>算法</a:t>
            </a:r>
            <a:endParaRPr lang="zh-CN" altLang="en-US" sz="28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搜索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b="1" dirty="0"/>
              <a:t>如何选择一个节点扩展？</a:t>
            </a:r>
            <a:endParaRPr lang="zh-CN" altLang="en-US" b="1" dirty="0"/>
          </a:p>
        </p:txBody>
      </p:sp>
      <p:grpSp>
        <p:nvGrpSpPr>
          <p:cNvPr id="44" name="组合 43"/>
          <p:cNvGrpSpPr/>
          <p:nvPr/>
        </p:nvGrpSpPr>
        <p:grpSpPr>
          <a:xfrm>
            <a:off x="2139097" y="2396837"/>
            <a:ext cx="4878221" cy="3317750"/>
            <a:chOff x="2333069" y="2396837"/>
            <a:chExt cx="4878221" cy="3317750"/>
          </a:xfrm>
        </p:grpSpPr>
        <p:grpSp>
          <p:nvGrpSpPr>
            <p:cNvPr id="27" name="组合 26"/>
            <p:cNvGrpSpPr/>
            <p:nvPr/>
          </p:nvGrpSpPr>
          <p:grpSpPr>
            <a:xfrm>
              <a:off x="2333069" y="2396837"/>
              <a:ext cx="4878221" cy="2590800"/>
              <a:chOff x="2333069" y="2396837"/>
              <a:chExt cx="4878221" cy="2590800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2660073" y="2396837"/>
                <a:ext cx="4142096" cy="2590800"/>
                <a:chOff x="2057400" y="2523276"/>
                <a:chExt cx="4142096" cy="2590800"/>
              </a:xfrm>
            </p:grpSpPr>
            <p:sp>
              <p:nvSpPr>
                <p:cNvPr id="4" name="Oval 4"/>
                <p:cNvSpPr>
                  <a:spLocks noChangeArrowheads="1"/>
                </p:cNvSpPr>
                <p:nvPr/>
              </p:nvSpPr>
              <p:spPr bwMode="auto">
                <a:xfrm>
                  <a:off x="4038600" y="2523276"/>
                  <a:ext cx="152400" cy="15240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" name="Oval 5"/>
                <p:cNvSpPr>
                  <a:spLocks noChangeArrowheads="1"/>
                </p:cNvSpPr>
                <p:nvPr/>
              </p:nvSpPr>
              <p:spPr bwMode="auto">
                <a:xfrm>
                  <a:off x="3276600" y="3132876"/>
                  <a:ext cx="152400" cy="15240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" name="Oval 6"/>
                <p:cNvSpPr>
                  <a:spLocks noChangeArrowheads="1"/>
                </p:cNvSpPr>
                <p:nvPr/>
              </p:nvSpPr>
              <p:spPr bwMode="auto">
                <a:xfrm>
                  <a:off x="4876800" y="3132876"/>
                  <a:ext cx="152400" cy="15240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" name="Oval 7"/>
                <p:cNvSpPr>
                  <a:spLocks noChangeArrowheads="1"/>
                </p:cNvSpPr>
                <p:nvPr/>
              </p:nvSpPr>
              <p:spPr bwMode="auto">
                <a:xfrm>
                  <a:off x="2971800" y="4047276"/>
                  <a:ext cx="152400" cy="15240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" name="Oval 8"/>
                <p:cNvSpPr>
                  <a:spLocks noChangeArrowheads="1"/>
                </p:cNvSpPr>
                <p:nvPr/>
              </p:nvSpPr>
              <p:spPr bwMode="auto">
                <a:xfrm>
                  <a:off x="5257800" y="4047276"/>
                  <a:ext cx="152400" cy="15240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" name="Oval 9"/>
                <p:cNvSpPr>
                  <a:spLocks noChangeArrowheads="1"/>
                </p:cNvSpPr>
                <p:nvPr/>
              </p:nvSpPr>
              <p:spPr bwMode="auto">
                <a:xfrm>
                  <a:off x="3657600" y="4047276"/>
                  <a:ext cx="152400" cy="15240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" name="Oval 10"/>
                <p:cNvSpPr>
                  <a:spLocks noChangeArrowheads="1"/>
                </p:cNvSpPr>
                <p:nvPr/>
              </p:nvSpPr>
              <p:spPr bwMode="auto">
                <a:xfrm>
                  <a:off x="6047096" y="4088220"/>
                  <a:ext cx="152400" cy="15240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" name="Oval 11"/>
                <p:cNvSpPr>
                  <a:spLocks noChangeArrowheads="1"/>
                </p:cNvSpPr>
                <p:nvPr/>
              </p:nvSpPr>
              <p:spPr bwMode="auto">
                <a:xfrm>
                  <a:off x="2057400" y="3992684"/>
                  <a:ext cx="152400" cy="15240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" name="Oval 12"/>
                <p:cNvSpPr>
                  <a:spLocks noChangeArrowheads="1"/>
                </p:cNvSpPr>
                <p:nvPr/>
              </p:nvSpPr>
              <p:spPr bwMode="auto">
                <a:xfrm>
                  <a:off x="4495800" y="4047276"/>
                  <a:ext cx="152400" cy="15240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" name="Line 13"/>
                <p:cNvSpPr>
                  <a:spLocks noChangeShapeType="1"/>
                </p:cNvSpPr>
                <p:nvPr/>
              </p:nvSpPr>
              <p:spPr bwMode="auto">
                <a:xfrm flipH="1">
                  <a:off x="3352800" y="2675676"/>
                  <a:ext cx="762000" cy="4572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" name="Line 14"/>
                <p:cNvSpPr>
                  <a:spLocks noChangeShapeType="1"/>
                </p:cNvSpPr>
                <p:nvPr/>
              </p:nvSpPr>
              <p:spPr bwMode="auto">
                <a:xfrm>
                  <a:off x="4114800" y="2675676"/>
                  <a:ext cx="838200" cy="4572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" name="Line 15"/>
                <p:cNvSpPr>
                  <a:spLocks noChangeShapeType="1"/>
                </p:cNvSpPr>
                <p:nvPr/>
              </p:nvSpPr>
              <p:spPr bwMode="auto">
                <a:xfrm flipH="1">
                  <a:off x="2133600" y="3306884"/>
                  <a:ext cx="1219200" cy="6858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" name="Line 16"/>
                <p:cNvSpPr>
                  <a:spLocks noChangeShapeType="1"/>
                </p:cNvSpPr>
                <p:nvPr/>
              </p:nvSpPr>
              <p:spPr bwMode="auto">
                <a:xfrm flipH="1">
                  <a:off x="3034352" y="3320532"/>
                  <a:ext cx="304800" cy="762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" name="Line 17"/>
                <p:cNvSpPr>
                  <a:spLocks noChangeShapeType="1"/>
                </p:cNvSpPr>
                <p:nvPr/>
              </p:nvSpPr>
              <p:spPr bwMode="auto">
                <a:xfrm>
                  <a:off x="3352800" y="3285276"/>
                  <a:ext cx="381000" cy="762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8" name="Line 18"/>
                <p:cNvSpPr>
                  <a:spLocks noChangeShapeType="1"/>
                </p:cNvSpPr>
                <p:nvPr/>
              </p:nvSpPr>
              <p:spPr bwMode="auto">
                <a:xfrm flipH="1">
                  <a:off x="4572000" y="3285276"/>
                  <a:ext cx="381000" cy="762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" name="Line 19"/>
                <p:cNvSpPr>
                  <a:spLocks noChangeShapeType="1"/>
                </p:cNvSpPr>
                <p:nvPr/>
              </p:nvSpPr>
              <p:spPr bwMode="auto">
                <a:xfrm>
                  <a:off x="4953000" y="3285276"/>
                  <a:ext cx="381000" cy="762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" name="Line 20"/>
                <p:cNvSpPr>
                  <a:spLocks noChangeShapeType="1"/>
                </p:cNvSpPr>
                <p:nvPr/>
              </p:nvSpPr>
              <p:spPr bwMode="auto">
                <a:xfrm>
                  <a:off x="5015552" y="3257980"/>
                  <a:ext cx="1066800" cy="8382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1" name="Oval 21"/>
                <p:cNvSpPr>
                  <a:spLocks noChangeArrowheads="1"/>
                </p:cNvSpPr>
                <p:nvPr/>
              </p:nvSpPr>
              <p:spPr bwMode="auto">
                <a:xfrm>
                  <a:off x="2743200" y="4961676"/>
                  <a:ext cx="152400" cy="15240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" name="Oval 22"/>
                <p:cNvSpPr>
                  <a:spLocks noChangeArrowheads="1"/>
                </p:cNvSpPr>
                <p:nvPr/>
              </p:nvSpPr>
              <p:spPr bwMode="auto">
                <a:xfrm>
                  <a:off x="3352800" y="4961676"/>
                  <a:ext cx="152400" cy="15240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" name="Line 23"/>
                <p:cNvSpPr>
                  <a:spLocks noChangeShapeType="1"/>
                </p:cNvSpPr>
                <p:nvPr/>
              </p:nvSpPr>
              <p:spPr bwMode="auto">
                <a:xfrm flipH="1">
                  <a:off x="2819400" y="4199676"/>
                  <a:ext cx="228600" cy="762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4" name="Line 24"/>
                <p:cNvSpPr>
                  <a:spLocks noChangeShapeType="1"/>
                </p:cNvSpPr>
                <p:nvPr/>
              </p:nvSpPr>
              <p:spPr bwMode="auto">
                <a:xfrm>
                  <a:off x="3048000" y="4199676"/>
                  <a:ext cx="381000" cy="762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6" name="Oval 10"/>
              <p:cNvSpPr>
                <a:spLocks noChangeArrowheads="1"/>
              </p:cNvSpPr>
              <p:nvPr/>
            </p:nvSpPr>
            <p:spPr bwMode="auto">
              <a:xfrm>
                <a:off x="4683250" y="3214255"/>
                <a:ext cx="152400" cy="15240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cxnSp>
            <p:nvCxnSpPr>
              <p:cNvPr id="28" name="直接连接符 27"/>
              <p:cNvCxnSpPr>
                <a:stCxn id="14" idx="0"/>
                <a:endCxn id="26" idx="0"/>
              </p:cNvCxnSpPr>
              <p:nvPr/>
            </p:nvCxnSpPr>
            <p:spPr>
              <a:xfrm>
                <a:off x="4717473" y="2549237"/>
                <a:ext cx="41977" cy="66501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>
                <a:stCxn id="26" idx="5"/>
              </p:cNvCxnSpPr>
              <p:nvPr/>
            </p:nvCxnSpPr>
            <p:spPr>
              <a:xfrm>
                <a:off x="4813332" y="3344337"/>
                <a:ext cx="278213" cy="521908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>
                <a:off x="6725969" y="4114181"/>
                <a:ext cx="485321" cy="721056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 flipH="1">
                <a:off x="5887769" y="4061215"/>
                <a:ext cx="76200" cy="800078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>
                <a:stCxn id="12" idx="4"/>
              </p:cNvCxnSpPr>
              <p:nvPr/>
            </p:nvCxnSpPr>
            <p:spPr>
              <a:xfrm flipH="1">
                <a:off x="5091545" y="4073237"/>
                <a:ext cx="83128" cy="83820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>
                <a:off x="5261057" y="4144343"/>
                <a:ext cx="550512" cy="76709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>
                <a:stCxn id="11" idx="4"/>
              </p:cNvCxnSpPr>
              <p:nvPr/>
            </p:nvCxnSpPr>
            <p:spPr>
              <a:xfrm flipH="1">
                <a:off x="2333069" y="4018645"/>
                <a:ext cx="403204" cy="713096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直接连接符 35"/>
            <p:cNvCxnSpPr/>
            <p:nvPr/>
          </p:nvCxnSpPr>
          <p:spPr>
            <a:xfrm flipH="1">
              <a:off x="3634686" y="5001491"/>
              <a:ext cx="403204" cy="713096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>
              <a:off x="4373357" y="4073237"/>
              <a:ext cx="66612" cy="6096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>
              <a:off x="2772044" y="4018645"/>
              <a:ext cx="154626" cy="56356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>
              <a:off x="2926670" y="5017799"/>
              <a:ext cx="493982" cy="34024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4059945" y="4958711"/>
              <a:ext cx="512469" cy="654834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A7DA574-03C6-4B21-A5AA-C77B07E7D86E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CN" dirty="0"/>
              <a:t>1.1 </a:t>
            </a:r>
            <a:r>
              <a:rPr lang="zh-CN" altLang="en-US" dirty="0"/>
              <a:t>深度优先搜索</a:t>
            </a:r>
            <a:endParaRPr lang="zh-CN" altLang="en-US" dirty="0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696200" cy="4114800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</a:rPr>
              <a:t>算法：优先扩展深度深的节点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</a:rPr>
              <a:t>停止条件：发现第一个可行解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sz="3200" b="1" dirty="0"/>
              <a:t>例：皇后问题</a:t>
            </a:r>
            <a:endParaRPr lang="zh-CN" altLang="en-US" sz="3200" b="1" dirty="0"/>
          </a:p>
        </p:txBody>
      </p:sp>
      <p:graphicFrame>
        <p:nvGraphicFramePr>
          <p:cNvPr id="54276" name="Object 4"/>
          <p:cNvGraphicFramePr>
            <a:graphicFrameLocks noChangeAspect="1"/>
          </p:cNvGraphicFramePr>
          <p:nvPr/>
        </p:nvGraphicFramePr>
        <p:xfrm>
          <a:off x="2647232" y="3742608"/>
          <a:ext cx="3822700" cy="3200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Document" r:id="rId1" imgW="6939280" imgH="4215765" progId="Word.Document.8">
                  <p:embed/>
                </p:oleObj>
              </mc:Choice>
              <mc:Fallback>
                <p:oleObj name="Document" r:id="rId1" imgW="6939280" imgH="4215765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7232" y="3742608"/>
                        <a:ext cx="3822700" cy="32008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1"/>
          <p:cNvSpPr/>
          <p:nvPr/>
        </p:nvSpPr>
        <p:spPr>
          <a:xfrm>
            <a:off x="2722418" y="2576945"/>
            <a:ext cx="4177146" cy="5195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2D0E26D-B4F4-4C4A-A8FC-EE1C3DDE4A98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4956175" y="300038"/>
          <a:ext cx="2874963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Document" r:id="rId1" imgW="7092950" imgH="4626610" progId="Word.Document.8">
                  <p:embed/>
                </p:oleObj>
              </mc:Choice>
              <mc:Fallback>
                <p:oleObj name="Document" r:id="rId1" imgW="7092950" imgH="462661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300038"/>
                        <a:ext cx="2874963" cy="259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" name="Text Box 3"/>
          <p:cNvSpPr txBox="1">
            <a:spLocks noChangeArrowheads="1"/>
          </p:cNvSpPr>
          <p:nvPr/>
        </p:nvSpPr>
        <p:spPr bwMode="auto">
          <a:xfrm>
            <a:off x="1482725" y="876300"/>
            <a:ext cx="4635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 )</a:t>
            </a:r>
            <a:endParaRPr lang="en-US" altLang="zh-CN"/>
          </a:p>
        </p:txBody>
      </p:sp>
      <p:sp>
        <p:nvSpPr>
          <p:cNvPr id="2" name="TextBox 1"/>
          <p:cNvSpPr txBox="1"/>
          <p:nvPr/>
        </p:nvSpPr>
        <p:spPr>
          <a:xfrm>
            <a:off x="557934" y="401761"/>
            <a:ext cx="1849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状态空间构造</a:t>
            </a:r>
            <a:r>
              <a:rPr lang="zh-CN" altLang="en-US" dirty="0"/>
              <a:t>？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ABBD846-AAEB-47F8-984D-9E81B703D742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3076" name="Text Box 7"/>
          <p:cNvSpPr txBox="1">
            <a:spLocks noChangeArrowheads="1"/>
          </p:cNvSpPr>
          <p:nvPr/>
        </p:nvSpPr>
        <p:spPr bwMode="auto">
          <a:xfrm>
            <a:off x="1482725" y="876300"/>
            <a:ext cx="4635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 )</a:t>
            </a:r>
            <a:endParaRPr lang="en-US" altLang="zh-CN"/>
          </a:p>
        </p:txBody>
      </p: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5105400" y="304800"/>
            <a:ext cx="4381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A04020102020204" pitchFamily="34" charset="0"/>
              </a:rPr>
              <a:t>Q</a:t>
            </a:r>
            <a:endParaRPr lang="en-US" altLang="zh-CN"/>
          </a:p>
        </p:txBody>
      </p:sp>
      <p:sp>
        <p:nvSpPr>
          <p:cNvPr id="3078" name="Text Box 9"/>
          <p:cNvSpPr txBox="1">
            <a:spLocks noChangeArrowheads="1"/>
          </p:cNvSpPr>
          <p:nvPr/>
        </p:nvSpPr>
        <p:spPr bwMode="auto">
          <a:xfrm>
            <a:off x="215900" y="1752600"/>
            <a:ext cx="9715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chemeClr val="tx2"/>
                </a:solidFill>
              </a:rPr>
              <a:t>((1,1))</a:t>
            </a:r>
            <a:endParaRPr lang="en-US" altLang="zh-CN"/>
          </a:p>
        </p:txBody>
      </p:sp>
      <p:sp>
        <p:nvSpPr>
          <p:cNvPr id="3079" name="Line 10"/>
          <p:cNvSpPr>
            <a:spLocks noChangeShapeType="1"/>
          </p:cNvSpPr>
          <p:nvPr/>
        </p:nvSpPr>
        <p:spPr bwMode="auto">
          <a:xfrm flipH="1">
            <a:off x="838200" y="1295400"/>
            <a:ext cx="685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7411" name="Object 2"/>
          <p:cNvGraphicFramePr>
            <a:graphicFrameLocks noChangeAspect="1"/>
          </p:cNvGraphicFramePr>
          <p:nvPr/>
        </p:nvGraphicFramePr>
        <p:xfrm>
          <a:off x="4956175" y="300038"/>
          <a:ext cx="2874963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Document" r:id="rId1" imgW="7092950" imgH="4626610" progId="Word.Document.8">
                  <p:embed/>
                </p:oleObj>
              </mc:Choice>
              <mc:Fallback>
                <p:oleObj name="Document" r:id="rId1" imgW="7092950" imgH="462661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300038"/>
                        <a:ext cx="2874963" cy="259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E047FD7-E15B-41D3-AD9B-882503309E77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4100" name="Text Box 9"/>
          <p:cNvSpPr txBox="1">
            <a:spLocks noChangeArrowheads="1"/>
          </p:cNvSpPr>
          <p:nvPr/>
        </p:nvSpPr>
        <p:spPr bwMode="auto">
          <a:xfrm>
            <a:off x="1482725" y="876300"/>
            <a:ext cx="4635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 )</a:t>
            </a:r>
            <a:endParaRPr lang="en-US" altLang="zh-CN"/>
          </a:p>
        </p:txBody>
      </p:sp>
      <p:sp>
        <p:nvSpPr>
          <p:cNvPr id="4101" name="Text Box 10"/>
          <p:cNvSpPr txBox="1">
            <a:spLocks noChangeArrowheads="1"/>
          </p:cNvSpPr>
          <p:nvPr/>
        </p:nvSpPr>
        <p:spPr bwMode="auto">
          <a:xfrm>
            <a:off x="5105400" y="304800"/>
            <a:ext cx="4381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A04020102020204" pitchFamily="34" charset="0"/>
              </a:rPr>
              <a:t>Q</a:t>
            </a:r>
            <a:endParaRPr lang="en-US" altLang="zh-CN"/>
          </a:p>
        </p:txBody>
      </p:sp>
      <p:sp>
        <p:nvSpPr>
          <p:cNvPr id="4102" name="Text Box 12"/>
          <p:cNvSpPr txBox="1">
            <a:spLocks noChangeArrowheads="1"/>
          </p:cNvSpPr>
          <p:nvPr/>
        </p:nvSpPr>
        <p:spPr bwMode="auto">
          <a:xfrm>
            <a:off x="6324600" y="838200"/>
            <a:ext cx="4381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A04020102020204" pitchFamily="34" charset="0"/>
              </a:rPr>
              <a:t>Q</a:t>
            </a:r>
            <a:endParaRPr lang="en-US" altLang="zh-CN"/>
          </a:p>
        </p:txBody>
      </p:sp>
      <p:sp>
        <p:nvSpPr>
          <p:cNvPr id="4103" name="Text Box 13"/>
          <p:cNvSpPr txBox="1">
            <a:spLocks noChangeArrowheads="1"/>
          </p:cNvSpPr>
          <p:nvPr/>
        </p:nvSpPr>
        <p:spPr bwMode="auto">
          <a:xfrm>
            <a:off x="215900" y="1752600"/>
            <a:ext cx="9715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((1,1))</a:t>
            </a:r>
            <a:endParaRPr lang="en-US" altLang="zh-CN"/>
          </a:p>
        </p:txBody>
      </p:sp>
      <p:sp>
        <p:nvSpPr>
          <p:cNvPr id="4104" name="Line 14"/>
          <p:cNvSpPr>
            <a:spLocks noChangeShapeType="1"/>
          </p:cNvSpPr>
          <p:nvPr/>
        </p:nvSpPr>
        <p:spPr bwMode="auto">
          <a:xfrm flipH="1">
            <a:off x="762000" y="1295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05" name="Text Box 15"/>
          <p:cNvSpPr txBox="1">
            <a:spLocks noChangeArrowheads="1"/>
          </p:cNvSpPr>
          <p:nvPr/>
        </p:nvSpPr>
        <p:spPr bwMode="auto">
          <a:xfrm>
            <a:off x="0" y="2971800"/>
            <a:ext cx="16319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chemeClr val="tx2"/>
                </a:solidFill>
              </a:rPr>
              <a:t>((1,1) (2,3))</a:t>
            </a:r>
            <a:endParaRPr lang="en-US" altLang="zh-CN"/>
          </a:p>
        </p:txBody>
      </p:sp>
      <p:sp>
        <p:nvSpPr>
          <p:cNvPr id="4106" name="Line 16"/>
          <p:cNvSpPr>
            <a:spLocks noChangeShapeType="1"/>
          </p:cNvSpPr>
          <p:nvPr/>
        </p:nvSpPr>
        <p:spPr bwMode="auto">
          <a:xfrm>
            <a:off x="6096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8435" name="Object 2"/>
          <p:cNvGraphicFramePr>
            <a:graphicFrameLocks noChangeAspect="1"/>
          </p:cNvGraphicFramePr>
          <p:nvPr/>
        </p:nvGraphicFramePr>
        <p:xfrm>
          <a:off x="4956175" y="300038"/>
          <a:ext cx="2874963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Document" r:id="rId1" imgW="7092950" imgH="4626610" progId="Word.Document.8">
                  <p:embed/>
                </p:oleObj>
              </mc:Choice>
              <mc:Fallback>
                <p:oleObj name="Document" r:id="rId1" imgW="7092950" imgH="462661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300038"/>
                        <a:ext cx="2874963" cy="259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4A9DBAD-C6BE-4468-854D-E051A86E5E72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5124" name="Text Box 3"/>
          <p:cNvSpPr txBox="1">
            <a:spLocks noChangeArrowheads="1"/>
          </p:cNvSpPr>
          <p:nvPr/>
        </p:nvSpPr>
        <p:spPr bwMode="auto">
          <a:xfrm>
            <a:off x="1482725" y="876300"/>
            <a:ext cx="4635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 )</a:t>
            </a:r>
            <a:endParaRPr lang="en-US" altLang="zh-CN"/>
          </a:p>
        </p:txBody>
      </p:sp>
      <p:sp>
        <p:nvSpPr>
          <p:cNvPr id="5125" name="Text Box 4"/>
          <p:cNvSpPr txBox="1">
            <a:spLocks noChangeArrowheads="1"/>
          </p:cNvSpPr>
          <p:nvPr/>
        </p:nvSpPr>
        <p:spPr bwMode="auto">
          <a:xfrm>
            <a:off x="5105400" y="304800"/>
            <a:ext cx="4381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A04020102020204" pitchFamily="34" charset="0"/>
              </a:rPr>
              <a:t>Q</a:t>
            </a:r>
            <a:endParaRPr lang="en-US" altLang="zh-CN"/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215900" y="1752600"/>
            <a:ext cx="9715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((1,1))</a:t>
            </a:r>
            <a:endParaRPr lang="en-US" altLang="zh-CN"/>
          </a:p>
        </p:txBody>
      </p:sp>
      <p:sp>
        <p:nvSpPr>
          <p:cNvPr id="5127" name="Line 7"/>
          <p:cNvSpPr>
            <a:spLocks noChangeShapeType="1"/>
          </p:cNvSpPr>
          <p:nvPr/>
        </p:nvSpPr>
        <p:spPr bwMode="auto">
          <a:xfrm flipH="1">
            <a:off x="762000" y="1295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0" y="2971800"/>
            <a:ext cx="16319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((1,1) (2,3))</a:t>
            </a:r>
            <a:endParaRPr lang="en-US" altLang="zh-CN"/>
          </a:p>
        </p:txBody>
      </p:sp>
      <p:sp>
        <p:nvSpPr>
          <p:cNvPr id="5129" name="Line 9"/>
          <p:cNvSpPr>
            <a:spLocks noChangeShapeType="1"/>
          </p:cNvSpPr>
          <p:nvPr/>
        </p:nvSpPr>
        <p:spPr bwMode="auto">
          <a:xfrm>
            <a:off x="6096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30" name="Line 10"/>
          <p:cNvSpPr>
            <a:spLocks noChangeShapeType="1"/>
          </p:cNvSpPr>
          <p:nvPr/>
        </p:nvSpPr>
        <p:spPr bwMode="auto">
          <a:xfrm flipV="1">
            <a:off x="838200" y="2209800"/>
            <a:ext cx="0" cy="6858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9459" name="Object 2"/>
          <p:cNvGraphicFramePr>
            <a:graphicFrameLocks noChangeAspect="1"/>
          </p:cNvGraphicFramePr>
          <p:nvPr/>
        </p:nvGraphicFramePr>
        <p:xfrm>
          <a:off x="4956175" y="300038"/>
          <a:ext cx="2874963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Document" r:id="rId1" imgW="7092950" imgH="4626610" progId="Word.Document.8">
                  <p:embed/>
                </p:oleObj>
              </mc:Choice>
              <mc:Fallback>
                <p:oleObj name="Document" r:id="rId1" imgW="7092950" imgH="462661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300038"/>
                        <a:ext cx="2874963" cy="259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1B90442-484D-4319-A9EC-3EFEDB15F360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6148" name="Text Box 3"/>
          <p:cNvSpPr txBox="1">
            <a:spLocks noChangeArrowheads="1"/>
          </p:cNvSpPr>
          <p:nvPr/>
        </p:nvSpPr>
        <p:spPr bwMode="auto">
          <a:xfrm>
            <a:off x="1482725" y="876300"/>
            <a:ext cx="4635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 )</a:t>
            </a:r>
            <a:endParaRPr lang="en-US" altLang="zh-CN"/>
          </a:p>
        </p:txBody>
      </p:sp>
      <p:sp>
        <p:nvSpPr>
          <p:cNvPr id="6149" name="Text Box 4"/>
          <p:cNvSpPr txBox="1">
            <a:spLocks noChangeArrowheads="1"/>
          </p:cNvSpPr>
          <p:nvPr/>
        </p:nvSpPr>
        <p:spPr bwMode="auto">
          <a:xfrm>
            <a:off x="5105400" y="304800"/>
            <a:ext cx="4381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A04020102020204" pitchFamily="34" charset="0"/>
              </a:rPr>
              <a:t>Q</a:t>
            </a:r>
            <a:endParaRPr lang="en-US" altLang="zh-CN"/>
          </a:p>
        </p:txBody>
      </p:sp>
      <p:sp>
        <p:nvSpPr>
          <p:cNvPr id="6150" name="Text Box 5"/>
          <p:cNvSpPr txBox="1">
            <a:spLocks noChangeArrowheads="1"/>
          </p:cNvSpPr>
          <p:nvPr/>
        </p:nvSpPr>
        <p:spPr bwMode="auto">
          <a:xfrm>
            <a:off x="6934200" y="838200"/>
            <a:ext cx="4381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A04020102020204" pitchFamily="34" charset="0"/>
              </a:rPr>
              <a:t>Q</a:t>
            </a:r>
            <a:endParaRPr lang="en-US" altLang="zh-CN"/>
          </a:p>
        </p:txBody>
      </p:sp>
      <p:sp>
        <p:nvSpPr>
          <p:cNvPr id="6151" name="Text Box 6"/>
          <p:cNvSpPr txBox="1">
            <a:spLocks noChangeArrowheads="1"/>
          </p:cNvSpPr>
          <p:nvPr/>
        </p:nvSpPr>
        <p:spPr bwMode="auto">
          <a:xfrm>
            <a:off x="215900" y="1752600"/>
            <a:ext cx="9715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((1,1))</a:t>
            </a:r>
            <a:endParaRPr lang="en-US" altLang="zh-CN"/>
          </a:p>
        </p:txBody>
      </p:sp>
      <p:sp>
        <p:nvSpPr>
          <p:cNvPr id="6152" name="Line 7"/>
          <p:cNvSpPr>
            <a:spLocks noChangeShapeType="1"/>
          </p:cNvSpPr>
          <p:nvPr/>
        </p:nvSpPr>
        <p:spPr bwMode="auto">
          <a:xfrm flipH="1">
            <a:off x="762000" y="1295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3" name="Text Box 8"/>
          <p:cNvSpPr txBox="1">
            <a:spLocks noChangeArrowheads="1"/>
          </p:cNvSpPr>
          <p:nvPr/>
        </p:nvSpPr>
        <p:spPr bwMode="auto">
          <a:xfrm>
            <a:off x="0" y="2971800"/>
            <a:ext cx="16319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((1,1) (2,3))</a:t>
            </a:r>
            <a:endParaRPr lang="en-US" altLang="zh-CN"/>
          </a:p>
        </p:txBody>
      </p:sp>
      <p:sp>
        <p:nvSpPr>
          <p:cNvPr id="6154" name="Line 9"/>
          <p:cNvSpPr>
            <a:spLocks noChangeShapeType="1"/>
          </p:cNvSpPr>
          <p:nvPr/>
        </p:nvSpPr>
        <p:spPr bwMode="auto">
          <a:xfrm>
            <a:off x="6096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5" name="Line 10"/>
          <p:cNvSpPr>
            <a:spLocks noChangeShapeType="1"/>
          </p:cNvSpPr>
          <p:nvPr/>
        </p:nvSpPr>
        <p:spPr bwMode="auto">
          <a:xfrm flipV="1">
            <a:off x="838200" y="2209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6" name="Text Box 11"/>
          <p:cNvSpPr txBox="1">
            <a:spLocks noChangeArrowheads="1"/>
          </p:cNvSpPr>
          <p:nvPr/>
        </p:nvSpPr>
        <p:spPr bwMode="auto">
          <a:xfrm>
            <a:off x="1981200" y="3048000"/>
            <a:ext cx="16319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chemeClr val="tx2"/>
                </a:solidFill>
              </a:rPr>
              <a:t>((1,1) (2,4))</a:t>
            </a:r>
            <a:endParaRPr lang="en-US" altLang="zh-CN"/>
          </a:p>
        </p:txBody>
      </p:sp>
      <p:sp>
        <p:nvSpPr>
          <p:cNvPr id="6157" name="Line 12"/>
          <p:cNvSpPr>
            <a:spLocks noChangeShapeType="1"/>
          </p:cNvSpPr>
          <p:nvPr/>
        </p:nvSpPr>
        <p:spPr bwMode="auto">
          <a:xfrm>
            <a:off x="1066800" y="2209800"/>
            <a:ext cx="1295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483" name="Object 2"/>
          <p:cNvGraphicFramePr>
            <a:graphicFrameLocks noChangeAspect="1"/>
          </p:cNvGraphicFramePr>
          <p:nvPr/>
        </p:nvGraphicFramePr>
        <p:xfrm>
          <a:off x="4956175" y="300038"/>
          <a:ext cx="2874963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Document" r:id="rId1" imgW="7092950" imgH="4626610" progId="Word.Document.8">
                  <p:embed/>
                </p:oleObj>
              </mc:Choice>
              <mc:Fallback>
                <p:oleObj name="Document" r:id="rId1" imgW="7092950" imgH="462661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300038"/>
                        <a:ext cx="2874963" cy="259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B768F59-0F6D-4271-B692-60A747C65495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7172" name="Text Box 9"/>
          <p:cNvSpPr txBox="1">
            <a:spLocks noChangeArrowheads="1"/>
          </p:cNvSpPr>
          <p:nvPr/>
        </p:nvSpPr>
        <p:spPr bwMode="auto">
          <a:xfrm>
            <a:off x="1482725" y="876300"/>
            <a:ext cx="4635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 )</a:t>
            </a:r>
            <a:endParaRPr lang="en-US" altLang="zh-CN"/>
          </a:p>
        </p:txBody>
      </p:sp>
      <p:sp>
        <p:nvSpPr>
          <p:cNvPr id="7173" name="Text Box 10"/>
          <p:cNvSpPr txBox="1">
            <a:spLocks noChangeArrowheads="1"/>
          </p:cNvSpPr>
          <p:nvPr/>
        </p:nvSpPr>
        <p:spPr bwMode="auto">
          <a:xfrm>
            <a:off x="5105400" y="304800"/>
            <a:ext cx="4381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A04020102020204" pitchFamily="34" charset="0"/>
              </a:rPr>
              <a:t>Q</a:t>
            </a:r>
            <a:endParaRPr lang="en-US" altLang="zh-CN"/>
          </a:p>
        </p:txBody>
      </p:sp>
      <p:sp>
        <p:nvSpPr>
          <p:cNvPr id="7174" name="Text Box 11"/>
          <p:cNvSpPr txBox="1">
            <a:spLocks noChangeArrowheads="1"/>
          </p:cNvSpPr>
          <p:nvPr/>
        </p:nvSpPr>
        <p:spPr bwMode="auto">
          <a:xfrm>
            <a:off x="6934200" y="838200"/>
            <a:ext cx="4381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A04020102020204" pitchFamily="34" charset="0"/>
              </a:rPr>
              <a:t>Q</a:t>
            </a:r>
            <a:endParaRPr lang="en-US" altLang="zh-CN"/>
          </a:p>
        </p:txBody>
      </p:sp>
      <p:sp>
        <p:nvSpPr>
          <p:cNvPr id="7175" name="Text Box 12"/>
          <p:cNvSpPr txBox="1">
            <a:spLocks noChangeArrowheads="1"/>
          </p:cNvSpPr>
          <p:nvPr/>
        </p:nvSpPr>
        <p:spPr bwMode="auto">
          <a:xfrm>
            <a:off x="215900" y="1752600"/>
            <a:ext cx="9715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((1,1))</a:t>
            </a:r>
            <a:endParaRPr lang="en-US" altLang="zh-CN"/>
          </a:p>
        </p:txBody>
      </p:sp>
      <p:sp>
        <p:nvSpPr>
          <p:cNvPr id="7176" name="Line 13"/>
          <p:cNvSpPr>
            <a:spLocks noChangeShapeType="1"/>
          </p:cNvSpPr>
          <p:nvPr/>
        </p:nvSpPr>
        <p:spPr bwMode="auto">
          <a:xfrm flipH="1">
            <a:off x="762000" y="1295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7" name="Text Box 14"/>
          <p:cNvSpPr txBox="1">
            <a:spLocks noChangeArrowheads="1"/>
          </p:cNvSpPr>
          <p:nvPr/>
        </p:nvSpPr>
        <p:spPr bwMode="auto">
          <a:xfrm>
            <a:off x="0" y="2971800"/>
            <a:ext cx="16319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((1,1) (2,3))</a:t>
            </a:r>
            <a:endParaRPr lang="en-US" altLang="zh-CN"/>
          </a:p>
        </p:txBody>
      </p:sp>
      <p:sp>
        <p:nvSpPr>
          <p:cNvPr id="7178" name="Line 15"/>
          <p:cNvSpPr>
            <a:spLocks noChangeShapeType="1"/>
          </p:cNvSpPr>
          <p:nvPr/>
        </p:nvSpPr>
        <p:spPr bwMode="auto">
          <a:xfrm>
            <a:off x="6096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9" name="Line 16"/>
          <p:cNvSpPr>
            <a:spLocks noChangeShapeType="1"/>
          </p:cNvSpPr>
          <p:nvPr/>
        </p:nvSpPr>
        <p:spPr bwMode="auto">
          <a:xfrm flipV="1">
            <a:off x="838200" y="2209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0" name="Text Box 17"/>
          <p:cNvSpPr txBox="1">
            <a:spLocks noChangeArrowheads="1"/>
          </p:cNvSpPr>
          <p:nvPr/>
        </p:nvSpPr>
        <p:spPr bwMode="auto">
          <a:xfrm>
            <a:off x="1981200" y="3048000"/>
            <a:ext cx="16319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((1,1) (2,4))</a:t>
            </a:r>
            <a:endParaRPr lang="en-US" altLang="zh-CN"/>
          </a:p>
        </p:txBody>
      </p:sp>
      <p:sp>
        <p:nvSpPr>
          <p:cNvPr id="7181" name="Line 18"/>
          <p:cNvSpPr>
            <a:spLocks noChangeShapeType="1"/>
          </p:cNvSpPr>
          <p:nvPr/>
        </p:nvSpPr>
        <p:spPr bwMode="auto">
          <a:xfrm>
            <a:off x="1066800" y="2209800"/>
            <a:ext cx="1295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2" name="Text Box 19"/>
          <p:cNvSpPr txBox="1">
            <a:spLocks noChangeArrowheads="1"/>
          </p:cNvSpPr>
          <p:nvPr/>
        </p:nvSpPr>
        <p:spPr bwMode="auto">
          <a:xfrm>
            <a:off x="5715000" y="1371600"/>
            <a:ext cx="4381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A04020102020204" pitchFamily="34" charset="0"/>
              </a:rPr>
              <a:t>Q</a:t>
            </a:r>
            <a:endParaRPr lang="en-US" altLang="zh-CN"/>
          </a:p>
        </p:txBody>
      </p:sp>
      <p:sp>
        <p:nvSpPr>
          <p:cNvPr id="7183" name="Text Box 20"/>
          <p:cNvSpPr txBox="1">
            <a:spLocks noChangeArrowheads="1"/>
          </p:cNvSpPr>
          <p:nvPr/>
        </p:nvSpPr>
        <p:spPr bwMode="auto">
          <a:xfrm>
            <a:off x="371821" y="4234934"/>
            <a:ext cx="1701107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>
                <a:solidFill>
                  <a:schemeClr val="tx2"/>
                </a:solidFill>
              </a:rPr>
              <a:t>((1,1) (2,4) (3,2))</a:t>
            </a:r>
            <a:endParaRPr lang="en-US" altLang="zh-CN" dirty="0"/>
          </a:p>
        </p:txBody>
      </p:sp>
      <p:sp>
        <p:nvSpPr>
          <p:cNvPr id="7184" name="Line 21"/>
          <p:cNvSpPr>
            <a:spLocks noChangeShapeType="1"/>
          </p:cNvSpPr>
          <p:nvPr/>
        </p:nvSpPr>
        <p:spPr bwMode="auto">
          <a:xfrm flipH="1">
            <a:off x="1143000" y="3581400"/>
            <a:ext cx="1295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1507" name="Object 2"/>
          <p:cNvGraphicFramePr>
            <a:graphicFrameLocks noChangeAspect="1"/>
          </p:cNvGraphicFramePr>
          <p:nvPr/>
        </p:nvGraphicFramePr>
        <p:xfrm>
          <a:off x="4956175" y="300038"/>
          <a:ext cx="2874963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Document" r:id="rId1" imgW="7092950" imgH="4626610" progId="Word.Document.8">
                  <p:embed/>
                </p:oleObj>
              </mc:Choice>
              <mc:Fallback>
                <p:oleObj name="Document" r:id="rId1" imgW="7092950" imgH="462661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300038"/>
                        <a:ext cx="2874963" cy="259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610C3F4-1000-4FE2-8D3E-043D6FC7406A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8196" name="Text Box 3"/>
          <p:cNvSpPr txBox="1">
            <a:spLocks noChangeArrowheads="1"/>
          </p:cNvSpPr>
          <p:nvPr/>
        </p:nvSpPr>
        <p:spPr bwMode="auto">
          <a:xfrm>
            <a:off x="1482725" y="876300"/>
            <a:ext cx="4635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 )</a:t>
            </a:r>
            <a:endParaRPr lang="en-US" altLang="zh-CN"/>
          </a:p>
        </p:txBody>
      </p:sp>
      <p:sp>
        <p:nvSpPr>
          <p:cNvPr id="8197" name="Text Box 4"/>
          <p:cNvSpPr txBox="1">
            <a:spLocks noChangeArrowheads="1"/>
          </p:cNvSpPr>
          <p:nvPr/>
        </p:nvSpPr>
        <p:spPr bwMode="auto">
          <a:xfrm>
            <a:off x="5105400" y="304800"/>
            <a:ext cx="4381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A04020102020204" pitchFamily="34" charset="0"/>
              </a:rPr>
              <a:t>Q</a:t>
            </a:r>
            <a:endParaRPr lang="en-US" altLang="zh-CN"/>
          </a:p>
        </p:txBody>
      </p:sp>
      <p:sp>
        <p:nvSpPr>
          <p:cNvPr id="8198" name="Text Box 5"/>
          <p:cNvSpPr txBox="1">
            <a:spLocks noChangeArrowheads="1"/>
          </p:cNvSpPr>
          <p:nvPr/>
        </p:nvSpPr>
        <p:spPr bwMode="auto">
          <a:xfrm>
            <a:off x="6934200" y="838200"/>
            <a:ext cx="4381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A04020102020204" pitchFamily="34" charset="0"/>
              </a:rPr>
              <a:t>Q</a:t>
            </a:r>
            <a:endParaRPr lang="en-US" altLang="zh-CN"/>
          </a:p>
        </p:txBody>
      </p:sp>
      <p:sp>
        <p:nvSpPr>
          <p:cNvPr id="8199" name="Text Box 6"/>
          <p:cNvSpPr txBox="1">
            <a:spLocks noChangeArrowheads="1"/>
          </p:cNvSpPr>
          <p:nvPr/>
        </p:nvSpPr>
        <p:spPr bwMode="auto">
          <a:xfrm>
            <a:off x="215900" y="1752600"/>
            <a:ext cx="9715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((1,1))</a:t>
            </a:r>
            <a:endParaRPr lang="en-US" altLang="zh-CN"/>
          </a:p>
        </p:txBody>
      </p:sp>
      <p:sp>
        <p:nvSpPr>
          <p:cNvPr id="8200" name="Line 7"/>
          <p:cNvSpPr>
            <a:spLocks noChangeShapeType="1"/>
          </p:cNvSpPr>
          <p:nvPr/>
        </p:nvSpPr>
        <p:spPr bwMode="auto">
          <a:xfrm flipH="1">
            <a:off x="762000" y="1295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1" name="Text Box 8"/>
          <p:cNvSpPr txBox="1">
            <a:spLocks noChangeArrowheads="1"/>
          </p:cNvSpPr>
          <p:nvPr/>
        </p:nvSpPr>
        <p:spPr bwMode="auto">
          <a:xfrm>
            <a:off x="0" y="2971800"/>
            <a:ext cx="16319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((1,1) (2,3))</a:t>
            </a:r>
            <a:endParaRPr lang="en-US" altLang="zh-CN"/>
          </a:p>
        </p:txBody>
      </p:sp>
      <p:sp>
        <p:nvSpPr>
          <p:cNvPr id="8202" name="Line 9"/>
          <p:cNvSpPr>
            <a:spLocks noChangeShapeType="1"/>
          </p:cNvSpPr>
          <p:nvPr/>
        </p:nvSpPr>
        <p:spPr bwMode="auto">
          <a:xfrm>
            <a:off x="6096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3" name="Line 10"/>
          <p:cNvSpPr>
            <a:spLocks noChangeShapeType="1"/>
          </p:cNvSpPr>
          <p:nvPr/>
        </p:nvSpPr>
        <p:spPr bwMode="auto">
          <a:xfrm flipV="1">
            <a:off x="838200" y="2209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4" name="Text Box 11"/>
          <p:cNvSpPr txBox="1">
            <a:spLocks noChangeArrowheads="1"/>
          </p:cNvSpPr>
          <p:nvPr/>
        </p:nvSpPr>
        <p:spPr bwMode="auto">
          <a:xfrm>
            <a:off x="1981200" y="3048000"/>
            <a:ext cx="16319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((1,1) (2,4))</a:t>
            </a:r>
            <a:endParaRPr lang="en-US" altLang="zh-CN"/>
          </a:p>
        </p:txBody>
      </p:sp>
      <p:sp>
        <p:nvSpPr>
          <p:cNvPr id="8205" name="Line 12"/>
          <p:cNvSpPr>
            <a:spLocks noChangeShapeType="1"/>
          </p:cNvSpPr>
          <p:nvPr/>
        </p:nvSpPr>
        <p:spPr bwMode="auto">
          <a:xfrm>
            <a:off x="1066800" y="2209800"/>
            <a:ext cx="1295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6" name="Text Box 14"/>
          <p:cNvSpPr txBox="1">
            <a:spLocks noChangeArrowheads="1"/>
          </p:cNvSpPr>
          <p:nvPr/>
        </p:nvSpPr>
        <p:spPr bwMode="auto">
          <a:xfrm>
            <a:off x="371821" y="4234934"/>
            <a:ext cx="1701107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 (2,4) (3,2))</a:t>
            </a:r>
            <a:endParaRPr lang="en-US" altLang="zh-CN" dirty="0"/>
          </a:p>
        </p:txBody>
      </p:sp>
      <p:sp>
        <p:nvSpPr>
          <p:cNvPr id="8207" name="Line 15"/>
          <p:cNvSpPr>
            <a:spLocks noChangeShapeType="1"/>
          </p:cNvSpPr>
          <p:nvPr/>
        </p:nvSpPr>
        <p:spPr bwMode="auto">
          <a:xfrm flipH="1">
            <a:off x="1143000" y="3581400"/>
            <a:ext cx="1295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8" name="Line 16"/>
          <p:cNvSpPr>
            <a:spLocks noChangeShapeType="1"/>
          </p:cNvSpPr>
          <p:nvPr/>
        </p:nvSpPr>
        <p:spPr bwMode="auto">
          <a:xfrm flipV="1">
            <a:off x="1752600" y="3657600"/>
            <a:ext cx="990600" cy="5334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2531" name="Object 2"/>
          <p:cNvGraphicFramePr>
            <a:graphicFrameLocks noChangeAspect="1"/>
          </p:cNvGraphicFramePr>
          <p:nvPr/>
        </p:nvGraphicFramePr>
        <p:xfrm>
          <a:off x="4956175" y="300038"/>
          <a:ext cx="2874963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Document" r:id="rId1" imgW="7092950" imgH="4626610" progId="Word.Document.8">
                  <p:embed/>
                </p:oleObj>
              </mc:Choice>
              <mc:Fallback>
                <p:oleObj name="Document" r:id="rId1" imgW="7092950" imgH="462661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300038"/>
                        <a:ext cx="2874963" cy="259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6E3AD81-A14E-42B2-A99F-3F3D8ED22147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9220" name="Text Box 3"/>
          <p:cNvSpPr txBox="1">
            <a:spLocks noChangeArrowheads="1"/>
          </p:cNvSpPr>
          <p:nvPr/>
        </p:nvSpPr>
        <p:spPr bwMode="auto">
          <a:xfrm>
            <a:off x="1482725" y="876300"/>
            <a:ext cx="4635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 )</a:t>
            </a:r>
            <a:endParaRPr lang="en-US" altLang="zh-CN"/>
          </a:p>
        </p:txBody>
      </p:sp>
      <p:sp>
        <p:nvSpPr>
          <p:cNvPr id="9221" name="Text Box 4"/>
          <p:cNvSpPr txBox="1">
            <a:spLocks noChangeArrowheads="1"/>
          </p:cNvSpPr>
          <p:nvPr/>
        </p:nvSpPr>
        <p:spPr bwMode="auto">
          <a:xfrm>
            <a:off x="5105400" y="304800"/>
            <a:ext cx="4381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A04020102020204" pitchFamily="34" charset="0"/>
              </a:rPr>
              <a:t>Q</a:t>
            </a:r>
            <a:endParaRPr lang="en-US" altLang="zh-CN"/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215900" y="1752600"/>
            <a:ext cx="9715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((1,1))</a:t>
            </a:r>
            <a:endParaRPr lang="en-US" altLang="zh-CN"/>
          </a:p>
        </p:txBody>
      </p:sp>
      <p:sp>
        <p:nvSpPr>
          <p:cNvPr id="9223" name="Line 7"/>
          <p:cNvSpPr>
            <a:spLocks noChangeShapeType="1"/>
          </p:cNvSpPr>
          <p:nvPr/>
        </p:nvSpPr>
        <p:spPr bwMode="auto">
          <a:xfrm flipH="1">
            <a:off x="762000" y="1295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4" name="Text Box 8"/>
          <p:cNvSpPr txBox="1">
            <a:spLocks noChangeArrowheads="1"/>
          </p:cNvSpPr>
          <p:nvPr/>
        </p:nvSpPr>
        <p:spPr bwMode="auto">
          <a:xfrm>
            <a:off x="0" y="2971800"/>
            <a:ext cx="16319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((1,1) (2,3))</a:t>
            </a:r>
            <a:endParaRPr lang="en-US" altLang="zh-CN"/>
          </a:p>
        </p:txBody>
      </p:sp>
      <p:sp>
        <p:nvSpPr>
          <p:cNvPr id="9225" name="Line 9"/>
          <p:cNvSpPr>
            <a:spLocks noChangeShapeType="1"/>
          </p:cNvSpPr>
          <p:nvPr/>
        </p:nvSpPr>
        <p:spPr bwMode="auto">
          <a:xfrm>
            <a:off x="6096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6" name="Line 10"/>
          <p:cNvSpPr>
            <a:spLocks noChangeShapeType="1"/>
          </p:cNvSpPr>
          <p:nvPr/>
        </p:nvSpPr>
        <p:spPr bwMode="auto">
          <a:xfrm flipV="1">
            <a:off x="838200" y="2209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7" name="Text Box 11"/>
          <p:cNvSpPr txBox="1">
            <a:spLocks noChangeArrowheads="1"/>
          </p:cNvSpPr>
          <p:nvPr/>
        </p:nvSpPr>
        <p:spPr bwMode="auto">
          <a:xfrm>
            <a:off x="1981200" y="3048000"/>
            <a:ext cx="16319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((1,1) (2,4))</a:t>
            </a:r>
            <a:endParaRPr lang="en-US" altLang="zh-CN"/>
          </a:p>
        </p:txBody>
      </p:sp>
      <p:sp>
        <p:nvSpPr>
          <p:cNvPr id="9228" name="Line 12"/>
          <p:cNvSpPr>
            <a:spLocks noChangeShapeType="1"/>
          </p:cNvSpPr>
          <p:nvPr/>
        </p:nvSpPr>
        <p:spPr bwMode="auto">
          <a:xfrm>
            <a:off x="1066800" y="2209800"/>
            <a:ext cx="1295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9" name="Text Box 14"/>
          <p:cNvSpPr txBox="1">
            <a:spLocks noChangeArrowheads="1"/>
          </p:cNvSpPr>
          <p:nvPr/>
        </p:nvSpPr>
        <p:spPr bwMode="auto">
          <a:xfrm>
            <a:off x="371821" y="4234934"/>
            <a:ext cx="1701107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 (2,4) (3,2))</a:t>
            </a:r>
            <a:endParaRPr lang="en-US" altLang="zh-CN" dirty="0"/>
          </a:p>
        </p:txBody>
      </p:sp>
      <p:sp>
        <p:nvSpPr>
          <p:cNvPr id="9230" name="Line 15"/>
          <p:cNvSpPr>
            <a:spLocks noChangeShapeType="1"/>
          </p:cNvSpPr>
          <p:nvPr/>
        </p:nvSpPr>
        <p:spPr bwMode="auto">
          <a:xfrm flipH="1">
            <a:off x="1143000" y="3581400"/>
            <a:ext cx="1295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31" name="Line 16"/>
          <p:cNvSpPr>
            <a:spLocks noChangeShapeType="1"/>
          </p:cNvSpPr>
          <p:nvPr/>
        </p:nvSpPr>
        <p:spPr bwMode="auto">
          <a:xfrm flipV="1">
            <a:off x="1752600" y="3657600"/>
            <a:ext cx="990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32" name="Line 17"/>
          <p:cNvSpPr>
            <a:spLocks noChangeShapeType="1"/>
          </p:cNvSpPr>
          <p:nvPr/>
        </p:nvSpPr>
        <p:spPr bwMode="auto">
          <a:xfrm flipH="1" flipV="1">
            <a:off x="1295400" y="2133600"/>
            <a:ext cx="1219200" cy="6858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3555" name="Object 2"/>
          <p:cNvGraphicFramePr>
            <a:graphicFrameLocks noChangeAspect="1"/>
          </p:cNvGraphicFramePr>
          <p:nvPr/>
        </p:nvGraphicFramePr>
        <p:xfrm>
          <a:off x="4956175" y="300038"/>
          <a:ext cx="2874963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Document" r:id="rId1" imgW="7092950" imgH="4626610" progId="Word.Document.8">
                  <p:embed/>
                </p:oleObj>
              </mc:Choice>
              <mc:Fallback>
                <p:oleObj name="Document" r:id="rId1" imgW="7092950" imgH="462661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300038"/>
                        <a:ext cx="2874963" cy="259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76FE3F2-519B-4811-AD3F-06D673144D80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10244" name="Text Box 16"/>
          <p:cNvSpPr txBox="1">
            <a:spLocks noChangeArrowheads="1"/>
          </p:cNvSpPr>
          <p:nvPr/>
        </p:nvSpPr>
        <p:spPr bwMode="auto">
          <a:xfrm>
            <a:off x="1482725" y="876300"/>
            <a:ext cx="4635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 )</a:t>
            </a:r>
            <a:endParaRPr lang="en-US" altLang="zh-CN"/>
          </a:p>
        </p:txBody>
      </p:sp>
      <p:sp>
        <p:nvSpPr>
          <p:cNvPr id="10245" name="Text Box 18"/>
          <p:cNvSpPr txBox="1">
            <a:spLocks noChangeArrowheads="1"/>
          </p:cNvSpPr>
          <p:nvPr/>
        </p:nvSpPr>
        <p:spPr bwMode="auto">
          <a:xfrm>
            <a:off x="215900" y="1752600"/>
            <a:ext cx="9715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((1,1))</a:t>
            </a:r>
            <a:endParaRPr lang="en-US" altLang="zh-CN"/>
          </a:p>
        </p:txBody>
      </p:sp>
      <p:sp>
        <p:nvSpPr>
          <p:cNvPr id="10246" name="Line 19"/>
          <p:cNvSpPr>
            <a:spLocks noChangeShapeType="1"/>
          </p:cNvSpPr>
          <p:nvPr/>
        </p:nvSpPr>
        <p:spPr bwMode="auto">
          <a:xfrm flipH="1">
            <a:off x="762000" y="1295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7" name="Text Box 20"/>
          <p:cNvSpPr txBox="1">
            <a:spLocks noChangeArrowheads="1"/>
          </p:cNvSpPr>
          <p:nvPr/>
        </p:nvSpPr>
        <p:spPr bwMode="auto">
          <a:xfrm>
            <a:off x="0" y="2971800"/>
            <a:ext cx="16319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((1,1) (2,3))</a:t>
            </a:r>
            <a:endParaRPr lang="en-US" altLang="zh-CN"/>
          </a:p>
        </p:txBody>
      </p:sp>
      <p:sp>
        <p:nvSpPr>
          <p:cNvPr id="10248" name="Line 21"/>
          <p:cNvSpPr>
            <a:spLocks noChangeShapeType="1"/>
          </p:cNvSpPr>
          <p:nvPr/>
        </p:nvSpPr>
        <p:spPr bwMode="auto">
          <a:xfrm>
            <a:off x="6096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9" name="Line 22"/>
          <p:cNvSpPr>
            <a:spLocks noChangeShapeType="1"/>
          </p:cNvSpPr>
          <p:nvPr/>
        </p:nvSpPr>
        <p:spPr bwMode="auto">
          <a:xfrm flipV="1">
            <a:off x="838200" y="2209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0" name="Text Box 23"/>
          <p:cNvSpPr txBox="1">
            <a:spLocks noChangeArrowheads="1"/>
          </p:cNvSpPr>
          <p:nvPr/>
        </p:nvSpPr>
        <p:spPr bwMode="auto">
          <a:xfrm>
            <a:off x="1981200" y="3048000"/>
            <a:ext cx="16319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((1,1) (2,4))</a:t>
            </a:r>
            <a:endParaRPr lang="en-US" altLang="zh-CN"/>
          </a:p>
        </p:txBody>
      </p:sp>
      <p:sp>
        <p:nvSpPr>
          <p:cNvPr id="10251" name="Line 24"/>
          <p:cNvSpPr>
            <a:spLocks noChangeShapeType="1"/>
          </p:cNvSpPr>
          <p:nvPr/>
        </p:nvSpPr>
        <p:spPr bwMode="auto">
          <a:xfrm>
            <a:off x="1066800" y="2209800"/>
            <a:ext cx="1295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2" name="Text Box 25"/>
          <p:cNvSpPr txBox="1">
            <a:spLocks noChangeArrowheads="1"/>
          </p:cNvSpPr>
          <p:nvPr/>
        </p:nvSpPr>
        <p:spPr bwMode="auto">
          <a:xfrm>
            <a:off x="371821" y="4234934"/>
            <a:ext cx="1701107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 (2,4) (3,2))</a:t>
            </a:r>
            <a:endParaRPr lang="en-US" altLang="zh-CN" dirty="0"/>
          </a:p>
        </p:txBody>
      </p:sp>
      <p:sp>
        <p:nvSpPr>
          <p:cNvPr id="10253" name="Line 26"/>
          <p:cNvSpPr>
            <a:spLocks noChangeShapeType="1"/>
          </p:cNvSpPr>
          <p:nvPr/>
        </p:nvSpPr>
        <p:spPr bwMode="auto">
          <a:xfrm flipH="1">
            <a:off x="1143000" y="3581400"/>
            <a:ext cx="1295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4" name="Line 27"/>
          <p:cNvSpPr>
            <a:spLocks noChangeShapeType="1"/>
          </p:cNvSpPr>
          <p:nvPr/>
        </p:nvSpPr>
        <p:spPr bwMode="auto">
          <a:xfrm flipV="1">
            <a:off x="1752600" y="3657600"/>
            <a:ext cx="990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5" name="Line 28"/>
          <p:cNvSpPr>
            <a:spLocks noChangeShapeType="1"/>
          </p:cNvSpPr>
          <p:nvPr/>
        </p:nvSpPr>
        <p:spPr bwMode="auto">
          <a:xfrm flipH="1" flipV="1">
            <a:off x="1295400" y="2133600"/>
            <a:ext cx="1219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6" name="Line 29"/>
          <p:cNvSpPr>
            <a:spLocks noChangeShapeType="1"/>
          </p:cNvSpPr>
          <p:nvPr/>
        </p:nvSpPr>
        <p:spPr bwMode="auto">
          <a:xfrm flipV="1">
            <a:off x="1143000" y="1447800"/>
            <a:ext cx="457200" cy="3048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4579" name="Object 2"/>
          <p:cNvGraphicFramePr>
            <a:graphicFrameLocks noChangeAspect="1"/>
          </p:cNvGraphicFramePr>
          <p:nvPr/>
        </p:nvGraphicFramePr>
        <p:xfrm>
          <a:off x="4956175" y="300038"/>
          <a:ext cx="2874963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Document" r:id="rId1" imgW="7092950" imgH="4626610" progId="Word.Document.8">
                  <p:embed/>
                </p:oleObj>
              </mc:Choice>
              <mc:Fallback>
                <p:oleObj name="Document" r:id="rId1" imgW="7092950" imgH="462661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300038"/>
                        <a:ext cx="2874963" cy="259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73CF3D2-ACA5-4CD9-9DEF-136DDC337C98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11268" name="Text Box 3"/>
          <p:cNvSpPr txBox="1">
            <a:spLocks noChangeArrowheads="1"/>
          </p:cNvSpPr>
          <p:nvPr/>
        </p:nvSpPr>
        <p:spPr bwMode="auto">
          <a:xfrm>
            <a:off x="1482725" y="876300"/>
            <a:ext cx="4635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 )</a:t>
            </a:r>
            <a:endParaRPr lang="en-US" altLang="zh-CN"/>
          </a:p>
        </p:txBody>
      </p:sp>
      <p:sp>
        <p:nvSpPr>
          <p:cNvPr id="11269" name="Text Box 4"/>
          <p:cNvSpPr txBox="1">
            <a:spLocks noChangeArrowheads="1"/>
          </p:cNvSpPr>
          <p:nvPr/>
        </p:nvSpPr>
        <p:spPr bwMode="auto">
          <a:xfrm>
            <a:off x="215900" y="1752600"/>
            <a:ext cx="9715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((1,1))</a:t>
            </a:r>
            <a:endParaRPr lang="en-US" altLang="zh-CN"/>
          </a:p>
        </p:txBody>
      </p:sp>
      <p:sp>
        <p:nvSpPr>
          <p:cNvPr id="11270" name="Line 5"/>
          <p:cNvSpPr>
            <a:spLocks noChangeShapeType="1"/>
          </p:cNvSpPr>
          <p:nvPr/>
        </p:nvSpPr>
        <p:spPr bwMode="auto">
          <a:xfrm flipH="1">
            <a:off x="762000" y="1295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1" name="Text Box 6"/>
          <p:cNvSpPr txBox="1">
            <a:spLocks noChangeArrowheads="1"/>
          </p:cNvSpPr>
          <p:nvPr/>
        </p:nvSpPr>
        <p:spPr bwMode="auto">
          <a:xfrm>
            <a:off x="0" y="2971800"/>
            <a:ext cx="16319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((1,1) (2,3))</a:t>
            </a:r>
            <a:endParaRPr lang="en-US" altLang="zh-CN"/>
          </a:p>
        </p:txBody>
      </p:sp>
      <p:sp>
        <p:nvSpPr>
          <p:cNvPr id="11272" name="Line 7"/>
          <p:cNvSpPr>
            <a:spLocks noChangeShapeType="1"/>
          </p:cNvSpPr>
          <p:nvPr/>
        </p:nvSpPr>
        <p:spPr bwMode="auto">
          <a:xfrm>
            <a:off x="6096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3" name="Line 8"/>
          <p:cNvSpPr>
            <a:spLocks noChangeShapeType="1"/>
          </p:cNvSpPr>
          <p:nvPr/>
        </p:nvSpPr>
        <p:spPr bwMode="auto">
          <a:xfrm flipV="1">
            <a:off x="838200" y="2209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4" name="Text Box 9"/>
          <p:cNvSpPr txBox="1">
            <a:spLocks noChangeArrowheads="1"/>
          </p:cNvSpPr>
          <p:nvPr/>
        </p:nvSpPr>
        <p:spPr bwMode="auto">
          <a:xfrm>
            <a:off x="1981200" y="3048000"/>
            <a:ext cx="16319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((1,1) (2,4))</a:t>
            </a:r>
            <a:endParaRPr lang="en-US" altLang="zh-CN"/>
          </a:p>
        </p:txBody>
      </p:sp>
      <p:sp>
        <p:nvSpPr>
          <p:cNvPr id="11275" name="Line 10"/>
          <p:cNvSpPr>
            <a:spLocks noChangeShapeType="1"/>
          </p:cNvSpPr>
          <p:nvPr/>
        </p:nvSpPr>
        <p:spPr bwMode="auto">
          <a:xfrm>
            <a:off x="1066800" y="2209800"/>
            <a:ext cx="1295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6" name="Text Box 11"/>
          <p:cNvSpPr txBox="1">
            <a:spLocks noChangeArrowheads="1"/>
          </p:cNvSpPr>
          <p:nvPr/>
        </p:nvSpPr>
        <p:spPr bwMode="auto">
          <a:xfrm>
            <a:off x="371821" y="4234934"/>
            <a:ext cx="1701107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 (2,4) (3,2))</a:t>
            </a:r>
            <a:endParaRPr lang="en-US" altLang="zh-CN" dirty="0"/>
          </a:p>
        </p:txBody>
      </p:sp>
      <p:sp>
        <p:nvSpPr>
          <p:cNvPr id="11277" name="Line 12"/>
          <p:cNvSpPr>
            <a:spLocks noChangeShapeType="1"/>
          </p:cNvSpPr>
          <p:nvPr/>
        </p:nvSpPr>
        <p:spPr bwMode="auto">
          <a:xfrm flipH="1">
            <a:off x="1143000" y="3581400"/>
            <a:ext cx="1295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8" name="Line 13"/>
          <p:cNvSpPr>
            <a:spLocks noChangeShapeType="1"/>
          </p:cNvSpPr>
          <p:nvPr/>
        </p:nvSpPr>
        <p:spPr bwMode="auto">
          <a:xfrm flipV="1">
            <a:off x="1752600" y="3657600"/>
            <a:ext cx="990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9" name="Line 14"/>
          <p:cNvSpPr>
            <a:spLocks noChangeShapeType="1"/>
          </p:cNvSpPr>
          <p:nvPr/>
        </p:nvSpPr>
        <p:spPr bwMode="auto">
          <a:xfrm flipH="1" flipV="1">
            <a:off x="1295400" y="2133600"/>
            <a:ext cx="1219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80" name="Line 15"/>
          <p:cNvSpPr>
            <a:spLocks noChangeShapeType="1"/>
          </p:cNvSpPr>
          <p:nvPr/>
        </p:nvSpPr>
        <p:spPr bwMode="auto">
          <a:xfrm flipV="1">
            <a:off x="1143000" y="1447800"/>
            <a:ext cx="457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81" name="Text Box 16"/>
          <p:cNvSpPr txBox="1">
            <a:spLocks noChangeArrowheads="1"/>
          </p:cNvSpPr>
          <p:nvPr/>
        </p:nvSpPr>
        <p:spPr bwMode="auto">
          <a:xfrm>
            <a:off x="5715000" y="304800"/>
            <a:ext cx="4381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A04020102020204" pitchFamily="34" charset="0"/>
              </a:rPr>
              <a:t>Q</a:t>
            </a:r>
            <a:endParaRPr lang="en-US" altLang="zh-CN"/>
          </a:p>
        </p:txBody>
      </p:sp>
      <p:sp>
        <p:nvSpPr>
          <p:cNvPr id="11282" name="Text Box 17"/>
          <p:cNvSpPr txBox="1">
            <a:spLocks noChangeArrowheads="1"/>
          </p:cNvSpPr>
          <p:nvPr/>
        </p:nvSpPr>
        <p:spPr bwMode="auto">
          <a:xfrm>
            <a:off x="3276600" y="1828800"/>
            <a:ext cx="9715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chemeClr val="tx2"/>
                </a:solidFill>
              </a:rPr>
              <a:t>((1,2))</a:t>
            </a:r>
            <a:endParaRPr lang="en-US" altLang="zh-CN"/>
          </a:p>
        </p:txBody>
      </p:sp>
      <p:sp>
        <p:nvSpPr>
          <p:cNvPr id="11283" name="Line 18"/>
          <p:cNvSpPr>
            <a:spLocks noChangeShapeType="1"/>
          </p:cNvSpPr>
          <p:nvPr/>
        </p:nvSpPr>
        <p:spPr bwMode="auto">
          <a:xfrm>
            <a:off x="1981200" y="1371600"/>
            <a:ext cx="1447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603" name="Object 2"/>
          <p:cNvGraphicFramePr>
            <a:graphicFrameLocks noChangeAspect="1"/>
          </p:cNvGraphicFramePr>
          <p:nvPr/>
        </p:nvGraphicFramePr>
        <p:xfrm>
          <a:off x="4956175" y="300038"/>
          <a:ext cx="2874963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Document" r:id="rId1" imgW="7092950" imgH="4626610" progId="Word.Document.8">
                  <p:embed/>
                </p:oleObj>
              </mc:Choice>
              <mc:Fallback>
                <p:oleObj name="Document" r:id="rId1" imgW="7092950" imgH="462661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300038"/>
                        <a:ext cx="2874963" cy="259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08C3DD5-A510-4564-9CA6-FBE308EB08CD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12292" name="Text Box 3"/>
          <p:cNvSpPr txBox="1">
            <a:spLocks noChangeArrowheads="1"/>
          </p:cNvSpPr>
          <p:nvPr/>
        </p:nvSpPr>
        <p:spPr bwMode="auto">
          <a:xfrm>
            <a:off x="1482725" y="876300"/>
            <a:ext cx="4635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 )</a:t>
            </a:r>
            <a:endParaRPr lang="en-US" altLang="zh-CN"/>
          </a:p>
        </p:txBody>
      </p:sp>
      <p:sp>
        <p:nvSpPr>
          <p:cNvPr id="12293" name="Text Box 4"/>
          <p:cNvSpPr txBox="1">
            <a:spLocks noChangeArrowheads="1"/>
          </p:cNvSpPr>
          <p:nvPr/>
        </p:nvSpPr>
        <p:spPr bwMode="auto">
          <a:xfrm>
            <a:off x="215900" y="1752600"/>
            <a:ext cx="9715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((1,1))</a:t>
            </a:r>
            <a:endParaRPr lang="en-US" altLang="zh-CN"/>
          </a:p>
        </p:txBody>
      </p:sp>
      <p:sp>
        <p:nvSpPr>
          <p:cNvPr id="12294" name="Line 5"/>
          <p:cNvSpPr>
            <a:spLocks noChangeShapeType="1"/>
          </p:cNvSpPr>
          <p:nvPr/>
        </p:nvSpPr>
        <p:spPr bwMode="auto">
          <a:xfrm flipH="1">
            <a:off x="762000" y="1295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5" name="Text Box 6"/>
          <p:cNvSpPr txBox="1">
            <a:spLocks noChangeArrowheads="1"/>
          </p:cNvSpPr>
          <p:nvPr/>
        </p:nvSpPr>
        <p:spPr bwMode="auto">
          <a:xfrm>
            <a:off x="0" y="2971800"/>
            <a:ext cx="16319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((1,1) (2,3))</a:t>
            </a:r>
            <a:endParaRPr lang="en-US" altLang="zh-CN"/>
          </a:p>
        </p:txBody>
      </p:sp>
      <p:sp>
        <p:nvSpPr>
          <p:cNvPr id="12296" name="Line 7"/>
          <p:cNvSpPr>
            <a:spLocks noChangeShapeType="1"/>
          </p:cNvSpPr>
          <p:nvPr/>
        </p:nvSpPr>
        <p:spPr bwMode="auto">
          <a:xfrm>
            <a:off x="6096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7" name="Line 8"/>
          <p:cNvSpPr>
            <a:spLocks noChangeShapeType="1"/>
          </p:cNvSpPr>
          <p:nvPr/>
        </p:nvSpPr>
        <p:spPr bwMode="auto">
          <a:xfrm flipV="1">
            <a:off x="838200" y="2209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8" name="Text Box 9"/>
          <p:cNvSpPr txBox="1">
            <a:spLocks noChangeArrowheads="1"/>
          </p:cNvSpPr>
          <p:nvPr/>
        </p:nvSpPr>
        <p:spPr bwMode="auto">
          <a:xfrm>
            <a:off x="1981200" y="3048000"/>
            <a:ext cx="16319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((1,1) (2,4))</a:t>
            </a:r>
            <a:endParaRPr lang="en-US" altLang="zh-CN"/>
          </a:p>
        </p:txBody>
      </p:sp>
      <p:sp>
        <p:nvSpPr>
          <p:cNvPr id="12299" name="Line 10"/>
          <p:cNvSpPr>
            <a:spLocks noChangeShapeType="1"/>
          </p:cNvSpPr>
          <p:nvPr/>
        </p:nvSpPr>
        <p:spPr bwMode="auto">
          <a:xfrm>
            <a:off x="1066800" y="2209800"/>
            <a:ext cx="1295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0" name="Text Box 11"/>
          <p:cNvSpPr txBox="1">
            <a:spLocks noChangeArrowheads="1"/>
          </p:cNvSpPr>
          <p:nvPr/>
        </p:nvSpPr>
        <p:spPr bwMode="auto">
          <a:xfrm>
            <a:off x="371821" y="4234934"/>
            <a:ext cx="1701107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 (2,4) (3,2))</a:t>
            </a:r>
            <a:endParaRPr lang="en-US" altLang="zh-CN" dirty="0"/>
          </a:p>
        </p:txBody>
      </p:sp>
      <p:sp>
        <p:nvSpPr>
          <p:cNvPr id="12301" name="Line 12"/>
          <p:cNvSpPr>
            <a:spLocks noChangeShapeType="1"/>
          </p:cNvSpPr>
          <p:nvPr/>
        </p:nvSpPr>
        <p:spPr bwMode="auto">
          <a:xfrm flipH="1">
            <a:off x="1143000" y="3581400"/>
            <a:ext cx="1295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2" name="Line 13"/>
          <p:cNvSpPr>
            <a:spLocks noChangeShapeType="1"/>
          </p:cNvSpPr>
          <p:nvPr/>
        </p:nvSpPr>
        <p:spPr bwMode="auto">
          <a:xfrm flipV="1">
            <a:off x="1752600" y="3657600"/>
            <a:ext cx="990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3" name="Line 14"/>
          <p:cNvSpPr>
            <a:spLocks noChangeShapeType="1"/>
          </p:cNvSpPr>
          <p:nvPr/>
        </p:nvSpPr>
        <p:spPr bwMode="auto">
          <a:xfrm flipH="1" flipV="1">
            <a:off x="1295400" y="2133600"/>
            <a:ext cx="1219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4" name="Line 15"/>
          <p:cNvSpPr>
            <a:spLocks noChangeShapeType="1"/>
          </p:cNvSpPr>
          <p:nvPr/>
        </p:nvSpPr>
        <p:spPr bwMode="auto">
          <a:xfrm flipV="1">
            <a:off x="1143000" y="1447800"/>
            <a:ext cx="457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5" name="Text Box 16"/>
          <p:cNvSpPr txBox="1">
            <a:spLocks noChangeArrowheads="1"/>
          </p:cNvSpPr>
          <p:nvPr/>
        </p:nvSpPr>
        <p:spPr bwMode="auto">
          <a:xfrm>
            <a:off x="5715000" y="304800"/>
            <a:ext cx="4381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A04020102020204" pitchFamily="34" charset="0"/>
              </a:rPr>
              <a:t>Q</a:t>
            </a:r>
            <a:endParaRPr lang="en-US" altLang="zh-CN"/>
          </a:p>
        </p:txBody>
      </p:sp>
      <p:sp>
        <p:nvSpPr>
          <p:cNvPr id="12306" name="Text Box 17"/>
          <p:cNvSpPr txBox="1">
            <a:spLocks noChangeArrowheads="1"/>
          </p:cNvSpPr>
          <p:nvPr/>
        </p:nvSpPr>
        <p:spPr bwMode="auto">
          <a:xfrm>
            <a:off x="3276600" y="1828800"/>
            <a:ext cx="9715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((1,2))</a:t>
            </a:r>
            <a:endParaRPr lang="en-US" altLang="zh-CN"/>
          </a:p>
        </p:txBody>
      </p:sp>
      <p:sp>
        <p:nvSpPr>
          <p:cNvPr id="12307" name="Line 18"/>
          <p:cNvSpPr>
            <a:spLocks noChangeShapeType="1"/>
          </p:cNvSpPr>
          <p:nvPr/>
        </p:nvSpPr>
        <p:spPr bwMode="auto">
          <a:xfrm>
            <a:off x="1981200" y="1371600"/>
            <a:ext cx="1447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8" name="Text Box 19"/>
          <p:cNvSpPr txBox="1">
            <a:spLocks noChangeArrowheads="1"/>
          </p:cNvSpPr>
          <p:nvPr/>
        </p:nvSpPr>
        <p:spPr bwMode="auto">
          <a:xfrm>
            <a:off x="6934200" y="838200"/>
            <a:ext cx="4381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A04020102020204" pitchFamily="34" charset="0"/>
              </a:rPr>
              <a:t>Q</a:t>
            </a:r>
            <a:endParaRPr lang="en-US" altLang="zh-CN"/>
          </a:p>
        </p:txBody>
      </p:sp>
      <p:sp>
        <p:nvSpPr>
          <p:cNvPr id="12309" name="Text Box 20"/>
          <p:cNvSpPr txBox="1">
            <a:spLocks noChangeArrowheads="1"/>
          </p:cNvSpPr>
          <p:nvPr/>
        </p:nvSpPr>
        <p:spPr bwMode="auto">
          <a:xfrm>
            <a:off x="4114800" y="3200400"/>
            <a:ext cx="16319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chemeClr val="tx2"/>
                </a:solidFill>
              </a:rPr>
              <a:t>((1,2) (2,4))</a:t>
            </a:r>
            <a:endParaRPr lang="en-US" altLang="zh-CN"/>
          </a:p>
        </p:txBody>
      </p:sp>
      <p:sp>
        <p:nvSpPr>
          <p:cNvPr id="12310" name="Line 21"/>
          <p:cNvSpPr>
            <a:spLocks noChangeShapeType="1"/>
          </p:cNvSpPr>
          <p:nvPr/>
        </p:nvSpPr>
        <p:spPr bwMode="auto">
          <a:xfrm>
            <a:off x="3962400" y="2362200"/>
            <a:ext cx="990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6627" name="Object 2"/>
          <p:cNvGraphicFramePr>
            <a:graphicFrameLocks noChangeAspect="1"/>
          </p:cNvGraphicFramePr>
          <p:nvPr/>
        </p:nvGraphicFramePr>
        <p:xfrm>
          <a:off x="4956175" y="300038"/>
          <a:ext cx="2874963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Document" r:id="rId1" imgW="7092950" imgH="4626610" progId="Word.Document.8">
                  <p:embed/>
                </p:oleObj>
              </mc:Choice>
              <mc:Fallback>
                <p:oleObj name="Document" r:id="rId1" imgW="7092950" imgH="462661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300038"/>
                        <a:ext cx="2874963" cy="259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49412B5-8CFF-4A19-A9B0-78C8D2790A5B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13316" name="Text Box 3"/>
          <p:cNvSpPr txBox="1">
            <a:spLocks noChangeArrowheads="1"/>
          </p:cNvSpPr>
          <p:nvPr/>
        </p:nvSpPr>
        <p:spPr bwMode="auto">
          <a:xfrm>
            <a:off x="1482725" y="876300"/>
            <a:ext cx="4635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 )</a:t>
            </a:r>
            <a:endParaRPr lang="en-US" altLang="zh-CN"/>
          </a:p>
        </p:txBody>
      </p:sp>
      <p:sp>
        <p:nvSpPr>
          <p:cNvPr id="13317" name="Text Box 4"/>
          <p:cNvSpPr txBox="1">
            <a:spLocks noChangeArrowheads="1"/>
          </p:cNvSpPr>
          <p:nvPr/>
        </p:nvSpPr>
        <p:spPr bwMode="auto">
          <a:xfrm>
            <a:off x="215900" y="1752600"/>
            <a:ext cx="9715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((1,1))</a:t>
            </a:r>
            <a:endParaRPr lang="en-US" altLang="zh-CN"/>
          </a:p>
        </p:txBody>
      </p:sp>
      <p:sp>
        <p:nvSpPr>
          <p:cNvPr id="13318" name="Line 5"/>
          <p:cNvSpPr>
            <a:spLocks noChangeShapeType="1"/>
          </p:cNvSpPr>
          <p:nvPr/>
        </p:nvSpPr>
        <p:spPr bwMode="auto">
          <a:xfrm flipH="1">
            <a:off x="762000" y="1295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9" name="Text Box 6"/>
          <p:cNvSpPr txBox="1">
            <a:spLocks noChangeArrowheads="1"/>
          </p:cNvSpPr>
          <p:nvPr/>
        </p:nvSpPr>
        <p:spPr bwMode="auto">
          <a:xfrm>
            <a:off x="0" y="2971800"/>
            <a:ext cx="16319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((1,1) (2,3))</a:t>
            </a:r>
            <a:endParaRPr lang="en-US" altLang="zh-CN"/>
          </a:p>
        </p:txBody>
      </p:sp>
      <p:sp>
        <p:nvSpPr>
          <p:cNvPr id="13320" name="Line 7"/>
          <p:cNvSpPr>
            <a:spLocks noChangeShapeType="1"/>
          </p:cNvSpPr>
          <p:nvPr/>
        </p:nvSpPr>
        <p:spPr bwMode="auto">
          <a:xfrm>
            <a:off x="6096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1" name="Line 8"/>
          <p:cNvSpPr>
            <a:spLocks noChangeShapeType="1"/>
          </p:cNvSpPr>
          <p:nvPr/>
        </p:nvSpPr>
        <p:spPr bwMode="auto">
          <a:xfrm flipV="1">
            <a:off x="838200" y="2209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2" name="Text Box 9"/>
          <p:cNvSpPr txBox="1">
            <a:spLocks noChangeArrowheads="1"/>
          </p:cNvSpPr>
          <p:nvPr/>
        </p:nvSpPr>
        <p:spPr bwMode="auto">
          <a:xfrm>
            <a:off x="1981200" y="3048000"/>
            <a:ext cx="16319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((1,1) (2,4))</a:t>
            </a:r>
            <a:endParaRPr lang="en-US" altLang="zh-CN"/>
          </a:p>
        </p:txBody>
      </p:sp>
      <p:sp>
        <p:nvSpPr>
          <p:cNvPr id="13323" name="Line 10"/>
          <p:cNvSpPr>
            <a:spLocks noChangeShapeType="1"/>
          </p:cNvSpPr>
          <p:nvPr/>
        </p:nvSpPr>
        <p:spPr bwMode="auto">
          <a:xfrm>
            <a:off x="1066800" y="2209800"/>
            <a:ext cx="1295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4" name="Text Box 11"/>
          <p:cNvSpPr txBox="1">
            <a:spLocks noChangeArrowheads="1"/>
          </p:cNvSpPr>
          <p:nvPr/>
        </p:nvSpPr>
        <p:spPr bwMode="auto">
          <a:xfrm>
            <a:off x="371821" y="4234934"/>
            <a:ext cx="1701107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 (2,4) (3,2))</a:t>
            </a:r>
            <a:endParaRPr lang="en-US" altLang="zh-CN" dirty="0"/>
          </a:p>
        </p:txBody>
      </p:sp>
      <p:sp>
        <p:nvSpPr>
          <p:cNvPr id="13325" name="Line 12"/>
          <p:cNvSpPr>
            <a:spLocks noChangeShapeType="1"/>
          </p:cNvSpPr>
          <p:nvPr/>
        </p:nvSpPr>
        <p:spPr bwMode="auto">
          <a:xfrm flipH="1">
            <a:off x="1143000" y="3581400"/>
            <a:ext cx="1295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6" name="Line 13"/>
          <p:cNvSpPr>
            <a:spLocks noChangeShapeType="1"/>
          </p:cNvSpPr>
          <p:nvPr/>
        </p:nvSpPr>
        <p:spPr bwMode="auto">
          <a:xfrm flipV="1">
            <a:off x="1752600" y="3657600"/>
            <a:ext cx="990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7" name="Line 14"/>
          <p:cNvSpPr>
            <a:spLocks noChangeShapeType="1"/>
          </p:cNvSpPr>
          <p:nvPr/>
        </p:nvSpPr>
        <p:spPr bwMode="auto">
          <a:xfrm flipH="1" flipV="1">
            <a:off x="1295400" y="2133600"/>
            <a:ext cx="1219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8" name="Line 15"/>
          <p:cNvSpPr>
            <a:spLocks noChangeShapeType="1"/>
          </p:cNvSpPr>
          <p:nvPr/>
        </p:nvSpPr>
        <p:spPr bwMode="auto">
          <a:xfrm flipV="1">
            <a:off x="1143000" y="1447800"/>
            <a:ext cx="457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9" name="Text Box 16"/>
          <p:cNvSpPr txBox="1">
            <a:spLocks noChangeArrowheads="1"/>
          </p:cNvSpPr>
          <p:nvPr/>
        </p:nvSpPr>
        <p:spPr bwMode="auto">
          <a:xfrm>
            <a:off x="5715000" y="304800"/>
            <a:ext cx="4381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A04020102020204" pitchFamily="34" charset="0"/>
              </a:rPr>
              <a:t>Q</a:t>
            </a:r>
            <a:endParaRPr lang="en-US" altLang="zh-CN"/>
          </a:p>
        </p:txBody>
      </p:sp>
      <p:sp>
        <p:nvSpPr>
          <p:cNvPr id="13330" name="Text Box 17"/>
          <p:cNvSpPr txBox="1">
            <a:spLocks noChangeArrowheads="1"/>
          </p:cNvSpPr>
          <p:nvPr/>
        </p:nvSpPr>
        <p:spPr bwMode="auto">
          <a:xfrm>
            <a:off x="3276600" y="1828800"/>
            <a:ext cx="9715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((1,2))</a:t>
            </a:r>
            <a:endParaRPr lang="en-US" altLang="zh-CN"/>
          </a:p>
        </p:txBody>
      </p:sp>
      <p:sp>
        <p:nvSpPr>
          <p:cNvPr id="13331" name="Line 18"/>
          <p:cNvSpPr>
            <a:spLocks noChangeShapeType="1"/>
          </p:cNvSpPr>
          <p:nvPr/>
        </p:nvSpPr>
        <p:spPr bwMode="auto">
          <a:xfrm>
            <a:off x="1981200" y="1371600"/>
            <a:ext cx="1447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32" name="Text Box 19"/>
          <p:cNvSpPr txBox="1">
            <a:spLocks noChangeArrowheads="1"/>
          </p:cNvSpPr>
          <p:nvPr/>
        </p:nvSpPr>
        <p:spPr bwMode="auto">
          <a:xfrm>
            <a:off x="6934200" y="838200"/>
            <a:ext cx="4381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A04020102020204" pitchFamily="34" charset="0"/>
              </a:rPr>
              <a:t>Q</a:t>
            </a:r>
            <a:endParaRPr lang="en-US" altLang="zh-CN"/>
          </a:p>
        </p:txBody>
      </p:sp>
      <p:sp>
        <p:nvSpPr>
          <p:cNvPr id="13333" name="Text Box 20"/>
          <p:cNvSpPr txBox="1">
            <a:spLocks noChangeArrowheads="1"/>
          </p:cNvSpPr>
          <p:nvPr/>
        </p:nvSpPr>
        <p:spPr bwMode="auto">
          <a:xfrm>
            <a:off x="4114800" y="3200400"/>
            <a:ext cx="16319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((1,2) (2,4))</a:t>
            </a:r>
            <a:endParaRPr lang="en-US" altLang="zh-CN"/>
          </a:p>
        </p:txBody>
      </p:sp>
      <p:sp>
        <p:nvSpPr>
          <p:cNvPr id="13334" name="Line 21"/>
          <p:cNvSpPr>
            <a:spLocks noChangeShapeType="1"/>
          </p:cNvSpPr>
          <p:nvPr/>
        </p:nvSpPr>
        <p:spPr bwMode="auto">
          <a:xfrm>
            <a:off x="3962400" y="2362200"/>
            <a:ext cx="990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35" name="Text Box 22"/>
          <p:cNvSpPr txBox="1">
            <a:spLocks noChangeArrowheads="1"/>
          </p:cNvSpPr>
          <p:nvPr/>
        </p:nvSpPr>
        <p:spPr bwMode="auto">
          <a:xfrm>
            <a:off x="5105400" y="1371600"/>
            <a:ext cx="4381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A04020102020204" pitchFamily="34" charset="0"/>
              </a:rPr>
              <a:t>Q</a:t>
            </a:r>
            <a:endParaRPr lang="en-US" altLang="zh-CN"/>
          </a:p>
        </p:txBody>
      </p:sp>
      <p:sp>
        <p:nvSpPr>
          <p:cNvPr id="13336" name="Text Box 23"/>
          <p:cNvSpPr txBox="1">
            <a:spLocks noChangeArrowheads="1"/>
          </p:cNvSpPr>
          <p:nvPr/>
        </p:nvSpPr>
        <p:spPr bwMode="auto">
          <a:xfrm>
            <a:off x="3784600" y="4267200"/>
            <a:ext cx="22923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chemeClr val="tx2"/>
                </a:solidFill>
              </a:rPr>
              <a:t>((1,2) (2,4) (3,1))</a:t>
            </a:r>
            <a:endParaRPr lang="en-US" altLang="zh-CN"/>
          </a:p>
        </p:txBody>
      </p:sp>
      <p:sp>
        <p:nvSpPr>
          <p:cNvPr id="13337" name="Line 24"/>
          <p:cNvSpPr>
            <a:spLocks noChangeShapeType="1"/>
          </p:cNvSpPr>
          <p:nvPr/>
        </p:nvSpPr>
        <p:spPr bwMode="auto">
          <a:xfrm>
            <a:off x="4953000" y="3733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7651" name="Object 2"/>
          <p:cNvGraphicFramePr>
            <a:graphicFrameLocks noChangeAspect="1"/>
          </p:cNvGraphicFramePr>
          <p:nvPr/>
        </p:nvGraphicFramePr>
        <p:xfrm>
          <a:off x="4956175" y="300038"/>
          <a:ext cx="2874963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Document" r:id="rId1" imgW="7092950" imgH="4626610" progId="Word.Document.8">
                  <p:embed/>
                </p:oleObj>
              </mc:Choice>
              <mc:Fallback>
                <p:oleObj name="Document" r:id="rId1" imgW="7092950" imgH="462661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300038"/>
                        <a:ext cx="2874963" cy="259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7DED112-7F9A-4827-81AE-176DECCA4764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14340" name="Text Box 3"/>
          <p:cNvSpPr txBox="1">
            <a:spLocks noChangeArrowheads="1"/>
          </p:cNvSpPr>
          <p:nvPr/>
        </p:nvSpPr>
        <p:spPr bwMode="auto">
          <a:xfrm>
            <a:off x="1482725" y="876300"/>
            <a:ext cx="4635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 )</a:t>
            </a:r>
            <a:endParaRPr lang="en-US" altLang="zh-CN"/>
          </a:p>
        </p:txBody>
      </p:sp>
      <p:sp>
        <p:nvSpPr>
          <p:cNvPr id="14341" name="Text Box 4"/>
          <p:cNvSpPr txBox="1">
            <a:spLocks noChangeArrowheads="1"/>
          </p:cNvSpPr>
          <p:nvPr/>
        </p:nvSpPr>
        <p:spPr bwMode="auto">
          <a:xfrm>
            <a:off x="215900" y="1752600"/>
            <a:ext cx="9715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((1,1))</a:t>
            </a:r>
            <a:endParaRPr lang="en-US" altLang="zh-CN"/>
          </a:p>
        </p:txBody>
      </p:sp>
      <p:sp>
        <p:nvSpPr>
          <p:cNvPr id="14342" name="Line 5"/>
          <p:cNvSpPr>
            <a:spLocks noChangeShapeType="1"/>
          </p:cNvSpPr>
          <p:nvPr/>
        </p:nvSpPr>
        <p:spPr bwMode="auto">
          <a:xfrm flipH="1">
            <a:off x="762000" y="1295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3" name="Text Box 6"/>
          <p:cNvSpPr txBox="1">
            <a:spLocks noChangeArrowheads="1"/>
          </p:cNvSpPr>
          <p:nvPr/>
        </p:nvSpPr>
        <p:spPr bwMode="auto">
          <a:xfrm>
            <a:off x="0" y="2971800"/>
            <a:ext cx="16319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((1,1) (2,3))</a:t>
            </a:r>
            <a:endParaRPr lang="en-US" altLang="zh-CN"/>
          </a:p>
        </p:txBody>
      </p:sp>
      <p:sp>
        <p:nvSpPr>
          <p:cNvPr id="14344" name="Line 7"/>
          <p:cNvSpPr>
            <a:spLocks noChangeShapeType="1"/>
          </p:cNvSpPr>
          <p:nvPr/>
        </p:nvSpPr>
        <p:spPr bwMode="auto">
          <a:xfrm>
            <a:off x="6096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5" name="Line 8"/>
          <p:cNvSpPr>
            <a:spLocks noChangeShapeType="1"/>
          </p:cNvSpPr>
          <p:nvPr/>
        </p:nvSpPr>
        <p:spPr bwMode="auto">
          <a:xfrm flipV="1">
            <a:off x="838200" y="2209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6" name="Text Box 9"/>
          <p:cNvSpPr txBox="1">
            <a:spLocks noChangeArrowheads="1"/>
          </p:cNvSpPr>
          <p:nvPr/>
        </p:nvSpPr>
        <p:spPr bwMode="auto">
          <a:xfrm>
            <a:off x="1981200" y="3048000"/>
            <a:ext cx="16319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((1,1) (2,4))</a:t>
            </a:r>
            <a:endParaRPr lang="en-US" altLang="zh-CN"/>
          </a:p>
        </p:txBody>
      </p:sp>
      <p:sp>
        <p:nvSpPr>
          <p:cNvPr id="14347" name="Line 10"/>
          <p:cNvSpPr>
            <a:spLocks noChangeShapeType="1"/>
          </p:cNvSpPr>
          <p:nvPr/>
        </p:nvSpPr>
        <p:spPr bwMode="auto">
          <a:xfrm>
            <a:off x="1066800" y="2209800"/>
            <a:ext cx="1295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8" name="Text Box 11"/>
          <p:cNvSpPr txBox="1">
            <a:spLocks noChangeArrowheads="1"/>
          </p:cNvSpPr>
          <p:nvPr/>
        </p:nvSpPr>
        <p:spPr bwMode="auto">
          <a:xfrm>
            <a:off x="371821" y="4234934"/>
            <a:ext cx="1701107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 (2,4) (3,2))</a:t>
            </a:r>
            <a:endParaRPr lang="en-US" altLang="zh-CN" dirty="0"/>
          </a:p>
        </p:txBody>
      </p:sp>
      <p:sp>
        <p:nvSpPr>
          <p:cNvPr id="14349" name="Line 12"/>
          <p:cNvSpPr>
            <a:spLocks noChangeShapeType="1"/>
          </p:cNvSpPr>
          <p:nvPr/>
        </p:nvSpPr>
        <p:spPr bwMode="auto">
          <a:xfrm flipH="1">
            <a:off x="1143000" y="3581400"/>
            <a:ext cx="1295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0" name="Line 13"/>
          <p:cNvSpPr>
            <a:spLocks noChangeShapeType="1"/>
          </p:cNvSpPr>
          <p:nvPr/>
        </p:nvSpPr>
        <p:spPr bwMode="auto">
          <a:xfrm flipV="1">
            <a:off x="1752600" y="3657600"/>
            <a:ext cx="990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1" name="Line 14"/>
          <p:cNvSpPr>
            <a:spLocks noChangeShapeType="1"/>
          </p:cNvSpPr>
          <p:nvPr/>
        </p:nvSpPr>
        <p:spPr bwMode="auto">
          <a:xfrm flipH="1" flipV="1">
            <a:off x="1295400" y="2133600"/>
            <a:ext cx="1219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2" name="Line 15"/>
          <p:cNvSpPr>
            <a:spLocks noChangeShapeType="1"/>
          </p:cNvSpPr>
          <p:nvPr/>
        </p:nvSpPr>
        <p:spPr bwMode="auto">
          <a:xfrm flipV="1">
            <a:off x="1143000" y="1447800"/>
            <a:ext cx="457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3" name="Text Box 16"/>
          <p:cNvSpPr txBox="1">
            <a:spLocks noChangeArrowheads="1"/>
          </p:cNvSpPr>
          <p:nvPr/>
        </p:nvSpPr>
        <p:spPr bwMode="auto">
          <a:xfrm>
            <a:off x="5715000" y="304800"/>
            <a:ext cx="4381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A04020102020204" pitchFamily="34" charset="0"/>
              </a:rPr>
              <a:t>Q</a:t>
            </a:r>
            <a:endParaRPr lang="en-US" altLang="zh-CN"/>
          </a:p>
        </p:txBody>
      </p:sp>
      <p:sp>
        <p:nvSpPr>
          <p:cNvPr id="14354" name="Text Box 17"/>
          <p:cNvSpPr txBox="1">
            <a:spLocks noChangeArrowheads="1"/>
          </p:cNvSpPr>
          <p:nvPr/>
        </p:nvSpPr>
        <p:spPr bwMode="auto">
          <a:xfrm>
            <a:off x="3276600" y="1828800"/>
            <a:ext cx="9715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((1,2))</a:t>
            </a:r>
            <a:endParaRPr lang="en-US" altLang="zh-CN"/>
          </a:p>
        </p:txBody>
      </p:sp>
      <p:sp>
        <p:nvSpPr>
          <p:cNvPr id="14355" name="Line 18"/>
          <p:cNvSpPr>
            <a:spLocks noChangeShapeType="1"/>
          </p:cNvSpPr>
          <p:nvPr/>
        </p:nvSpPr>
        <p:spPr bwMode="auto">
          <a:xfrm>
            <a:off x="1981200" y="1371600"/>
            <a:ext cx="1447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6" name="Text Box 19"/>
          <p:cNvSpPr txBox="1">
            <a:spLocks noChangeArrowheads="1"/>
          </p:cNvSpPr>
          <p:nvPr/>
        </p:nvSpPr>
        <p:spPr bwMode="auto">
          <a:xfrm>
            <a:off x="6934200" y="838200"/>
            <a:ext cx="4381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A04020102020204" pitchFamily="34" charset="0"/>
              </a:rPr>
              <a:t>Q</a:t>
            </a:r>
            <a:endParaRPr lang="en-US" altLang="zh-CN"/>
          </a:p>
        </p:txBody>
      </p:sp>
      <p:sp>
        <p:nvSpPr>
          <p:cNvPr id="14357" name="Text Box 20"/>
          <p:cNvSpPr txBox="1">
            <a:spLocks noChangeArrowheads="1"/>
          </p:cNvSpPr>
          <p:nvPr/>
        </p:nvSpPr>
        <p:spPr bwMode="auto">
          <a:xfrm>
            <a:off x="4114800" y="3200400"/>
            <a:ext cx="16319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((1,2) (2,4))</a:t>
            </a:r>
            <a:endParaRPr lang="en-US" altLang="zh-CN"/>
          </a:p>
        </p:txBody>
      </p:sp>
      <p:sp>
        <p:nvSpPr>
          <p:cNvPr id="14358" name="Line 21"/>
          <p:cNvSpPr>
            <a:spLocks noChangeShapeType="1"/>
          </p:cNvSpPr>
          <p:nvPr/>
        </p:nvSpPr>
        <p:spPr bwMode="auto">
          <a:xfrm>
            <a:off x="3962400" y="2362200"/>
            <a:ext cx="990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9" name="Text Box 22"/>
          <p:cNvSpPr txBox="1">
            <a:spLocks noChangeArrowheads="1"/>
          </p:cNvSpPr>
          <p:nvPr/>
        </p:nvSpPr>
        <p:spPr bwMode="auto">
          <a:xfrm>
            <a:off x="5105400" y="1371600"/>
            <a:ext cx="4381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A04020102020204" pitchFamily="34" charset="0"/>
              </a:rPr>
              <a:t>Q</a:t>
            </a:r>
            <a:endParaRPr lang="en-US" altLang="zh-CN"/>
          </a:p>
        </p:txBody>
      </p:sp>
      <p:sp>
        <p:nvSpPr>
          <p:cNvPr id="14360" name="Text Box 23"/>
          <p:cNvSpPr txBox="1">
            <a:spLocks noChangeArrowheads="1"/>
          </p:cNvSpPr>
          <p:nvPr/>
        </p:nvSpPr>
        <p:spPr bwMode="auto">
          <a:xfrm>
            <a:off x="3784600" y="4267200"/>
            <a:ext cx="22923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((1,2) (2,4) (3,1))</a:t>
            </a:r>
            <a:endParaRPr lang="en-US" altLang="zh-CN"/>
          </a:p>
        </p:txBody>
      </p:sp>
      <p:sp>
        <p:nvSpPr>
          <p:cNvPr id="14361" name="Line 24"/>
          <p:cNvSpPr>
            <a:spLocks noChangeShapeType="1"/>
          </p:cNvSpPr>
          <p:nvPr/>
        </p:nvSpPr>
        <p:spPr bwMode="auto">
          <a:xfrm>
            <a:off x="4953000" y="3733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62" name="Text Box 25"/>
          <p:cNvSpPr txBox="1">
            <a:spLocks noChangeArrowheads="1"/>
          </p:cNvSpPr>
          <p:nvPr/>
        </p:nvSpPr>
        <p:spPr bwMode="auto">
          <a:xfrm>
            <a:off x="6324600" y="1905000"/>
            <a:ext cx="4381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A04020102020204" pitchFamily="34" charset="0"/>
              </a:rPr>
              <a:t>Q</a:t>
            </a:r>
            <a:endParaRPr lang="en-US" altLang="zh-CN"/>
          </a:p>
        </p:txBody>
      </p:sp>
      <p:sp>
        <p:nvSpPr>
          <p:cNvPr id="14363" name="Text Box 26"/>
          <p:cNvSpPr txBox="1">
            <a:spLocks noChangeArrowheads="1"/>
          </p:cNvSpPr>
          <p:nvPr/>
        </p:nvSpPr>
        <p:spPr bwMode="auto">
          <a:xfrm>
            <a:off x="3868377" y="5530334"/>
            <a:ext cx="2175596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((1,2) (2,4) (3,1) (4,3))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14364" name="Line 27"/>
          <p:cNvSpPr>
            <a:spLocks noChangeShapeType="1"/>
          </p:cNvSpPr>
          <p:nvPr/>
        </p:nvSpPr>
        <p:spPr bwMode="auto">
          <a:xfrm>
            <a:off x="4953000" y="4876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675" name="Object 2"/>
          <p:cNvGraphicFramePr>
            <a:graphicFrameLocks noChangeAspect="1"/>
          </p:cNvGraphicFramePr>
          <p:nvPr/>
        </p:nvGraphicFramePr>
        <p:xfrm>
          <a:off x="4956175" y="300038"/>
          <a:ext cx="2874963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Document" r:id="rId1" imgW="7092950" imgH="4626610" progId="Word.Document.8">
                  <p:embed/>
                </p:oleObj>
              </mc:Choice>
              <mc:Fallback>
                <p:oleObj name="Document" r:id="rId1" imgW="7092950" imgH="462661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300038"/>
                        <a:ext cx="2874963" cy="259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826463D-0835-45FA-BADF-2311CF2BF3D3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深度优先搜索的性质</a:t>
            </a:r>
            <a:endParaRPr lang="zh-CN" altLang="en-US" dirty="0"/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774208"/>
            <a:ext cx="7772400" cy="4245591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3200" b="1" dirty="0"/>
              <a:t>一般不能保证找到最优解</a:t>
            </a:r>
            <a:endParaRPr lang="zh-CN" altLang="en-US" sz="3200" b="1" dirty="0"/>
          </a:p>
          <a:p>
            <a:pPr eaLnBrk="1" hangingPunct="1"/>
            <a:r>
              <a:rPr lang="zh-CN" altLang="en-US" sz="3200" b="1" dirty="0"/>
              <a:t>当深度限制不合理时，可能找不到解，可以将算法改为可变深度限制</a:t>
            </a:r>
            <a:endParaRPr lang="zh-CN" altLang="en-US" sz="3200" b="1" dirty="0"/>
          </a:p>
          <a:p>
            <a:pPr eaLnBrk="1" hangingPunct="1"/>
            <a:r>
              <a:rPr lang="zh-CN" altLang="en-US" sz="3200" b="1" dirty="0"/>
              <a:t>最坏情况时，搜索空间等同于穷举</a:t>
            </a:r>
            <a:endParaRPr lang="zh-CN" altLang="en-US" sz="3200" b="1" dirty="0"/>
          </a:p>
          <a:p>
            <a:pPr eaLnBrk="1" hangingPunct="1"/>
            <a:r>
              <a:rPr lang="zh-CN" altLang="en-US" sz="3200" b="1" dirty="0"/>
              <a:t>是一个通用的与问题无关的方法</a:t>
            </a:r>
            <a:endParaRPr lang="en-US" altLang="zh-CN" sz="3200" b="1" dirty="0"/>
          </a:p>
          <a:p>
            <a:pPr eaLnBrk="1" hangingPunct="1"/>
            <a:r>
              <a:rPr lang="zh-CN" altLang="en-US" sz="3200" b="1" dirty="0"/>
              <a:t>节省内存，只存储从初始节点到当前节点的路径</a:t>
            </a:r>
            <a:endParaRPr lang="zh-CN" alt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5" grpId="0" autoUpdateAnimBg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sz="3200" dirty="0"/>
              <a:t>设有三个没有刻度的杯子，分别可以装</a:t>
            </a:r>
            <a:r>
              <a:rPr lang="en-US" altLang="zh-CN" sz="3200" dirty="0"/>
              <a:t>8</a:t>
            </a:r>
            <a:r>
              <a:rPr lang="zh-CN" altLang="en-US" sz="3200" dirty="0"/>
              <a:t>两、</a:t>
            </a:r>
            <a:r>
              <a:rPr lang="en-US" altLang="zh-CN" sz="3200" dirty="0"/>
              <a:t>8</a:t>
            </a:r>
            <a:r>
              <a:rPr lang="zh-CN" altLang="en-US" sz="3200" dirty="0"/>
              <a:t>两和</a:t>
            </a:r>
            <a:r>
              <a:rPr lang="en-US" altLang="zh-CN" sz="3200" dirty="0"/>
              <a:t>3</a:t>
            </a:r>
            <a:r>
              <a:rPr lang="zh-CN" altLang="en-US" sz="3200" dirty="0"/>
              <a:t>两水。两个</a:t>
            </a:r>
            <a:r>
              <a:rPr lang="en-US" altLang="zh-CN" sz="3200" dirty="0"/>
              <a:t>8</a:t>
            </a:r>
            <a:r>
              <a:rPr lang="zh-CN" altLang="en-US" sz="3200" dirty="0"/>
              <a:t>两的杯子装满了水，请问如何在不借助于其他器具的情况下，让</a:t>
            </a:r>
            <a:r>
              <a:rPr lang="en-US" altLang="zh-CN" sz="3200" dirty="0"/>
              <a:t>4</a:t>
            </a:r>
            <a:r>
              <a:rPr lang="zh-CN" altLang="en-US" sz="3200" dirty="0"/>
              <a:t>个人每人喝到</a:t>
            </a:r>
            <a:r>
              <a:rPr lang="en-US" altLang="zh-CN" sz="3200" dirty="0"/>
              <a:t>4</a:t>
            </a:r>
            <a:r>
              <a:rPr lang="zh-CN" altLang="en-US" sz="3200" dirty="0"/>
              <a:t>两水。</a:t>
            </a:r>
            <a:endParaRPr lang="en-US" altLang="zh-CN" sz="3200" dirty="0"/>
          </a:p>
          <a:p>
            <a:pPr marL="0" indent="0">
              <a:buNone/>
            </a:pPr>
            <a:r>
              <a:rPr lang="zh-CN" altLang="en-US" sz="3200" dirty="0"/>
              <a:t>请编程实现。</a:t>
            </a:r>
            <a:endParaRPr lang="zh-CN" alt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218" y="1231900"/>
            <a:ext cx="3111500" cy="500380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6331" y="1447800"/>
            <a:ext cx="6208537" cy="52700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宽度优先搜索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sz="3200" b="1" dirty="0">
                <a:solidFill>
                  <a:srgbClr val="FF0000"/>
                </a:solidFill>
              </a:rPr>
              <a:t>算法：优先扩展深度浅的节点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r>
              <a:rPr lang="zh-CN" altLang="en-US" sz="3200" b="1" dirty="0">
                <a:solidFill>
                  <a:srgbClr val="FF0000"/>
                </a:solidFill>
              </a:rPr>
              <a:t>停止条件：发现第一个可行解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940628" y="2441863"/>
            <a:ext cx="4177146" cy="5195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22913F5-7BDC-4648-BBBF-C26432A5F6FF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98306" name="Text Box 2"/>
          <p:cNvSpPr txBox="1">
            <a:spLocks noChangeArrowheads="1"/>
          </p:cNvSpPr>
          <p:nvPr/>
        </p:nvSpPr>
        <p:spPr bwMode="auto">
          <a:xfrm>
            <a:off x="4378325" y="381000"/>
            <a:ext cx="803275" cy="83502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</p:spPr>
        <p:txBody>
          <a:bodyPr wrap="none" anchor="ctr">
            <a:spAutoFit/>
          </a:bodyPr>
          <a:lstStyle/>
          <a:p>
            <a:r>
              <a:rPr lang="en-US" altLang="zh-CN" sz="1600"/>
              <a:t>2        3</a:t>
            </a:r>
            <a:endParaRPr lang="en-US" altLang="zh-CN" sz="1600"/>
          </a:p>
          <a:p>
            <a:r>
              <a:rPr lang="en-US" altLang="zh-CN" sz="1600"/>
              <a:t>1   8   4</a:t>
            </a:r>
            <a:endParaRPr lang="en-US" altLang="zh-CN" sz="1600"/>
          </a:p>
          <a:p>
            <a:r>
              <a:rPr lang="en-US" altLang="zh-CN" sz="1600"/>
              <a:t>7   6   5</a:t>
            </a:r>
            <a:endParaRPr lang="en-US" altLang="zh-CN" sz="1600"/>
          </a:p>
        </p:txBody>
      </p:sp>
      <p:grpSp>
        <p:nvGrpSpPr>
          <p:cNvPr id="2" name="Group 3"/>
          <p:cNvGrpSpPr/>
          <p:nvPr/>
        </p:nvGrpSpPr>
        <p:grpSpPr bwMode="auto">
          <a:xfrm>
            <a:off x="2971800" y="1219200"/>
            <a:ext cx="3851275" cy="1368425"/>
            <a:chOff x="1872" y="768"/>
            <a:chExt cx="2426" cy="862"/>
          </a:xfrm>
        </p:grpSpPr>
        <p:sp>
          <p:nvSpPr>
            <p:cNvPr id="50223" name="Text Box 4"/>
            <p:cNvSpPr txBox="1">
              <a:spLocks noChangeArrowheads="1"/>
            </p:cNvSpPr>
            <p:nvPr/>
          </p:nvSpPr>
          <p:spPr bwMode="auto">
            <a:xfrm>
              <a:off x="2784" y="1104"/>
              <a:ext cx="506" cy="526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/>
                <a:t>     2   3</a:t>
              </a:r>
              <a:endParaRPr lang="en-US" altLang="zh-CN" sz="1600"/>
            </a:p>
            <a:p>
              <a:r>
                <a:rPr lang="en-US" altLang="zh-CN" sz="1600"/>
                <a:t>1   8   4</a:t>
              </a:r>
              <a:endParaRPr lang="en-US" altLang="zh-CN" sz="1600"/>
            </a:p>
            <a:p>
              <a:r>
                <a:rPr lang="en-US" altLang="zh-CN" sz="1600"/>
                <a:t>7   6   5</a:t>
              </a:r>
              <a:endParaRPr lang="en-US" altLang="zh-CN" sz="1600"/>
            </a:p>
          </p:txBody>
        </p:sp>
        <p:sp>
          <p:nvSpPr>
            <p:cNvPr id="50224" name="Text Box 5"/>
            <p:cNvSpPr txBox="1">
              <a:spLocks noChangeArrowheads="1"/>
            </p:cNvSpPr>
            <p:nvPr/>
          </p:nvSpPr>
          <p:spPr bwMode="auto">
            <a:xfrm>
              <a:off x="1872" y="1104"/>
              <a:ext cx="506" cy="526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/>
                <a:t>2   8   3</a:t>
              </a:r>
              <a:endParaRPr lang="en-US" altLang="zh-CN" sz="1600"/>
            </a:p>
            <a:p>
              <a:r>
                <a:rPr lang="en-US" altLang="zh-CN" sz="1600"/>
                <a:t>1        4</a:t>
              </a:r>
              <a:endParaRPr lang="en-US" altLang="zh-CN" sz="1600"/>
            </a:p>
            <a:p>
              <a:r>
                <a:rPr lang="en-US" altLang="zh-CN" sz="1600"/>
                <a:t>7   6   5</a:t>
              </a:r>
              <a:endParaRPr lang="en-US" altLang="zh-CN" sz="1600"/>
            </a:p>
          </p:txBody>
        </p:sp>
        <p:sp>
          <p:nvSpPr>
            <p:cNvPr id="50225" name="Text Box 6"/>
            <p:cNvSpPr txBox="1">
              <a:spLocks noChangeArrowheads="1"/>
            </p:cNvSpPr>
            <p:nvPr/>
          </p:nvSpPr>
          <p:spPr bwMode="auto">
            <a:xfrm>
              <a:off x="3792" y="1104"/>
              <a:ext cx="506" cy="526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/>
                <a:t>2   3</a:t>
              </a:r>
              <a:endParaRPr lang="en-US" altLang="zh-CN" sz="1600"/>
            </a:p>
            <a:p>
              <a:r>
                <a:rPr lang="en-US" altLang="zh-CN" sz="1600"/>
                <a:t>1   8   4</a:t>
              </a:r>
              <a:endParaRPr lang="en-US" altLang="zh-CN" sz="1600"/>
            </a:p>
            <a:p>
              <a:r>
                <a:rPr lang="en-US" altLang="zh-CN" sz="1600"/>
                <a:t>7   6   5</a:t>
              </a:r>
              <a:endParaRPr lang="en-US" altLang="zh-CN" sz="1600"/>
            </a:p>
          </p:txBody>
        </p:sp>
        <p:sp>
          <p:nvSpPr>
            <p:cNvPr id="50226" name="Line 7"/>
            <p:cNvSpPr>
              <a:spLocks noChangeShapeType="1"/>
            </p:cNvSpPr>
            <p:nvPr/>
          </p:nvSpPr>
          <p:spPr bwMode="auto">
            <a:xfrm flipV="1">
              <a:off x="2112" y="768"/>
              <a:ext cx="86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7" name="Line 8"/>
            <p:cNvSpPr>
              <a:spLocks noChangeShapeType="1"/>
            </p:cNvSpPr>
            <p:nvPr/>
          </p:nvSpPr>
          <p:spPr bwMode="auto">
            <a:xfrm flipH="1" flipV="1">
              <a:off x="2976" y="768"/>
              <a:ext cx="4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8" name="Line 9"/>
            <p:cNvSpPr>
              <a:spLocks noChangeShapeType="1"/>
            </p:cNvSpPr>
            <p:nvPr/>
          </p:nvSpPr>
          <p:spPr bwMode="auto">
            <a:xfrm flipH="1" flipV="1">
              <a:off x="3072" y="768"/>
              <a:ext cx="96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10"/>
          <p:cNvGrpSpPr/>
          <p:nvPr/>
        </p:nvGrpSpPr>
        <p:grpSpPr bwMode="auto">
          <a:xfrm>
            <a:off x="1828800" y="2590800"/>
            <a:ext cx="3394075" cy="1292225"/>
            <a:chOff x="1152" y="1632"/>
            <a:chExt cx="2138" cy="814"/>
          </a:xfrm>
        </p:grpSpPr>
        <p:sp>
          <p:nvSpPr>
            <p:cNvPr id="50217" name="Text Box 11"/>
            <p:cNvSpPr txBox="1">
              <a:spLocks noChangeArrowheads="1"/>
            </p:cNvSpPr>
            <p:nvPr/>
          </p:nvSpPr>
          <p:spPr bwMode="auto">
            <a:xfrm>
              <a:off x="2784" y="1920"/>
              <a:ext cx="506" cy="526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/>
                <a:t>2   8   3</a:t>
              </a:r>
              <a:endParaRPr lang="en-US" altLang="zh-CN" sz="1600"/>
            </a:p>
            <a:p>
              <a:r>
                <a:rPr lang="en-US" altLang="zh-CN" sz="1600"/>
                <a:t>1   4</a:t>
              </a:r>
              <a:endParaRPr lang="en-US" altLang="zh-CN" sz="1600"/>
            </a:p>
            <a:p>
              <a:r>
                <a:rPr lang="en-US" altLang="zh-CN" sz="1600"/>
                <a:t>7   6   5</a:t>
              </a:r>
              <a:endParaRPr lang="en-US" altLang="zh-CN" sz="1600"/>
            </a:p>
          </p:txBody>
        </p:sp>
        <p:sp>
          <p:nvSpPr>
            <p:cNvPr id="50218" name="Text Box 12"/>
            <p:cNvSpPr txBox="1">
              <a:spLocks noChangeArrowheads="1"/>
            </p:cNvSpPr>
            <p:nvPr/>
          </p:nvSpPr>
          <p:spPr bwMode="auto">
            <a:xfrm>
              <a:off x="1152" y="1872"/>
              <a:ext cx="506" cy="526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/>
                <a:t>2   8   3</a:t>
              </a:r>
              <a:endParaRPr lang="en-US" altLang="zh-CN" sz="1600"/>
            </a:p>
            <a:p>
              <a:r>
                <a:rPr lang="en-US" altLang="zh-CN" sz="1600"/>
                <a:t>1   6   4</a:t>
              </a:r>
              <a:endParaRPr lang="en-US" altLang="zh-CN" sz="1600"/>
            </a:p>
            <a:p>
              <a:r>
                <a:rPr lang="en-US" altLang="zh-CN" sz="1600"/>
                <a:t>7        5</a:t>
              </a:r>
              <a:endParaRPr lang="en-US" altLang="zh-CN" sz="1600"/>
            </a:p>
          </p:txBody>
        </p:sp>
        <p:sp>
          <p:nvSpPr>
            <p:cNvPr id="50219" name="Text Box 13"/>
            <p:cNvSpPr txBox="1">
              <a:spLocks noChangeArrowheads="1"/>
            </p:cNvSpPr>
            <p:nvPr/>
          </p:nvSpPr>
          <p:spPr bwMode="auto">
            <a:xfrm>
              <a:off x="1968" y="1872"/>
              <a:ext cx="506" cy="526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/>
                <a:t>2   8   3</a:t>
              </a:r>
              <a:endParaRPr lang="en-US" altLang="zh-CN" sz="1600"/>
            </a:p>
            <a:p>
              <a:r>
                <a:rPr lang="en-US" altLang="zh-CN" sz="1600"/>
                <a:t>     1   4</a:t>
              </a:r>
              <a:endParaRPr lang="en-US" altLang="zh-CN" sz="1600"/>
            </a:p>
            <a:p>
              <a:r>
                <a:rPr lang="en-US" altLang="zh-CN" sz="1600"/>
                <a:t>7   6   5</a:t>
              </a:r>
              <a:endParaRPr lang="en-US" altLang="zh-CN" sz="1600"/>
            </a:p>
          </p:txBody>
        </p:sp>
        <p:sp>
          <p:nvSpPr>
            <p:cNvPr id="50220" name="Line 14"/>
            <p:cNvSpPr>
              <a:spLocks noChangeShapeType="1"/>
            </p:cNvSpPr>
            <p:nvPr/>
          </p:nvSpPr>
          <p:spPr bwMode="auto">
            <a:xfrm flipV="1">
              <a:off x="1392" y="1632"/>
              <a:ext cx="67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1" name="Line 15"/>
            <p:cNvSpPr>
              <a:spLocks noChangeShapeType="1"/>
            </p:cNvSpPr>
            <p:nvPr/>
          </p:nvSpPr>
          <p:spPr bwMode="auto">
            <a:xfrm flipH="1" flipV="1">
              <a:off x="2112" y="1632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2" name="Line 16"/>
            <p:cNvSpPr>
              <a:spLocks noChangeShapeType="1"/>
            </p:cNvSpPr>
            <p:nvPr/>
          </p:nvSpPr>
          <p:spPr bwMode="auto">
            <a:xfrm flipH="1" flipV="1">
              <a:off x="2160" y="1632"/>
              <a:ext cx="86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17"/>
          <p:cNvGrpSpPr/>
          <p:nvPr/>
        </p:nvGrpSpPr>
        <p:grpSpPr bwMode="auto">
          <a:xfrm>
            <a:off x="568325" y="3810000"/>
            <a:ext cx="1870075" cy="1368425"/>
            <a:chOff x="358" y="2400"/>
            <a:chExt cx="1178" cy="862"/>
          </a:xfrm>
        </p:grpSpPr>
        <p:sp>
          <p:nvSpPr>
            <p:cNvPr id="50213" name="Text Box 18"/>
            <p:cNvSpPr txBox="1">
              <a:spLocks noChangeArrowheads="1"/>
            </p:cNvSpPr>
            <p:nvPr/>
          </p:nvSpPr>
          <p:spPr bwMode="auto">
            <a:xfrm>
              <a:off x="1030" y="2736"/>
              <a:ext cx="506" cy="526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/>
                <a:t>2   8   3</a:t>
              </a:r>
              <a:endParaRPr lang="en-US" altLang="zh-CN" sz="1600"/>
            </a:p>
            <a:p>
              <a:r>
                <a:rPr lang="en-US" altLang="zh-CN" sz="1600"/>
                <a:t>1   6   4</a:t>
              </a:r>
              <a:endParaRPr lang="en-US" altLang="zh-CN" sz="1600"/>
            </a:p>
            <a:p>
              <a:r>
                <a:rPr lang="en-US" altLang="zh-CN" sz="1600"/>
                <a:t>7   5</a:t>
              </a:r>
              <a:endParaRPr lang="en-US" altLang="zh-CN" sz="1600"/>
            </a:p>
          </p:txBody>
        </p:sp>
        <p:sp>
          <p:nvSpPr>
            <p:cNvPr id="50214" name="Text Box 19"/>
            <p:cNvSpPr txBox="1">
              <a:spLocks noChangeArrowheads="1"/>
            </p:cNvSpPr>
            <p:nvPr/>
          </p:nvSpPr>
          <p:spPr bwMode="auto">
            <a:xfrm>
              <a:off x="358" y="2736"/>
              <a:ext cx="506" cy="526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/>
                <a:t>2   8   3</a:t>
              </a:r>
              <a:endParaRPr lang="en-US" altLang="zh-CN" sz="1600"/>
            </a:p>
            <a:p>
              <a:r>
                <a:rPr lang="en-US" altLang="zh-CN" sz="1600"/>
                <a:t>1   6   4</a:t>
              </a:r>
              <a:endParaRPr lang="en-US" altLang="zh-CN" sz="1600"/>
            </a:p>
            <a:p>
              <a:r>
                <a:rPr lang="en-US" altLang="zh-CN" sz="1600"/>
                <a:t>    7   5</a:t>
              </a:r>
              <a:endParaRPr lang="en-US" altLang="zh-CN" sz="1600"/>
            </a:p>
          </p:txBody>
        </p:sp>
        <p:sp>
          <p:nvSpPr>
            <p:cNvPr id="50215" name="Line 20"/>
            <p:cNvSpPr>
              <a:spLocks noChangeShapeType="1"/>
            </p:cNvSpPr>
            <p:nvPr/>
          </p:nvSpPr>
          <p:spPr bwMode="auto">
            <a:xfrm flipV="1">
              <a:off x="624" y="2400"/>
              <a:ext cx="72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16" name="Line 21"/>
            <p:cNvSpPr>
              <a:spLocks noChangeShapeType="1"/>
            </p:cNvSpPr>
            <p:nvPr/>
          </p:nvSpPr>
          <p:spPr bwMode="auto">
            <a:xfrm flipV="1">
              <a:off x="1296" y="2400"/>
              <a:ext cx="4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22"/>
          <p:cNvGrpSpPr/>
          <p:nvPr/>
        </p:nvGrpSpPr>
        <p:grpSpPr bwMode="auto">
          <a:xfrm>
            <a:off x="2701925" y="3810000"/>
            <a:ext cx="1870075" cy="1368425"/>
            <a:chOff x="1702" y="2400"/>
            <a:chExt cx="1178" cy="862"/>
          </a:xfrm>
        </p:grpSpPr>
        <p:sp>
          <p:nvSpPr>
            <p:cNvPr id="50209" name="Text Box 23"/>
            <p:cNvSpPr txBox="1">
              <a:spLocks noChangeArrowheads="1"/>
            </p:cNvSpPr>
            <p:nvPr/>
          </p:nvSpPr>
          <p:spPr bwMode="auto">
            <a:xfrm>
              <a:off x="2374" y="2736"/>
              <a:ext cx="506" cy="526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/>
                <a:t>2   8   3</a:t>
              </a:r>
              <a:endParaRPr lang="en-US" altLang="zh-CN" sz="1600"/>
            </a:p>
            <a:p>
              <a:r>
                <a:rPr lang="en-US" altLang="zh-CN" sz="1600"/>
                <a:t>7   1   4</a:t>
              </a:r>
              <a:endParaRPr lang="en-US" altLang="zh-CN" sz="1600"/>
            </a:p>
            <a:p>
              <a:r>
                <a:rPr lang="en-US" altLang="zh-CN" sz="1600"/>
                <a:t>     6   5</a:t>
              </a:r>
              <a:endParaRPr lang="en-US" altLang="zh-CN" sz="1600"/>
            </a:p>
          </p:txBody>
        </p:sp>
        <p:sp>
          <p:nvSpPr>
            <p:cNvPr id="50210" name="Text Box 24"/>
            <p:cNvSpPr txBox="1">
              <a:spLocks noChangeArrowheads="1"/>
            </p:cNvSpPr>
            <p:nvPr/>
          </p:nvSpPr>
          <p:spPr bwMode="auto">
            <a:xfrm>
              <a:off x="1702" y="2736"/>
              <a:ext cx="506" cy="526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/>
                <a:t>     8   3</a:t>
              </a:r>
              <a:endParaRPr lang="en-US" altLang="zh-CN" sz="1600"/>
            </a:p>
            <a:p>
              <a:r>
                <a:rPr lang="en-US" altLang="zh-CN" sz="1600"/>
                <a:t>2   1   4</a:t>
              </a:r>
              <a:endParaRPr lang="en-US" altLang="zh-CN" sz="1600"/>
            </a:p>
            <a:p>
              <a:r>
                <a:rPr lang="en-US" altLang="zh-CN" sz="1600"/>
                <a:t>7   6   5</a:t>
              </a:r>
              <a:endParaRPr lang="en-US" altLang="zh-CN" sz="1600"/>
            </a:p>
          </p:txBody>
        </p:sp>
        <p:sp>
          <p:nvSpPr>
            <p:cNvPr id="50211" name="Line 25"/>
            <p:cNvSpPr>
              <a:spLocks noChangeShapeType="1"/>
            </p:cNvSpPr>
            <p:nvPr/>
          </p:nvSpPr>
          <p:spPr bwMode="auto">
            <a:xfrm flipV="1">
              <a:off x="1968" y="2400"/>
              <a:ext cx="24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12" name="Line 26"/>
            <p:cNvSpPr>
              <a:spLocks noChangeShapeType="1"/>
            </p:cNvSpPr>
            <p:nvPr/>
          </p:nvSpPr>
          <p:spPr bwMode="auto">
            <a:xfrm flipH="1" flipV="1">
              <a:off x="2256" y="2400"/>
              <a:ext cx="38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" name="Group 27"/>
          <p:cNvGrpSpPr/>
          <p:nvPr/>
        </p:nvGrpSpPr>
        <p:grpSpPr bwMode="auto">
          <a:xfrm>
            <a:off x="4759325" y="3886200"/>
            <a:ext cx="1870075" cy="1292225"/>
            <a:chOff x="2998" y="2448"/>
            <a:chExt cx="1178" cy="814"/>
          </a:xfrm>
        </p:grpSpPr>
        <p:sp>
          <p:nvSpPr>
            <p:cNvPr id="50205" name="Text Box 28"/>
            <p:cNvSpPr txBox="1">
              <a:spLocks noChangeArrowheads="1"/>
            </p:cNvSpPr>
            <p:nvPr/>
          </p:nvSpPr>
          <p:spPr bwMode="auto">
            <a:xfrm>
              <a:off x="2998" y="2736"/>
              <a:ext cx="506" cy="526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/>
                <a:t>2   8</a:t>
              </a:r>
              <a:endParaRPr lang="en-US" altLang="zh-CN" sz="1600"/>
            </a:p>
            <a:p>
              <a:r>
                <a:rPr lang="en-US" altLang="zh-CN" sz="1600"/>
                <a:t>1   4   3</a:t>
              </a:r>
              <a:endParaRPr lang="en-US" altLang="zh-CN" sz="1600"/>
            </a:p>
            <a:p>
              <a:r>
                <a:rPr lang="en-US" altLang="zh-CN" sz="1600"/>
                <a:t>7   6   5</a:t>
              </a:r>
              <a:endParaRPr lang="en-US" altLang="zh-CN" sz="1600"/>
            </a:p>
          </p:txBody>
        </p:sp>
        <p:sp>
          <p:nvSpPr>
            <p:cNvPr id="50206" name="Text Box 29"/>
            <p:cNvSpPr txBox="1">
              <a:spLocks noChangeArrowheads="1"/>
            </p:cNvSpPr>
            <p:nvPr/>
          </p:nvSpPr>
          <p:spPr bwMode="auto">
            <a:xfrm>
              <a:off x="3670" y="2736"/>
              <a:ext cx="506" cy="526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/>
                <a:t>2   8   3</a:t>
              </a:r>
              <a:endParaRPr lang="en-US" altLang="zh-CN" sz="1600"/>
            </a:p>
            <a:p>
              <a:r>
                <a:rPr lang="en-US" altLang="zh-CN" sz="1600"/>
                <a:t>1   4   5</a:t>
              </a:r>
              <a:endParaRPr lang="en-US" altLang="zh-CN" sz="1600"/>
            </a:p>
            <a:p>
              <a:r>
                <a:rPr lang="en-US" altLang="zh-CN" sz="1600"/>
                <a:t>7   6   </a:t>
              </a:r>
              <a:endParaRPr lang="en-US" altLang="zh-CN" sz="1600"/>
            </a:p>
          </p:txBody>
        </p:sp>
        <p:sp>
          <p:nvSpPr>
            <p:cNvPr id="50207" name="Line 30"/>
            <p:cNvSpPr>
              <a:spLocks noChangeShapeType="1"/>
            </p:cNvSpPr>
            <p:nvPr/>
          </p:nvSpPr>
          <p:spPr bwMode="auto">
            <a:xfrm flipH="1" flipV="1">
              <a:off x="3024" y="2448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08" name="Line 31"/>
            <p:cNvSpPr>
              <a:spLocks noChangeShapeType="1"/>
            </p:cNvSpPr>
            <p:nvPr/>
          </p:nvSpPr>
          <p:spPr bwMode="auto">
            <a:xfrm flipH="1" flipV="1">
              <a:off x="3072" y="2448"/>
              <a:ext cx="86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Group 32"/>
          <p:cNvGrpSpPr/>
          <p:nvPr/>
        </p:nvGrpSpPr>
        <p:grpSpPr bwMode="auto">
          <a:xfrm>
            <a:off x="6324600" y="3810000"/>
            <a:ext cx="2387600" cy="1368425"/>
            <a:chOff x="3984" y="2400"/>
            <a:chExt cx="1504" cy="862"/>
          </a:xfrm>
        </p:grpSpPr>
        <p:sp>
          <p:nvSpPr>
            <p:cNvPr id="50201" name="Text Box 33"/>
            <p:cNvSpPr txBox="1">
              <a:spLocks noChangeArrowheads="1"/>
            </p:cNvSpPr>
            <p:nvPr/>
          </p:nvSpPr>
          <p:spPr bwMode="auto">
            <a:xfrm>
              <a:off x="4342" y="2736"/>
              <a:ext cx="506" cy="526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/>
                <a:t>1   2   3</a:t>
              </a:r>
              <a:endParaRPr lang="en-US" altLang="zh-CN" sz="1600"/>
            </a:p>
            <a:p>
              <a:r>
                <a:rPr lang="en-US" altLang="zh-CN" sz="1600"/>
                <a:t>7   8   4</a:t>
              </a:r>
              <a:endParaRPr lang="en-US" altLang="zh-CN" sz="1600"/>
            </a:p>
            <a:p>
              <a:r>
                <a:rPr lang="en-US" altLang="zh-CN" sz="1600"/>
                <a:t>     6   5</a:t>
              </a:r>
              <a:endParaRPr lang="en-US" altLang="zh-CN" sz="1600"/>
            </a:p>
          </p:txBody>
        </p:sp>
        <p:sp>
          <p:nvSpPr>
            <p:cNvPr id="50202" name="Text Box 34"/>
            <p:cNvSpPr txBox="1">
              <a:spLocks noChangeArrowheads="1"/>
            </p:cNvSpPr>
            <p:nvPr/>
          </p:nvSpPr>
          <p:spPr bwMode="auto">
            <a:xfrm>
              <a:off x="5014" y="2736"/>
              <a:ext cx="474" cy="526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/>
                <a:t>1  2   3</a:t>
              </a:r>
              <a:endParaRPr lang="en-US" altLang="zh-CN" sz="1600"/>
            </a:p>
            <a:p>
              <a:r>
                <a:rPr lang="en-US" altLang="zh-CN" sz="1600"/>
                <a:t>8       4</a:t>
              </a:r>
              <a:endParaRPr lang="en-US" altLang="zh-CN" sz="1600"/>
            </a:p>
            <a:p>
              <a:r>
                <a:rPr lang="en-US" altLang="zh-CN" sz="1600"/>
                <a:t>7   6  5</a:t>
              </a:r>
              <a:endParaRPr lang="en-US" altLang="zh-CN" sz="1600"/>
            </a:p>
          </p:txBody>
        </p:sp>
        <p:sp>
          <p:nvSpPr>
            <p:cNvPr id="50203" name="Line 35"/>
            <p:cNvSpPr>
              <a:spLocks noChangeShapeType="1"/>
            </p:cNvSpPr>
            <p:nvPr/>
          </p:nvSpPr>
          <p:spPr bwMode="auto">
            <a:xfrm flipH="1" flipV="1">
              <a:off x="3984" y="2400"/>
              <a:ext cx="57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04" name="Line 36"/>
            <p:cNvSpPr>
              <a:spLocks noChangeShapeType="1"/>
            </p:cNvSpPr>
            <p:nvPr/>
          </p:nvSpPr>
          <p:spPr bwMode="auto">
            <a:xfrm flipH="1" flipV="1">
              <a:off x="4080" y="2400"/>
              <a:ext cx="115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8359" name="Oval 55"/>
          <p:cNvSpPr>
            <a:spLocks noChangeArrowheads="1"/>
          </p:cNvSpPr>
          <p:nvPr/>
        </p:nvSpPr>
        <p:spPr bwMode="auto">
          <a:xfrm>
            <a:off x="5183188" y="-14288"/>
            <a:ext cx="407987" cy="430213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/>
              <a:t>1</a:t>
            </a:r>
            <a:endParaRPr lang="en-US" altLang="zh-CN"/>
          </a:p>
        </p:txBody>
      </p:sp>
      <p:sp>
        <p:nvSpPr>
          <p:cNvPr id="98360" name="Oval 56"/>
          <p:cNvSpPr>
            <a:spLocks noChangeArrowheads="1"/>
          </p:cNvSpPr>
          <p:nvPr/>
        </p:nvSpPr>
        <p:spPr bwMode="auto">
          <a:xfrm>
            <a:off x="2973388" y="1281113"/>
            <a:ext cx="407987" cy="430212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/>
              <a:t>2</a:t>
            </a:r>
            <a:endParaRPr lang="en-US" altLang="zh-CN"/>
          </a:p>
        </p:txBody>
      </p:sp>
      <p:sp>
        <p:nvSpPr>
          <p:cNvPr id="98361" name="Oval 57"/>
          <p:cNvSpPr>
            <a:spLocks noChangeArrowheads="1"/>
          </p:cNvSpPr>
          <p:nvPr/>
        </p:nvSpPr>
        <p:spPr bwMode="auto">
          <a:xfrm>
            <a:off x="1754188" y="2500313"/>
            <a:ext cx="407987" cy="430212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/>
              <a:t>5</a:t>
            </a:r>
            <a:endParaRPr lang="en-US" altLang="zh-CN"/>
          </a:p>
        </p:txBody>
      </p:sp>
      <p:sp>
        <p:nvSpPr>
          <p:cNvPr id="98364" name="Oval 60"/>
          <p:cNvSpPr>
            <a:spLocks noChangeArrowheads="1"/>
          </p:cNvSpPr>
          <p:nvPr/>
        </p:nvSpPr>
        <p:spPr bwMode="auto">
          <a:xfrm>
            <a:off x="3506788" y="2652713"/>
            <a:ext cx="407987" cy="430212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/>
              <a:t>6</a:t>
            </a:r>
            <a:endParaRPr lang="en-US" altLang="zh-CN"/>
          </a:p>
        </p:txBody>
      </p:sp>
      <p:sp>
        <p:nvSpPr>
          <p:cNvPr id="98367" name="Oval 63"/>
          <p:cNvSpPr>
            <a:spLocks noChangeArrowheads="1"/>
          </p:cNvSpPr>
          <p:nvPr/>
        </p:nvSpPr>
        <p:spPr bwMode="auto">
          <a:xfrm>
            <a:off x="4725988" y="2652713"/>
            <a:ext cx="407987" cy="430212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/>
              <a:t>7</a:t>
            </a:r>
            <a:endParaRPr lang="en-US" altLang="zh-CN"/>
          </a:p>
        </p:txBody>
      </p:sp>
      <p:sp>
        <p:nvSpPr>
          <p:cNvPr id="98370" name="Oval 66"/>
          <p:cNvSpPr>
            <a:spLocks noChangeArrowheads="1"/>
          </p:cNvSpPr>
          <p:nvPr/>
        </p:nvSpPr>
        <p:spPr bwMode="auto">
          <a:xfrm>
            <a:off x="4802188" y="1357313"/>
            <a:ext cx="407987" cy="430212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/>
              <a:t>3</a:t>
            </a:r>
            <a:endParaRPr lang="en-US" altLang="zh-CN"/>
          </a:p>
        </p:txBody>
      </p:sp>
      <p:grpSp>
        <p:nvGrpSpPr>
          <p:cNvPr id="8" name="Group 68"/>
          <p:cNvGrpSpPr/>
          <p:nvPr/>
        </p:nvGrpSpPr>
        <p:grpSpPr bwMode="auto">
          <a:xfrm>
            <a:off x="4876800" y="2590800"/>
            <a:ext cx="1870075" cy="1216025"/>
            <a:chOff x="3072" y="1632"/>
            <a:chExt cx="1178" cy="766"/>
          </a:xfrm>
        </p:grpSpPr>
        <p:sp>
          <p:nvSpPr>
            <p:cNvPr id="50199" name="Text Box 69"/>
            <p:cNvSpPr txBox="1">
              <a:spLocks noChangeArrowheads="1"/>
            </p:cNvSpPr>
            <p:nvPr/>
          </p:nvSpPr>
          <p:spPr bwMode="auto">
            <a:xfrm>
              <a:off x="3744" y="1872"/>
              <a:ext cx="506" cy="526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/>
                <a:t>1   2   3</a:t>
              </a:r>
              <a:endParaRPr lang="en-US" altLang="zh-CN" sz="1600"/>
            </a:p>
            <a:p>
              <a:r>
                <a:rPr lang="en-US" altLang="zh-CN" sz="1600"/>
                <a:t>     8   4</a:t>
              </a:r>
              <a:endParaRPr lang="en-US" altLang="zh-CN" sz="1600"/>
            </a:p>
            <a:p>
              <a:r>
                <a:rPr lang="en-US" altLang="zh-CN" sz="1600"/>
                <a:t>7   6   5</a:t>
              </a:r>
              <a:endParaRPr lang="en-US" altLang="zh-CN" sz="1600"/>
            </a:p>
          </p:txBody>
        </p:sp>
        <p:sp>
          <p:nvSpPr>
            <p:cNvPr id="50200" name="Line 70"/>
            <p:cNvSpPr>
              <a:spLocks noChangeShapeType="1"/>
            </p:cNvSpPr>
            <p:nvPr/>
          </p:nvSpPr>
          <p:spPr bwMode="auto">
            <a:xfrm flipH="1" flipV="1">
              <a:off x="3072" y="1632"/>
              <a:ext cx="91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8375" name="AutoShape 71"/>
          <p:cNvSpPr>
            <a:spLocks noChangeArrowheads="1"/>
          </p:cNvSpPr>
          <p:nvPr/>
        </p:nvSpPr>
        <p:spPr bwMode="auto">
          <a:xfrm>
            <a:off x="8077200" y="5867400"/>
            <a:ext cx="838200" cy="457200"/>
          </a:xfrm>
          <a:prstGeom prst="wedgeRectCallout">
            <a:avLst>
              <a:gd name="adj1" fmla="val -23676"/>
              <a:gd name="adj2" fmla="val -198611"/>
            </a:avLst>
          </a:prstGeom>
          <a:noFill/>
          <a:ln w="38100">
            <a:solidFill>
              <a:schemeClr val="hlink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目标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98371" name="Oval 67"/>
          <p:cNvSpPr>
            <a:spLocks noChangeArrowheads="1"/>
          </p:cNvSpPr>
          <p:nvPr/>
        </p:nvSpPr>
        <p:spPr bwMode="auto">
          <a:xfrm>
            <a:off x="6173788" y="2576513"/>
            <a:ext cx="407987" cy="430212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/>
              <a:t>8</a:t>
            </a:r>
            <a:endParaRPr lang="en-US" altLang="zh-CN"/>
          </a:p>
        </p:txBody>
      </p:sp>
      <p:grpSp>
        <p:nvGrpSpPr>
          <p:cNvPr id="9" name="Group 76"/>
          <p:cNvGrpSpPr/>
          <p:nvPr/>
        </p:nvGrpSpPr>
        <p:grpSpPr bwMode="auto">
          <a:xfrm>
            <a:off x="6477000" y="2590800"/>
            <a:ext cx="1717675" cy="1216025"/>
            <a:chOff x="4080" y="1632"/>
            <a:chExt cx="1082" cy="766"/>
          </a:xfrm>
        </p:grpSpPr>
        <p:sp>
          <p:nvSpPr>
            <p:cNvPr id="50197" name="Text Box 72"/>
            <p:cNvSpPr txBox="1">
              <a:spLocks noChangeArrowheads="1"/>
            </p:cNvSpPr>
            <p:nvPr/>
          </p:nvSpPr>
          <p:spPr bwMode="auto">
            <a:xfrm>
              <a:off x="4656" y="1872"/>
              <a:ext cx="506" cy="526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/>
                <a:t>2   3   4</a:t>
              </a:r>
              <a:endParaRPr lang="en-US" altLang="zh-CN" sz="1600"/>
            </a:p>
            <a:p>
              <a:r>
                <a:rPr lang="en-US" altLang="zh-CN" sz="1600"/>
                <a:t>1   8   </a:t>
              </a:r>
              <a:endParaRPr lang="en-US" altLang="zh-CN" sz="1600"/>
            </a:p>
            <a:p>
              <a:r>
                <a:rPr lang="en-US" altLang="zh-CN" sz="1600"/>
                <a:t>7   6   5</a:t>
              </a:r>
              <a:endParaRPr lang="en-US" altLang="zh-CN" sz="1600"/>
            </a:p>
          </p:txBody>
        </p:sp>
        <p:sp>
          <p:nvSpPr>
            <p:cNvPr id="50198" name="Line 73"/>
            <p:cNvSpPr>
              <a:spLocks noChangeShapeType="1"/>
            </p:cNvSpPr>
            <p:nvPr/>
          </p:nvSpPr>
          <p:spPr bwMode="auto">
            <a:xfrm flipH="1" flipV="1">
              <a:off x="4080" y="1632"/>
              <a:ext cx="81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8379" name="Oval 75"/>
          <p:cNvSpPr>
            <a:spLocks noChangeArrowheads="1"/>
          </p:cNvSpPr>
          <p:nvPr/>
        </p:nvSpPr>
        <p:spPr bwMode="auto">
          <a:xfrm>
            <a:off x="6326188" y="1357313"/>
            <a:ext cx="407987" cy="430212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/>
              <a:t>4</a:t>
            </a:r>
            <a:endParaRPr lang="en-US" altLang="zh-CN"/>
          </a:p>
        </p:txBody>
      </p:sp>
      <p:grpSp>
        <p:nvGrpSpPr>
          <p:cNvPr id="17" name="Group 16"/>
          <p:cNvGrpSpPr/>
          <p:nvPr/>
        </p:nvGrpSpPr>
        <p:grpSpPr>
          <a:xfrm>
            <a:off x="1705155" y="244115"/>
            <a:ext cx="1647645" cy="438510"/>
            <a:chOff x="335412" y="381000"/>
            <a:chExt cx="1647645" cy="438510"/>
          </a:xfrm>
        </p:grpSpPr>
        <p:cxnSp>
          <p:nvCxnSpPr>
            <p:cNvPr id="11" name="Straight Arrow Connector 10"/>
            <p:cNvCxnSpPr/>
            <p:nvPr/>
          </p:nvCxnSpPr>
          <p:spPr>
            <a:xfrm>
              <a:off x="335412" y="381000"/>
              <a:ext cx="0" cy="421257"/>
            </a:xfrm>
            <a:prstGeom prst="straightConnector1">
              <a:avLst/>
            </a:prstGeom>
            <a:ln w="28575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568325" y="571201"/>
              <a:ext cx="500677" cy="0"/>
            </a:xfrm>
            <a:prstGeom prst="straightConnector1">
              <a:avLst/>
            </a:prstGeom>
            <a:ln w="28575">
              <a:solidFill>
                <a:srgbClr val="0000FF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1253511" y="571201"/>
              <a:ext cx="500677" cy="0"/>
            </a:xfrm>
            <a:prstGeom prst="straightConnector1">
              <a:avLst/>
            </a:prstGeom>
            <a:ln w="28575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1983057" y="398253"/>
              <a:ext cx="0" cy="421257"/>
            </a:xfrm>
            <a:prstGeom prst="straightConnector1">
              <a:avLst/>
            </a:prstGeom>
            <a:ln w="28575">
              <a:solidFill>
                <a:srgbClr val="0000FF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/>
        </p:nvSpPr>
        <p:spPr>
          <a:xfrm>
            <a:off x="6727031" y="149781"/>
            <a:ext cx="2132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八数码问题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46154" y="256101"/>
            <a:ext cx="2132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操作顺序</a:t>
            </a:r>
            <a:r>
              <a:rPr lang="zh-CN" altLang="en-US" dirty="0"/>
              <a:t>：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241675" y="5889459"/>
            <a:ext cx="2619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16</a:t>
            </a:r>
            <a:r>
              <a:rPr lang="zh-CN" altLang="en-US" dirty="0"/>
              <a:t>步完成</a:t>
            </a:r>
            <a:r>
              <a:rPr lang="en-US" dirty="0" err="1"/>
              <a:t>搜索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59" grpId="0" animBg="1" autoUpdateAnimBg="0"/>
      <p:bldP spid="98360" grpId="0" animBg="1" autoUpdateAnimBg="0"/>
      <p:bldP spid="98361" grpId="0" animBg="1" autoUpdateAnimBg="0"/>
      <p:bldP spid="98364" grpId="0" animBg="1" autoUpdateAnimBg="0"/>
      <p:bldP spid="98367" grpId="0" animBg="1" autoUpdateAnimBg="0"/>
      <p:bldP spid="98370" grpId="0" animBg="1" autoUpdateAnimBg="0"/>
      <p:bldP spid="98375" grpId="0" animBg="1" autoUpdateAnimBg="0"/>
      <p:bldP spid="98371" grpId="0" animBg="1" autoUpdateAnimBg="0"/>
      <p:bldP spid="98379" grpId="0" animBg="1" autoUpdateAnimBg="0"/>
      <p:bldP spid="12" grpId="0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21C02C6-79F2-4654-A0A6-5BCA4B713B2C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宽度优先搜索的性质</a:t>
            </a:r>
            <a:endParaRPr lang="zh-CN" altLang="en-US"/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774208"/>
            <a:ext cx="7772400" cy="4245591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3200" b="1" dirty="0"/>
              <a:t>当问题有解时，一定能找到解</a:t>
            </a:r>
            <a:endParaRPr lang="zh-CN" altLang="en-US" sz="3200" b="1" dirty="0"/>
          </a:p>
          <a:p>
            <a:pPr eaLnBrk="1" hangingPunct="1"/>
            <a:r>
              <a:rPr lang="zh-CN" altLang="en-US" sz="3200" b="1" dirty="0"/>
              <a:t>当问题为单位耗散值，且问题有解时，一定能找到最优解</a:t>
            </a:r>
            <a:endParaRPr lang="zh-CN" altLang="en-US" sz="3200" b="1" dirty="0"/>
          </a:p>
          <a:p>
            <a:pPr eaLnBrk="1" hangingPunct="1"/>
            <a:r>
              <a:rPr lang="zh-CN" altLang="en-US" sz="3200" b="1" dirty="0"/>
              <a:t>方法与问题无关，具有通用性</a:t>
            </a:r>
            <a:endParaRPr lang="zh-CN" altLang="en-US" sz="3200" b="1" dirty="0"/>
          </a:p>
          <a:p>
            <a:pPr eaLnBrk="1" hangingPunct="1"/>
            <a:r>
              <a:rPr lang="zh-CN" altLang="en-US" sz="3200" b="1" dirty="0"/>
              <a:t>效率较低</a:t>
            </a:r>
            <a:endParaRPr lang="zh-CN" altLang="en-US" sz="3200" b="1" dirty="0"/>
          </a:p>
          <a:p>
            <a:pPr eaLnBrk="1" hangingPunct="1"/>
            <a:r>
              <a:rPr lang="zh-CN" altLang="en-US" sz="3200" b="1" dirty="0"/>
              <a:t>存储量比较大</a:t>
            </a:r>
            <a:endParaRPr lang="zh-CN" alt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1" grpId="0" autoUpdateAnimBg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 </a:t>
            </a:r>
            <a:r>
              <a:rPr lang="zh-CN" altLang="en-US" dirty="0"/>
              <a:t>迪杰斯特拉（</a:t>
            </a:r>
            <a:r>
              <a:rPr lang="en-US" altLang="zh-CN" dirty="0" err="1"/>
              <a:t>Dijkstra</a:t>
            </a:r>
            <a:r>
              <a:rPr lang="zh-CN" altLang="en-US" dirty="0"/>
              <a:t>）算法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宽度优先算法的不足</a:t>
            </a:r>
            <a:endParaRPr lang="zh-CN" altLang="en-US" dirty="0"/>
          </a:p>
        </p:txBody>
      </p:sp>
      <p:grpSp>
        <p:nvGrpSpPr>
          <p:cNvPr id="131" name="组合 130"/>
          <p:cNvGrpSpPr/>
          <p:nvPr/>
        </p:nvGrpSpPr>
        <p:grpSpPr>
          <a:xfrm>
            <a:off x="1383965" y="2781550"/>
            <a:ext cx="6664410" cy="3576003"/>
            <a:chOff x="0" y="0"/>
            <a:chExt cx="4139718" cy="1970532"/>
          </a:xfrm>
        </p:grpSpPr>
        <p:grpSp>
          <p:nvGrpSpPr>
            <p:cNvPr id="133" name="组合 132"/>
            <p:cNvGrpSpPr/>
            <p:nvPr/>
          </p:nvGrpSpPr>
          <p:grpSpPr>
            <a:xfrm>
              <a:off x="0" y="0"/>
              <a:ext cx="4139718" cy="1970532"/>
              <a:chOff x="0" y="0"/>
              <a:chExt cx="4139718" cy="1970532"/>
            </a:xfrm>
          </p:grpSpPr>
          <p:sp>
            <p:nvSpPr>
              <p:cNvPr id="159" name="文本框 58"/>
              <p:cNvSpPr txBox="1"/>
              <p:nvPr/>
            </p:nvSpPr>
            <p:spPr>
              <a:xfrm>
                <a:off x="493776" y="1587009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6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1</a:t>
                </a:r>
                <a:endParaRPr lang="zh-CN" sz="16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6" name="文本框 54"/>
              <p:cNvSpPr txBox="1"/>
              <p:nvPr/>
            </p:nvSpPr>
            <p:spPr>
              <a:xfrm>
                <a:off x="2398174" y="795333"/>
                <a:ext cx="2698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altLang="zh-CN" sz="16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6</a:t>
                </a:r>
                <a:endParaRPr lang="zh-CN" sz="16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50" name="直接连接符 149"/>
              <p:cNvCxnSpPr>
                <a:endCxn id="145" idx="2"/>
              </p:cNvCxnSpPr>
              <p:nvPr/>
            </p:nvCxnSpPr>
            <p:spPr>
              <a:xfrm flipV="1">
                <a:off x="1459383" y="1018184"/>
                <a:ext cx="1901952" cy="6732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7" name="文本框 55"/>
              <p:cNvSpPr txBox="1"/>
              <p:nvPr/>
            </p:nvSpPr>
            <p:spPr>
              <a:xfrm>
                <a:off x="2798064" y="1621690"/>
                <a:ext cx="2698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6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3</a:t>
                </a:r>
                <a:endParaRPr lang="zh-CN" sz="16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1" name="椭圆 140"/>
              <p:cNvSpPr>
                <a:spLocks noChangeAspect="1"/>
              </p:cNvSpPr>
              <p:nvPr/>
            </p:nvSpPr>
            <p:spPr>
              <a:xfrm>
                <a:off x="1232611" y="182880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6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C</a:t>
                </a:r>
                <a:endParaRPr lang="zh-CN" sz="16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" name="椭圆 142"/>
              <p:cNvSpPr>
                <a:spLocks noChangeAspect="1"/>
              </p:cNvSpPr>
              <p:nvPr/>
            </p:nvSpPr>
            <p:spPr>
              <a:xfrm>
                <a:off x="1217981" y="1708099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6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E</a:t>
                </a:r>
                <a:endParaRPr lang="zh-CN" sz="16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4" name="椭圆 143"/>
              <p:cNvSpPr>
                <a:spLocks noChangeAspect="1"/>
              </p:cNvSpPr>
              <p:nvPr/>
            </p:nvSpPr>
            <p:spPr>
              <a:xfrm>
                <a:off x="2231136" y="1719072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6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B</a:t>
                </a:r>
                <a:endParaRPr lang="zh-CN" sz="16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5" name="椭圆 144"/>
              <p:cNvSpPr>
                <a:spLocks noChangeAspect="1"/>
              </p:cNvSpPr>
              <p:nvPr/>
            </p:nvSpPr>
            <p:spPr>
              <a:xfrm>
                <a:off x="3361335" y="892454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600" kern="100" dirty="0">
                    <a:solidFill>
                      <a:schemeClr val="tx1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A</a:t>
                </a:r>
                <a:endParaRPr lang="zh-CN" sz="1600" kern="100" dirty="0">
                  <a:solidFill>
                    <a:schemeClr val="tx1"/>
                  </a:solidFill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6" name="椭圆 145"/>
              <p:cNvSpPr>
                <a:spLocks noChangeAspect="1"/>
              </p:cNvSpPr>
              <p:nvPr/>
            </p:nvSpPr>
            <p:spPr>
              <a:xfrm>
                <a:off x="3364992" y="1693469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sz="1600" kern="100">
                    <a:solidFill>
                      <a:srgbClr val="000000"/>
                    </a:solidFill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T</a:t>
                </a:r>
                <a:endParaRPr lang="zh-CN" sz="1600" kern="10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7" name="椭圆 146"/>
              <p:cNvSpPr>
                <a:spLocks noChangeAspect="1"/>
              </p:cNvSpPr>
              <p:nvPr/>
            </p:nvSpPr>
            <p:spPr>
              <a:xfrm>
                <a:off x="14631" y="182880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600" kern="100" dirty="0">
                    <a:solidFill>
                      <a:schemeClr val="tx1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D</a:t>
                </a:r>
                <a:endParaRPr lang="en-US" altLang="zh-CN" sz="1600" kern="100" dirty="0">
                  <a:solidFill>
                    <a:schemeClr val="tx1"/>
                  </a:solidFill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8" name="椭圆 147"/>
              <p:cNvSpPr>
                <a:spLocks noChangeAspect="1"/>
              </p:cNvSpPr>
              <p:nvPr/>
            </p:nvSpPr>
            <p:spPr>
              <a:xfrm>
                <a:off x="0" y="1708099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6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F</a:t>
                </a:r>
                <a:endParaRPr lang="zh-CN" sz="16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49" name="直接连接符 148"/>
              <p:cNvCxnSpPr/>
              <p:nvPr/>
            </p:nvCxnSpPr>
            <p:spPr>
              <a:xfrm flipV="1">
                <a:off x="270663" y="285293"/>
                <a:ext cx="962025" cy="4763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1" name="直接连接符 150"/>
              <p:cNvCxnSpPr/>
              <p:nvPr/>
            </p:nvCxnSpPr>
            <p:spPr>
              <a:xfrm flipV="1">
                <a:off x="245059" y="1821485"/>
                <a:ext cx="966470" cy="889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2" name="文本框 47"/>
              <p:cNvSpPr txBox="1"/>
              <p:nvPr/>
            </p:nvSpPr>
            <p:spPr>
              <a:xfrm>
                <a:off x="1722730" y="1587398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600" kern="10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2</a:t>
                </a:r>
                <a:endParaRPr lang="zh-CN" sz="1600" kern="10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3" name="文本框 48"/>
              <p:cNvSpPr txBox="1"/>
              <p:nvPr/>
            </p:nvSpPr>
            <p:spPr>
              <a:xfrm>
                <a:off x="1329889" y="504749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600" kern="10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1</a:t>
                </a:r>
                <a:endParaRPr lang="zh-CN" sz="1600" kern="10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4" name="文本框 49"/>
              <p:cNvSpPr txBox="1"/>
              <p:nvPr/>
            </p:nvSpPr>
            <p:spPr>
              <a:xfrm>
                <a:off x="1344519" y="1287475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6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3</a:t>
                </a:r>
                <a:endParaRPr lang="zh-CN" sz="16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0" name="文本框 59"/>
              <p:cNvSpPr txBox="1"/>
              <p:nvPr/>
            </p:nvSpPr>
            <p:spPr>
              <a:xfrm>
                <a:off x="512064" y="0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600" kern="10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7</a:t>
                </a:r>
                <a:endParaRPr lang="zh-CN" sz="1600" kern="10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1" name="文本框 60"/>
              <p:cNvSpPr txBox="1"/>
              <p:nvPr/>
            </p:nvSpPr>
            <p:spPr>
              <a:xfrm>
                <a:off x="877842" y="950250"/>
                <a:ext cx="4857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zh-CN" sz="1600" b="1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起点</a:t>
                </a:r>
                <a:endParaRPr lang="zh-CN" sz="1600" b="1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2" name="文本框 61"/>
              <p:cNvSpPr txBox="1"/>
              <p:nvPr/>
            </p:nvSpPr>
            <p:spPr>
              <a:xfrm>
                <a:off x="3653943" y="1671523"/>
                <a:ext cx="4857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zh-CN" sz="1600" b="1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终点</a:t>
                </a:r>
                <a:endParaRPr lang="zh-CN" sz="1600" b="1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63" name="直接连接符 162"/>
              <p:cNvCxnSpPr/>
              <p:nvPr/>
            </p:nvCxnSpPr>
            <p:spPr>
              <a:xfrm flipV="1">
                <a:off x="1470355" y="1832458"/>
                <a:ext cx="762000" cy="444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4" name="椭圆 163"/>
              <p:cNvSpPr>
                <a:spLocks noChangeAspect="1"/>
              </p:cNvSpPr>
              <p:nvPr/>
            </p:nvSpPr>
            <p:spPr>
              <a:xfrm>
                <a:off x="18288" y="899770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6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G</a:t>
                </a:r>
                <a:endParaRPr lang="zh-CN" sz="16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5" name="文本框 65"/>
              <p:cNvSpPr txBox="1"/>
              <p:nvPr/>
            </p:nvSpPr>
            <p:spPr>
              <a:xfrm>
                <a:off x="157241" y="1276502"/>
                <a:ext cx="2698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6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5</a:t>
                </a:r>
                <a:endParaRPr lang="zh-CN" sz="16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6" name="文本框 67"/>
              <p:cNvSpPr txBox="1"/>
              <p:nvPr/>
            </p:nvSpPr>
            <p:spPr>
              <a:xfrm>
                <a:off x="3460090" y="1283818"/>
                <a:ext cx="2698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altLang="zh-CN" sz="16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3</a:t>
                </a:r>
                <a:endParaRPr lang="zh-CN" sz="16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67" name="直接连接符 166"/>
              <p:cNvCxnSpPr/>
              <p:nvPr/>
            </p:nvCxnSpPr>
            <p:spPr>
              <a:xfrm flipH="1">
                <a:off x="1335024" y="1157694"/>
                <a:ext cx="9525" cy="55245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8" name="直接连接符 167"/>
              <p:cNvCxnSpPr/>
              <p:nvPr/>
            </p:nvCxnSpPr>
            <p:spPr>
              <a:xfrm flipH="1">
                <a:off x="131674" y="1155802"/>
                <a:ext cx="9525" cy="55245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9" name="椭圆 168"/>
              <p:cNvSpPr>
                <a:spLocks noChangeAspect="1"/>
              </p:cNvSpPr>
              <p:nvPr/>
            </p:nvSpPr>
            <p:spPr>
              <a:xfrm>
                <a:off x="1217981" y="896112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sz="1600" kern="100">
                    <a:solidFill>
                      <a:srgbClr val="000000"/>
                    </a:solidFill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S</a:t>
                </a:r>
                <a:endParaRPr lang="zh-CN" sz="1600" kern="10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36" name="直接连接符 135"/>
            <p:cNvCxnSpPr/>
            <p:nvPr/>
          </p:nvCxnSpPr>
          <p:spPr>
            <a:xfrm flipH="1">
              <a:off x="3485692" y="1144829"/>
              <a:ext cx="0" cy="55816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直接连接符 137"/>
            <p:cNvCxnSpPr/>
            <p:nvPr/>
          </p:nvCxnSpPr>
          <p:spPr>
            <a:xfrm>
              <a:off x="1342339" y="431597"/>
              <a:ext cx="0" cy="452437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>
              <a:off x="2465222" y="1843430"/>
              <a:ext cx="89027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914400" y="714628"/>
            <a:ext cx="7772400" cy="5496702"/>
          </a:xfrm>
        </p:spPr>
        <p:txBody>
          <a:bodyPr/>
          <a:lstStyle/>
          <a:p>
            <a:r>
              <a:rPr lang="zh-CN" altLang="en-US" dirty="0"/>
              <a:t>宽度优先的不足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宽度优先没有考虑两个节点间的距离</a:t>
            </a:r>
            <a:endParaRPr lang="en-US" altLang="zh-CN" dirty="0"/>
          </a:p>
        </p:txBody>
      </p:sp>
      <p:grpSp>
        <p:nvGrpSpPr>
          <p:cNvPr id="4" name="组合 3"/>
          <p:cNvGrpSpPr/>
          <p:nvPr/>
        </p:nvGrpSpPr>
        <p:grpSpPr>
          <a:xfrm>
            <a:off x="5319591" y="733171"/>
            <a:ext cx="3814126" cy="2139780"/>
            <a:chOff x="0" y="0"/>
            <a:chExt cx="4139718" cy="1970532"/>
          </a:xfrm>
        </p:grpSpPr>
        <p:grpSp>
          <p:nvGrpSpPr>
            <p:cNvPr id="5" name="组合 4"/>
            <p:cNvGrpSpPr/>
            <p:nvPr/>
          </p:nvGrpSpPr>
          <p:grpSpPr>
            <a:xfrm>
              <a:off x="0" y="0"/>
              <a:ext cx="4139718" cy="1970532"/>
              <a:chOff x="0" y="0"/>
              <a:chExt cx="4139718" cy="1970532"/>
            </a:xfrm>
          </p:grpSpPr>
          <p:sp>
            <p:nvSpPr>
              <p:cNvPr id="9" name="文本框 58"/>
              <p:cNvSpPr txBox="1"/>
              <p:nvPr/>
            </p:nvSpPr>
            <p:spPr>
              <a:xfrm>
                <a:off x="493776" y="1556663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1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文本框 54"/>
              <p:cNvSpPr txBox="1"/>
              <p:nvPr/>
            </p:nvSpPr>
            <p:spPr>
              <a:xfrm>
                <a:off x="2398174" y="742228"/>
                <a:ext cx="2698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altLang="zh-CN" sz="1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6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1" name="直接连接符 10"/>
              <p:cNvCxnSpPr>
                <a:endCxn id="16" idx="2"/>
              </p:cNvCxnSpPr>
              <p:nvPr/>
            </p:nvCxnSpPr>
            <p:spPr>
              <a:xfrm flipV="1">
                <a:off x="1459383" y="1018184"/>
                <a:ext cx="1901952" cy="6732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文本框 55"/>
              <p:cNvSpPr txBox="1"/>
              <p:nvPr/>
            </p:nvSpPr>
            <p:spPr>
              <a:xfrm>
                <a:off x="2798064" y="1576171"/>
                <a:ext cx="2698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3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椭圆 12"/>
              <p:cNvSpPr>
                <a:spLocks noChangeAspect="1"/>
              </p:cNvSpPr>
              <p:nvPr/>
            </p:nvSpPr>
            <p:spPr>
              <a:xfrm>
                <a:off x="1232611" y="182880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C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椭圆 13"/>
              <p:cNvSpPr>
                <a:spLocks noChangeAspect="1"/>
              </p:cNvSpPr>
              <p:nvPr/>
            </p:nvSpPr>
            <p:spPr>
              <a:xfrm>
                <a:off x="1217981" y="1708099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E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椭圆 14"/>
              <p:cNvSpPr>
                <a:spLocks noChangeAspect="1"/>
              </p:cNvSpPr>
              <p:nvPr/>
            </p:nvSpPr>
            <p:spPr>
              <a:xfrm>
                <a:off x="2231136" y="1719072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B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椭圆 15"/>
              <p:cNvSpPr>
                <a:spLocks noChangeAspect="1"/>
              </p:cNvSpPr>
              <p:nvPr/>
            </p:nvSpPr>
            <p:spPr>
              <a:xfrm>
                <a:off x="3361335" y="892454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chemeClr val="tx1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A</a:t>
                </a:r>
                <a:endParaRPr lang="zh-CN" sz="1400" kern="100" dirty="0">
                  <a:solidFill>
                    <a:schemeClr val="tx1"/>
                  </a:solidFill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椭圆 16"/>
              <p:cNvSpPr>
                <a:spLocks noChangeAspect="1"/>
              </p:cNvSpPr>
              <p:nvPr/>
            </p:nvSpPr>
            <p:spPr>
              <a:xfrm>
                <a:off x="3364992" y="1693469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sz="1400" kern="100">
                    <a:solidFill>
                      <a:srgbClr val="000000"/>
                    </a:solidFill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T</a:t>
                </a:r>
                <a:endParaRPr lang="zh-CN" sz="1400" kern="10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椭圆 17"/>
              <p:cNvSpPr>
                <a:spLocks noChangeAspect="1"/>
              </p:cNvSpPr>
              <p:nvPr/>
            </p:nvSpPr>
            <p:spPr>
              <a:xfrm>
                <a:off x="14631" y="182880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chemeClr val="tx1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D</a:t>
                </a:r>
                <a:endParaRPr lang="en-US" altLang="zh-CN" sz="1400" kern="100" dirty="0">
                  <a:solidFill>
                    <a:schemeClr val="tx1"/>
                  </a:solidFill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椭圆 18"/>
              <p:cNvSpPr>
                <a:spLocks noChangeAspect="1"/>
              </p:cNvSpPr>
              <p:nvPr/>
            </p:nvSpPr>
            <p:spPr>
              <a:xfrm>
                <a:off x="0" y="1708099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F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0" name="直接连接符 19"/>
              <p:cNvCxnSpPr/>
              <p:nvPr/>
            </p:nvCxnSpPr>
            <p:spPr>
              <a:xfrm flipV="1">
                <a:off x="270663" y="285293"/>
                <a:ext cx="962025" cy="4763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 flipV="1">
                <a:off x="245059" y="1821485"/>
                <a:ext cx="966470" cy="889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2" name="文本框 47"/>
              <p:cNvSpPr txBox="1"/>
              <p:nvPr/>
            </p:nvSpPr>
            <p:spPr>
              <a:xfrm>
                <a:off x="1722730" y="1572225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2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文本框 48"/>
              <p:cNvSpPr txBox="1"/>
              <p:nvPr/>
            </p:nvSpPr>
            <p:spPr>
              <a:xfrm>
                <a:off x="1329889" y="504749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400" kern="10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1</a:t>
                </a:r>
                <a:endParaRPr lang="zh-CN" sz="1400" kern="10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文本框 49"/>
              <p:cNvSpPr txBox="1"/>
              <p:nvPr/>
            </p:nvSpPr>
            <p:spPr>
              <a:xfrm>
                <a:off x="1344519" y="1287475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3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文本框 59"/>
              <p:cNvSpPr txBox="1"/>
              <p:nvPr/>
            </p:nvSpPr>
            <p:spPr>
              <a:xfrm>
                <a:off x="512064" y="0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400" kern="10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7</a:t>
                </a:r>
                <a:endParaRPr lang="zh-CN" sz="1400" kern="10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文本框 60"/>
              <p:cNvSpPr txBox="1"/>
              <p:nvPr/>
            </p:nvSpPr>
            <p:spPr>
              <a:xfrm>
                <a:off x="877842" y="950250"/>
                <a:ext cx="4857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zh-CN" sz="1400" b="1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起点</a:t>
                </a:r>
                <a:endParaRPr lang="zh-CN" sz="1400" b="1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文本框 61"/>
              <p:cNvSpPr txBox="1"/>
              <p:nvPr/>
            </p:nvSpPr>
            <p:spPr>
              <a:xfrm>
                <a:off x="3653943" y="1671523"/>
                <a:ext cx="4857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zh-CN" sz="1400" b="1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终点</a:t>
                </a:r>
                <a:endParaRPr lang="zh-CN" sz="1400" b="1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8" name="直接连接符 27"/>
              <p:cNvCxnSpPr/>
              <p:nvPr/>
            </p:nvCxnSpPr>
            <p:spPr>
              <a:xfrm flipV="1">
                <a:off x="1470355" y="1832458"/>
                <a:ext cx="762000" cy="444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9" name="椭圆 28"/>
              <p:cNvSpPr>
                <a:spLocks noChangeAspect="1"/>
              </p:cNvSpPr>
              <p:nvPr/>
            </p:nvSpPr>
            <p:spPr>
              <a:xfrm>
                <a:off x="18288" y="899770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G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文本框 65"/>
              <p:cNvSpPr txBox="1"/>
              <p:nvPr/>
            </p:nvSpPr>
            <p:spPr>
              <a:xfrm>
                <a:off x="157241" y="1276502"/>
                <a:ext cx="2698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5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文本框 67"/>
              <p:cNvSpPr txBox="1"/>
              <p:nvPr/>
            </p:nvSpPr>
            <p:spPr>
              <a:xfrm>
                <a:off x="3460090" y="1283818"/>
                <a:ext cx="2698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altLang="zh-CN" sz="1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3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2" name="直接连接符 31"/>
              <p:cNvCxnSpPr/>
              <p:nvPr/>
            </p:nvCxnSpPr>
            <p:spPr>
              <a:xfrm flipH="1">
                <a:off x="1335024" y="1157694"/>
                <a:ext cx="9525" cy="55245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 flipH="1">
                <a:off x="131674" y="1155802"/>
                <a:ext cx="9525" cy="55245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4" name="椭圆 33"/>
              <p:cNvSpPr>
                <a:spLocks noChangeAspect="1"/>
              </p:cNvSpPr>
              <p:nvPr/>
            </p:nvSpPr>
            <p:spPr>
              <a:xfrm>
                <a:off x="1217981" y="896112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sz="1400" kern="100">
                    <a:solidFill>
                      <a:srgbClr val="000000"/>
                    </a:solidFill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S</a:t>
                </a:r>
                <a:endParaRPr lang="zh-CN" sz="1400" kern="10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6" name="直接连接符 5"/>
            <p:cNvCxnSpPr/>
            <p:nvPr/>
          </p:nvCxnSpPr>
          <p:spPr>
            <a:xfrm flipH="1">
              <a:off x="3485692" y="1144829"/>
              <a:ext cx="0" cy="55816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1342339" y="431597"/>
              <a:ext cx="0" cy="452437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2465222" y="1843430"/>
              <a:ext cx="89027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7" name="椭圆 36"/>
          <p:cNvSpPr>
            <a:spLocks noChangeAspect="1"/>
          </p:cNvSpPr>
          <p:nvPr/>
        </p:nvSpPr>
        <p:spPr>
          <a:xfrm>
            <a:off x="3061476" y="2263413"/>
            <a:ext cx="319425" cy="3156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>
                <a:solidFill>
                  <a:srgbClr val="00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S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0" name="椭圆 49"/>
          <p:cNvSpPr>
            <a:spLocks noChangeAspect="1"/>
          </p:cNvSpPr>
          <p:nvPr/>
        </p:nvSpPr>
        <p:spPr>
          <a:xfrm>
            <a:off x="3428253" y="2139128"/>
            <a:ext cx="251516" cy="248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4" name="椭圆 53"/>
          <p:cNvSpPr>
            <a:spLocks noChangeAspect="1"/>
          </p:cNvSpPr>
          <p:nvPr/>
        </p:nvSpPr>
        <p:spPr>
          <a:xfrm>
            <a:off x="1500357" y="3167989"/>
            <a:ext cx="250862" cy="24792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66" name="直接连接符 65"/>
          <p:cNvCxnSpPr/>
          <p:nvPr/>
        </p:nvCxnSpPr>
        <p:spPr>
          <a:xfrm flipH="1">
            <a:off x="1741960" y="2575653"/>
            <a:ext cx="1427734" cy="88606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椭圆 66"/>
          <p:cNvSpPr>
            <a:spLocks noChangeAspect="1"/>
          </p:cNvSpPr>
          <p:nvPr/>
        </p:nvSpPr>
        <p:spPr>
          <a:xfrm>
            <a:off x="1570050" y="3457271"/>
            <a:ext cx="319425" cy="3156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68" name="直接连接符 67"/>
          <p:cNvCxnSpPr/>
          <p:nvPr/>
        </p:nvCxnSpPr>
        <p:spPr>
          <a:xfrm>
            <a:off x="3228739" y="2589427"/>
            <a:ext cx="12099" cy="87291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椭圆 68"/>
          <p:cNvSpPr>
            <a:spLocks noChangeAspect="1"/>
          </p:cNvSpPr>
          <p:nvPr/>
        </p:nvSpPr>
        <p:spPr>
          <a:xfrm>
            <a:off x="3080060" y="3475637"/>
            <a:ext cx="319425" cy="3156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0" name="椭圆 69"/>
          <p:cNvSpPr>
            <a:spLocks noChangeAspect="1"/>
          </p:cNvSpPr>
          <p:nvPr/>
        </p:nvSpPr>
        <p:spPr>
          <a:xfrm>
            <a:off x="3363478" y="3301150"/>
            <a:ext cx="250862" cy="24792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72" name="直接连接符 71"/>
          <p:cNvCxnSpPr/>
          <p:nvPr/>
        </p:nvCxnSpPr>
        <p:spPr>
          <a:xfrm flipH="1">
            <a:off x="3261262" y="3778694"/>
            <a:ext cx="12502" cy="99249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>
            <a:off x="3279846" y="2557285"/>
            <a:ext cx="1494280" cy="86095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椭圆 73"/>
          <p:cNvSpPr>
            <a:spLocks noChangeAspect="1"/>
          </p:cNvSpPr>
          <p:nvPr/>
        </p:nvSpPr>
        <p:spPr>
          <a:xfrm>
            <a:off x="4887426" y="3177173"/>
            <a:ext cx="250862" cy="24792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5" name="椭圆 74"/>
          <p:cNvSpPr>
            <a:spLocks noChangeAspect="1"/>
          </p:cNvSpPr>
          <p:nvPr/>
        </p:nvSpPr>
        <p:spPr>
          <a:xfrm>
            <a:off x="4622594" y="3425129"/>
            <a:ext cx="319425" cy="3156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76" name="直接连接符 75"/>
          <p:cNvCxnSpPr>
            <a:endCxn id="77" idx="0"/>
          </p:cNvCxnSpPr>
          <p:nvPr/>
        </p:nvCxnSpPr>
        <p:spPr>
          <a:xfrm>
            <a:off x="4822379" y="3719001"/>
            <a:ext cx="111460" cy="104022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椭圆 76"/>
          <p:cNvSpPr>
            <a:spLocks noChangeAspect="1"/>
          </p:cNvSpPr>
          <p:nvPr/>
        </p:nvSpPr>
        <p:spPr>
          <a:xfrm>
            <a:off x="4774126" y="4759227"/>
            <a:ext cx="319425" cy="3156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T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0" name="椭圆 79"/>
          <p:cNvSpPr>
            <a:spLocks noChangeAspect="1"/>
          </p:cNvSpPr>
          <p:nvPr/>
        </p:nvSpPr>
        <p:spPr>
          <a:xfrm>
            <a:off x="2076485" y="4770514"/>
            <a:ext cx="319425" cy="3156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>
                <a:solidFill>
                  <a:srgbClr val="00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sz="1400" kern="10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1" name="椭圆 80"/>
          <p:cNvSpPr>
            <a:spLocks noChangeAspect="1"/>
          </p:cNvSpPr>
          <p:nvPr/>
        </p:nvSpPr>
        <p:spPr>
          <a:xfrm>
            <a:off x="1058970" y="4770514"/>
            <a:ext cx="319425" cy="3156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F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82" name="直接连接符 81"/>
          <p:cNvCxnSpPr/>
          <p:nvPr/>
        </p:nvCxnSpPr>
        <p:spPr>
          <a:xfrm flipH="1">
            <a:off x="1240172" y="3792470"/>
            <a:ext cx="435580" cy="98133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1718729" y="3778694"/>
            <a:ext cx="502530" cy="98053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椭圆 88"/>
          <p:cNvSpPr>
            <a:spLocks noChangeAspect="1"/>
          </p:cNvSpPr>
          <p:nvPr/>
        </p:nvSpPr>
        <p:spPr>
          <a:xfrm>
            <a:off x="3103291" y="4779698"/>
            <a:ext cx="319425" cy="3156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>
                <a:solidFill>
                  <a:srgbClr val="00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sz="1400" kern="10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7" grpId="0" animBg="1"/>
      <p:bldP spid="50" grpId="0" animBg="1"/>
      <p:bldP spid="54" grpId="0" animBg="1"/>
      <p:bldP spid="67" grpId="0" animBg="1"/>
      <p:bldP spid="69" grpId="0" animBg="1"/>
      <p:bldP spid="70" grpId="0" animBg="1"/>
      <p:bldP spid="74" grpId="0" animBg="1"/>
      <p:bldP spid="75" grpId="0" animBg="1"/>
      <p:bldP spid="77" grpId="0" animBg="1"/>
      <p:bldP spid="80" grpId="0" animBg="1"/>
      <p:bldP spid="81" grpId="0" animBg="1"/>
      <p:bldP spid="8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迪杰斯特拉（</a:t>
            </a:r>
            <a:r>
              <a:rPr lang="en-US" altLang="zh-CN" dirty="0" err="1"/>
              <a:t>Dijkstra</a:t>
            </a:r>
            <a:r>
              <a:rPr lang="zh-CN" altLang="en-US" dirty="0"/>
              <a:t>）算法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优先扩展距离起点最近的节点，</a:t>
            </a:r>
            <a:r>
              <a:rPr lang="zh-CN" altLang="en-US" dirty="0">
                <a:solidFill>
                  <a:srgbClr val="FF0000"/>
                </a:solidFill>
              </a:rPr>
              <a:t>直到</a:t>
            </a:r>
            <a:r>
              <a:rPr lang="zh-CN" altLang="en-US" b="1" u="sng" dirty="0">
                <a:solidFill>
                  <a:srgbClr val="FF0000"/>
                </a:solidFill>
              </a:rPr>
              <a:t>终点距离最短</a:t>
            </a:r>
            <a:endParaRPr lang="zh-CN" altLang="en-US" b="1" u="sng" dirty="0">
              <a:solidFill>
                <a:srgbClr val="FF0000"/>
              </a:solidFill>
            </a:endParaRPr>
          </a:p>
        </p:txBody>
      </p:sp>
      <p:sp>
        <p:nvSpPr>
          <p:cNvPr id="6" name="文本框 115"/>
          <p:cNvSpPr txBox="1"/>
          <p:nvPr/>
        </p:nvSpPr>
        <p:spPr>
          <a:xfrm>
            <a:off x="3220653" y="4467587"/>
            <a:ext cx="626357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g=9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椭圆 6"/>
          <p:cNvSpPr>
            <a:spLocks noChangeAspect="1"/>
          </p:cNvSpPr>
          <p:nvPr/>
        </p:nvSpPr>
        <p:spPr>
          <a:xfrm>
            <a:off x="3017939" y="2283738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>
                <a:solidFill>
                  <a:srgbClr val="00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S</a:t>
            </a:r>
            <a:endParaRPr lang="zh-CN" sz="1400" kern="10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5"/>
          <p:cNvSpPr txBox="1"/>
          <p:nvPr/>
        </p:nvSpPr>
        <p:spPr>
          <a:xfrm>
            <a:off x="3201714" y="2801117"/>
            <a:ext cx="325780" cy="324521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76"/>
          <p:cNvSpPr txBox="1"/>
          <p:nvPr/>
        </p:nvSpPr>
        <p:spPr>
          <a:xfrm>
            <a:off x="2047028" y="2822862"/>
            <a:ext cx="325780" cy="324521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77"/>
          <p:cNvSpPr txBox="1"/>
          <p:nvPr/>
        </p:nvSpPr>
        <p:spPr>
          <a:xfrm>
            <a:off x="3953543" y="2778306"/>
            <a:ext cx="325629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6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89"/>
          <p:cNvSpPr txBox="1"/>
          <p:nvPr/>
        </p:nvSpPr>
        <p:spPr>
          <a:xfrm>
            <a:off x="1998482" y="4181814"/>
            <a:ext cx="325629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90"/>
          <p:cNvSpPr txBox="1"/>
          <p:nvPr/>
        </p:nvSpPr>
        <p:spPr>
          <a:xfrm>
            <a:off x="1208515" y="3981313"/>
            <a:ext cx="325780" cy="324521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92"/>
          <p:cNvSpPr txBox="1"/>
          <p:nvPr/>
        </p:nvSpPr>
        <p:spPr>
          <a:xfrm>
            <a:off x="2956154" y="4021414"/>
            <a:ext cx="325629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7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94"/>
          <p:cNvSpPr txBox="1"/>
          <p:nvPr/>
        </p:nvSpPr>
        <p:spPr>
          <a:xfrm>
            <a:off x="3780337" y="4794531"/>
            <a:ext cx="325629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00"/>
          <p:cNvSpPr txBox="1"/>
          <p:nvPr/>
        </p:nvSpPr>
        <p:spPr>
          <a:xfrm>
            <a:off x="2219144" y="5300165"/>
            <a:ext cx="325629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椭圆 19"/>
          <p:cNvSpPr>
            <a:spLocks noChangeAspect="1"/>
          </p:cNvSpPr>
          <p:nvPr/>
        </p:nvSpPr>
        <p:spPr>
          <a:xfrm>
            <a:off x="3397477" y="2190170"/>
            <a:ext cx="238905" cy="2411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sz="1400" kern="10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文本框 109"/>
          <p:cNvSpPr txBox="1"/>
          <p:nvPr/>
        </p:nvSpPr>
        <p:spPr>
          <a:xfrm>
            <a:off x="1866086" y="3339710"/>
            <a:ext cx="626357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g=3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110"/>
          <p:cNvSpPr txBox="1"/>
          <p:nvPr/>
        </p:nvSpPr>
        <p:spPr>
          <a:xfrm>
            <a:off x="3304799" y="3446643"/>
            <a:ext cx="625974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g=2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文本框 111"/>
          <p:cNvSpPr txBox="1"/>
          <p:nvPr/>
        </p:nvSpPr>
        <p:spPr>
          <a:xfrm>
            <a:off x="4765578" y="3397633"/>
            <a:ext cx="625974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g=6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椭圆 23"/>
          <p:cNvSpPr>
            <a:spLocks noChangeAspect="1"/>
          </p:cNvSpPr>
          <p:nvPr/>
        </p:nvSpPr>
        <p:spPr>
          <a:xfrm>
            <a:off x="1535093" y="3161487"/>
            <a:ext cx="238284" cy="240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113"/>
          <p:cNvSpPr txBox="1"/>
          <p:nvPr/>
        </p:nvSpPr>
        <p:spPr>
          <a:xfrm>
            <a:off x="655390" y="4707573"/>
            <a:ext cx="626357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g=7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114"/>
          <p:cNvSpPr txBox="1"/>
          <p:nvPr/>
        </p:nvSpPr>
        <p:spPr>
          <a:xfrm>
            <a:off x="1651014" y="4707573"/>
            <a:ext cx="626357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g=5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文本框 122"/>
          <p:cNvSpPr txBox="1"/>
          <p:nvPr/>
        </p:nvSpPr>
        <p:spPr>
          <a:xfrm>
            <a:off x="2836996" y="5928402"/>
            <a:ext cx="626357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g=8</a:t>
            </a:r>
            <a:endParaRPr lang="zh-CN" sz="14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" name="椭圆 33"/>
          <p:cNvSpPr>
            <a:spLocks noChangeAspect="1"/>
          </p:cNvSpPr>
          <p:nvPr/>
        </p:nvSpPr>
        <p:spPr>
          <a:xfrm>
            <a:off x="2320648" y="4493705"/>
            <a:ext cx="238284" cy="240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6" name="直接连接符 35"/>
          <p:cNvCxnSpPr/>
          <p:nvPr/>
        </p:nvCxnSpPr>
        <p:spPr>
          <a:xfrm flipH="1">
            <a:off x="1764582" y="2586717"/>
            <a:ext cx="1356148" cy="8597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椭圆 36"/>
          <p:cNvSpPr>
            <a:spLocks noChangeAspect="1"/>
          </p:cNvSpPr>
          <p:nvPr/>
        </p:nvSpPr>
        <p:spPr>
          <a:xfrm>
            <a:off x="1601292" y="3442189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8" name="直接连接符 37"/>
          <p:cNvCxnSpPr/>
          <p:nvPr/>
        </p:nvCxnSpPr>
        <p:spPr>
          <a:xfrm>
            <a:off x="3176816" y="2600083"/>
            <a:ext cx="11493" cy="84702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椭圆 38"/>
          <p:cNvSpPr>
            <a:spLocks noChangeAspect="1"/>
          </p:cNvSpPr>
          <p:nvPr/>
        </p:nvSpPr>
        <p:spPr>
          <a:xfrm>
            <a:off x="3035591" y="3460010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" name="椭圆 39"/>
          <p:cNvSpPr>
            <a:spLocks noChangeAspect="1"/>
          </p:cNvSpPr>
          <p:nvPr/>
        </p:nvSpPr>
        <p:spPr>
          <a:xfrm>
            <a:off x="3362828" y="3299504"/>
            <a:ext cx="238284" cy="240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2" name="直接连接符 41"/>
          <p:cNvCxnSpPr/>
          <p:nvPr/>
        </p:nvCxnSpPr>
        <p:spPr>
          <a:xfrm flipH="1">
            <a:off x="3207708" y="3754079"/>
            <a:ext cx="11875" cy="96305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3225360" y="2568894"/>
            <a:ext cx="1419358" cy="83542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椭圆 43"/>
          <p:cNvSpPr>
            <a:spLocks noChangeAspect="1"/>
          </p:cNvSpPr>
          <p:nvPr/>
        </p:nvSpPr>
        <p:spPr>
          <a:xfrm>
            <a:off x="4752338" y="3170398"/>
            <a:ext cx="238284" cy="240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5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5" name="椭圆 44"/>
          <p:cNvSpPr>
            <a:spLocks noChangeAspect="1"/>
          </p:cNvSpPr>
          <p:nvPr/>
        </p:nvSpPr>
        <p:spPr>
          <a:xfrm>
            <a:off x="4500784" y="3411000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6" name="直接连接符 45"/>
          <p:cNvCxnSpPr>
            <a:endCxn id="55" idx="7"/>
          </p:cNvCxnSpPr>
          <p:nvPr/>
        </p:nvCxnSpPr>
        <p:spPr>
          <a:xfrm flipH="1">
            <a:off x="2862072" y="3696156"/>
            <a:ext cx="1828480" cy="2254829"/>
          </a:xfrm>
          <a:prstGeom prst="line">
            <a:avLst/>
          </a:prstGeom>
          <a:ln w="12700"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椭圆 49"/>
          <p:cNvSpPr>
            <a:spLocks noChangeAspect="1"/>
          </p:cNvSpPr>
          <p:nvPr/>
        </p:nvSpPr>
        <p:spPr>
          <a:xfrm>
            <a:off x="2082335" y="4716484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>
                <a:solidFill>
                  <a:srgbClr val="00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sz="1400" kern="10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" name="椭圆 50"/>
          <p:cNvSpPr>
            <a:spLocks noChangeAspect="1"/>
          </p:cNvSpPr>
          <p:nvPr/>
        </p:nvSpPr>
        <p:spPr>
          <a:xfrm>
            <a:off x="1115837" y="4716484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F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2" name="直接连接符 51"/>
          <p:cNvCxnSpPr/>
          <p:nvPr/>
        </p:nvCxnSpPr>
        <p:spPr>
          <a:xfrm flipH="1">
            <a:off x="1287953" y="3767446"/>
            <a:ext cx="413740" cy="95222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1742516" y="3754079"/>
            <a:ext cx="477334" cy="95145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椭圆 54"/>
          <p:cNvSpPr>
            <a:spLocks noChangeAspect="1"/>
          </p:cNvSpPr>
          <p:nvPr/>
        </p:nvSpPr>
        <p:spPr>
          <a:xfrm>
            <a:off x="2603096" y="5906125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>
                <a:solidFill>
                  <a:srgbClr val="00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T</a:t>
            </a:r>
            <a:endParaRPr lang="zh-CN" sz="1400" kern="10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6" name="直接连接符 55"/>
          <p:cNvCxnSpPr/>
          <p:nvPr/>
        </p:nvCxnSpPr>
        <p:spPr>
          <a:xfrm>
            <a:off x="2276516" y="5023919"/>
            <a:ext cx="476951" cy="87023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椭圆 58"/>
          <p:cNvSpPr>
            <a:spLocks noChangeAspect="1"/>
          </p:cNvSpPr>
          <p:nvPr/>
        </p:nvSpPr>
        <p:spPr>
          <a:xfrm>
            <a:off x="3057657" y="4725396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>
                <a:solidFill>
                  <a:srgbClr val="00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sz="1400" kern="10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60" name="组合 59"/>
          <p:cNvGrpSpPr/>
          <p:nvPr/>
        </p:nvGrpSpPr>
        <p:grpSpPr>
          <a:xfrm>
            <a:off x="5136003" y="4197951"/>
            <a:ext cx="3814126" cy="2139780"/>
            <a:chOff x="0" y="0"/>
            <a:chExt cx="4139718" cy="1970532"/>
          </a:xfrm>
        </p:grpSpPr>
        <p:grpSp>
          <p:nvGrpSpPr>
            <p:cNvPr id="61" name="组合 60"/>
            <p:cNvGrpSpPr/>
            <p:nvPr/>
          </p:nvGrpSpPr>
          <p:grpSpPr>
            <a:xfrm>
              <a:off x="0" y="0"/>
              <a:ext cx="4139718" cy="1970532"/>
              <a:chOff x="0" y="0"/>
              <a:chExt cx="4139718" cy="1970532"/>
            </a:xfrm>
          </p:grpSpPr>
          <p:sp>
            <p:nvSpPr>
              <p:cNvPr id="65" name="文本框 58"/>
              <p:cNvSpPr txBox="1"/>
              <p:nvPr/>
            </p:nvSpPr>
            <p:spPr>
              <a:xfrm>
                <a:off x="493776" y="1556663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altLang="zh-CN" sz="1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4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" name="文本框 54"/>
              <p:cNvSpPr txBox="1"/>
              <p:nvPr/>
            </p:nvSpPr>
            <p:spPr>
              <a:xfrm>
                <a:off x="2398174" y="742228"/>
                <a:ext cx="2698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altLang="zh-CN" sz="1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6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7" name="直接连接符 66"/>
              <p:cNvCxnSpPr>
                <a:endCxn id="72" idx="2"/>
              </p:cNvCxnSpPr>
              <p:nvPr/>
            </p:nvCxnSpPr>
            <p:spPr>
              <a:xfrm flipV="1">
                <a:off x="1459383" y="1018184"/>
                <a:ext cx="1901952" cy="6732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8" name="文本框 55"/>
              <p:cNvSpPr txBox="1"/>
              <p:nvPr/>
            </p:nvSpPr>
            <p:spPr>
              <a:xfrm>
                <a:off x="2798064" y="1576171"/>
                <a:ext cx="2698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3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" name="椭圆 68"/>
              <p:cNvSpPr>
                <a:spLocks noChangeAspect="1"/>
              </p:cNvSpPr>
              <p:nvPr/>
            </p:nvSpPr>
            <p:spPr>
              <a:xfrm>
                <a:off x="1232611" y="182880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C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0" name="椭圆 69"/>
              <p:cNvSpPr>
                <a:spLocks noChangeAspect="1"/>
              </p:cNvSpPr>
              <p:nvPr/>
            </p:nvSpPr>
            <p:spPr>
              <a:xfrm>
                <a:off x="1217981" y="1708099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E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" name="椭圆 70"/>
              <p:cNvSpPr>
                <a:spLocks noChangeAspect="1"/>
              </p:cNvSpPr>
              <p:nvPr/>
            </p:nvSpPr>
            <p:spPr>
              <a:xfrm>
                <a:off x="2231136" y="1719072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B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2" name="椭圆 71"/>
              <p:cNvSpPr>
                <a:spLocks noChangeAspect="1"/>
              </p:cNvSpPr>
              <p:nvPr/>
            </p:nvSpPr>
            <p:spPr>
              <a:xfrm>
                <a:off x="3361335" y="892454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chemeClr val="tx1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A</a:t>
                </a:r>
                <a:endParaRPr lang="zh-CN" sz="1400" kern="100" dirty="0">
                  <a:solidFill>
                    <a:schemeClr val="tx1"/>
                  </a:solidFill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3" name="椭圆 72"/>
              <p:cNvSpPr>
                <a:spLocks noChangeAspect="1"/>
              </p:cNvSpPr>
              <p:nvPr/>
            </p:nvSpPr>
            <p:spPr>
              <a:xfrm>
                <a:off x="3364992" y="1693469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sz="1400" kern="100">
                    <a:solidFill>
                      <a:srgbClr val="000000"/>
                    </a:solidFill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T</a:t>
                </a:r>
                <a:endParaRPr lang="zh-CN" sz="1400" kern="10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4" name="椭圆 73"/>
              <p:cNvSpPr>
                <a:spLocks noChangeAspect="1"/>
              </p:cNvSpPr>
              <p:nvPr/>
            </p:nvSpPr>
            <p:spPr>
              <a:xfrm>
                <a:off x="14631" y="182880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chemeClr val="tx1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D</a:t>
                </a:r>
                <a:endParaRPr lang="en-US" altLang="zh-CN" sz="1400" kern="100" dirty="0">
                  <a:solidFill>
                    <a:schemeClr val="tx1"/>
                  </a:solidFill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5" name="椭圆 74"/>
              <p:cNvSpPr>
                <a:spLocks noChangeAspect="1"/>
              </p:cNvSpPr>
              <p:nvPr/>
            </p:nvSpPr>
            <p:spPr>
              <a:xfrm>
                <a:off x="0" y="1708099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F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76" name="直接连接符 75"/>
              <p:cNvCxnSpPr/>
              <p:nvPr/>
            </p:nvCxnSpPr>
            <p:spPr>
              <a:xfrm flipV="1">
                <a:off x="270663" y="285293"/>
                <a:ext cx="962025" cy="4763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 flipV="1">
                <a:off x="245059" y="1821485"/>
                <a:ext cx="966470" cy="889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8" name="文本框 47"/>
              <p:cNvSpPr txBox="1"/>
              <p:nvPr/>
            </p:nvSpPr>
            <p:spPr>
              <a:xfrm>
                <a:off x="1722730" y="1572225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2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" name="文本框 48"/>
              <p:cNvSpPr txBox="1"/>
              <p:nvPr/>
            </p:nvSpPr>
            <p:spPr>
              <a:xfrm>
                <a:off x="1329889" y="504749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altLang="zh-CN" sz="1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2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" name="文本框 49"/>
              <p:cNvSpPr txBox="1"/>
              <p:nvPr/>
            </p:nvSpPr>
            <p:spPr>
              <a:xfrm>
                <a:off x="1344519" y="1287475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3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1" name="文本框 59"/>
              <p:cNvSpPr txBox="1"/>
              <p:nvPr/>
            </p:nvSpPr>
            <p:spPr>
              <a:xfrm>
                <a:off x="512064" y="0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400" kern="10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7</a:t>
                </a:r>
                <a:endParaRPr lang="zh-CN" sz="1400" kern="10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" name="文本框 60"/>
              <p:cNvSpPr txBox="1"/>
              <p:nvPr/>
            </p:nvSpPr>
            <p:spPr>
              <a:xfrm>
                <a:off x="877842" y="950250"/>
                <a:ext cx="4857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zh-CN" sz="1400" b="1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起点</a:t>
                </a:r>
                <a:endParaRPr lang="zh-CN" sz="1400" b="1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" name="文本框 61"/>
              <p:cNvSpPr txBox="1"/>
              <p:nvPr/>
            </p:nvSpPr>
            <p:spPr>
              <a:xfrm>
                <a:off x="3653943" y="1671523"/>
                <a:ext cx="4857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zh-CN" sz="1400" b="1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终点</a:t>
                </a:r>
                <a:endParaRPr lang="zh-CN" sz="1400" b="1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84" name="直接连接符 83"/>
              <p:cNvCxnSpPr/>
              <p:nvPr/>
            </p:nvCxnSpPr>
            <p:spPr>
              <a:xfrm flipV="1">
                <a:off x="1470355" y="1832458"/>
                <a:ext cx="762000" cy="444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5" name="椭圆 84"/>
              <p:cNvSpPr>
                <a:spLocks noChangeAspect="1"/>
              </p:cNvSpPr>
              <p:nvPr/>
            </p:nvSpPr>
            <p:spPr>
              <a:xfrm>
                <a:off x="18288" y="899770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G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6" name="文本框 65"/>
              <p:cNvSpPr txBox="1"/>
              <p:nvPr/>
            </p:nvSpPr>
            <p:spPr>
              <a:xfrm>
                <a:off x="157241" y="1276502"/>
                <a:ext cx="2698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5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7" name="文本框 67"/>
              <p:cNvSpPr txBox="1"/>
              <p:nvPr/>
            </p:nvSpPr>
            <p:spPr>
              <a:xfrm>
                <a:off x="3460090" y="1283818"/>
                <a:ext cx="2698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altLang="zh-CN" sz="1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3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88" name="直接连接符 87"/>
              <p:cNvCxnSpPr/>
              <p:nvPr/>
            </p:nvCxnSpPr>
            <p:spPr>
              <a:xfrm flipH="1">
                <a:off x="1335024" y="1157694"/>
                <a:ext cx="9525" cy="55245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直接连接符 88"/>
              <p:cNvCxnSpPr/>
              <p:nvPr/>
            </p:nvCxnSpPr>
            <p:spPr>
              <a:xfrm flipH="1">
                <a:off x="131674" y="1155802"/>
                <a:ext cx="9525" cy="55245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0" name="椭圆 89"/>
              <p:cNvSpPr>
                <a:spLocks noChangeAspect="1"/>
              </p:cNvSpPr>
              <p:nvPr/>
            </p:nvSpPr>
            <p:spPr>
              <a:xfrm>
                <a:off x="1217981" y="896112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sz="1400" kern="100" dirty="0">
                    <a:solidFill>
                      <a:srgbClr val="000000"/>
                    </a:solidFill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S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62" name="直接连接符 61"/>
            <p:cNvCxnSpPr/>
            <p:nvPr/>
          </p:nvCxnSpPr>
          <p:spPr>
            <a:xfrm flipH="1">
              <a:off x="3485692" y="1144829"/>
              <a:ext cx="0" cy="55816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>
              <a:off x="1342339" y="431597"/>
              <a:ext cx="0" cy="452437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>
              <a:off x="2465222" y="1843430"/>
              <a:ext cx="89027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2" name="椭圆 91"/>
          <p:cNvSpPr>
            <a:spLocks noChangeAspect="1"/>
          </p:cNvSpPr>
          <p:nvPr/>
        </p:nvSpPr>
        <p:spPr>
          <a:xfrm>
            <a:off x="969585" y="4484826"/>
            <a:ext cx="238284" cy="240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6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94" name="直接连接符 93"/>
          <p:cNvCxnSpPr>
            <a:endCxn id="93" idx="0"/>
          </p:cNvCxnSpPr>
          <p:nvPr/>
        </p:nvCxnSpPr>
        <p:spPr>
          <a:xfrm flipH="1">
            <a:off x="1242636" y="5033383"/>
            <a:ext cx="13551" cy="91117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文本框 90"/>
          <p:cNvSpPr txBox="1"/>
          <p:nvPr/>
        </p:nvSpPr>
        <p:spPr>
          <a:xfrm>
            <a:off x="912482" y="5448060"/>
            <a:ext cx="325780" cy="324521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" name="文本框 113"/>
          <p:cNvSpPr txBox="1"/>
          <p:nvPr/>
        </p:nvSpPr>
        <p:spPr>
          <a:xfrm>
            <a:off x="541799" y="5951042"/>
            <a:ext cx="626357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g=12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" name="椭圆 92"/>
          <p:cNvSpPr>
            <a:spLocks noChangeAspect="1"/>
          </p:cNvSpPr>
          <p:nvPr/>
        </p:nvSpPr>
        <p:spPr>
          <a:xfrm>
            <a:off x="1090931" y="5944561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G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8" name="椭圆 97"/>
          <p:cNvSpPr>
            <a:spLocks noChangeAspect="1"/>
          </p:cNvSpPr>
          <p:nvPr/>
        </p:nvSpPr>
        <p:spPr>
          <a:xfrm>
            <a:off x="3160644" y="5700663"/>
            <a:ext cx="238284" cy="240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7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" name="椭圆 90"/>
          <p:cNvSpPr>
            <a:spLocks noChangeAspect="1"/>
          </p:cNvSpPr>
          <p:nvPr/>
        </p:nvSpPr>
        <p:spPr>
          <a:xfrm>
            <a:off x="6532123" y="4982706"/>
            <a:ext cx="238905" cy="2411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" name="椭圆 94"/>
          <p:cNvSpPr>
            <a:spLocks noChangeAspect="1"/>
          </p:cNvSpPr>
          <p:nvPr/>
        </p:nvSpPr>
        <p:spPr>
          <a:xfrm>
            <a:off x="6484955" y="4228540"/>
            <a:ext cx="238284" cy="240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9" name="椭圆 98"/>
          <p:cNvSpPr>
            <a:spLocks noChangeAspect="1"/>
          </p:cNvSpPr>
          <p:nvPr/>
        </p:nvSpPr>
        <p:spPr>
          <a:xfrm>
            <a:off x="6271668" y="6359017"/>
            <a:ext cx="238284" cy="240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0" name="椭圆 99"/>
          <p:cNvSpPr>
            <a:spLocks noChangeAspect="1"/>
          </p:cNvSpPr>
          <p:nvPr/>
        </p:nvSpPr>
        <p:spPr>
          <a:xfrm>
            <a:off x="7191658" y="6397358"/>
            <a:ext cx="238284" cy="240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1" name="椭圆 100"/>
          <p:cNvSpPr>
            <a:spLocks noChangeAspect="1"/>
          </p:cNvSpPr>
          <p:nvPr/>
        </p:nvSpPr>
        <p:spPr>
          <a:xfrm>
            <a:off x="8239112" y="4844084"/>
            <a:ext cx="238284" cy="240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5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2" name="椭圆 101"/>
          <p:cNvSpPr>
            <a:spLocks noChangeAspect="1"/>
          </p:cNvSpPr>
          <p:nvPr/>
        </p:nvSpPr>
        <p:spPr>
          <a:xfrm>
            <a:off x="4826340" y="6080917"/>
            <a:ext cx="238284" cy="240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6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3" name="椭圆 102"/>
          <p:cNvSpPr>
            <a:spLocks noChangeAspect="1"/>
          </p:cNvSpPr>
          <p:nvPr/>
        </p:nvSpPr>
        <p:spPr>
          <a:xfrm>
            <a:off x="8239112" y="6385175"/>
            <a:ext cx="238284" cy="240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7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6" grpId="0" animBg="1"/>
      <p:bldP spid="17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33" grpId="0" animBg="1"/>
      <p:bldP spid="34" grpId="0" animBg="1"/>
      <p:bldP spid="37" grpId="0" animBg="1"/>
      <p:bldP spid="39" grpId="0" animBg="1"/>
      <p:bldP spid="40" grpId="0" animBg="1"/>
      <p:bldP spid="44" grpId="0" animBg="1"/>
      <p:bldP spid="45" grpId="0" animBg="1"/>
      <p:bldP spid="50" grpId="0" animBg="1"/>
      <p:bldP spid="51" grpId="0" animBg="1"/>
      <p:bldP spid="55" grpId="0" animBg="1"/>
      <p:bldP spid="59" grpId="0" animBg="1"/>
      <p:bldP spid="92" grpId="0" animBg="1"/>
      <p:bldP spid="96" grpId="0" animBg="1"/>
      <p:bldP spid="97" grpId="0" animBg="1"/>
      <p:bldP spid="93" grpId="0" animBg="1"/>
      <p:bldP spid="98" grpId="0" animBg="1"/>
      <p:bldP spid="91" grpId="0" animBg="1"/>
      <p:bldP spid="95" grpId="0" animBg="1"/>
      <p:bldP spid="99" grpId="0" animBg="1"/>
      <p:bldP spid="100" grpId="0" animBg="1"/>
      <p:bldP spid="101" grpId="0" animBg="1"/>
      <p:bldP spid="102" grpId="0" animBg="1"/>
      <p:bldP spid="10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迪杰斯特拉（</a:t>
            </a:r>
            <a:r>
              <a:rPr lang="en-US" altLang="zh-CN" dirty="0" err="1"/>
              <a:t>Dijkstra</a:t>
            </a:r>
            <a:r>
              <a:rPr lang="zh-CN" altLang="en-US" dirty="0"/>
              <a:t>）算法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优点：</a:t>
            </a:r>
            <a:endParaRPr lang="en-US" altLang="zh-CN" dirty="0"/>
          </a:p>
          <a:p>
            <a:pPr lvl="1"/>
            <a:r>
              <a:rPr lang="zh-CN" altLang="en-US" dirty="0"/>
              <a:t>当问题有解时，可以找到最佳解。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不足：</a:t>
            </a:r>
            <a:endParaRPr lang="en-US" altLang="zh-CN" dirty="0"/>
          </a:p>
          <a:p>
            <a:pPr lvl="1"/>
            <a:r>
              <a:rPr lang="zh-CN" altLang="en-US" dirty="0"/>
              <a:t>只考虑了节点距离起点的距离，没有考虑节点到终点的距离</a:t>
            </a:r>
            <a:endParaRPr lang="en-US" altLang="zh-CN" dirty="0"/>
          </a:p>
        </p:txBody>
      </p:sp>
      <p:sp>
        <p:nvSpPr>
          <p:cNvPr id="4" name="TextBox 3"/>
          <p:cNvSpPr txBox="1"/>
          <p:nvPr/>
        </p:nvSpPr>
        <p:spPr>
          <a:xfrm>
            <a:off x="3356113" y="5080624"/>
            <a:ext cx="2888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</a:rPr>
              <a:t>这将带来的后果是</a:t>
            </a:r>
            <a:r>
              <a:rPr lang="zh-CN" altLang="en-US" sz="2400" dirty="0">
                <a:solidFill>
                  <a:srgbClr val="FF0000"/>
                </a:solidFill>
              </a:rPr>
              <a:t>？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E32BAC2-D8AB-4A76-9064-AE383319E85D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1.4 </a:t>
            </a:r>
            <a:r>
              <a:rPr lang="zh-CN" altLang="en-US" dirty="0"/>
              <a:t>启发式图搜索</a:t>
            </a:r>
            <a:endParaRPr lang="zh-CN" altLang="en-US" dirty="0"/>
          </a:p>
        </p:txBody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sz="3200" b="1" dirty="0"/>
          </a:p>
          <a:p>
            <a:r>
              <a:rPr lang="zh-CN" altLang="en-US" sz="3200" b="1" dirty="0"/>
              <a:t>引入启发知识，在保证找到最佳解的情况下，尽可能减少搜索范围，提高搜索效率。</a:t>
            </a:r>
            <a:endParaRPr lang="zh-CN" altLang="en-US" sz="3200" b="1" dirty="0"/>
          </a:p>
          <a:p>
            <a:pPr marL="0" indent="0" eaLnBrk="1" hangingPunct="1">
              <a:buNone/>
            </a:pPr>
            <a:endParaRPr lang="en-US" altLang="zh-CN" sz="3200" b="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E32BAC2-D8AB-4A76-9064-AE383319E85D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1.4 </a:t>
            </a:r>
            <a:r>
              <a:rPr lang="zh-CN" altLang="en-US" dirty="0"/>
              <a:t>启发式图搜索</a:t>
            </a:r>
            <a:endParaRPr lang="zh-CN" altLang="en-US" dirty="0"/>
          </a:p>
        </p:txBody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3200" b="1" dirty="0"/>
              <a:t>启发知识：</a:t>
            </a:r>
            <a:endParaRPr lang="en-US" altLang="zh-CN" sz="3200" b="1" dirty="0"/>
          </a:p>
          <a:p>
            <a:pPr lvl="1"/>
            <a:r>
              <a:rPr lang="zh-CN" altLang="en-US" sz="3000" b="1" dirty="0"/>
              <a:t>评估节点到达目标的距离</a:t>
            </a:r>
            <a:endParaRPr lang="zh-CN" altLang="en-US" sz="3000" b="1" dirty="0"/>
          </a:p>
        </p:txBody>
      </p:sp>
      <p:sp>
        <p:nvSpPr>
          <p:cNvPr id="60421" name="Oval 4"/>
          <p:cNvSpPr>
            <a:spLocks noChangeArrowheads="1"/>
          </p:cNvSpPr>
          <p:nvPr/>
        </p:nvSpPr>
        <p:spPr bwMode="auto">
          <a:xfrm>
            <a:off x="4038600" y="268897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2" name="Oval 5"/>
          <p:cNvSpPr>
            <a:spLocks noChangeArrowheads="1"/>
          </p:cNvSpPr>
          <p:nvPr/>
        </p:nvSpPr>
        <p:spPr bwMode="auto">
          <a:xfrm>
            <a:off x="3276600" y="329857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3" name="Oval 6"/>
          <p:cNvSpPr>
            <a:spLocks noChangeArrowheads="1"/>
          </p:cNvSpPr>
          <p:nvPr/>
        </p:nvSpPr>
        <p:spPr bwMode="auto">
          <a:xfrm>
            <a:off x="4876800" y="329857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4" name="Oval 7"/>
          <p:cNvSpPr>
            <a:spLocks noChangeArrowheads="1"/>
          </p:cNvSpPr>
          <p:nvPr/>
        </p:nvSpPr>
        <p:spPr bwMode="auto">
          <a:xfrm>
            <a:off x="2971800" y="421297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5" name="Oval 8"/>
          <p:cNvSpPr>
            <a:spLocks noChangeArrowheads="1"/>
          </p:cNvSpPr>
          <p:nvPr/>
        </p:nvSpPr>
        <p:spPr bwMode="auto">
          <a:xfrm>
            <a:off x="5257800" y="421297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6" name="Oval 9"/>
          <p:cNvSpPr>
            <a:spLocks noChangeArrowheads="1"/>
          </p:cNvSpPr>
          <p:nvPr/>
        </p:nvSpPr>
        <p:spPr bwMode="auto">
          <a:xfrm>
            <a:off x="3657600" y="421297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7" name="Oval 10"/>
          <p:cNvSpPr>
            <a:spLocks noChangeArrowheads="1"/>
          </p:cNvSpPr>
          <p:nvPr/>
        </p:nvSpPr>
        <p:spPr bwMode="auto">
          <a:xfrm>
            <a:off x="6047096" y="4253914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8" name="Oval 11"/>
          <p:cNvSpPr>
            <a:spLocks noChangeArrowheads="1"/>
          </p:cNvSpPr>
          <p:nvPr/>
        </p:nvSpPr>
        <p:spPr bwMode="auto">
          <a:xfrm>
            <a:off x="2057400" y="4158378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9" name="Oval 12"/>
          <p:cNvSpPr>
            <a:spLocks noChangeArrowheads="1"/>
          </p:cNvSpPr>
          <p:nvPr/>
        </p:nvSpPr>
        <p:spPr bwMode="auto">
          <a:xfrm>
            <a:off x="4495800" y="421297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0" name="Line 13"/>
          <p:cNvSpPr>
            <a:spLocks noChangeShapeType="1"/>
          </p:cNvSpPr>
          <p:nvPr/>
        </p:nvSpPr>
        <p:spPr bwMode="auto">
          <a:xfrm flipH="1">
            <a:off x="3352800" y="284137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1" name="Line 14"/>
          <p:cNvSpPr>
            <a:spLocks noChangeShapeType="1"/>
          </p:cNvSpPr>
          <p:nvPr/>
        </p:nvSpPr>
        <p:spPr bwMode="auto">
          <a:xfrm>
            <a:off x="4114800" y="2841370"/>
            <a:ext cx="838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2" name="Line 15"/>
          <p:cNvSpPr>
            <a:spLocks noChangeShapeType="1"/>
          </p:cNvSpPr>
          <p:nvPr/>
        </p:nvSpPr>
        <p:spPr bwMode="auto">
          <a:xfrm flipH="1">
            <a:off x="2133600" y="3472578"/>
            <a:ext cx="1219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3" name="Line 16"/>
          <p:cNvSpPr>
            <a:spLocks noChangeShapeType="1"/>
          </p:cNvSpPr>
          <p:nvPr/>
        </p:nvSpPr>
        <p:spPr bwMode="auto">
          <a:xfrm flipH="1">
            <a:off x="3034352" y="3486226"/>
            <a:ext cx="304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4" name="Line 17"/>
          <p:cNvSpPr>
            <a:spLocks noChangeShapeType="1"/>
          </p:cNvSpPr>
          <p:nvPr/>
        </p:nvSpPr>
        <p:spPr bwMode="auto">
          <a:xfrm>
            <a:off x="3352800" y="345097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5" name="Line 18"/>
          <p:cNvSpPr>
            <a:spLocks noChangeShapeType="1"/>
          </p:cNvSpPr>
          <p:nvPr/>
        </p:nvSpPr>
        <p:spPr bwMode="auto">
          <a:xfrm flipH="1">
            <a:off x="4572000" y="345097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6" name="Line 19"/>
          <p:cNvSpPr>
            <a:spLocks noChangeShapeType="1"/>
          </p:cNvSpPr>
          <p:nvPr/>
        </p:nvSpPr>
        <p:spPr bwMode="auto">
          <a:xfrm>
            <a:off x="4953000" y="345097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7" name="Line 20"/>
          <p:cNvSpPr>
            <a:spLocks noChangeShapeType="1"/>
          </p:cNvSpPr>
          <p:nvPr/>
        </p:nvSpPr>
        <p:spPr bwMode="auto">
          <a:xfrm>
            <a:off x="5015552" y="3423674"/>
            <a:ext cx="1066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8" name="Oval 21"/>
          <p:cNvSpPr>
            <a:spLocks noChangeArrowheads="1"/>
          </p:cNvSpPr>
          <p:nvPr/>
        </p:nvSpPr>
        <p:spPr bwMode="auto">
          <a:xfrm>
            <a:off x="2743200" y="512737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9" name="Oval 22"/>
          <p:cNvSpPr>
            <a:spLocks noChangeArrowheads="1"/>
          </p:cNvSpPr>
          <p:nvPr/>
        </p:nvSpPr>
        <p:spPr bwMode="auto">
          <a:xfrm>
            <a:off x="3352800" y="512737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40" name="Line 23"/>
          <p:cNvSpPr>
            <a:spLocks noChangeShapeType="1"/>
          </p:cNvSpPr>
          <p:nvPr/>
        </p:nvSpPr>
        <p:spPr bwMode="auto">
          <a:xfrm flipH="1">
            <a:off x="2819400" y="4365370"/>
            <a:ext cx="228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41" name="Line 24"/>
          <p:cNvSpPr>
            <a:spLocks noChangeShapeType="1"/>
          </p:cNvSpPr>
          <p:nvPr/>
        </p:nvSpPr>
        <p:spPr bwMode="auto">
          <a:xfrm>
            <a:off x="3048000" y="436537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Oval 9"/>
          <p:cNvSpPr>
            <a:spLocks noChangeArrowheads="1"/>
          </p:cNvSpPr>
          <p:nvPr/>
        </p:nvSpPr>
        <p:spPr bwMode="auto">
          <a:xfrm>
            <a:off x="4011828" y="5835824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文本框 61"/>
          <p:cNvSpPr txBox="1"/>
          <p:nvPr/>
        </p:nvSpPr>
        <p:spPr>
          <a:xfrm>
            <a:off x="4226534" y="5693652"/>
            <a:ext cx="650266" cy="284344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目标</a:t>
            </a:r>
            <a:endParaRPr 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733800" y="4365370"/>
            <a:ext cx="858533" cy="1470454"/>
            <a:chOff x="3733800" y="4365370"/>
            <a:chExt cx="858533" cy="1470454"/>
          </a:xfrm>
        </p:grpSpPr>
        <p:cxnSp>
          <p:nvCxnSpPr>
            <p:cNvPr id="3" name="直接连接符 2"/>
            <p:cNvCxnSpPr>
              <a:stCxn id="60426" idx="4"/>
              <a:endCxn id="26" idx="0"/>
            </p:cNvCxnSpPr>
            <p:nvPr/>
          </p:nvCxnSpPr>
          <p:spPr>
            <a:xfrm>
              <a:off x="3733800" y="4365370"/>
              <a:ext cx="354228" cy="1470454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文本框 61"/>
            <p:cNvSpPr txBox="1"/>
            <p:nvPr/>
          </p:nvSpPr>
          <p:spPr>
            <a:xfrm>
              <a:off x="3942067" y="4958425"/>
              <a:ext cx="650266" cy="284344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altLang="zh-CN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h(n)</a:t>
              </a:r>
              <a:endParaRPr 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3" name="文本框 61"/>
          <p:cNvSpPr txBox="1"/>
          <p:nvPr/>
        </p:nvSpPr>
        <p:spPr>
          <a:xfrm>
            <a:off x="3863686" y="4119702"/>
            <a:ext cx="507010" cy="286612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</a:t>
            </a:r>
            <a:endParaRPr 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61"/>
          <p:cNvSpPr txBox="1"/>
          <p:nvPr/>
        </p:nvSpPr>
        <p:spPr>
          <a:xfrm>
            <a:off x="2169172" y="4983053"/>
            <a:ext cx="507010" cy="286612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r">
              <a:spcAft>
                <a:spcPts val="0"/>
              </a:spcAf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</a:t>
            </a:r>
            <a:endParaRPr 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2819400" y="5279770"/>
            <a:ext cx="1192428" cy="632254"/>
            <a:chOff x="342900" y="4905294"/>
            <a:chExt cx="1192428" cy="632254"/>
          </a:xfrm>
        </p:grpSpPr>
        <p:sp>
          <p:nvSpPr>
            <p:cNvPr id="8" name="文本框 61"/>
            <p:cNvSpPr txBox="1"/>
            <p:nvPr/>
          </p:nvSpPr>
          <p:spPr>
            <a:xfrm>
              <a:off x="436867" y="5149132"/>
              <a:ext cx="650266" cy="284344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altLang="zh-CN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h(m)</a:t>
              </a:r>
              <a:endParaRPr 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7" name="直接连接符 2"/>
            <p:cNvCxnSpPr>
              <a:stCxn id="60438" idx="4"/>
              <a:endCxn id="26" idx="2"/>
            </p:cNvCxnSpPr>
            <p:nvPr/>
          </p:nvCxnSpPr>
          <p:spPr>
            <a:xfrm>
              <a:off x="342900" y="4905294"/>
              <a:ext cx="1192428" cy="632254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6614746-0E0F-4B28-97DD-4CD3D965DE2A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09600"/>
            <a:ext cx="8153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1.4.1</a:t>
            </a:r>
            <a:r>
              <a:rPr lang="zh-CN" altLang="en-US" dirty="0"/>
              <a:t> 启发式搜索算法</a:t>
            </a:r>
            <a:r>
              <a:rPr lang="en-US" altLang="zh-CN" dirty="0"/>
              <a:t>A</a:t>
            </a:r>
            <a:r>
              <a:rPr lang="zh-CN" altLang="en-US" dirty="0"/>
              <a:t>（</a:t>
            </a:r>
            <a:r>
              <a:rPr lang="en-US" altLang="zh-CN" dirty="0"/>
              <a:t>A</a:t>
            </a:r>
            <a:r>
              <a:rPr lang="zh-CN" altLang="en-US" dirty="0"/>
              <a:t>算法）</a:t>
            </a:r>
            <a:endParaRPr lang="zh-CN" altLang="en-US" dirty="0"/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2088106"/>
            <a:ext cx="7772400" cy="393169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3200" b="1" dirty="0"/>
              <a:t>评价函数的格式：</a:t>
            </a:r>
            <a:endParaRPr lang="zh-CN" altLang="en-US" sz="3200" b="1" dirty="0"/>
          </a:p>
          <a:p>
            <a:pPr eaLnBrk="1" hangingPunct="1"/>
            <a:endParaRPr lang="zh-CN" altLang="en-US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3200" b="1" dirty="0"/>
              <a:t>		</a:t>
            </a:r>
            <a:r>
              <a:rPr lang="en-US" altLang="zh-CN" sz="3200" b="1" dirty="0"/>
              <a:t>f(n) = g(n) + h(n)</a:t>
            </a:r>
            <a:endParaRPr lang="en-US" altLang="zh-CN" sz="3200" b="1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		f(n)</a:t>
            </a:r>
            <a:r>
              <a:rPr lang="zh-CN" altLang="en-US" sz="3200" b="1" dirty="0"/>
              <a:t>：评价函数</a:t>
            </a:r>
            <a:endParaRPr lang="zh-CN" altLang="en-US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200" b="1" dirty="0"/>
              <a:t>		</a:t>
            </a:r>
            <a:r>
              <a:rPr lang="en-US" altLang="zh-CN" sz="3200" b="1" dirty="0"/>
              <a:t>h(n)</a:t>
            </a:r>
            <a:r>
              <a:rPr lang="zh-CN" altLang="en-US" sz="3200" b="1" dirty="0"/>
              <a:t>：启发函数</a:t>
            </a:r>
            <a:endParaRPr lang="zh-CN" altLang="en-US" sz="3200" b="1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FADE76C-6410-4B95-840C-10DA1C40D1A3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符号的意义</a:t>
            </a:r>
            <a:endParaRPr lang="zh-CN" altLang="en-US"/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077200" cy="4114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3200" b="1" dirty="0"/>
              <a:t>g*(n)</a:t>
            </a:r>
            <a:r>
              <a:rPr lang="zh-CN" altLang="en-US" sz="3200" b="1" dirty="0"/>
              <a:t>：从</a:t>
            </a:r>
            <a:r>
              <a:rPr lang="en-US" altLang="zh-CN" sz="3200" b="1" dirty="0"/>
              <a:t>s</a:t>
            </a:r>
            <a:r>
              <a:rPr lang="zh-CN" altLang="en-US" sz="3200" b="1" dirty="0"/>
              <a:t>到</a:t>
            </a:r>
            <a:r>
              <a:rPr lang="en-US" altLang="zh-CN" sz="3200" b="1" dirty="0"/>
              <a:t>n</a:t>
            </a:r>
            <a:r>
              <a:rPr lang="zh-CN" altLang="en-US" sz="3200" b="1" dirty="0"/>
              <a:t>的最短路径的耗散值</a:t>
            </a:r>
            <a:endParaRPr lang="zh-CN" altLang="en-US" sz="3200" b="1" dirty="0"/>
          </a:p>
          <a:p>
            <a:pPr eaLnBrk="1" hangingPunct="1"/>
            <a:r>
              <a:rPr lang="en-US" altLang="zh-CN" sz="3200" b="1" dirty="0"/>
              <a:t>h*(n)</a:t>
            </a:r>
            <a:r>
              <a:rPr lang="zh-CN" altLang="en-US" sz="3200" b="1" dirty="0"/>
              <a:t>：从</a:t>
            </a:r>
            <a:r>
              <a:rPr lang="en-US" altLang="zh-CN" sz="3200" b="1" dirty="0"/>
              <a:t>n</a:t>
            </a:r>
            <a:r>
              <a:rPr lang="zh-CN" altLang="en-US" sz="3200" b="1" dirty="0"/>
              <a:t>到</a:t>
            </a:r>
            <a:r>
              <a:rPr lang="en-US" altLang="zh-CN" sz="3200" b="1" dirty="0"/>
              <a:t>t</a:t>
            </a:r>
            <a:r>
              <a:rPr lang="zh-CN" altLang="en-US" sz="3200" b="1" dirty="0"/>
              <a:t>的最短路径的耗散值</a:t>
            </a:r>
            <a:endParaRPr lang="zh-CN" altLang="en-US" sz="3200" b="1" dirty="0"/>
          </a:p>
          <a:p>
            <a:pPr eaLnBrk="1" hangingPunct="1"/>
            <a:r>
              <a:rPr lang="en-US" altLang="zh-CN" sz="3200" b="1" dirty="0"/>
              <a:t>f*(n)=g*(n)+h*(n)</a:t>
            </a:r>
            <a:r>
              <a:rPr lang="zh-CN" altLang="en-US" sz="3200" b="1" dirty="0"/>
              <a:t>：</a:t>
            </a:r>
            <a:r>
              <a:rPr lang="zh-CN" altLang="zh-CN" sz="3200" b="1" dirty="0"/>
              <a:t>从</a:t>
            </a:r>
            <a:r>
              <a:rPr lang="en-US" altLang="zh-CN" sz="3200" b="1" dirty="0"/>
              <a:t>s</a:t>
            </a:r>
            <a:r>
              <a:rPr lang="zh-CN" altLang="zh-CN" sz="3200" b="1" dirty="0"/>
              <a:t>经过</a:t>
            </a:r>
            <a:r>
              <a:rPr lang="en-US" altLang="zh-CN" sz="3200" b="1" dirty="0"/>
              <a:t>n</a:t>
            </a:r>
            <a:r>
              <a:rPr lang="zh-CN" altLang="zh-CN" sz="3200" b="1" dirty="0"/>
              <a:t>到</a:t>
            </a:r>
            <a:r>
              <a:rPr lang="en-US" altLang="zh-CN" sz="3200" b="1" dirty="0"/>
              <a:t>t</a:t>
            </a:r>
            <a:r>
              <a:rPr lang="zh-CN" altLang="zh-CN" sz="3200" b="1" dirty="0"/>
              <a:t>的最短路径的耗散值</a:t>
            </a:r>
            <a:endParaRPr lang="zh-CN" altLang="zh-CN" sz="3200" b="1" dirty="0"/>
          </a:p>
          <a:p>
            <a:pPr eaLnBrk="1" hangingPunct="1"/>
            <a:r>
              <a:rPr lang="en-US" altLang="zh-CN" sz="3200" b="1" dirty="0"/>
              <a:t>g(n)</a:t>
            </a:r>
            <a:r>
              <a:rPr lang="zh-CN" altLang="en-US" sz="3200" b="1" dirty="0"/>
              <a:t>、</a:t>
            </a:r>
            <a:r>
              <a:rPr lang="en-US" altLang="zh-CN" sz="3200" b="1" dirty="0"/>
              <a:t>h(n)</a:t>
            </a:r>
            <a:r>
              <a:rPr lang="zh-CN" altLang="en-US" sz="3200" b="1" dirty="0"/>
              <a:t>、</a:t>
            </a:r>
            <a:r>
              <a:rPr lang="en-US" altLang="zh-CN" sz="3200" b="1" dirty="0"/>
              <a:t>f(n)</a:t>
            </a:r>
            <a:r>
              <a:rPr lang="zh-CN" altLang="zh-CN" sz="3200" b="1" dirty="0"/>
              <a:t>分别是</a:t>
            </a:r>
            <a:r>
              <a:rPr lang="en-US" altLang="zh-CN" sz="3200" b="1" dirty="0"/>
              <a:t>g*(n)</a:t>
            </a:r>
            <a:r>
              <a:rPr lang="zh-CN" altLang="en-US" sz="3200" b="1" dirty="0"/>
              <a:t>、</a:t>
            </a:r>
            <a:r>
              <a:rPr lang="en-US" altLang="zh-CN" sz="3200" b="1" dirty="0"/>
              <a:t>h*(n)</a:t>
            </a:r>
            <a:r>
              <a:rPr lang="zh-CN" altLang="en-US" sz="3200" b="1" dirty="0"/>
              <a:t>、</a:t>
            </a:r>
            <a:r>
              <a:rPr lang="en-US" altLang="zh-CN" sz="3200" b="1" dirty="0"/>
              <a:t>f*(n)</a:t>
            </a:r>
            <a:r>
              <a:rPr lang="zh-CN" altLang="en-US" sz="3200" b="1" dirty="0"/>
              <a:t>的估计值</a:t>
            </a:r>
            <a:endParaRPr lang="zh-CN" altLang="en-US" sz="3200" b="1" dirty="0"/>
          </a:p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</a:rPr>
              <a:t>用</a:t>
            </a:r>
            <a:r>
              <a:rPr lang="en-US" altLang="zh-CN" sz="3200" b="1" dirty="0">
                <a:solidFill>
                  <a:srgbClr val="FF0000"/>
                </a:solidFill>
              </a:rPr>
              <a:t>f(n)</a:t>
            </a:r>
            <a:r>
              <a:rPr lang="zh-CN" altLang="en-US" sz="3200" b="1" dirty="0">
                <a:solidFill>
                  <a:srgbClr val="FF0000"/>
                </a:solidFill>
              </a:rPr>
              <a:t>对待扩展节点进行评价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举例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优先扩展</a:t>
            </a:r>
            <a:r>
              <a:rPr lang="en-US" altLang="zh-CN" dirty="0"/>
              <a:t>f(n)</a:t>
            </a:r>
            <a:r>
              <a:rPr lang="zh-CN" altLang="en-US" dirty="0"/>
              <a:t>值最小的节点，直到</a:t>
            </a:r>
            <a:r>
              <a:rPr lang="en-US" altLang="zh-CN" b="1" dirty="0">
                <a:solidFill>
                  <a:srgbClr val="FF0000"/>
                </a:solidFill>
              </a:rPr>
              <a:t>f(</a:t>
            </a:r>
            <a:r>
              <a:rPr lang="zh-CN" altLang="en-US" b="1" dirty="0">
                <a:solidFill>
                  <a:srgbClr val="FF0000"/>
                </a:solidFill>
              </a:rPr>
              <a:t>终点</a:t>
            </a:r>
            <a:r>
              <a:rPr lang="en-US" altLang="zh-CN" b="1" dirty="0">
                <a:solidFill>
                  <a:srgbClr val="FF0000"/>
                </a:solidFill>
              </a:rPr>
              <a:t>)</a:t>
            </a:r>
            <a:r>
              <a:rPr lang="zh-CN" altLang="en-US" b="1" dirty="0">
                <a:solidFill>
                  <a:srgbClr val="FF0000"/>
                </a:solidFill>
              </a:rPr>
              <a:t>最小</a:t>
            </a:r>
            <a:endParaRPr lang="zh-CN" altLang="en-US" dirty="0"/>
          </a:p>
        </p:txBody>
      </p:sp>
      <p:sp>
        <p:nvSpPr>
          <p:cNvPr id="7" name="椭圆 6"/>
          <p:cNvSpPr>
            <a:spLocks noChangeAspect="1"/>
          </p:cNvSpPr>
          <p:nvPr/>
        </p:nvSpPr>
        <p:spPr>
          <a:xfrm>
            <a:off x="3017939" y="2283738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>
                <a:solidFill>
                  <a:srgbClr val="00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S</a:t>
            </a:r>
            <a:endParaRPr lang="zh-CN" sz="1400" kern="10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5"/>
          <p:cNvSpPr txBox="1"/>
          <p:nvPr/>
        </p:nvSpPr>
        <p:spPr>
          <a:xfrm>
            <a:off x="3201714" y="2801117"/>
            <a:ext cx="325780" cy="324521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76"/>
          <p:cNvSpPr txBox="1"/>
          <p:nvPr/>
        </p:nvSpPr>
        <p:spPr>
          <a:xfrm>
            <a:off x="2047028" y="2822862"/>
            <a:ext cx="325780" cy="324521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77"/>
          <p:cNvSpPr txBox="1"/>
          <p:nvPr/>
        </p:nvSpPr>
        <p:spPr>
          <a:xfrm>
            <a:off x="3953543" y="2778306"/>
            <a:ext cx="325629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6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89"/>
          <p:cNvSpPr txBox="1"/>
          <p:nvPr/>
        </p:nvSpPr>
        <p:spPr>
          <a:xfrm>
            <a:off x="1998482" y="4181814"/>
            <a:ext cx="325629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90"/>
          <p:cNvSpPr txBox="1"/>
          <p:nvPr/>
        </p:nvSpPr>
        <p:spPr>
          <a:xfrm>
            <a:off x="1208515" y="3981313"/>
            <a:ext cx="325780" cy="324521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00"/>
          <p:cNvSpPr txBox="1"/>
          <p:nvPr/>
        </p:nvSpPr>
        <p:spPr>
          <a:xfrm>
            <a:off x="2219144" y="5300165"/>
            <a:ext cx="325629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椭圆 19"/>
          <p:cNvSpPr>
            <a:spLocks noChangeAspect="1"/>
          </p:cNvSpPr>
          <p:nvPr/>
        </p:nvSpPr>
        <p:spPr>
          <a:xfrm>
            <a:off x="3397477" y="2190170"/>
            <a:ext cx="238905" cy="2411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sz="1400" kern="10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文本框 109"/>
          <p:cNvSpPr txBox="1"/>
          <p:nvPr/>
        </p:nvSpPr>
        <p:spPr>
          <a:xfrm>
            <a:off x="1866086" y="3339710"/>
            <a:ext cx="626357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=7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110"/>
          <p:cNvSpPr txBox="1"/>
          <p:nvPr/>
        </p:nvSpPr>
        <p:spPr>
          <a:xfrm>
            <a:off x="3304799" y="3446643"/>
            <a:ext cx="625974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=10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文本框 111"/>
          <p:cNvSpPr txBox="1"/>
          <p:nvPr/>
        </p:nvSpPr>
        <p:spPr>
          <a:xfrm>
            <a:off x="4048884" y="3397633"/>
            <a:ext cx="625974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=9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椭圆 23"/>
          <p:cNvSpPr>
            <a:spLocks noChangeAspect="1"/>
          </p:cNvSpPr>
          <p:nvPr/>
        </p:nvSpPr>
        <p:spPr>
          <a:xfrm>
            <a:off x="1535093" y="3161487"/>
            <a:ext cx="238284" cy="240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113"/>
          <p:cNvSpPr txBox="1"/>
          <p:nvPr/>
        </p:nvSpPr>
        <p:spPr>
          <a:xfrm>
            <a:off x="630676" y="4707573"/>
            <a:ext cx="626357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=14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114"/>
          <p:cNvSpPr txBox="1"/>
          <p:nvPr/>
        </p:nvSpPr>
        <p:spPr>
          <a:xfrm>
            <a:off x="1651014" y="4707573"/>
            <a:ext cx="626357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=6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文本框 122"/>
          <p:cNvSpPr txBox="1"/>
          <p:nvPr/>
        </p:nvSpPr>
        <p:spPr>
          <a:xfrm>
            <a:off x="2886424" y="5928402"/>
            <a:ext cx="626357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=8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" name="椭圆 33"/>
          <p:cNvSpPr>
            <a:spLocks noChangeAspect="1"/>
          </p:cNvSpPr>
          <p:nvPr/>
        </p:nvSpPr>
        <p:spPr>
          <a:xfrm>
            <a:off x="2320648" y="4493705"/>
            <a:ext cx="238284" cy="240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6" name="直接连接符 35"/>
          <p:cNvCxnSpPr/>
          <p:nvPr/>
        </p:nvCxnSpPr>
        <p:spPr>
          <a:xfrm flipH="1">
            <a:off x="1764582" y="2586717"/>
            <a:ext cx="1356148" cy="8597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椭圆 36"/>
          <p:cNvSpPr>
            <a:spLocks noChangeAspect="1"/>
          </p:cNvSpPr>
          <p:nvPr/>
        </p:nvSpPr>
        <p:spPr>
          <a:xfrm>
            <a:off x="1601292" y="3442189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8" name="直接连接符 37"/>
          <p:cNvCxnSpPr/>
          <p:nvPr/>
        </p:nvCxnSpPr>
        <p:spPr>
          <a:xfrm>
            <a:off x="3176816" y="2600083"/>
            <a:ext cx="11493" cy="84702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椭圆 38"/>
          <p:cNvSpPr>
            <a:spLocks noChangeAspect="1"/>
          </p:cNvSpPr>
          <p:nvPr/>
        </p:nvSpPr>
        <p:spPr>
          <a:xfrm>
            <a:off x="3035591" y="3460010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3" name="直接连接符 42"/>
          <p:cNvCxnSpPr/>
          <p:nvPr/>
        </p:nvCxnSpPr>
        <p:spPr>
          <a:xfrm>
            <a:off x="3225360" y="2568894"/>
            <a:ext cx="1419358" cy="83542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椭圆 44"/>
          <p:cNvSpPr>
            <a:spLocks noChangeAspect="1"/>
          </p:cNvSpPr>
          <p:nvPr/>
        </p:nvSpPr>
        <p:spPr>
          <a:xfrm>
            <a:off x="4500784" y="3411000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0" name="椭圆 49"/>
          <p:cNvSpPr>
            <a:spLocks noChangeAspect="1"/>
          </p:cNvSpPr>
          <p:nvPr/>
        </p:nvSpPr>
        <p:spPr>
          <a:xfrm>
            <a:off x="2082335" y="4716484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>
                <a:solidFill>
                  <a:srgbClr val="00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sz="1400" kern="10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" name="椭圆 50"/>
          <p:cNvSpPr>
            <a:spLocks noChangeAspect="1"/>
          </p:cNvSpPr>
          <p:nvPr/>
        </p:nvSpPr>
        <p:spPr>
          <a:xfrm>
            <a:off x="1115837" y="4716484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F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2" name="直接连接符 51"/>
          <p:cNvCxnSpPr/>
          <p:nvPr/>
        </p:nvCxnSpPr>
        <p:spPr>
          <a:xfrm flipH="1">
            <a:off x="1287953" y="3767446"/>
            <a:ext cx="413740" cy="95222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1742516" y="3754079"/>
            <a:ext cx="477334" cy="95145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椭圆 54"/>
          <p:cNvSpPr>
            <a:spLocks noChangeAspect="1"/>
          </p:cNvSpPr>
          <p:nvPr/>
        </p:nvSpPr>
        <p:spPr>
          <a:xfrm>
            <a:off x="2603096" y="5906125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>
                <a:solidFill>
                  <a:srgbClr val="00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T</a:t>
            </a:r>
            <a:endParaRPr lang="zh-CN" sz="1400" kern="10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6" name="直接连接符 55"/>
          <p:cNvCxnSpPr/>
          <p:nvPr/>
        </p:nvCxnSpPr>
        <p:spPr>
          <a:xfrm>
            <a:off x="2276516" y="5023919"/>
            <a:ext cx="476951" cy="87023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0" name="组合 59"/>
          <p:cNvGrpSpPr/>
          <p:nvPr/>
        </p:nvGrpSpPr>
        <p:grpSpPr>
          <a:xfrm>
            <a:off x="5136003" y="2352675"/>
            <a:ext cx="3814126" cy="2139780"/>
            <a:chOff x="0" y="0"/>
            <a:chExt cx="4139718" cy="1970532"/>
          </a:xfrm>
        </p:grpSpPr>
        <p:grpSp>
          <p:nvGrpSpPr>
            <p:cNvPr id="61" name="组合 60"/>
            <p:cNvGrpSpPr/>
            <p:nvPr/>
          </p:nvGrpSpPr>
          <p:grpSpPr>
            <a:xfrm>
              <a:off x="0" y="0"/>
              <a:ext cx="4139718" cy="1970532"/>
              <a:chOff x="0" y="0"/>
              <a:chExt cx="4139718" cy="1970532"/>
            </a:xfrm>
          </p:grpSpPr>
          <p:sp>
            <p:nvSpPr>
              <p:cNvPr id="65" name="文本框 58"/>
              <p:cNvSpPr txBox="1"/>
              <p:nvPr/>
            </p:nvSpPr>
            <p:spPr>
              <a:xfrm>
                <a:off x="493776" y="1556663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altLang="zh-CN" sz="1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4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" name="文本框 54"/>
              <p:cNvSpPr txBox="1"/>
              <p:nvPr/>
            </p:nvSpPr>
            <p:spPr>
              <a:xfrm>
                <a:off x="2398174" y="742228"/>
                <a:ext cx="2698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altLang="zh-CN" sz="1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6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7" name="直接连接符 66"/>
              <p:cNvCxnSpPr>
                <a:endCxn id="72" idx="2"/>
              </p:cNvCxnSpPr>
              <p:nvPr/>
            </p:nvCxnSpPr>
            <p:spPr>
              <a:xfrm flipV="1">
                <a:off x="1459383" y="1018184"/>
                <a:ext cx="1901952" cy="6732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8" name="文本框 55"/>
              <p:cNvSpPr txBox="1"/>
              <p:nvPr/>
            </p:nvSpPr>
            <p:spPr>
              <a:xfrm>
                <a:off x="2798064" y="1576171"/>
                <a:ext cx="2698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3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" name="椭圆 68"/>
              <p:cNvSpPr>
                <a:spLocks noChangeAspect="1"/>
              </p:cNvSpPr>
              <p:nvPr/>
            </p:nvSpPr>
            <p:spPr>
              <a:xfrm>
                <a:off x="1232611" y="182880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C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0" name="椭圆 69"/>
              <p:cNvSpPr>
                <a:spLocks noChangeAspect="1"/>
              </p:cNvSpPr>
              <p:nvPr/>
            </p:nvSpPr>
            <p:spPr>
              <a:xfrm>
                <a:off x="1217981" y="1708099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E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" name="椭圆 70"/>
              <p:cNvSpPr>
                <a:spLocks noChangeAspect="1"/>
              </p:cNvSpPr>
              <p:nvPr/>
            </p:nvSpPr>
            <p:spPr>
              <a:xfrm>
                <a:off x="2231136" y="1719072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B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2" name="椭圆 71"/>
              <p:cNvSpPr>
                <a:spLocks noChangeAspect="1"/>
              </p:cNvSpPr>
              <p:nvPr/>
            </p:nvSpPr>
            <p:spPr>
              <a:xfrm>
                <a:off x="3361335" y="892454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chemeClr val="tx1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A</a:t>
                </a:r>
                <a:endParaRPr lang="zh-CN" sz="1400" kern="100" dirty="0">
                  <a:solidFill>
                    <a:schemeClr val="tx1"/>
                  </a:solidFill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3" name="椭圆 72"/>
              <p:cNvSpPr>
                <a:spLocks noChangeAspect="1"/>
              </p:cNvSpPr>
              <p:nvPr/>
            </p:nvSpPr>
            <p:spPr>
              <a:xfrm>
                <a:off x="3364992" y="1693469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sz="1400" kern="100">
                    <a:solidFill>
                      <a:srgbClr val="000000"/>
                    </a:solidFill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T</a:t>
                </a:r>
                <a:endParaRPr lang="zh-CN" sz="1400" kern="10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4" name="椭圆 73"/>
              <p:cNvSpPr>
                <a:spLocks noChangeAspect="1"/>
              </p:cNvSpPr>
              <p:nvPr/>
            </p:nvSpPr>
            <p:spPr>
              <a:xfrm>
                <a:off x="14631" y="182880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chemeClr val="tx1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D</a:t>
                </a:r>
                <a:endParaRPr lang="en-US" altLang="zh-CN" sz="1400" kern="100" dirty="0">
                  <a:solidFill>
                    <a:schemeClr val="tx1"/>
                  </a:solidFill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5" name="椭圆 74"/>
              <p:cNvSpPr>
                <a:spLocks noChangeAspect="1"/>
              </p:cNvSpPr>
              <p:nvPr/>
            </p:nvSpPr>
            <p:spPr>
              <a:xfrm>
                <a:off x="0" y="1708099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F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76" name="直接连接符 75"/>
              <p:cNvCxnSpPr/>
              <p:nvPr/>
            </p:nvCxnSpPr>
            <p:spPr>
              <a:xfrm flipV="1">
                <a:off x="270663" y="285293"/>
                <a:ext cx="962025" cy="4763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 flipV="1">
                <a:off x="245059" y="1821485"/>
                <a:ext cx="966470" cy="889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8" name="文本框 47"/>
              <p:cNvSpPr txBox="1"/>
              <p:nvPr/>
            </p:nvSpPr>
            <p:spPr>
              <a:xfrm>
                <a:off x="1722730" y="1572225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2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" name="文本框 48"/>
              <p:cNvSpPr txBox="1"/>
              <p:nvPr/>
            </p:nvSpPr>
            <p:spPr>
              <a:xfrm>
                <a:off x="1329889" y="504749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altLang="zh-CN" sz="1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2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" name="文本框 49"/>
              <p:cNvSpPr txBox="1"/>
              <p:nvPr/>
            </p:nvSpPr>
            <p:spPr>
              <a:xfrm>
                <a:off x="1344519" y="1287475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3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1" name="文本框 59"/>
              <p:cNvSpPr txBox="1"/>
              <p:nvPr/>
            </p:nvSpPr>
            <p:spPr>
              <a:xfrm>
                <a:off x="512064" y="0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400" kern="10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7</a:t>
                </a:r>
                <a:endParaRPr lang="zh-CN" sz="1400" kern="10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" name="文本框 60"/>
              <p:cNvSpPr txBox="1"/>
              <p:nvPr/>
            </p:nvSpPr>
            <p:spPr>
              <a:xfrm>
                <a:off x="877842" y="950250"/>
                <a:ext cx="4857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zh-CN" sz="1400" b="1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起点</a:t>
                </a:r>
                <a:endParaRPr lang="zh-CN" sz="1400" b="1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" name="文本框 61"/>
              <p:cNvSpPr txBox="1"/>
              <p:nvPr/>
            </p:nvSpPr>
            <p:spPr>
              <a:xfrm>
                <a:off x="3653943" y="1671523"/>
                <a:ext cx="4857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zh-CN" sz="1400" b="1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终点</a:t>
                </a:r>
                <a:endParaRPr lang="zh-CN" sz="1400" b="1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84" name="直接连接符 83"/>
              <p:cNvCxnSpPr/>
              <p:nvPr/>
            </p:nvCxnSpPr>
            <p:spPr>
              <a:xfrm flipV="1">
                <a:off x="1470355" y="1832458"/>
                <a:ext cx="762000" cy="444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5" name="椭圆 84"/>
              <p:cNvSpPr>
                <a:spLocks noChangeAspect="1"/>
              </p:cNvSpPr>
              <p:nvPr/>
            </p:nvSpPr>
            <p:spPr>
              <a:xfrm>
                <a:off x="18288" y="899770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G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6" name="文本框 65"/>
              <p:cNvSpPr txBox="1"/>
              <p:nvPr/>
            </p:nvSpPr>
            <p:spPr>
              <a:xfrm>
                <a:off x="157241" y="1276502"/>
                <a:ext cx="2698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5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7" name="文本框 67"/>
              <p:cNvSpPr txBox="1"/>
              <p:nvPr/>
            </p:nvSpPr>
            <p:spPr>
              <a:xfrm>
                <a:off x="3460090" y="1283818"/>
                <a:ext cx="2698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altLang="zh-CN" sz="1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3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88" name="直接连接符 87"/>
              <p:cNvCxnSpPr/>
              <p:nvPr/>
            </p:nvCxnSpPr>
            <p:spPr>
              <a:xfrm flipH="1">
                <a:off x="1335024" y="1157694"/>
                <a:ext cx="9525" cy="55245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直接连接符 88"/>
              <p:cNvCxnSpPr/>
              <p:nvPr/>
            </p:nvCxnSpPr>
            <p:spPr>
              <a:xfrm flipH="1">
                <a:off x="131674" y="1155802"/>
                <a:ext cx="9525" cy="55245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0" name="椭圆 89"/>
              <p:cNvSpPr>
                <a:spLocks noChangeAspect="1"/>
              </p:cNvSpPr>
              <p:nvPr/>
            </p:nvSpPr>
            <p:spPr>
              <a:xfrm>
                <a:off x="1217981" y="896112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sz="1400" kern="100" dirty="0">
                    <a:solidFill>
                      <a:srgbClr val="000000"/>
                    </a:solidFill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S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62" name="直接连接符 61"/>
            <p:cNvCxnSpPr/>
            <p:nvPr/>
          </p:nvCxnSpPr>
          <p:spPr>
            <a:xfrm flipH="1">
              <a:off x="3485692" y="1144829"/>
              <a:ext cx="0" cy="55816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>
              <a:off x="1342339" y="431597"/>
              <a:ext cx="0" cy="452437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>
              <a:off x="2465222" y="1843430"/>
              <a:ext cx="89027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8" name="椭圆 97"/>
          <p:cNvSpPr>
            <a:spLocks noChangeAspect="1"/>
          </p:cNvSpPr>
          <p:nvPr/>
        </p:nvSpPr>
        <p:spPr>
          <a:xfrm>
            <a:off x="2897029" y="5684187"/>
            <a:ext cx="238284" cy="240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136003" y="5011979"/>
            <a:ext cx="25034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h(A)=3          h(E)=4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h(B)=1          h(F)=7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h(C)=8         h(G)=12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h(D)=13</a:t>
            </a:r>
            <a:r>
              <a:rPr lang="zh-CN" altLang="en-US" dirty="0">
                <a:solidFill>
                  <a:srgbClr val="FF0000"/>
                </a:solidFill>
              </a:rPr>
              <a:t>       </a:t>
            </a:r>
            <a:r>
              <a:rPr lang="en-US" altLang="zh-CN" dirty="0">
                <a:solidFill>
                  <a:srgbClr val="FF0000"/>
                </a:solidFill>
              </a:rPr>
              <a:t>h(T)=0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529526" y="4707573"/>
            <a:ext cx="1227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事先给定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7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33" grpId="0" animBg="1"/>
      <p:bldP spid="34" grpId="0" animBg="1"/>
      <p:bldP spid="37" grpId="0" animBg="1"/>
      <p:bldP spid="39" grpId="0" animBg="1"/>
      <p:bldP spid="45" grpId="0" animBg="1"/>
      <p:bldP spid="50" grpId="0" animBg="1"/>
      <p:bldP spid="51" grpId="0" animBg="1"/>
      <p:bldP spid="55" grpId="0" animBg="1"/>
      <p:bldP spid="9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C3E314C-CA35-4025-BEC3-894D6673C810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2192449" y="1446941"/>
            <a:ext cx="4740607" cy="3261531"/>
            <a:chOff x="2497635" y="1733550"/>
            <a:chExt cx="4169865" cy="2590800"/>
          </a:xfrm>
        </p:grpSpPr>
        <p:sp>
          <p:nvSpPr>
            <p:cNvPr id="66565" name="Oval 4"/>
            <p:cNvSpPr>
              <a:spLocks noChangeArrowheads="1"/>
            </p:cNvSpPr>
            <p:nvPr/>
          </p:nvSpPr>
          <p:spPr bwMode="auto">
            <a:xfrm>
              <a:off x="3752850" y="234315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66" name="Oval 5"/>
            <p:cNvSpPr>
              <a:spLocks noChangeArrowheads="1"/>
            </p:cNvSpPr>
            <p:nvPr/>
          </p:nvSpPr>
          <p:spPr bwMode="auto">
            <a:xfrm>
              <a:off x="5353050" y="234315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67" name="Oval 6"/>
            <p:cNvSpPr>
              <a:spLocks noChangeArrowheads="1"/>
            </p:cNvSpPr>
            <p:nvPr/>
          </p:nvSpPr>
          <p:spPr bwMode="auto">
            <a:xfrm>
              <a:off x="3436045" y="325755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68" name="Oval 7"/>
            <p:cNvSpPr>
              <a:spLocks noChangeArrowheads="1"/>
            </p:cNvSpPr>
            <p:nvPr/>
          </p:nvSpPr>
          <p:spPr bwMode="auto">
            <a:xfrm>
              <a:off x="5734050" y="3257550"/>
              <a:ext cx="15240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69" name="Oval 8"/>
            <p:cNvSpPr>
              <a:spLocks noChangeArrowheads="1"/>
            </p:cNvSpPr>
            <p:nvPr/>
          </p:nvSpPr>
          <p:spPr bwMode="auto">
            <a:xfrm>
              <a:off x="4133850" y="3257550"/>
              <a:ext cx="15240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70" name="Oval 9"/>
            <p:cNvSpPr>
              <a:spLocks noChangeArrowheads="1"/>
            </p:cNvSpPr>
            <p:nvPr/>
          </p:nvSpPr>
          <p:spPr bwMode="auto">
            <a:xfrm>
              <a:off x="6515100" y="3295650"/>
              <a:ext cx="15240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71" name="Oval 10"/>
            <p:cNvSpPr>
              <a:spLocks noChangeArrowheads="1"/>
            </p:cNvSpPr>
            <p:nvPr/>
          </p:nvSpPr>
          <p:spPr bwMode="auto">
            <a:xfrm>
              <a:off x="2497635" y="3181661"/>
              <a:ext cx="15240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72" name="Oval 11"/>
            <p:cNvSpPr>
              <a:spLocks noChangeArrowheads="1"/>
            </p:cNvSpPr>
            <p:nvPr/>
          </p:nvSpPr>
          <p:spPr bwMode="auto">
            <a:xfrm>
              <a:off x="4972050" y="3257550"/>
              <a:ext cx="15240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73" name="Line 12"/>
            <p:cNvSpPr>
              <a:spLocks noChangeShapeType="1"/>
            </p:cNvSpPr>
            <p:nvPr/>
          </p:nvSpPr>
          <p:spPr bwMode="auto">
            <a:xfrm flipH="1">
              <a:off x="3829050" y="1885950"/>
              <a:ext cx="7620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74" name="Line 13"/>
            <p:cNvSpPr>
              <a:spLocks noChangeShapeType="1"/>
            </p:cNvSpPr>
            <p:nvPr/>
          </p:nvSpPr>
          <p:spPr bwMode="auto">
            <a:xfrm>
              <a:off x="4591050" y="1885950"/>
              <a:ext cx="8382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75" name="Line 14"/>
            <p:cNvSpPr>
              <a:spLocks noChangeShapeType="1"/>
            </p:cNvSpPr>
            <p:nvPr/>
          </p:nvSpPr>
          <p:spPr bwMode="auto">
            <a:xfrm flipH="1">
              <a:off x="2585841" y="2506702"/>
              <a:ext cx="12192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76" name="Line 15"/>
            <p:cNvSpPr>
              <a:spLocks noChangeShapeType="1"/>
            </p:cNvSpPr>
            <p:nvPr/>
          </p:nvSpPr>
          <p:spPr bwMode="auto">
            <a:xfrm flipH="1">
              <a:off x="3500241" y="2506702"/>
              <a:ext cx="304800" cy="762000"/>
            </a:xfrm>
            <a:prstGeom prst="lin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77" name="Line 16"/>
            <p:cNvSpPr>
              <a:spLocks noChangeShapeType="1"/>
            </p:cNvSpPr>
            <p:nvPr/>
          </p:nvSpPr>
          <p:spPr bwMode="auto">
            <a:xfrm>
              <a:off x="3829050" y="2495550"/>
              <a:ext cx="3810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78" name="Line 17"/>
            <p:cNvSpPr>
              <a:spLocks noChangeShapeType="1"/>
            </p:cNvSpPr>
            <p:nvPr/>
          </p:nvSpPr>
          <p:spPr bwMode="auto">
            <a:xfrm flipH="1">
              <a:off x="5048250" y="2495550"/>
              <a:ext cx="3810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79" name="Line 18"/>
            <p:cNvSpPr>
              <a:spLocks noChangeShapeType="1"/>
            </p:cNvSpPr>
            <p:nvPr/>
          </p:nvSpPr>
          <p:spPr bwMode="auto">
            <a:xfrm>
              <a:off x="5429250" y="2495550"/>
              <a:ext cx="3810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80" name="Line 19"/>
            <p:cNvSpPr>
              <a:spLocks noChangeShapeType="1"/>
            </p:cNvSpPr>
            <p:nvPr/>
          </p:nvSpPr>
          <p:spPr bwMode="auto">
            <a:xfrm>
              <a:off x="5481441" y="2473868"/>
              <a:ext cx="10668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81" name="Oval 20"/>
            <p:cNvSpPr>
              <a:spLocks noChangeArrowheads="1"/>
            </p:cNvSpPr>
            <p:nvPr/>
          </p:nvSpPr>
          <p:spPr bwMode="auto">
            <a:xfrm>
              <a:off x="3219450" y="4171950"/>
              <a:ext cx="15240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82" name="Oval 21"/>
            <p:cNvSpPr>
              <a:spLocks noChangeArrowheads="1"/>
            </p:cNvSpPr>
            <p:nvPr/>
          </p:nvSpPr>
          <p:spPr bwMode="auto">
            <a:xfrm>
              <a:off x="3829050" y="4171950"/>
              <a:ext cx="15240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83" name="Line 22"/>
            <p:cNvSpPr>
              <a:spLocks noChangeShapeType="1"/>
            </p:cNvSpPr>
            <p:nvPr/>
          </p:nvSpPr>
          <p:spPr bwMode="auto">
            <a:xfrm flipH="1">
              <a:off x="3295650" y="3409950"/>
              <a:ext cx="2286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84" name="Line 23"/>
            <p:cNvSpPr>
              <a:spLocks noChangeShapeType="1"/>
            </p:cNvSpPr>
            <p:nvPr/>
          </p:nvSpPr>
          <p:spPr bwMode="auto">
            <a:xfrm>
              <a:off x="3524250" y="3409950"/>
              <a:ext cx="3810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85" name="Oval 24"/>
            <p:cNvSpPr>
              <a:spLocks noChangeArrowheads="1"/>
            </p:cNvSpPr>
            <p:nvPr/>
          </p:nvSpPr>
          <p:spPr bwMode="auto">
            <a:xfrm>
              <a:off x="4514850" y="173355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6586" name="Oval 26"/>
          <p:cNvSpPr>
            <a:spLocks noChangeArrowheads="1"/>
          </p:cNvSpPr>
          <p:nvPr/>
        </p:nvSpPr>
        <p:spPr bwMode="auto">
          <a:xfrm>
            <a:off x="2286000" y="52959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87" name="Oval 29"/>
          <p:cNvSpPr>
            <a:spLocks noChangeArrowheads="1"/>
          </p:cNvSpPr>
          <p:nvPr/>
        </p:nvSpPr>
        <p:spPr bwMode="auto">
          <a:xfrm>
            <a:off x="5238750" y="53340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88" name="Text Box 30"/>
          <p:cNvSpPr txBox="1">
            <a:spLocks noChangeArrowheads="1"/>
          </p:cNvSpPr>
          <p:nvPr/>
        </p:nvSpPr>
        <p:spPr bwMode="auto">
          <a:xfrm>
            <a:off x="2667000" y="5162550"/>
            <a:ext cx="234315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/>
              <a:t>Closed</a:t>
            </a:r>
            <a:r>
              <a:rPr lang="zh-CN" altLang="en-US" sz="2000" b="1" dirty="0"/>
              <a:t>表</a:t>
            </a:r>
            <a:endParaRPr lang="zh-CN" altLang="en-US" sz="2000" b="1" dirty="0"/>
          </a:p>
        </p:txBody>
      </p:sp>
      <p:sp>
        <p:nvSpPr>
          <p:cNvPr id="66589" name="Text Box 31"/>
          <p:cNvSpPr txBox="1">
            <a:spLocks noChangeArrowheads="1"/>
          </p:cNvSpPr>
          <p:nvPr/>
        </p:nvSpPr>
        <p:spPr bwMode="auto">
          <a:xfrm>
            <a:off x="5562600" y="5181600"/>
            <a:ext cx="234315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/>
              <a:t>Open</a:t>
            </a:r>
            <a:r>
              <a:rPr lang="zh-CN" altLang="en-US" sz="2000" b="1" dirty="0"/>
              <a:t>表</a:t>
            </a:r>
            <a:endParaRPr lang="zh-CN" altLang="en-US" sz="2000" b="1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DDE45C2-9595-425F-9D84-8136A58570FB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1514907" y="1495560"/>
            <a:ext cx="6037997" cy="4386146"/>
            <a:chOff x="2438400" y="1905000"/>
            <a:chExt cx="4800600" cy="3048000"/>
          </a:xfrm>
        </p:grpSpPr>
        <p:sp>
          <p:nvSpPr>
            <p:cNvPr id="65541" name="Oval 4"/>
            <p:cNvSpPr>
              <a:spLocks noChangeArrowheads="1"/>
            </p:cNvSpPr>
            <p:nvPr/>
          </p:nvSpPr>
          <p:spPr bwMode="auto">
            <a:xfrm>
              <a:off x="4267200" y="2667000"/>
              <a:ext cx="15240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42" name="Oval 5"/>
            <p:cNvSpPr>
              <a:spLocks noChangeArrowheads="1"/>
            </p:cNvSpPr>
            <p:nvPr/>
          </p:nvSpPr>
          <p:spPr bwMode="auto">
            <a:xfrm>
              <a:off x="3886200" y="3657600"/>
              <a:ext cx="15240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43" name="Oval 6"/>
            <p:cNvSpPr>
              <a:spLocks noChangeArrowheads="1"/>
            </p:cNvSpPr>
            <p:nvPr/>
          </p:nvSpPr>
          <p:spPr bwMode="auto">
            <a:xfrm>
              <a:off x="4724400" y="3657600"/>
              <a:ext cx="15240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44" name="Text Box 7"/>
            <p:cNvSpPr txBox="1">
              <a:spLocks noChangeArrowheads="1"/>
            </p:cNvSpPr>
            <p:nvPr/>
          </p:nvSpPr>
          <p:spPr bwMode="auto">
            <a:xfrm>
              <a:off x="4132153" y="3518579"/>
              <a:ext cx="530444" cy="27804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dirty="0"/>
                <a:t>…...</a:t>
              </a:r>
              <a:endParaRPr lang="en-US" altLang="zh-CN" sz="2000" dirty="0"/>
            </a:p>
          </p:txBody>
        </p:sp>
        <p:sp>
          <p:nvSpPr>
            <p:cNvPr id="65545" name="Oval 8"/>
            <p:cNvSpPr>
              <a:spLocks noChangeArrowheads="1"/>
            </p:cNvSpPr>
            <p:nvPr/>
          </p:nvSpPr>
          <p:spPr bwMode="auto">
            <a:xfrm>
              <a:off x="5334000" y="36576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46" name="Oval 9"/>
            <p:cNvSpPr>
              <a:spLocks noChangeArrowheads="1"/>
            </p:cNvSpPr>
            <p:nvPr/>
          </p:nvSpPr>
          <p:spPr bwMode="auto">
            <a:xfrm>
              <a:off x="6172200" y="36576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47" name="Text Box 10"/>
            <p:cNvSpPr txBox="1">
              <a:spLocks noChangeArrowheads="1"/>
            </p:cNvSpPr>
            <p:nvPr/>
          </p:nvSpPr>
          <p:spPr bwMode="auto">
            <a:xfrm>
              <a:off x="5579953" y="3518579"/>
              <a:ext cx="530444" cy="27804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dirty="0"/>
                <a:t>…...</a:t>
              </a:r>
              <a:endParaRPr lang="en-US" altLang="zh-CN" sz="2000" dirty="0"/>
            </a:p>
          </p:txBody>
        </p:sp>
        <p:sp>
          <p:nvSpPr>
            <p:cNvPr id="65548" name="Oval 11"/>
            <p:cNvSpPr>
              <a:spLocks noChangeArrowheads="1"/>
            </p:cNvSpPr>
            <p:nvPr/>
          </p:nvSpPr>
          <p:spPr bwMode="auto">
            <a:xfrm>
              <a:off x="2438400" y="3657600"/>
              <a:ext cx="15240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49" name="Oval 12"/>
            <p:cNvSpPr>
              <a:spLocks noChangeArrowheads="1"/>
            </p:cNvSpPr>
            <p:nvPr/>
          </p:nvSpPr>
          <p:spPr bwMode="auto">
            <a:xfrm>
              <a:off x="3276600" y="3657600"/>
              <a:ext cx="15240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50" name="Text Box 13"/>
            <p:cNvSpPr txBox="1">
              <a:spLocks noChangeArrowheads="1"/>
            </p:cNvSpPr>
            <p:nvPr/>
          </p:nvSpPr>
          <p:spPr bwMode="auto">
            <a:xfrm>
              <a:off x="2684353" y="3518579"/>
              <a:ext cx="530444" cy="27804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dirty="0"/>
                <a:t>…...</a:t>
              </a:r>
              <a:endParaRPr lang="en-US" altLang="zh-CN" dirty="0"/>
            </a:p>
          </p:txBody>
        </p:sp>
        <p:sp>
          <p:nvSpPr>
            <p:cNvPr id="65551" name="Oval 14"/>
            <p:cNvSpPr>
              <a:spLocks noChangeArrowheads="1"/>
            </p:cNvSpPr>
            <p:nvPr/>
          </p:nvSpPr>
          <p:spPr bwMode="auto">
            <a:xfrm>
              <a:off x="4419600" y="4800600"/>
              <a:ext cx="15240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52" name="Oval 15"/>
            <p:cNvSpPr>
              <a:spLocks noChangeArrowheads="1"/>
            </p:cNvSpPr>
            <p:nvPr/>
          </p:nvSpPr>
          <p:spPr bwMode="auto">
            <a:xfrm>
              <a:off x="5257800" y="4800600"/>
              <a:ext cx="15240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53" name="Text Box 16"/>
            <p:cNvSpPr txBox="1">
              <a:spLocks noChangeArrowheads="1"/>
            </p:cNvSpPr>
            <p:nvPr/>
          </p:nvSpPr>
          <p:spPr bwMode="auto">
            <a:xfrm>
              <a:off x="4665553" y="4661579"/>
              <a:ext cx="530444" cy="27804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/>
                <a:t>…...</a:t>
              </a:r>
              <a:endParaRPr lang="en-US" altLang="zh-CN" sz="2000"/>
            </a:p>
          </p:txBody>
        </p:sp>
        <p:sp>
          <p:nvSpPr>
            <p:cNvPr id="65554" name="Oval 17"/>
            <p:cNvSpPr>
              <a:spLocks noChangeArrowheads="1"/>
            </p:cNvSpPr>
            <p:nvPr/>
          </p:nvSpPr>
          <p:spPr bwMode="auto">
            <a:xfrm>
              <a:off x="6248400" y="4800600"/>
              <a:ext cx="15240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55" name="Oval 18"/>
            <p:cNvSpPr>
              <a:spLocks noChangeArrowheads="1"/>
            </p:cNvSpPr>
            <p:nvPr/>
          </p:nvSpPr>
          <p:spPr bwMode="auto">
            <a:xfrm>
              <a:off x="7086600" y="4800600"/>
              <a:ext cx="15240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56" name="Text Box 19"/>
            <p:cNvSpPr txBox="1">
              <a:spLocks noChangeArrowheads="1"/>
            </p:cNvSpPr>
            <p:nvPr/>
          </p:nvSpPr>
          <p:spPr bwMode="auto">
            <a:xfrm>
              <a:off x="6494353" y="4661579"/>
              <a:ext cx="530444" cy="27804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/>
                <a:t>…...</a:t>
              </a:r>
              <a:endParaRPr lang="en-US" altLang="zh-CN" sz="2000"/>
            </a:p>
          </p:txBody>
        </p:sp>
        <p:sp>
          <p:nvSpPr>
            <p:cNvPr id="65557" name="Oval 20"/>
            <p:cNvSpPr>
              <a:spLocks noChangeArrowheads="1"/>
            </p:cNvSpPr>
            <p:nvPr/>
          </p:nvSpPr>
          <p:spPr bwMode="auto">
            <a:xfrm>
              <a:off x="2819400" y="26670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58" name="Line 21"/>
            <p:cNvSpPr>
              <a:spLocks noChangeShapeType="1"/>
            </p:cNvSpPr>
            <p:nvPr/>
          </p:nvSpPr>
          <p:spPr bwMode="auto">
            <a:xfrm flipV="1">
              <a:off x="4343400" y="1905000"/>
              <a:ext cx="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59" name="Line 22"/>
            <p:cNvSpPr>
              <a:spLocks noChangeShapeType="1"/>
            </p:cNvSpPr>
            <p:nvPr/>
          </p:nvSpPr>
          <p:spPr bwMode="auto">
            <a:xfrm flipV="1">
              <a:off x="2895600" y="1981200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60" name="Line 23"/>
            <p:cNvSpPr>
              <a:spLocks noChangeShapeType="1"/>
            </p:cNvSpPr>
            <p:nvPr/>
          </p:nvSpPr>
          <p:spPr bwMode="auto">
            <a:xfrm flipV="1">
              <a:off x="2514600" y="2819400"/>
              <a:ext cx="3810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61" name="Line 24"/>
            <p:cNvSpPr>
              <a:spLocks noChangeShapeType="1"/>
            </p:cNvSpPr>
            <p:nvPr/>
          </p:nvSpPr>
          <p:spPr bwMode="auto">
            <a:xfrm flipH="1" flipV="1">
              <a:off x="2895600" y="2819400"/>
              <a:ext cx="4572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62" name="Line 25"/>
            <p:cNvSpPr>
              <a:spLocks noChangeShapeType="1"/>
            </p:cNvSpPr>
            <p:nvPr/>
          </p:nvSpPr>
          <p:spPr bwMode="auto">
            <a:xfrm flipV="1">
              <a:off x="3962400" y="2819400"/>
              <a:ext cx="3810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63" name="Line 26"/>
            <p:cNvSpPr>
              <a:spLocks noChangeShapeType="1"/>
            </p:cNvSpPr>
            <p:nvPr/>
          </p:nvSpPr>
          <p:spPr bwMode="auto">
            <a:xfrm flipH="1" flipV="1">
              <a:off x="4343400" y="2819400"/>
              <a:ext cx="3810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64" name="Line 27"/>
            <p:cNvSpPr>
              <a:spLocks noChangeShapeType="1"/>
            </p:cNvSpPr>
            <p:nvPr/>
          </p:nvSpPr>
          <p:spPr bwMode="auto">
            <a:xfrm flipV="1">
              <a:off x="2514600" y="2819400"/>
              <a:ext cx="17526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65" name="Line 28"/>
            <p:cNvSpPr>
              <a:spLocks noChangeShapeType="1"/>
            </p:cNvSpPr>
            <p:nvPr/>
          </p:nvSpPr>
          <p:spPr bwMode="auto">
            <a:xfrm flipV="1">
              <a:off x="3429000" y="2819400"/>
              <a:ext cx="8382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66" name="Line 29"/>
            <p:cNvSpPr>
              <a:spLocks noChangeShapeType="1"/>
            </p:cNvSpPr>
            <p:nvPr/>
          </p:nvSpPr>
          <p:spPr bwMode="auto">
            <a:xfrm flipH="1" flipV="1">
              <a:off x="4343400" y="2819400"/>
              <a:ext cx="10668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67" name="Line 30"/>
            <p:cNvSpPr>
              <a:spLocks noChangeShapeType="1"/>
            </p:cNvSpPr>
            <p:nvPr/>
          </p:nvSpPr>
          <p:spPr bwMode="auto">
            <a:xfrm flipH="1" flipV="1">
              <a:off x="4419600" y="2819400"/>
              <a:ext cx="18288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68" name="Line 31"/>
            <p:cNvSpPr>
              <a:spLocks noChangeShapeType="1"/>
            </p:cNvSpPr>
            <p:nvPr/>
          </p:nvSpPr>
          <p:spPr bwMode="auto">
            <a:xfrm flipV="1">
              <a:off x="4495800" y="3810000"/>
              <a:ext cx="91440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69" name="Line 32"/>
            <p:cNvSpPr>
              <a:spLocks noChangeShapeType="1"/>
            </p:cNvSpPr>
            <p:nvPr/>
          </p:nvSpPr>
          <p:spPr bwMode="auto">
            <a:xfrm flipV="1">
              <a:off x="5334000" y="3886200"/>
              <a:ext cx="7620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70" name="Line 33"/>
            <p:cNvSpPr>
              <a:spLocks noChangeShapeType="1"/>
            </p:cNvSpPr>
            <p:nvPr/>
          </p:nvSpPr>
          <p:spPr bwMode="auto">
            <a:xfrm flipH="1" flipV="1">
              <a:off x="6248400" y="3810000"/>
              <a:ext cx="7620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71" name="Line 34"/>
            <p:cNvSpPr>
              <a:spLocks noChangeShapeType="1"/>
            </p:cNvSpPr>
            <p:nvPr/>
          </p:nvSpPr>
          <p:spPr bwMode="auto">
            <a:xfrm flipH="1" flipV="1">
              <a:off x="6248400" y="3810000"/>
              <a:ext cx="91440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72" name="Oval 35"/>
            <p:cNvSpPr>
              <a:spLocks noChangeArrowheads="1"/>
            </p:cNvSpPr>
            <p:nvPr/>
          </p:nvSpPr>
          <p:spPr bwMode="auto">
            <a:xfrm>
              <a:off x="5791200" y="26670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73" name="Line 36"/>
            <p:cNvSpPr>
              <a:spLocks noChangeShapeType="1"/>
            </p:cNvSpPr>
            <p:nvPr/>
          </p:nvSpPr>
          <p:spPr bwMode="auto">
            <a:xfrm flipV="1">
              <a:off x="5867400" y="1905000"/>
              <a:ext cx="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74" name="Line 37"/>
            <p:cNvSpPr>
              <a:spLocks noChangeShapeType="1"/>
            </p:cNvSpPr>
            <p:nvPr/>
          </p:nvSpPr>
          <p:spPr bwMode="auto">
            <a:xfrm flipV="1">
              <a:off x="5410200" y="2819400"/>
              <a:ext cx="4572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75" name="Line 38"/>
            <p:cNvSpPr>
              <a:spLocks noChangeShapeType="1"/>
            </p:cNvSpPr>
            <p:nvPr/>
          </p:nvSpPr>
          <p:spPr bwMode="auto">
            <a:xfrm flipH="1" flipV="1">
              <a:off x="5867400" y="2819400"/>
              <a:ext cx="3810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76" name="Text Box 39"/>
            <p:cNvSpPr txBox="1">
              <a:spLocks noChangeArrowheads="1"/>
            </p:cNvSpPr>
            <p:nvPr/>
          </p:nvSpPr>
          <p:spPr bwMode="auto">
            <a:xfrm>
              <a:off x="4226465" y="3780604"/>
              <a:ext cx="432309" cy="36359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 b="1"/>
                <a:t>m</a:t>
              </a:r>
              <a:r>
                <a:rPr lang="en-US" altLang="zh-CN" sz="2800" b="1" baseline="-25000"/>
                <a:t>j</a:t>
              </a:r>
              <a:endParaRPr lang="en-US" altLang="zh-CN" sz="2800" b="1" baseline="-25000"/>
            </a:p>
          </p:txBody>
        </p:sp>
        <p:sp>
          <p:nvSpPr>
            <p:cNvPr id="65577" name="Text Box 40"/>
            <p:cNvSpPr txBox="1">
              <a:spLocks noChangeArrowheads="1"/>
            </p:cNvSpPr>
            <p:nvPr/>
          </p:nvSpPr>
          <p:spPr bwMode="auto">
            <a:xfrm>
              <a:off x="2676976" y="3780604"/>
              <a:ext cx="483288" cy="36359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 b="1"/>
                <a:t>m</a:t>
              </a:r>
              <a:r>
                <a:rPr lang="en-US" altLang="zh-CN" sz="2800" b="1" baseline="-25000"/>
                <a:t>k</a:t>
              </a:r>
              <a:endParaRPr lang="en-US" altLang="zh-CN" sz="2800" b="1" baseline="-25000"/>
            </a:p>
          </p:txBody>
        </p:sp>
        <p:sp>
          <p:nvSpPr>
            <p:cNvPr id="65578" name="Text Box 41"/>
            <p:cNvSpPr txBox="1">
              <a:spLocks noChangeArrowheads="1"/>
            </p:cNvSpPr>
            <p:nvPr/>
          </p:nvSpPr>
          <p:spPr bwMode="auto">
            <a:xfrm>
              <a:off x="5674266" y="3856804"/>
              <a:ext cx="432308" cy="36359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 b="1"/>
                <a:t>m</a:t>
              </a:r>
              <a:r>
                <a:rPr lang="en-US" altLang="zh-CN" sz="2800" b="1" baseline="-25000"/>
                <a:t>l</a:t>
              </a:r>
              <a:endParaRPr lang="en-US" altLang="zh-CN" sz="2800" b="1" baseline="-25000"/>
            </a:p>
          </p:txBody>
        </p:sp>
        <p:sp>
          <p:nvSpPr>
            <p:cNvPr id="65579" name="Text Box 42"/>
            <p:cNvSpPr txBox="1">
              <a:spLocks noChangeArrowheads="1"/>
            </p:cNvSpPr>
            <p:nvPr/>
          </p:nvSpPr>
          <p:spPr bwMode="auto">
            <a:xfrm>
              <a:off x="4476750" y="2400300"/>
              <a:ext cx="590550" cy="36359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/>
                <a:t>n</a:t>
              </a:r>
              <a:endParaRPr lang="en-US" altLang="zh-CN" sz="2800" b="1" dirty="0"/>
            </a:p>
          </p:txBody>
        </p:sp>
        <p:sp>
          <p:nvSpPr>
            <p:cNvPr id="65580" name="Text Box 43"/>
            <p:cNvSpPr txBox="1">
              <a:spLocks noChangeArrowheads="1"/>
            </p:cNvSpPr>
            <p:nvPr/>
          </p:nvSpPr>
          <p:spPr bwMode="auto">
            <a:xfrm>
              <a:off x="6000750" y="2514600"/>
              <a:ext cx="590550" cy="36359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/>
                <a:t>a</a:t>
              </a:r>
              <a:endParaRPr lang="en-US" altLang="zh-CN" sz="2800" b="1" dirty="0"/>
            </a:p>
          </p:txBody>
        </p:sp>
        <p:sp>
          <p:nvSpPr>
            <p:cNvPr id="65581" name="Text Box 44"/>
            <p:cNvSpPr txBox="1">
              <a:spLocks noChangeArrowheads="1"/>
            </p:cNvSpPr>
            <p:nvPr/>
          </p:nvSpPr>
          <p:spPr bwMode="auto">
            <a:xfrm>
              <a:off x="6419850" y="3486150"/>
              <a:ext cx="590550" cy="36359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/>
                <a:t>b</a:t>
              </a:r>
              <a:endParaRPr lang="en-US" altLang="zh-CN" sz="2800" b="1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6882015" y="3942582"/>
            <a:ext cx="1776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已经被访问过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144034" y="5212602"/>
            <a:ext cx="1776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尚未被访问过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67975" y="4625355"/>
            <a:ext cx="2204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可由其他节点到达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069149" y="4622793"/>
            <a:ext cx="2204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当前只能由</a:t>
            </a:r>
            <a:r>
              <a:rPr lang="en-US" b="1" dirty="0" err="1"/>
              <a:t>n</a:t>
            </a:r>
            <a:r>
              <a:rPr lang="en-US" dirty="0" err="1"/>
              <a:t>到达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09E8145-1A4D-4AA4-B320-BB91F35E734B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/>
              <a:t>A</a:t>
            </a:r>
            <a:r>
              <a:rPr lang="zh-CN" altLang="en-US"/>
              <a:t>算法</a:t>
            </a:r>
            <a:endParaRPr lang="zh-CN" altLang="en-US"/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14450"/>
            <a:ext cx="8534400" cy="50292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altLang="zh-CN" sz="3200" b="1" dirty="0"/>
              <a:t>A-algorithm (s)   //s</a:t>
            </a:r>
            <a:r>
              <a:rPr lang="zh-CN" altLang="en-US" sz="3200" b="1" dirty="0"/>
              <a:t>为初始节点</a:t>
            </a:r>
            <a:endParaRPr lang="en-US" altLang="zh-CN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OPEN=(s), CLOSED=(), f(s)=g(s)+h(s);</a:t>
            </a:r>
            <a:endParaRPr lang="en-US" altLang="zh-CN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while OPEN</a:t>
            </a:r>
            <a:r>
              <a:rPr lang="zh-CN" altLang="en-US" sz="3200" b="1" dirty="0"/>
              <a:t>不空 </a:t>
            </a:r>
            <a:r>
              <a:rPr lang="en-US" altLang="zh-CN" sz="3200" b="1" dirty="0"/>
              <a:t>do</a:t>
            </a:r>
            <a:r>
              <a:rPr lang="zh-CN" altLang="en-US" sz="3200" b="1" dirty="0"/>
              <a:t>：</a:t>
            </a:r>
            <a:endParaRPr lang="en-US" altLang="zh-CN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FF0000"/>
                </a:solidFill>
              </a:rPr>
              <a:t>    </a:t>
            </a:r>
            <a:r>
              <a:rPr lang="en-US" altLang="zh-CN" sz="3200" b="1" dirty="0"/>
              <a:t>begin</a:t>
            </a:r>
            <a:endParaRPr lang="en-US" altLang="zh-CN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         n=FIRST(OPEN);</a:t>
            </a:r>
            <a:endParaRPr lang="en-US" altLang="zh-CN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         if GOAL(n) THEN return n;</a:t>
            </a:r>
            <a:endParaRPr lang="en-US" altLang="zh-CN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         REMOVE(n, OPEN), ADD(n, CLOSED);</a:t>
            </a:r>
            <a:endParaRPr lang="en-US" altLang="zh-CN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         EXPAND(n) </a:t>
            </a:r>
            <a:r>
              <a:rPr lang="en-US" altLang="zh-CN" sz="3600" b="1" dirty="0"/>
              <a:t>→{m</a:t>
            </a:r>
            <a:r>
              <a:rPr lang="en-US" altLang="zh-CN" sz="3600" b="1" baseline="-25000" dirty="0"/>
              <a:t>i</a:t>
            </a:r>
            <a:r>
              <a:rPr lang="en-US" altLang="zh-CN" sz="3600" b="1" dirty="0"/>
              <a:t>},</a:t>
            </a:r>
            <a:endParaRPr lang="en-US" altLang="zh-CN" sz="36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600" b="1" dirty="0"/>
              <a:t>	     </a:t>
            </a:r>
            <a:r>
              <a:rPr lang="zh-CN" altLang="zh-CN" sz="3200" b="1" dirty="0"/>
              <a:t>计算</a:t>
            </a:r>
            <a:r>
              <a:rPr lang="en-US" altLang="zh-CN" sz="3200" b="1" dirty="0"/>
              <a:t>f(n, m</a:t>
            </a:r>
            <a:r>
              <a:rPr lang="en-US" altLang="zh-CN" sz="3600" b="1" baseline="-25000" dirty="0"/>
              <a:t>i</a:t>
            </a:r>
            <a:r>
              <a:rPr lang="en-US" altLang="zh-CN" sz="3200" b="1" dirty="0"/>
              <a:t>)=g(n, m</a:t>
            </a:r>
            <a:r>
              <a:rPr lang="en-US" altLang="zh-CN" sz="3600" b="1" baseline="-25000" dirty="0"/>
              <a:t>i</a:t>
            </a:r>
            <a:r>
              <a:rPr lang="en-US" altLang="zh-CN" sz="3200" b="1" dirty="0"/>
              <a:t>)+h(m</a:t>
            </a:r>
            <a:r>
              <a:rPr lang="en-US" altLang="zh-CN" sz="3600" b="1" baseline="-25000" dirty="0"/>
              <a:t>i</a:t>
            </a:r>
            <a:r>
              <a:rPr lang="en-US" altLang="zh-CN" sz="3200" b="1" dirty="0"/>
              <a:t>);</a:t>
            </a:r>
            <a:endParaRPr lang="en-US" altLang="zh-CN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/>
              <a:t>	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543797B-EDD5-4C08-BC50-C3E9A8B5D401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1462" y="836141"/>
            <a:ext cx="8172451" cy="5729416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      ADD(</a:t>
            </a:r>
            <a:r>
              <a:rPr lang="en-US" altLang="zh-CN" sz="3200" b="1" dirty="0" err="1"/>
              <a:t>m</a:t>
            </a:r>
            <a:r>
              <a:rPr lang="en-US" altLang="zh-CN" sz="3200" b="1" baseline="-25000" dirty="0" err="1"/>
              <a:t>j</a:t>
            </a:r>
            <a:r>
              <a:rPr lang="en-US" altLang="zh-CN" sz="3200" b="1" dirty="0"/>
              <a:t>, OPEN), </a:t>
            </a:r>
            <a:r>
              <a:rPr lang="zh-CN" altLang="en-US" sz="3200" b="1" dirty="0"/>
              <a:t>标记</a:t>
            </a:r>
            <a:r>
              <a:rPr lang="en-US" altLang="zh-CN" sz="3200" b="1" dirty="0" err="1"/>
              <a:t>m</a:t>
            </a:r>
            <a:r>
              <a:rPr lang="en-US" altLang="zh-CN" sz="3200" b="1" baseline="-25000" dirty="0" err="1"/>
              <a:t>j</a:t>
            </a:r>
            <a:r>
              <a:rPr lang="zh-CN" altLang="en-US" sz="3200" b="1" dirty="0"/>
              <a:t>到</a:t>
            </a:r>
            <a:r>
              <a:rPr lang="en-US" altLang="zh-CN" sz="3200" b="1" dirty="0"/>
              <a:t>n</a:t>
            </a:r>
            <a:r>
              <a:rPr lang="zh-CN" altLang="en-US" sz="3200" b="1" dirty="0"/>
              <a:t>的指针；</a:t>
            </a:r>
            <a:endParaRPr lang="zh-CN" altLang="en-US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      if f(n, </a:t>
            </a:r>
            <a:r>
              <a:rPr lang="en-US" altLang="zh-CN" sz="3200" b="1" dirty="0" err="1"/>
              <a:t>m</a:t>
            </a:r>
            <a:r>
              <a:rPr lang="en-US" altLang="zh-CN" sz="3200" b="1" baseline="-25000" dirty="0" err="1"/>
              <a:t>k</a:t>
            </a:r>
            <a:r>
              <a:rPr lang="en-US" altLang="zh-CN" sz="3200" b="1" dirty="0"/>
              <a:t>)&lt;f(</a:t>
            </a:r>
            <a:r>
              <a:rPr lang="en-US" altLang="zh-CN" sz="3200" b="1" dirty="0" err="1"/>
              <a:t>m</a:t>
            </a:r>
            <a:r>
              <a:rPr lang="en-US" altLang="zh-CN" sz="3200" b="1" baseline="-25000" dirty="0" err="1"/>
              <a:t>k</a:t>
            </a:r>
            <a:r>
              <a:rPr lang="en-US" altLang="zh-CN" sz="3200" b="1" dirty="0"/>
              <a:t>) then </a:t>
            </a:r>
            <a:endParaRPr lang="en-US" altLang="zh-CN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          f(</a:t>
            </a:r>
            <a:r>
              <a:rPr lang="en-US" altLang="zh-CN" sz="3200" b="1" dirty="0" err="1"/>
              <a:t>m</a:t>
            </a:r>
            <a:r>
              <a:rPr lang="en-US" altLang="zh-CN" sz="3200" b="1" baseline="-25000" dirty="0" err="1"/>
              <a:t>k</a:t>
            </a:r>
            <a:r>
              <a:rPr lang="en-US" altLang="zh-CN" sz="3200" b="1" dirty="0"/>
              <a:t>)=f(n, </a:t>
            </a:r>
            <a:r>
              <a:rPr lang="en-US" altLang="zh-CN" sz="3200" b="1" dirty="0" err="1"/>
              <a:t>m</a:t>
            </a:r>
            <a:r>
              <a:rPr lang="en-US" altLang="zh-CN" sz="3200" b="1" baseline="-25000" dirty="0" err="1"/>
              <a:t>k</a:t>
            </a:r>
            <a:r>
              <a:rPr lang="en-US" altLang="zh-CN" sz="3200" b="1" dirty="0"/>
              <a:t>), </a:t>
            </a:r>
            <a:r>
              <a:rPr lang="zh-CN" altLang="zh-CN" sz="3200" b="1" dirty="0"/>
              <a:t>标记</a:t>
            </a:r>
            <a:r>
              <a:rPr lang="en-US" altLang="zh-CN" sz="3200" b="1" dirty="0" err="1"/>
              <a:t>m</a:t>
            </a:r>
            <a:r>
              <a:rPr lang="en-US" altLang="zh-CN" sz="3200" b="1" baseline="-25000" dirty="0" err="1"/>
              <a:t>k</a:t>
            </a:r>
            <a:r>
              <a:rPr lang="zh-CN" altLang="zh-CN" sz="3200" b="1" dirty="0"/>
              <a:t>到</a:t>
            </a:r>
            <a:r>
              <a:rPr lang="en-US" altLang="zh-CN" sz="3200" b="1" dirty="0"/>
              <a:t>n</a:t>
            </a:r>
            <a:r>
              <a:rPr lang="zh-CN" altLang="zh-CN" sz="3200" b="1" dirty="0"/>
              <a:t>的指针；</a:t>
            </a:r>
            <a:endParaRPr lang="zh-CN" altLang="en-US" sz="28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      if f(n, m</a:t>
            </a:r>
            <a:r>
              <a:rPr lang="en-US" altLang="zh-CN" sz="3600" b="1" baseline="-25000" dirty="0"/>
              <a:t>l</a:t>
            </a:r>
            <a:r>
              <a:rPr lang="en-US" altLang="zh-CN" sz="3200" b="1" dirty="0"/>
              <a:t>)&lt;f(m</a:t>
            </a:r>
            <a:r>
              <a:rPr lang="en-US" altLang="zh-CN" sz="3600" b="1" baseline="-25000" dirty="0"/>
              <a:t>l</a:t>
            </a:r>
            <a:r>
              <a:rPr lang="en-US" altLang="zh-CN" sz="3200" b="1" dirty="0"/>
              <a:t>,) then </a:t>
            </a:r>
            <a:endParaRPr lang="en-US" altLang="zh-CN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          f(m</a:t>
            </a:r>
            <a:r>
              <a:rPr lang="en-US" altLang="zh-CN" sz="3600" b="1" baseline="-25000" dirty="0"/>
              <a:t>l</a:t>
            </a:r>
            <a:r>
              <a:rPr lang="en-US" altLang="zh-CN" sz="3200" b="1" dirty="0"/>
              <a:t>)=f(n, m</a:t>
            </a:r>
            <a:r>
              <a:rPr lang="en-US" altLang="zh-CN" sz="3200" b="1" baseline="-25000" dirty="0"/>
              <a:t>l</a:t>
            </a:r>
            <a:r>
              <a:rPr lang="en-US" altLang="zh-CN" sz="3200" b="1" dirty="0"/>
              <a:t>),</a:t>
            </a:r>
            <a:r>
              <a:rPr lang="zh-CN" altLang="en-US" sz="3200" b="1" dirty="0"/>
              <a:t>标记</a:t>
            </a:r>
            <a:r>
              <a:rPr lang="en-US" altLang="zh-CN" sz="3200" b="1" dirty="0"/>
              <a:t>m</a:t>
            </a:r>
            <a:r>
              <a:rPr lang="en-US" altLang="zh-CN" sz="3200" b="1" baseline="-25000" dirty="0"/>
              <a:t>l</a:t>
            </a:r>
            <a:r>
              <a:rPr lang="zh-CN" altLang="en-US" sz="3200" b="1" dirty="0"/>
              <a:t>到</a:t>
            </a:r>
            <a:r>
              <a:rPr lang="en-US" altLang="zh-CN" sz="3200" b="1" dirty="0"/>
              <a:t>n</a:t>
            </a:r>
            <a:r>
              <a:rPr lang="zh-CN" altLang="en-US" sz="3200" b="1" dirty="0"/>
              <a:t>的指针</a:t>
            </a:r>
            <a:r>
              <a:rPr lang="en-US" altLang="zh-CN" sz="3200" b="1" dirty="0"/>
              <a:t>, </a:t>
            </a:r>
            <a:endParaRPr lang="en-US" altLang="zh-CN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	       </a:t>
            </a:r>
            <a:r>
              <a:rPr lang="en-US" altLang="zh-CN" sz="3200" b="1" dirty="0">
                <a:solidFill>
                  <a:srgbClr val="FF0000"/>
                </a:solidFill>
              </a:rPr>
              <a:t>ADD(m</a:t>
            </a:r>
            <a:r>
              <a:rPr lang="en-US" altLang="zh-CN" sz="3200" b="1" baseline="-25000" dirty="0">
                <a:solidFill>
                  <a:srgbClr val="FF0000"/>
                </a:solidFill>
              </a:rPr>
              <a:t>l</a:t>
            </a:r>
            <a:r>
              <a:rPr lang="en-US" altLang="zh-CN" sz="3200" b="1" dirty="0">
                <a:solidFill>
                  <a:srgbClr val="FF0000"/>
                </a:solidFill>
              </a:rPr>
              <a:t>, OPEN);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      OPEN</a:t>
            </a:r>
            <a:r>
              <a:rPr lang="zh-CN" altLang="zh-CN" sz="3200" b="1" dirty="0"/>
              <a:t>中的节点按</a:t>
            </a:r>
            <a:r>
              <a:rPr lang="en-US" altLang="zh-CN" sz="3200" b="1" dirty="0"/>
              <a:t>f</a:t>
            </a:r>
            <a:r>
              <a:rPr lang="zh-CN" altLang="zh-CN" sz="3200" b="1" dirty="0"/>
              <a:t>值从小到大排序；</a:t>
            </a:r>
            <a:endParaRPr lang="zh-CN" altLang="zh-CN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   end while</a:t>
            </a:r>
            <a:endParaRPr lang="en-US" altLang="zh-CN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return FAIL;</a:t>
            </a:r>
            <a:endParaRPr lang="zh-CN" altLang="en-US" sz="3200" b="1" dirty="0"/>
          </a:p>
        </p:txBody>
      </p:sp>
      <p:pic>
        <p:nvPicPr>
          <p:cNvPr id="1026" name="Picture 2" descr="question mark | 3d human with a red question mark | Damián Navas | Flick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94" y="2239887"/>
            <a:ext cx="982819" cy="982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137" y="4096095"/>
            <a:ext cx="4476863" cy="2761905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6338455" y="6300400"/>
            <a:ext cx="2525458" cy="557600"/>
            <a:chOff x="6338455" y="6300400"/>
            <a:chExt cx="2525458" cy="557600"/>
          </a:xfrm>
        </p:grpSpPr>
        <p:sp>
          <p:nvSpPr>
            <p:cNvPr id="3" name="Rounded Rectangle 2"/>
            <p:cNvSpPr/>
            <p:nvPr/>
          </p:nvSpPr>
          <p:spPr>
            <a:xfrm>
              <a:off x="6338455" y="6565557"/>
              <a:ext cx="2525458" cy="292443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6931331" y="6300400"/>
              <a:ext cx="14967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为何不更新其f值</a:t>
              </a:r>
              <a:r>
                <a:rPr lang="zh-CN" altLang="en-US" sz="1200" dirty="0">
                  <a:solidFill>
                    <a:srgbClr val="FF0000"/>
                  </a:solidFill>
                </a:rPr>
                <a:t>？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如何得到解路径？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sz="3200" dirty="0"/>
              <a:t>从目标开始，顺序访问父节点，直到初始节点。</a:t>
            </a:r>
            <a:endParaRPr lang="zh-CN" altLang="en-US" sz="3200" dirty="0"/>
          </a:p>
        </p:txBody>
      </p:sp>
      <p:sp>
        <p:nvSpPr>
          <p:cNvPr id="4" name="椭圆 3"/>
          <p:cNvSpPr>
            <a:spLocks noChangeAspect="1"/>
          </p:cNvSpPr>
          <p:nvPr/>
        </p:nvSpPr>
        <p:spPr>
          <a:xfrm>
            <a:off x="4599612" y="2283738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>
                <a:solidFill>
                  <a:srgbClr val="00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S</a:t>
            </a:r>
            <a:endParaRPr lang="zh-CN" sz="1400" kern="10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75"/>
          <p:cNvSpPr txBox="1"/>
          <p:nvPr/>
        </p:nvSpPr>
        <p:spPr>
          <a:xfrm>
            <a:off x="4783387" y="2801117"/>
            <a:ext cx="325780" cy="324521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76"/>
          <p:cNvSpPr txBox="1"/>
          <p:nvPr/>
        </p:nvSpPr>
        <p:spPr>
          <a:xfrm>
            <a:off x="3628701" y="2822862"/>
            <a:ext cx="325780" cy="324521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77"/>
          <p:cNvSpPr txBox="1"/>
          <p:nvPr/>
        </p:nvSpPr>
        <p:spPr>
          <a:xfrm>
            <a:off x="5535216" y="2778306"/>
            <a:ext cx="325629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6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89"/>
          <p:cNvSpPr txBox="1"/>
          <p:nvPr/>
        </p:nvSpPr>
        <p:spPr>
          <a:xfrm>
            <a:off x="3580155" y="4181814"/>
            <a:ext cx="325629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90"/>
          <p:cNvSpPr txBox="1"/>
          <p:nvPr/>
        </p:nvSpPr>
        <p:spPr>
          <a:xfrm>
            <a:off x="2790188" y="3981313"/>
            <a:ext cx="325780" cy="324521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100"/>
          <p:cNvSpPr txBox="1"/>
          <p:nvPr/>
        </p:nvSpPr>
        <p:spPr>
          <a:xfrm>
            <a:off x="3800817" y="5300165"/>
            <a:ext cx="325629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椭圆 10"/>
          <p:cNvSpPr>
            <a:spLocks noChangeAspect="1"/>
          </p:cNvSpPr>
          <p:nvPr/>
        </p:nvSpPr>
        <p:spPr>
          <a:xfrm>
            <a:off x="4979150" y="2190170"/>
            <a:ext cx="238905" cy="2411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sz="1400" kern="10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09"/>
          <p:cNvSpPr txBox="1"/>
          <p:nvPr/>
        </p:nvSpPr>
        <p:spPr>
          <a:xfrm>
            <a:off x="3447759" y="3339710"/>
            <a:ext cx="626357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=7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10"/>
          <p:cNvSpPr txBox="1"/>
          <p:nvPr/>
        </p:nvSpPr>
        <p:spPr>
          <a:xfrm>
            <a:off x="4886472" y="3446643"/>
            <a:ext cx="625974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=10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11"/>
          <p:cNvSpPr txBox="1"/>
          <p:nvPr/>
        </p:nvSpPr>
        <p:spPr>
          <a:xfrm>
            <a:off x="5630557" y="3397633"/>
            <a:ext cx="625974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=9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椭圆 14"/>
          <p:cNvSpPr>
            <a:spLocks noChangeAspect="1"/>
          </p:cNvSpPr>
          <p:nvPr/>
        </p:nvSpPr>
        <p:spPr>
          <a:xfrm>
            <a:off x="3116766" y="3161487"/>
            <a:ext cx="238284" cy="240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13"/>
          <p:cNvSpPr txBox="1"/>
          <p:nvPr/>
        </p:nvSpPr>
        <p:spPr>
          <a:xfrm>
            <a:off x="2212349" y="4707573"/>
            <a:ext cx="626357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=14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14"/>
          <p:cNvSpPr txBox="1"/>
          <p:nvPr/>
        </p:nvSpPr>
        <p:spPr>
          <a:xfrm>
            <a:off x="3232687" y="4707573"/>
            <a:ext cx="626357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=6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22"/>
          <p:cNvSpPr txBox="1"/>
          <p:nvPr/>
        </p:nvSpPr>
        <p:spPr>
          <a:xfrm>
            <a:off x="4468097" y="5928402"/>
            <a:ext cx="626357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=8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椭圆 18"/>
          <p:cNvSpPr>
            <a:spLocks noChangeAspect="1"/>
          </p:cNvSpPr>
          <p:nvPr/>
        </p:nvSpPr>
        <p:spPr>
          <a:xfrm>
            <a:off x="3902321" y="4493705"/>
            <a:ext cx="238284" cy="240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0" name="直接连接符 19"/>
          <p:cNvCxnSpPr/>
          <p:nvPr/>
        </p:nvCxnSpPr>
        <p:spPr>
          <a:xfrm flipH="1">
            <a:off x="3346255" y="2586717"/>
            <a:ext cx="1356148" cy="85978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椭圆 20"/>
          <p:cNvSpPr>
            <a:spLocks noChangeAspect="1"/>
          </p:cNvSpPr>
          <p:nvPr/>
        </p:nvSpPr>
        <p:spPr>
          <a:xfrm>
            <a:off x="3182965" y="3442189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4758489" y="2600083"/>
            <a:ext cx="11493" cy="84702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椭圆 22"/>
          <p:cNvSpPr>
            <a:spLocks noChangeAspect="1"/>
          </p:cNvSpPr>
          <p:nvPr/>
        </p:nvSpPr>
        <p:spPr>
          <a:xfrm>
            <a:off x="4617264" y="3460010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4807033" y="2568894"/>
            <a:ext cx="1419358" cy="83542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椭圆 24"/>
          <p:cNvSpPr>
            <a:spLocks noChangeAspect="1"/>
          </p:cNvSpPr>
          <p:nvPr/>
        </p:nvSpPr>
        <p:spPr>
          <a:xfrm>
            <a:off x="6082457" y="3411000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椭圆 25"/>
          <p:cNvSpPr>
            <a:spLocks noChangeAspect="1"/>
          </p:cNvSpPr>
          <p:nvPr/>
        </p:nvSpPr>
        <p:spPr>
          <a:xfrm>
            <a:off x="3664008" y="4716484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>
                <a:solidFill>
                  <a:srgbClr val="00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sz="1400" kern="10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椭圆 26"/>
          <p:cNvSpPr>
            <a:spLocks noChangeAspect="1"/>
          </p:cNvSpPr>
          <p:nvPr/>
        </p:nvSpPr>
        <p:spPr>
          <a:xfrm>
            <a:off x="2697510" y="4716484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F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8" name="直接连接符 27"/>
          <p:cNvCxnSpPr/>
          <p:nvPr/>
        </p:nvCxnSpPr>
        <p:spPr>
          <a:xfrm flipH="1">
            <a:off x="2869626" y="3767446"/>
            <a:ext cx="413740" cy="95222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3324189" y="3754079"/>
            <a:ext cx="477334" cy="95145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椭圆 29"/>
          <p:cNvSpPr>
            <a:spLocks noChangeAspect="1"/>
          </p:cNvSpPr>
          <p:nvPr/>
        </p:nvSpPr>
        <p:spPr>
          <a:xfrm>
            <a:off x="4184769" y="5906125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>
                <a:solidFill>
                  <a:srgbClr val="00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T</a:t>
            </a:r>
            <a:endParaRPr lang="zh-CN" sz="1400" kern="10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3858189" y="5023919"/>
            <a:ext cx="476951" cy="87023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椭圆 31"/>
          <p:cNvSpPr>
            <a:spLocks noChangeAspect="1"/>
          </p:cNvSpPr>
          <p:nvPr/>
        </p:nvSpPr>
        <p:spPr>
          <a:xfrm>
            <a:off x="4478702" y="5684187"/>
            <a:ext cx="238284" cy="240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4" name="直接箭头连接符 33"/>
          <p:cNvCxnSpPr/>
          <p:nvPr/>
        </p:nvCxnSpPr>
        <p:spPr>
          <a:xfrm flipH="1" flipV="1">
            <a:off x="4090812" y="4961308"/>
            <a:ext cx="574672" cy="9411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 flipH="1" flipV="1">
            <a:off x="3522737" y="3675995"/>
            <a:ext cx="574672" cy="9411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flipV="1">
            <a:off x="3767659" y="2963377"/>
            <a:ext cx="753267" cy="54123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3" grpId="0" animBg="1"/>
      <p:bldP spid="25" grpId="0" animBg="1"/>
      <p:bldP spid="26" grpId="0" animBg="1"/>
      <p:bldP spid="27" grpId="0" animBg="1"/>
      <p:bldP spid="30" grpId="0" animBg="1"/>
      <p:bldP spid="3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前情回顾：蛮力搜索与启发式搜索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sz="3200" b="1" dirty="0"/>
              <a:t>蛮力搜索：</a:t>
            </a:r>
            <a:endParaRPr lang="en-US" altLang="zh-CN" sz="3200" b="1" dirty="0"/>
          </a:p>
          <a:p>
            <a:pPr lvl="1"/>
            <a:r>
              <a:rPr lang="zh-CN" altLang="en-US" sz="2800" b="1" dirty="0"/>
              <a:t>深度优先搜索</a:t>
            </a:r>
            <a:endParaRPr lang="en-US" altLang="zh-CN" sz="2800" b="1" dirty="0"/>
          </a:p>
          <a:p>
            <a:pPr lvl="1"/>
            <a:r>
              <a:rPr lang="zh-CN" altLang="en-US" sz="2800" b="1" dirty="0"/>
              <a:t>宽度优先搜索</a:t>
            </a:r>
            <a:endParaRPr lang="en-US" altLang="zh-CN" sz="2800" b="1" dirty="0"/>
          </a:p>
          <a:p>
            <a:pPr lvl="1"/>
            <a:endParaRPr lang="en-US" altLang="zh-CN" sz="2800" b="1" dirty="0"/>
          </a:p>
          <a:p>
            <a:r>
              <a:rPr lang="zh-CN" altLang="en-US" sz="3200" b="1" dirty="0"/>
              <a:t>启发式搜索</a:t>
            </a:r>
            <a:endParaRPr lang="en-US" altLang="zh-CN" sz="3200" b="1" dirty="0"/>
          </a:p>
          <a:p>
            <a:pPr lvl="1"/>
            <a:r>
              <a:rPr lang="zh-CN" altLang="en-US" sz="2800" b="1" dirty="0"/>
              <a:t>迪杰斯特拉（</a:t>
            </a:r>
            <a:r>
              <a:rPr lang="en-US" altLang="zh-CN" sz="2800" b="1" dirty="0"/>
              <a:t>Dijkstra</a:t>
            </a:r>
            <a:r>
              <a:rPr lang="zh-CN" altLang="en-US" sz="2800" b="1" dirty="0"/>
              <a:t>）算法</a:t>
            </a:r>
            <a:endParaRPr lang="en-US" altLang="zh-CN" sz="2800" b="1" dirty="0"/>
          </a:p>
          <a:p>
            <a:pPr lvl="1"/>
            <a:r>
              <a:rPr lang="en-US" altLang="zh-CN" sz="2800" b="1" dirty="0"/>
              <a:t>A</a:t>
            </a:r>
            <a:r>
              <a:rPr lang="zh-CN" altLang="en-US" sz="2800" b="1" dirty="0"/>
              <a:t>算法</a:t>
            </a:r>
            <a:endParaRPr lang="en-US" altLang="zh-CN" sz="2800" b="1" dirty="0"/>
          </a:p>
          <a:p>
            <a:pPr lvl="1"/>
            <a:r>
              <a:rPr lang="en-US" altLang="zh-CN" sz="2800" b="1" dirty="0"/>
              <a:t>A*</a:t>
            </a:r>
            <a:r>
              <a:rPr lang="zh-CN" altLang="en-US" sz="2800" b="1" dirty="0"/>
              <a:t>算法</a:t>
            </a:r>
            <a:endParaRPr lang="zh-CN" altLang="en-US" sz="2800" b="1" dirty="0"/>
          </a:p>
        </p:txBody>
      </p:sp>
      <p:grpSp>
        <p:nvGrpSpPr>
          <p:cNvPr id="10" name="Group 9"/>
          <p:cNvGrpSpPr/>
          <p:nvPr/>
        </p:nvGrpSpPr>
        <p:grpSpPr>
          <a:xfrm>
            <a:off x="4092166" y="2077859"/>
            <a:ext cx="2806575" cy="1303699"/>
            <a:chOff x="4092166" y="2077859"/>
            <a:chExt cx="2806575" cy="1303699"/>
          </a:xfrm>
        </p:grpSpPr>
        <p:sp>
          <p:nvSpPr>
            <p:cNvPr id="4" name="Right Brace 3"/>
            <p:cNvSpPr/>
            <p:nvPr/>
          </p:nvSpPr>
          <p:spPr>
            <a:xfrm>
              <a:off x="4092166" y="2077859"/>
              <a:ext cx="280658" cy="1303699"/>
            </a:xfrm>
            <a:prstGeom prst="rightBrac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572000" y="2545042"/>
              <a:ext cx="23267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与问题无关</a:t>
              </a:r>
              <a:endParaRPr lang="en-US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328368" y="4328485"/>
            <a:ext cx="2806575" cy="1303699"/>
            <a:chOff x="6056768" y="4283220"/>
            <a:chExt cx="2806575" cy="1303699"/>
          </a:xfrm>
        </p:grpSpPr>
        <p:sp>
          <p:nvSpPr>
            <p:cNvPr id="6" name="Right Brace 5"/>
            <p:cNvSpPr/>
            <p:nvPr/>
          </p:nvSpPr>
          <p:spPr>
            <a:xfrm>
              <a:off x="6056768" y="4283220"/>
              <a:ext cx="280658" cy="1303699"/>
            </a:xfrm>
            <a:prstGeom prst="rightBrac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536602" y="4750403"/>
              <a:ext cx="23267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利用问题结构</a:t>
              </a:r>
              <a:endParaRPr lang="en-US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优先扩展</a:t>
            </a:r>
            <a:r>
              <a:rPr lang="en-US" altLang="zh-CN" dirty="0"/>
              <a:t>f(n)</a:t>
            </a:r>
            <a:r>
              <a:rPr lang="zh-CN" altLang="en-US" dirty="0"/>
              <a:t>值最小的节点，直到</a:t>
            </a:r>
            <a:r>
              <a:rPr lang="en-US" altLang="zh-CN" b="1" dirty="0">
                <a:solidFill>
                  <a:srgbClr val="FF0000"/>
                </a:solidFill>
              </a:rPr>
              <a:t>f(</a:t>
            </a:r>
            <a:r>
              <a:rPr lang="zh-CN" altLang="en-US" b="1" dirty="0">
                <a:solidFill>
                  <a:srgbClr val="FF0000"/>
                </a:solidFill>
              </a:rPr>
              <a:t>终点</a:t>
            </a:r>
            <a:r>
              <a:rPr lang="en-US" altLang="zh-CN" b="1" dirty="0">
                <a:solidFill>
                  <a:srgbClr val="FF0000"/>
                </a:solidFill>
              </a:rPr>
              <a:t>)</a:t>
            </a:r>
            <a:r>
              <a:rPr lang="zh-CN" altLang="en-US" b="1" dirty="0">
                <a:solidFill>
                  <a:srgbClr val="FF0000"/>
                </a:solidFill>
              </a:rPr>
              <a:t>最小</a:t>
            </a:r>
            <a:endParaRPr lang="zh-CN" altLang="en-US" dirty="0"/>
          </a:p>
        </p:txBody>
      </p:sp>
      <p:sp>
        <p:nvSpPr>
          <p:cNvPr id="7" name="椭圆 6"/>
          <p:cNvSpPr>
            <a:spLocks noChangeAspect="1"/>
          </p:cNvSpPr>
          <p:nvPr/>
        </p:nvSpPr>
        <p:spPr>
          <a:xfrm>
            <a:off x="3017939" y="2283738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>
                <a:solidFill>
                  <a:srgbClr val="00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S</a:t>
            </a:r>
            <a:endParaRPr lang="zh-CN" sz="1400" kern="10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5"/>
          <p:cNvSpPr txBox="1"/>
          <p:nvPr/>
        </p:nvSpPr>
        <p:spPr>
          <a:xfrm>
            <a:off x="3201714" y="2801117"/>
            <a:ext cx="325780" cy="324521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76"/>
          <p:cNvSpPr txBox="1"/>
          <p:nvPr/>
        </p:nvSpPr>
        <p:spPr>
          <a:xfrm>
            <a:off x="2047028" y="2822862"/>
            <a:ext cx="325780" cy="324521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77"/>
          <p:cNvSpPr txBox="1"/>
          <p:nvPr/>
        </p:nvSpPr>
        <p:spPr>
          <a:xfrm>
            <a:off x="3953543" y="2778306"/>
            <a:ext cx="325629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6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89"/>
          <p:cNvSpPr txBox="1"/>
          <p:nvPr/>
        </p:nvSpPr>
        <p:spPr>
          <a:xfrm>
            <a:off x="1998482" y="4181814"/>
            <a:ext cx="325629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90"/>
          <p:cNvSpPr txBox="1"/>
          <p:nvPr/>
        </p:nvSpPr>
        <p:spPr>
          <a:xfrm>
            <a:off x="1208515" y="3981313"/>
            <a:ext cx="325780" cy="324521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00"/>
          <p:cNvSpPr txBox="1"/>
          <p:nvPr/>
        </p:nvSpPr>
        <p:spPr>
          <a:xfrm>
            <a:off x="2219144" y="5300165"/>
            <a:ext cx="325629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椭圆 19"/>
          <p:cNvSpPr>
            <a:spLocks noChangeAspect="1"/>
          </p:cNvSpPr>
          <p:nvPr/>
        </p:nvSpPr>
        <p:spPr>
          <a:xfrm>
            <a:off x="3397477" y="2190170"/>
            <a:ext cx="238905" cy="2411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sz="1400" kern="10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文本框 109"/>
          <p:cNvSpPr txBox="1"/>
          <p:nvPr/>
        </p:nvSpPr>
        <p:spPr>
          <a:xfrm>
            <a:off x="1866086" y="3339710"/>
            <a:ext cx="626357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=7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110"/>
          <p:cNvSpPr txBox="1"/>
          <p:nvPr/>
        </p:nvSpPr>
        <p:spPr>
          <a:xfrm>
            <a:off x="3304799" y="3446643"/>
            <a:ext cx="625974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=10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文本框 111"/>
          <p:cNvSpPr txBox="1"/>
          <p:nvPr/>
        </p:nvSpPr>
        <p:spPr>
          <a:xfrm>
            <a:off x="4048884" y="3397633"/>
            <a:ext cx="625974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=9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椭圆 23"/>
          <p:cNvSpPr>
            <a:spLocks noChangeAspect="1"/>
          </p:cNvSpPr>
          <p:nvPr/>
        </p:nvSpPr>
        <p:spPr>
          <a:xfrm>
            <a:off x="1535093" y="3161487"/>
            <a:ext cx="238284" cy="240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113"/>
          <p:cNvSpPr txBox="1"/>
          <p:nvPr/>
        </p:nvSpPr>
        <p:spPr>
          <a:xfrm>
            <a:off x="630676" y="4707573"/>
            <a:ext cx="626357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=14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114"/>
          <p:cNvSpPr txBox="1"/>
          <p:nvPr/>
        </p:nvSpPr>
        <p:spPr>
          <a:xfrm>
            <a:off x="1651014" y="4707573"/>
            <a:ext cx="626357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=6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文本框 122"/>
          <p:cNvSpPr txBox="1"/>
          <p:nvPr/>
        </p:nvSpPr>
        <p:spPr>
          <a:xfrm>
            <a:off x="2886424" y="5928402"/>
            <a:ext cx="626357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=8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" name="椭圆 33"/>
          <p:cNvSpPr>
            <a:spLocks noChangeAspect="1"/>
          </p:cNvSpPr>
          <p:nvPr/>
        </p:nvSpPr>
        <p:spPr>
          <a:xfrm>
            <a:off x="2320648" y="4493705"/>
            <a:ext cx="238284" cy="240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6" name="直接连接符 35"/>
          <p:cNvCxnSpPr/>
          <p:nvPr/>
        </p:nvCxnSpPr>
        <p:spPr>
          <a:xfrm flipH="1">
            <a:off x="1764582" y="2586717"/>
            <a:ext cx="1356148" cy="8597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椭圆 36"/>
          <p:cNvSpPr>
            <a:spLocks noChangeAspect="1"/>
          </p:cNvSpPr>
          <p:nvPr/>
        </p:nvSpPr>
        <p:spPr>
          <a:xfrm>
            <a:off x="1601292" y="3442189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8" name="直接连接符 37"/>
          <p:cNvCxnSpPr/>
          <p:nvPr/>
        </p:nvCxnSpPr>
        <p:spPr>
          <a:xfrm>
            <a:off x="3176816" y="2600083"/>
            <a:ext cx="11493" cy="84702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椭圆 38"/>
          <p:cNvSpPr>
            <a:spLocks noChangeAspect="1"/>
          </p:cNvSpPr>
          <p:nvPr/>
        </p:nvSpPr>
        <p:spPr>
          <a:xfrm>
            <a:off x="3035591" y="3460010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3" name="直接连接符 42"/>
          <p:cNvCxnSpPr/>
          <p:nvPr/>
        </p:nvCxnSpPr>
        <p:spPr>
          <a:xfrm>
            <a:off x="3225360" y="2568894"/>
            <a:ext cx="1419358" cy="83542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椭圆 44"/>
          <p:cNvSpPr>
            <a:spLocks noChangeAspect="1"/>
          </p:cNvSpPr>
          <p:nvPr/>
        </p:nvSpPr>
        <p:spPr>
          <a:xfrm>
            <a:off x="4500784" y="3411000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0" name="椭圆 49"/>
          <p:cNvSpPr>
            <a:spLocks noChangeAspect="1"/>
          </p:cNvSpPr>
          <p:nvPr/>
        </p:nvSpPr>
        <p:spPr>
          <a:xfrm>
            <a:off x="2082335" y="4716484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>
                <a:solidFill>
                  <a:srgbClr val="00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sz="1400" kern="10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" name="椭圆 50"/>
          <p:cNvSpPr>
            <a:spLocks noChangeAspect="1"/>
          </p:cNvSpPr>
          <p:nvPr/>
        </p:nvSpPr>
        <p:spPr>
          <a:xfrm>
            <a:off x="1115837" y="4716484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F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2" name="直接连接符 51"/>
          <p:cNvCxnSpPr/>
          <p:nvPr/>
        </p:nvCxnSpPr>
        <p:spPr>
          <a:xfrm flipH="1">
            <a:off x="1287953" y="3767446"/>
            <a:ext cx="413740" cy="95222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1742516" y="3754079"/>
            <a:ext cx="477334" cy="95145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椭圆 54"/>
          <p:cNvSpPr>
            <a:spLocks noChangeAspect="1"/>
          </p:cNvSpPr>
          <p:nvPr/>
        </p:nvSpPr>
        <p:spPr>
          <a:xfrm>
            <a:off x="2603096" y="5906125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>
                <a:solidFill>
                  <a:srgbClr val="00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T</a:t>
            </a:r>
            <a:endParaRPr lang="zh-CN" sz="1400" kern="10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6" name="直接连接符 55"/>
          <p:cNvCxnSpPr/>
          <p:nvPr/>
        </p:nvCxnSpPr>
        <p:spPr>
          <a:xfrm>
            <a:off x="2276516" y="5023919"/>
            <a:ext cx="476951" cy="87023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0" name="组合 59"/>
          <p:cNvGrpSpPr/>
          <p:nvPr/>
        </p:nvGrpSpPr>
        <p:grpSpPr>
          <a:xfrm>
            <a:off x="5136003" y="2352675"/>
            <a:ext cx="3814126" cy="2139780"/>
            <a:chOff x="0" y="0"/>
            <a:chExt cx="4139718" cy="1970532"/>
          </a:xfrm>
        </p:grpSpPr>
        <p:grpSp>
          <p:nvGrpSpPr>
            <p:cNvPr id="61" name="组合 60"/>
            <p:cNvGrpSpPr/>
            <p:nvPr/>
          </p:nvGrpSpPr>
          <p:grpSpPr>
            <a:xfrm>
              <a:off x="0" y="0"/>
              <a:ext cx="4139718" cy="1970532"/>
              <a:chOff x="0" y="0"/>
              <a:chExt cx="4139718" cy="1970532"/>
            </a:xfrm>
          </p:grpSpPr>
          <p:sp>
            <p:nvSpPr>
              <p:cNvPr id="65" name="文本框 58"/>
              <p:cNvSpPr txBox="1"/>
              <p:nvPr/>
            </p:nvSpPr>
            <p:spPr>
              <a:xfrm>
                <a:off x="493776" y="1556663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altLang="zh-CN" sz="1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4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" name="文本框 54"/>
              <p:cNvSpPr txBox="1"/>
              <p:nvPr/>
            </p:nvSpPr>
            <p:spPr>
              <a:xfrm>
                <a:off x="2398174" y="742228"/>
                <a:ext cx="2698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altLang="zh-CN" sz="1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6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7" name="直接连接符 66"/>
              <p:cNvCxnSpPr>
                <a:endCxn id="72" idx="2"/>
              </p:cNvCxnSpPr>
              <p:nvPr/>
            </p:nvCxnSpPr>
            <p:spPr>
              <a:xfrm flipV="1">
                <a:off x="1459383" y="1018184"/>
                <a:ext cx="1901952" cy="6732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8" name="文本框 55"/>
              <p:cNvSpPr txBox="1"/>
              <p:nvPr/>
            </p:nvSpPr>
            <p:spPr>
              <a:xfrm>
                <a:off x="2798064" y="1576171"/>
                <a:ext cx="2698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3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" name="椭圆 68"/>
              <p:cNvSpPr>
                <a:spLocks noChangeAspect="1"/>
              </p:cNvSpPr>
              <p:nvPr/>
            </p:nvSpPr>
            <p:spPr>
              <a:xfrm>
                <a:off x="1232611" y="182880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C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0" name="椭圆 69"/>
              <p:cNvSpPr>
                <a:spLocks noChangeAspect="1"/>
              </p:cNvSpPr>
              <p:nvPr/>
            </p:nvSpPr>
            <p:spPr>
              <a:xfrm>
                <a:off x="1217981" y="1708099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E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" name="椭圆 70"/>
              <p:cNvSpPr>
                <a:spLocks noChangeAspect="1"/>
              </p:cNvSpPr>
              <p:nvPr/>
            </p:nvSpPr>
            <p:spPr>
              <a:xfrm>
                <a:off x="2231136" y="1719072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B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2" name="椭圆 71"/>
              <p:cNvSpPr>
                <a:spLocks noChangeAspect="1"/>
              </p:cNvSpPr>
              <p:nvPr/>
            </p:nvSpPr>
            <p:spPr>
              <a:xfrm>
                <a:off x="3361335" y="892454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chemeClr val="tx1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A</a:t>
                </a:r>
                <a:endParaRPr lang="zh-CN" sz="1400" kern="100" dirty="0">
                  <a:solidFill>
                    <a:schemeClr val="tx1"/>
                  </a:solidFill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3" name="椭圆 72"/>
              <p:cNvSpPr>
                <a:spLocks noChangeAspect="1"/>
              </p:cNvSpPr>
              <p:nvPr/>
            </p:nvSpPr>
            <p:spPr>
              <a:xfrm>
                <a:off x="3364992" y="1693469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sz="1400" kern="100">
                    <a:solidFill>
                      <a:srgbClr val="000000"/>
                    </a:solidFill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T</a:t>
                </a:r>
                <a:endParaRPr lang="zh-CN" sz="1400" kern="10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4" name="椭圆 73"/>
              <p:cNvSpPr>
                <a:spLocks noChangeAspect="1"/>
              </p:cNvSpPr>
              <p:nvPr/>
            </p:nvSpPr>
            <p:spPr>
              <a:xfrm>
                <a:off x="14631" y="182880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chemeClr val="tx1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D</a:t>
                </a:r>
                <a:endParaRPr lang="en-US" altLang="zh-CN" sz="1400" kern="100" dirty="0">
                  <a:solidFill>
                    <a:schemeClr val="tx1"/>
                  </a:solidFill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5" name="椭圆 74"/>
              <p:cNvSpPr>
                <a:spLocks noChangeAspect="1"/>
              </p:cNvSpPr>
              <p:nvPr/>
            </p:nvSpPr>
            <p:spPr>
              <a:xfrm>
                <a:off x="0" y="1708099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F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76" name="直接连接符 75"/>
              <p:cNvCxnSpPr/>
              <p:nvPr/>
            </p:nvCxnSpPr>
            <p:spPr>
              <a:xfrm flipV="1">
                <a:off x="270663" y="285293"/>
                <a:ext cx="962025" cy="4763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 flipV="1">
                <a:off x="245059" y="1821485"/>
                <a:ext cx="966470" cy="889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8" name="文本框 47"/>
              <p:cNvSpPr txBox="1"/>
              <p:nvPr/>
            </p:nvSpPr>
            <p:spPr>
              <a:xfrm>
                <a:off x="1722730" y="1572225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2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" name="文本框 48"/>
              <p:cNvSpPr txBox="1"/>
              <p:nvPr/>
            </p:nvSpPr>
            <p:spPr>
              <a:xfrm>
                <a:off x="1329889" y="504749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altLang="zh-CN" sz="1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2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" name="文本框 49"/>
              <p:cNvSpPr txBox="1"/>
              <p:nvPr/>
            </p:nvSpPr>
            <p:spPr>
              <a:xfrm>
                <a:off x="1344519" y="1287475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3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1" name="文本框 59"/>
              <p:cNvSpPr txBox="1"/>
              <p:nvPr/>
            </p:nvSpPr>
            <p:spPr>
              <a:xfrm>
                <a:off x="512064" y="0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400" kern="10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7</a:t>
                </a:r>
                <a:endParaRPr lang="zh-CN" sz="1400" kern="10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" name="文本框 60"/>
              <p:cNvSpPr txBox="1"/>
              <p:nvPr/>
            </p:nvSpPr>
            <p:spPr>
              <a:xfrm>
                <a:off x="877842" y="950250"/>
                <a:ext cx="4857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zh-CN" sz="1400" b="1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起点</a:t>
                </a:r>
                <a:endParaRPr lang="zh-CN" sz="1400" b="1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" name="文本框 61"/>
              <p:cNvSpPr txBox="1"/>
              <p:nvPr/>
            </p:nvSpPr>
            <p:spPr>
              <a:xfrm>
                <a:off x="3653943" y="1671523"/>
                <a:ext cx="4857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zh-CN" sz="1400" b="1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终点</a:t>
                </a:r>
                <a:endParaRPr lang="zh-CN" sz="1400" b="1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84" name="直接连接符 83"/>
              <p:cNvCxnSpPr/>
              <p:nvPr/>
            </p:nvCxnSpPr>
            <p:spPr>
              <a:xfrm flipV="1">
                <a:off x="1470355" y="1832458"/>
                <a:ext cx="762000" cy="444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5" name="椭圆 84"/>
              <p:cNvSpPr>
                <a:spLocks noChangeAspect="1"/>
              </p:cNvSpPr>
              <p:nvPr/>
            </p:nvSpPr>
            <p:spPr>
              <a:xfrm>
                <a:off x="18288" y="899770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G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6" name="文本框 65"/>
              <p:cNvSpPr txBox="1"/>
              <p:nvPr/>
            </p:nvSpPr>
            <p:spPr>
              <a:xfrm>
                <a:off x="157241" y="1276502"/>
                <a:ext cx="2698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5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7" name="文本框 67"/>
              <p:cNvSpPr txBox="1"/>
              <p:nvPr/>
            </p:nvSpPr>
            <p:spPr>
              <a:xfrm>
                <a:off x="3460090" y="1283818"/>
                <a:ext cx="2698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altLang="zh-CN" sz="1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3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88" name="直接连接符 87"/>
              <p:cNvCxnSpPr/>
              <p:nvPr/>
            </p:nvCxnSpPr>
            <p:spPr>
              <a:xfrm flipH="1">
                <a:off x="1335024" y="1157694"/>
                <a:ext cx="9525" cy="55245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直接连接符 88"/>
              <p:cNvCxnSpPr/>
              <p:nvPr/>
            </p:nvCxnSpPr>
            <p:spPr>
              <a:xfrm flipH="1">
                <a:off x="131674" y="1155802"/>
                <a:ext cx="9525" cy="55245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0" name="椭圆 89"/>
              <p:cNvSpPr>
                <a:spLocks noChangeAspect="1"/>
              </p:cNvSpPr>
              <p:nvPr/>
            </p:nvSpPr>
            <p:spPr>
              <a:xfrm>
                <a:off x="1217981" y="896112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sz="1400" kern="100" dirty="0">
                    <a:solidFill>
                      <a:srgbClr val="000000"/>
                    </a:solidFill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S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62" name="直接连接符 61"/>
            <p:cNvCxnSpPr/>
            <p:nvPr/>
          </p:nvCxnSpPr>
          <p:spPr>
            <a:xfrm flipH="1">
              <a:off x="3485692" y="1144829"/>
              <a:ext cx="0" cy="55816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>
              <a:off x="1342339" y="431597"/>
              <a:ext cx="0" cy="452437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>
              <a:off x="2465222" y="1843430"/>
              <a:ext cx="89027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8" name="椭圆 97"/>
          <p:cNvSpPr>
            <a:spLocks noChangeAspect="1"/>
          </p:cNvSpPr>
          <p:nvPr/>
        </p:nvSpPr>
        <p:spPr>
          <a:xfrm>
            <a:off x="2897029" y="5684187"/>
            <a:ext cx="238284" cy="240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136003" y="5011979"/>
            <a:ext cx="25034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h(A)=3          h(E)=4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h(B)=1          h(F)=7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h(C)=8         h(G)=12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h(D)=13</a:t>
            </a:r>
            <a:r>
              <a:rPr lang="zh-CN" altLang="en-US" dirty="0">
                <a:solidFill>
                  <a:srgbClr val="FF0000"/>
                </a:solidFill>
              </a:rPr>
              <a:t>       </a:t>
            </a:r>
            <a:r>
              <a:rPr lang="en-US" altLang="zh-CN" dirty="0">
                <a:solidFill>
                  <a:srgbClr val="FF0000"/>
                </a:solidFill>
              </a:rPr>
              <a:t>h(T)=0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529526" y="4707573"/>
            <a:ext cx="1227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事先给定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前情回顾：</a:t>
            </a:r>
            <a:r>
              <a:rPr lang="en-US" dirty="0"/>
              <a:t>A</a:t>
            </a:r>
            <a:r>
              <a:rPr lang="ja-JP" altLang="en-US"/>
              <a:t>算法</a:t>
            </a:r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543797B-EDD5-4C08-BC50-C3E9A8B5D401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1462" y="836141"/>
            <a:ext cx="8172451" cy="5729416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      ADD(</a:t>
            </a:r>
            <a:r>
              <a:rPr lang="en-US" altLang="zh-CN" sz="3200" b="1" dirty="0" err="1"/>
              <a:t>m</a:t>
            </a:r>
            <a:r>
              <a:rPr lang="en-US" altLang="zh-CN" sz="3200" b="1" baseline="-25000" dirty="0" err="1"/>
              <a:t>j</a:t>
            </a:r>
            <a:r>
              <a:rPr lang="en-US" altLang="zh-CN" sz="3200" b="1" dirty="0"/>
              <a:t>, OPEN), </a:t>
            </a:r>
            <a:r>
              <a:rPr lang="zh-CN" altLang="en-US" sz="3200" b="1" dirty="0"/>
              <a:t>标记</a:t>
            </a:r>
            <a:r>
              <a:rPr lang="en-US" altLang="zh-CN" sz="3200" b="1" dirty="0" err="1"/>
              <a:t>m</a:t>
            </a:r>
            <a:r>
              <a:rPr lang="en-US" altLang="zh-CN" sz="3200" b="1" baseline="-25000" dirty="0" err="1"/>
              <a:t>j</a:t>
            </a:r>
            <a:r>
              <a:rPr lang="zh-CN" altLang="en-US" sz="3200" b="1" dirty="0"/>
              <a:t>到</a:t>
            </a:r>
            <a:r>
              <a:rPr lang="en-US" altLang="zh-CN" sz="3200" b="1" dirty="0"/>
              <a:t>n</a:t>
            </a:r>
            <a:r>
              <a:rPr lang="zh-CN" altLang="en-US" sz="3200" b="1" dirty="0"/>
              <a:t>的指针；</a:t>
            </a:r>
            <a:endParaRPr lang="zh-CN" altLang="en-US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      if f(n, </a:t>
            </a:r>
            <a:r>
              <a:rPr lang="en-US" altLang="zh-CN" sz="3200" b="1" dirty="0" err="1"/>
              <a:t>m</a:t>
            </a:r>
            <a:r>
              <a:rPr lang="en-US" altLang="zh-CN" sz="3200" b="1" baseline="-25000" dirty="0" err="1"/>
              <a:t>k</a:t>
            </a:r>
            <a:r>
              <a:rPr lang="en-US" altLang="zh-CN" sz="3200" b="1" dirty="0"/>
              <a:t>)&lt;f(</a:t>
            </a:r>
            <a:r>
              <a:rPr lang="en-US" altLang="zh-CN" sz="3200" b="1" dirty="0" err="1"/>
              <a:t>m</a:t>
            </a:r>
            <a:r>
              <a:rPr lang="en-US" altLang="zh-CN" sz="3200" b="1" baseline="-25000" dirty="0" err="1"/>
              <a:t>k</a:t>
            </a:r>
            <a:r>
              <a:rPr lang="en-US" altLang="zh-CN" sz="3200" b="1" dirty="0"/>
              <a:t>) then </a:t>
            </a:r>
            <a:endParaRPr lang="en-US" altLang="zh-CN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          f(</a:t>
            </a:r>
            <a:r>
              <a:rPr lang="en-US" altLang="zh-CN" sz="3200" b="1" dirty="0" err="1"/>
              <a:t>m</a:t>
            </a:r>
            <a:r>
              <a:rPr lang="en-US" altLang="zh-CN" sz="3200" b="1" baseline="-25000" dirty="0" err="1"/>
              <a:t>k</a:t>
            </a:r>
            <a:r>
              <a:rPr lang="en-US" altLang="zh-CN" sz="3200" b="1" dirty="0"/>
              <a:t>)=f(n, </a:t>
            </a:r>
            <a:r>
              <a:rPr lang="en-US" altLang="zh-CN" sz="3200" b="1" dirty="0" err="1"/>
              <a:t>m</a:t>
            </a:r>
            <a:r>
              <a:rPr lang="en-US" altLang="zh-CN" sz="3200" b="1" baseline="-25000" dirty="0" err="1"/>
              <a:t>k</a:t>
            </a:r>
            <a:r>
              <a:rPr lang="en-US" altLang="zh-CN" sz="3200" b="1" dirty="0"/>
              <a:t>), </a:t>
            </a:r>
            <a:r>
              <a:rPr lang="zh-CN" altLang="zh-CN" sz="3200" b="1" dirty="0"/>
              <a:t>标记</a:t>
            </a:r>
            <a:r>
              <a:rPr lang="en-US" altLang="zh-CN" sz="3200" b="1" dirty="0" err="1"/>
              <a:t>m</a:t>
            </a:r>
            <a:r>
              <a:rPr lang="en-US" altLang="zh-CN" sz="3200" b="1" baseline="-25000" dirty="0" err="1"/>
              <a:t>k</a:t>
            </a:r>
            <a:r>
              <a:rPr lang="zh-CN" altLang="zh-CN" sz="3200" b="1" dirty="0"/>
              <a:t>到</a:t>
            </a:r>
            <a:r>
              <a:rPr lang="en-US" altLang="zh-CN" sz="3200" b="1" dirty="0"/>
              <a:t>n</a:t>
            </a:r>
            <a:r>
              <a:rPr lang="zh-CN" altLang="zh-CN" sz="3200" b="1" dirty="0"/>
              <a:t>的指针；</a:t>
            </a:r>
            <a:endParaRPr lang="zh-CN" altLang="en-US" sz="28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      if f(n, m</a:t>
            </a:r>
            <a:r>
              <a:rPr lang="en-US" altLang="zh-CN" sz="3600" b="1" baseline="-25000" dirty="0"/>
              <a:t>l</a:t>
            </a:r>
            <a:r>
              <a:rPr lang="en-US" altLang="zh-CN" sz="3200" b="1" dirty="0"/>
              <a:t>)&lt;f(m</a:t>
            </a:r>
            <a:r>
              <a:rPr lang="en-US" altLang="zh-CN" sz="3600" b="1" baseline="-25000" dirty="0"/>
              <a:t>l</a:t>
            </a:r>
            <a:r>
              <a:rPr lang="en-US" altLang="zh-CN" sz="3200" b="1" dirty="0"/>
              <a:t>,) then </a:t>
            </a:r>
            <a:endParaRPr lang="en-US" altLang="zh-CN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          f(m</a:t>
            </a:r>
            <a:r>
              <a:rPr lang="en-US" altLang="zh-CN" sz="3600" b="1" baseline="-25000" dirty="0"/>
              <a:t>l</a:t>
            </a:r>
            <a:r>
              <a:rPr lang="en-US" altLang="zh-CN" sz="3200" b="1" dirty="0"/>
              <a:t>)=f(n, m</a:t>
            </a:r>
            <a:r>
              <a:rPr lang="en-US" altLang="zh-CN" sz="3200" b="1" baseline="-25000" dirty="0"/>
              <a:t>l</a:t>
            </a:r>
            <a:r>
              <a:rPr lang="en-US" altLang="zh-CN" sz="3200" b="1" dirty="0"/>
              <a:t>),</a:t>
            </a:r>
            <a:r>
              <a:rPr lang="zh-CN" altLang="en-US" sz="3200" b="1" dirty="0"/>
              <a:t>标记</a:t>
            </a:r>
            <a:r>
              <a:rPr lang="en-US" altLang="zh-CN" sz="3200" b="1" dirty="0"/>
              <a:t>m</a:t>
            </a:r>
            <a:r>
              <a:rPr lang="en-US" altLang="zh-CN" sz="3200" b="1" baseline="-25000" dirty="0"/>
              <a:t>l</a:t>
            </a:r>
            <a:r>
              <a:rPr lang="zh-CN" altLang="en-US" sz="3200" b="1" dirty="0"/>
              <a:t>到</a:t>
            </a:r>
            <a:r>
              <a:rPr lang="en-US" altLang="zh-CN" sz="3200" b="1" dirty="0"/>
              <a:t>n</a:t>
            </a:r>
            <a:r>
              <a:rPr lang="zh-CN" altLang="en-US" sz="3200" b="1" dirty="0"/>
              <a:t>的指针</a:t>
            </a:r>
            <a:r>
              <a:rPr lang="en-US" altLang="zh-CN" sz="3200" b="1" dirty="0"/>
              <a:t>, </a:t>
            </a:r>
            <a:endParaRPr lang="en-US" altLang="zh-CN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	       </a:t>
            </a:r>
            <a:r>
              <a:rPr lang="en-US" altLang="zh-CN" sz="3200" b="1" dirty="0">
                <a:solidFill>
                  <a:srgbClr val="FF0000"/>
                </a:solidFill>
              </a:rPr>
              <a:t>ADD(m</a:t>
            </a:r>
            <a:r>
              <a:rPr lang="en-US" altLang="zh-CN" sz="3200" b="1" baseline="-25000" dirty="0">
                <a:solidFill>
                  <a:srgbClr val="FF0000"/>
                </a:solidFill>
              </a:rPr>
              <a:t>l</a:t>
            </a:r>
            <a:r>
              <a:rPr lang="en-US" altLang="zh-CN" sz="3200" b="1" dirty="0">
                <a:solidFill>
                  <a:srgbClr val="FF0000"/>
                </a:solidFill>
              </a:rPr>
              <a:t>, OPEN);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      OPEN</a:t>
            </a:r>
            <a:r>
              <a:rPr lang="zh-CN" altLang="zh-CN" sz="3200" b="1" dirty="0"/>
              <a:t>中的节点按</a:t>
            </a:r>
            <a:r>
              <a:rPr lang="en-US" altLang="zh-CN" sz="3200" b="1" dirty="0"/>
              <a:t>f</a:t>
            </a:r>
            <a:r>
              <a:rPr lang="zh-CN" altLang="zh-CN" sz="3200" b="1" dirty="0"/>
              <a:t>值从小到大排序；</a:t>
            </a:r>
            <a:endParaRPr lang="zh-CN" altLang="zh-CN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   end while</a:t>
            </a:r>
            <a:endParaRPr lang="en-US" altLang="zh-CN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return FAIL;</a:t>
            </a:r>
            <a:endParaRPr lang="zh-CN" altLang="en-US" sz="3200" b="1" dirty="0"/>
          </a:p>
        </p:txBody>
      </p:sp>
      <p:pic>
        <p:nvPicPr>
          <p:cNvPr id="1026" name="Picture 2" descr="question mark | 3d human with a red question mark | Damián Navas | Flick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94" y="2239887"/>
            <a:ext cx="982819" cy="982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137" y="4096095"/>
            <a:ext cx="4476863" cy="2761905"/>
          </a:xfrm>
          <a:prstGeom prst="rect">
            <a:avLst/>
          </a:prstGeom>
        </p:spPr>
      </p:pic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374904" y="-279057"/>
            <a:ext cx="7772400" cy="1143000"/>
          </a:xfrm>
        </p:spPr>
        <p:txBody>
          <a:bodyPr/>
          <a:lstStyle/>
          <a:p>
            <a:r>
              <a:rPr lang="zh-CN" altLang="en-US" dirty="0"/>
              <a:t>前情回顾：</a:t>
            </a:r>
            <a:r>
              <a:rPr lang="en-US" altLang="zh-CN" dirty="0"/>
              <a:t>A</a:t>
            </a:r>
            <a:r>
              <a:rPr lang="zh-CN" altLang="en-US" dirty="0"/>
              <a:t>算法</a:t>
            </a:r>
            <a:endParaRPr lang="zh-CN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A3928A4-5050-4E58-B431-55149ACD32CA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一个</a:t>
            </a:r>
            <a:r>
              <a:rPr lang="en-US" altLang="zh-CN" dirty="0"/>
              <a:t>A</a:t>
            </a:r>
            <a:r>
              <a:rPr lang="zh-CN" altLang="en-US"/>
              <a:t>算法的例子：八数码问题</a:t>
            </a:r>
            <a:endParaRPr lang="zh-CN" altLang="en-US"/>
          </a:p>
        </p:txBody>
      </p:sp>
      <p:sp>
        <p:nvSpPr>
          <p:cNvPr id="67588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838200" y="3505200"/>
            <a:ext cx="7772400" cy="3048000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200" b="1" dirty="0"/>
              <a:t>定义评价函数：</a:t>
            </a:r>
            <a:endParaRPr lang="zh-CN" altLang="en-US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200" b="1" dirty="0"/>
              <a:t>	</a:t>
            </a:r>
            <a:r>
              <a:rPr lang="en-US" altLang="zh-CN" sz="3200" b="1" dirty="0"/>
              <a:t>f(n) = g(n) + h(n)</a:t>
            </a:r>
            <a:endParaRPr lang="en-US" altLang="zh-CN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	g(n)</a:t>
            </a:r>
            <a:r>
              <a:rPr lang="zh-CN" altLang="en-US" sz="3200" b="1" dirty="0"/>
              <a:t>为从初始节点到当前节点的耗散值</a:t>
            </a:r>
            <a:endParaRPr lang="zh-CN" altLang="en-US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200" b="1" dirty="0"/>
              <a:t>	</a:t>
            </a:r>
            <a:r>
              <a:rPr lang="en-US" altLang="zh-CN" sz="3200" b="1" dirty="0"/>
              <a:t>h(n)</a:t>
            </a:r>
            <a:r>
              <a:rPr lang="zh-CN" altLang="en-US" sz="3200" b="1" dirty="0"/>
              <a:t>为当前节点“不在位”的将牌数</a:t>
            </a:r>
            <a:endParaRPr lang="zh-CN" altLang="en-US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200" b="1" dirty="0"/>
              <a:t>	</a:t>
            </a:r>
            <a:endParaRPr lang="zh-CN" altLang="en-US" sz="3200" b="1" dirty="0"/>
          </a:p>
        </p:txBody>
      </p:sp>
      <p:sp>
        <p:nvSpPr>
          <p:cNvPr id="67589" name="Text Box 7"/>
          <p:cNvSpPr txBox="1">
            <a:spLocks noChangeArrowheads="1"/>
          </p:cNvSpPr>
          <p:nvPr/>
        </p:nvSpPr>
        <p:spPr bwMode="auto">
          <a:xfrm>
            <a:off x="2133600" y="1963390"/>
            <a:ext cx="1371600" cy="138499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</p:spPr>
        <p:txBody>
          <a:bodyPr anchor="ctr">
            <a:spAutoFit/>
          </a:bodyPr>
          <a:lstStyle/>
          <a:p>
            <a:r>
              <a:rPr lang="en-US" altLang="zh-CN" sz="2800" b="1" dirty="0"/>
              <a:t>2    8    3</a:t>
            </a:r>
            <a:endParaRPr lang="en-US" altLang="zh-CN" sz="2800" b="1" dirty="0"/>
          </a:p>
          <a:p>
            <a:r>
              <a:rPr lang="en-US" altLang="zh-CN" sz="2800" b="1" dirty="0"/>
              <a:t>1    6    4</a:t>
            </a:r>
            <a:endParaRPr lang="en-US" altLang="zh-CN" sz="2800" b="1" dirty="0"/>
          </a:p>
          <a:p>
            <a:r>
              <a:rPr lang="en-US" altLang="zh-CN" sz="2800" b="1" dirty="0"/>
              <a:t>7          5</a:t>
            </a:r>
            <a:endParaRPr lang="en-US" altLang="zh-CN" sz="2800" b="1" dirty="0"/>
          </a:p>
        </p:txBody>
      </p:sp>
      <p:sp>
        <p:nvSpPr>
          <p:cNvPr id="67590" name="Text Box 9"/>
          <p:cNvSpPr txBox="1">
            <a:spLocks noChangeArrowheads="1"/>
          </p:cNvSpPr>
          <p:nvPr/>
        </p:nvSpPr>
        <p:spPr bwMode="auto">
          <a:xfrm>
            <a:off x="5334000" y="2047528"/>
            <a:ext cx="1371600" cy="138499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</p:spPr>
        <p:txBody>
          <a:bodyPr anchor="ctr">
            <a:spAutoFit/>
          </a:bodyPr>
          <a:lstStyle/>
          <a:p>
            <a:r>
              <a:rPr lang="en-US" altLang="zh-CN" sz="2800" b="1" dirty="0"/>
              <a:t>1    2    3</a:t>
            </a:r>
            <a:endParaRPr lang="en-US" altLang="zh-CN" sz="2800" b="1" dirty="0"/>
          </a:p>
          <a:p>
            <a:r>
              <a:rPr lang="en-US" altLang="zh-CN" sz="2800" b="1" dirty="0"/>
              <a:t>8          4</a:t>
            </a:r>
            <a:endParaRPr lang="en-US" altLang="zh-CN" sz="2800" b="1" dirty="0"/>
          </a:p>
          <a:p>
            <a:r>
              <a:rPr lang="en-US" altLang="zh-CN" sz="2800" b="1" dirty="0"/>
              <a:t>7    6    5</a:t>
            </a:r>
            <a:endParaRPr lang="en-US" altLang="zh-CN" sz="2800" b="1" dirty="0"/>
          </a:p>
        </p:txBody>
      </p:sp>
      <p:sp>
        <p:nvSpPr>
          <p:cNvPr id="67591" name="AutoShape 11"/>
          <p:cNvSpPr>
            <a:spLocks noChangeArrowheads="1"/>
          </p:cNvSpPr>
          <p:nvPr/>
        </p:nvSpPr>
        <p:spPr bwMode="auto">
          <a:xfrm>
            <a:off x="3733800" y="2522538"/>
            <a:ext cx="1371600" cy="304800"/>
          </a:xfrm>
          <a:prstGeom prst="rightArrow">
            <a:avLst>
              <a:gd name="adj1" fmla="val 50000"/>
              <a:gd name="adj2" fmla="val 112500"/>
            </a:avLst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027AEA0-19C8-434C-AEAA-FEDE6C997672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/>
              <a:t>h</a:t>
            </a:r>
            <a:r>
              <a:rPr lang="zh-CN" altLang="en-US"/>
              <a:t>计算举例</a:t>
            </a:r>
            <a:endParaRPr lang="zh-CN" altLang="en-US"/>
          </a:p>
        </p:txBody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3962400"/>
            <a:ext cx="7772400" cy="2133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				</a:t>
            </a:r>
            <a:r>
              <a:rPr lang="en-US" altLang="zh-CN" sz="3200" b="1" dirty="0"/>
              <a:t>h(n) =4 </a:t>
            </a:r>
            <a:endParaRPr lang="en-US" altLang="zh-CN" sz="3200" b="1" dirty="0"/>
          </a:p>
        </p:txBody>
      </p:sp>
      <p:sp>
        <p:nvSpPr>
          <p:cNvPr id="68613" name="Text Box 5"/>
          <p:cNvSpPr txBox="1">
            <a:spLocks noChangeArrowheads="1"/>
          </p:cNvSpPr>
          <p:nvPr/>
        </p:nvSpPr>
        <p:spPr bwMode="auto">
          <a:xfrm>
            <a:off x="3778250" y="1734790"/>
            <a:ext cx="1371600" cy="138499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</a:ln>
        </p:spPr>
        <p:txBody>
          <a:bodyPr anchor="ctr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</a:rPr>
              <a:t>2    8</a:t>
            </a:r>
            <a:r>
              <a:rPr lang="en-US" altLang="zh-CN" sz="2800" b="1" dirty="0"/>
              <a:t>    3</a:t>
            </a:r>
            <a:endParaRPr lang="en-US" altLang="zh-CN" sz="2800" b="1" dirty="0"/>
          </a:p>
          <a:p>
            <a:r>
              <a:rPr lang="en-US" altLang="zh-CN" sz="2800" b="1" dirty="0">
                <a:solidFill>
                  <a:srgbClr val="0000FF"/>
                </a:solidFill>
              </a:rPr>
              <a:t>1    6    </a:t>
            </a:r>
            <a:r>
              <a:rPr lang="en-US" altLang="zh-CN" sz="2800" b="1" dirty="0"/>
              <a:t>4</a:t>
            </a:r>
            <a:endParaRPr lang="en-US" altLang="zh-CN" sz="2800" b="1" dirty="0"/>
          </a:p>
          <a:p>
            <a:r>
              <a:rPr lang="en-US" altLang="zh-CN" sz="2800" b="1" dirty="0"/>
              <a:t>7          5</a:t>
            </a:r>
            <a:endParaRPr lang="en-US" altLang="zh-CN" sz="2800" b="1" dirty="0"/>
          </a:p>
        </p:txBody>
      </p:sp>
      <p:sp>
        <p:nvSpPr>
          <p:cNvPr id="68614" name="Text Box 6"/>
          <p:cNvSpPr txBox="1">
            <a:spLocks noChangeArrowheads="1"/>
          </p:cNvSpPr>
          <p:nvPr/>
        </p:nvSpPr>
        <p:spPr bwMode="auto">
          <a:xfrm>
            <a:off x="3778250" y="1338591"/>
            <a:ext cx="1321196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>
                <a:solidFill>
                  <a:srgbClr val="FF0000"/>
                </a:solidFill>
              </a:rPr>
              <a:t>1    2    3</a:t>
            </a:r>
            <a:endParaRPr lang="en-US" altLang="zh-CN" sz="2800"/>
          </a:p>
        </p:txBody>
      </p:sp>
      <p:sp>
        <p:nvSpPr>
          <p:cNvPr id="68615" name="Text Box 7"/>
          <p:cNvSpPr txBox="1">
            <a:spLocks noChangeArrowheads="1"/>
          </p:cNvSpPr>
          <p:nvPr/>
        </p:nvSpPr>
        <p:spPr bwMode="auto">
          <a:xfrm>
            <a:off x="5276302" y="2158197"/>
            <a:ext cx="349776" cy="95410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800" dirty="0">
                <a:solidFill>
                  <a:srgbClr val="FF0000"/>
                </a:solidFill>
              </a:rPr>
              <a:t>4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algn="ctr"/>
            <a:r>
              <a:rPr lang="en-US" altLang="zh-CN" sz="2800" dirty="0">
                <a:solidFill>
                  <a:srgbClr val="FF0000"/>
                </a:solidFill>
              </a:rPr>
              <a:t>5</a:t>
            </a:r>
            <a:endParaRPr lang="en-US" altLang="zh-CN" sz="2800" dirty="0"/>
          </a:p>
        </p:txBody>
      </p:sp>
      <p:sp>
        <p:nvSpPr>
          <p:cNvPr id="68616" name="Text Box 8"/>
          <p:cNvSpPr txBox="1">
            <a:spLocks noChangeArrowheads="1"/>
          </p:cNvSpPr>
          <p:nvPr/>
        </p:nvSpPr>
        <p:spPr bwMode="auto">
          <a:xfrm>
            <a:off x="3854450" y="3091191"/>
            <a:ext cx="1156086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>
                <a:solidFill>
                  <a:srgbClr val="FF0000"/>
                </a:solidFill>
              </a:rPr>
              <a:t>7    6    </a:t>
            </a:r>
            <a:endParaRPr lang="en-US" altLang="zh-CN" sz="2800"/>
          </a:p>
        </p:txBody>
      </p:sp>
      <p:sp>
        <p:nvSpPr>
          <p:cNvPr id="68617" name="Text Box 9"/>
          <p:cNvSpPr txBox="1">
            <a:spLocks noChangeArrowheads="1"/>
          </p:cNvSpPr>
          <p:nvPr/>
        </p:nvSpPr>
        <p:spPr bwMode="auto">
          <a:xfrm>
            <a:off x="3358887" y="2176791"/>
            <a:ext cx="349776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800">
                <a:solidFill>
                  <a:srgbClr val="FF0000"/>
                </a:solidFill>
              </a:rPr>
              <a:t>8</a:t>
            </a:r>
            <a:endParaRPr lang="en-US" altLang="zh-CN" sz="28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9E13D9C-51C6-4998-93D8-3505FEEA5656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115714" name="Text Box 2"/>
          <p:cNvSpPr txBox="1">
            <a:spLocks noChangeArrowheads="1"/>
          </p:cNvSpPr>
          <p:nvPr/>
        </p:nvSpPr>
        <p:spPr bwMode="auto">
          <a:xfrm>
            <a:off x="3921125" y="154414"/>
            <a:ext cx="747320" cy="83099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</a:ln>
        </p:spPr>
        <p:txBody>
          <a:bodyPr wrap="none" anchor="ctr">
            <a:spAutoFit/>
          </a:bodyPr>
          <a:lstStyle/>
          <a:p>
            <a:r>
              <a:rPr lang="en-US" altLang="zh-CN" sz="1600" b="1"/>
              <a:t>2   8   3</a:t>
            </a:r>
            <a:endParaRPr lang="en-US" altLang="zh-CN" sz="1600" b="1"/>
          </a:p>
          <a:p>
            <a:r>
              <a:rPr lang="en-US" altLang="zh-CN" sz="1600" b="1"/>
              <a:t>1   6   4</a:t>
            </a:r>
            <a:endParaRPr lang="en-US" altLang="zh-CN" sz="1600" b="1"/>
          </a:p>
          <a:p>
            <a:r>
              <a:rPr lang="en-US" altLang="zh-CN" sz="1600" b="1"/>
              <a:t>7        5</a:t>
            </a:r>
            <a:endParaRPr lang="en-US" altLang="zh-CN" sz="1600" b="1"/>
          </a:p>
        </p:txBody>
      </p:sp>
      <p:grpSp>
        <p:nvGrpSpPr>
          <p:cNvPr id="2" name="Group 29"/>
          <p:cNvGrpSpPr/>
          <p:nvPr/>
        </p:nvGrpSpPr>
        <p:grpSpPr bwMode="auto">
          <a:xfrm>
            <a:off x="2362200" y="990600"/>
            <a:ext cx="3948113" cy="1060450"/>
            <a:chOff x="768" y="624"/>
            <a:chExt cx="2487" cy="668"/>
          </a:xfrm>
        </p:grpSpPr>
        <p:sp>
          <p:nvSpPr>
            <p:cNvPr id="69683" name="Text Box 3"/>
            <p:cNvSpPr txBox="1">
              <a:spLocks noChangeArrowheads="1"/>
            </p:cNvSpPr>
            <p:nvPr/>
          </p:nvSpPr>
          <p:spPr bwMode="auto">
            <a:xfrm>
              <a:off x="1728" y="769"/>
              <a:ext cx="471" cy="523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 b="1"/>
                <a:t>2   8   3</a:t>
              </a:r>
              <a:endParaRPr lang="en-US" altLang="zh-CN" sz="1600" b="1"/>
            </a:p>
            <a:p>
              <a:r>
                <a:rPr lang="en-US" altLang="zh-CN" sz="1600" b="1"/>
                <a:t>1        4</a:t>
              </a:r>
              <a:endParaRPr lang="en-US" altLang="zh-CN" sz="1600" b="1"/>
            </a:p>
            <a:p>
              <a:r>
                <a:rPr lang="en-US" altLang="zh-CN" sz="1600" b="1"/>
                <a:t>7   6   5</a:t>
              </a:r>
              <a:endParaRPr lang="en-US" altLang="zh-CN" sz="1600" b="1"/>
            </a:p>
          </p:txBody>
        </p:sp>
        <p:sp>
          <p:nvSpPr>
            <p:cNvPr id="69684" name="Text Box 4"/>
            <p:cNvSpPr txBox="1">
              <a:spLocks noChangeArrowheads="1"/>
            </p:cNvSpPr>
            <p:nvPr/>
          </p:nvSpPr>
          <p:spPr bwMode="auto">
            <a:xfrm>
              <a:off x="768" y="769"/>
              <a:ext cx="471" cy="523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 b="1"/>
                <a:t>2   8   3</a:t>
              </a:r>
              <a:endParaRPr lang="en-US" altLang="zh-CN" sz="1600" b="1"/>
            </a:p>
            <a:p>
              <a:r>
                <a:rPr lang="en-US" altLang="zh-CN" sz="1600" b="1"/>
                <a:t>1   6   4</a:t>
              </a:r>
              <a:endParaRPr lang="en-US" altLang="zh-CN" sz="1600" b="1"/>
            </a:p>
            <a:p>
              <a:r>
                <a:rPr lang="en-US" altLang="zh-CN" sz="1600" b="1"/>
                <a:t>    7    5</a:t>
              </a:r>
              <a:endParaRPr lang="en-US" altLang="zh-CN" sz="1600" b="1"/>
            </a:p>
          </p:txBody>
        </p:sp>
        <p:sp>
          <p:nvSpPr>
            <p:cNvPr id="69685" name="Text Box 5"/>
            <p:cNvSpPr txBox="1">
              <a:spLocks noChangeArrowheads="1"/>
            </p:cNvSpPr>
            <p:nvPr/>
          </p:nvSpPr>
          <p:spPr bwMode="auto">
            <a:xfrm>
              <a:off x="2784" y="769"/>
              <a:ext cx="471" cy="523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 b="1"/>
                <a:t>2   8   3</a:t>
              </a:r>
              <a:endParaRPr lang="en-US" altLang="zh-CN" sz="1600" b="1"/>
            </a:p>
            <a:p>
              <a:r>
                <a:rPr lang="en-US" altLang="zh-CN" sz="1600" b="1"/>
                <a:t>1   6   4</a:t>
              </a:r>
              <a:endParaRPr lang="en-US" altLang="zh-CN" sz="1600" b="1"/>
            </a:p>
            <a:p>
              <a:r>
                <a:rPr lang="en-US" altLang="zh-CN" sz="1600" b="1"/>
                <a:t>7   5</a:t>
              </a:r>
              <a:endParaRPr lang="en-US" altLang="zh-CN" sz="1600" b="1"/>
            </a:p>
          </p:txBody>
        </p:sp>
        <p:sp>
          <p:nvSpPr>
            <p:cNvPr id="69686" name="Line 16"/>
            <p:cNvSpPr>
              <a:spLocks noChangeShapeType="1"/>
            </p:cNvSpPr>
            <p:nvPr/>
          </p:nvSpPr>
          <p:spPr bwMode="auto">
            <a:xfrm flipV="1">
              <a:off x="1968" y="62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69687" name="Line 17"/>
            <p:cNvSpPr>
              <a:spLocks noChangeShapeType="1"/>
            </p:cNvSpPr>
            <p:nvPr/>
          </p:nvSpPr>
          <p:spPr bwMode="auto">
            <a:xfrm flipV="1">
              <a:off x="1056" y="624"/>
              <a:ext cx="91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69688" name="Line 18"/>
            <p:cNvSpPr>
              <a:spLocks noChangeShapeType="1"/>
            </p:cNvSpPr>
            <p:nvPr/>
          </p:nvSpPr>
          <p:spPr bwMode="auto">
            <a:xfrm flipH="1" flipV="1">
              <a:off x="2016" y="624"/>
              <a:ext cx="105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grpSp>
        <p:nvGrpSpPr>
          <p:cNvPr id="3" name="Group 30"/>
          <p:cNvGrpSpPr/>
          <p:nvPr/>
        </p:nvGrpSpPr>
        <p:grpSpPr bwMode="auto">
          <a:xfrm>
            <a:off x="2362200" y="2057400"/>
            <a:ext cx="3948113" cy="1136650"/>
            <a:chOff x="768" y="1296"/>
            <a:chExt cx="2487" cy="716"/>
          </a:xfrm>
        </p:grpSpPr>
        <p:sp>
          <p:nvSpPr>
            <p:cNvPr id="69677" name="Text Box 6"/>
            <p:cNvSpPr txBox="1">
              <a:spLocks noChangeArrowheads="1"/>
            </p:cNvSpPr>
            <p:nvPr/>
          </p:nvSpPr>
          <p:spPr bwMode="auto">
            <a:xfrm>
              <a:off x="1728" y="1489"/>
              <a:ext cx="471" cy="523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 b="1"/>
                <a:t>2        3</a:t>
              </a:r>
              <a:endParaRPr lang="en-US" altLang="zh-CN" sz="1600" b="1"/>
            </a:p>
            <a:p>
              <a:r>
                <a:rPr lang="en-US" altLang="zh-CN" sz="1600" b="1"/>
                <a:t>1   8   4</a:t>
              </a:r>
              <a:endParaRPr lang="en-US" altLang="zh-CN" sz="1600" b="1"/>
            </a:p>
            <a:p>
              <a:r>
                <a:rPr lang="en-US" altLang="zh-CN" sz="1600" b="1"/>
                <a:t>7   6   5</a:t>
              </a:r>
              <a:endParaRPr lang="en-US" altLang="zh-CN" sz="1600" b="1"/>
            </a:p>
          </p:txBody>
        </p:sp>
        <p:sp>
          <p:nvSpPr>
            <p:cNvPr id="69678" name="Text Box 7"/>
            <p:cNvSpPr txBox="1">
              <a:spLocks noChangeArrowheads="1"/>
            </p:cNvSpPr>
            <p:nvPr/>
          </p:nvSpPr>
          <p:spPr bwMode="auto">
            <a:xfrm>
              <a:off x="768" y="1489"/>
              <a:ext cx="471" cy="523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 b="1"/>
                <a:t>2   8   3</a:t>
              </a:r>
              <a:endParaRPr lang="en-US" altLang="zh-CN" sz="1600" b="1"/>
            </a:p>
            <a:p>
              <a:r>
                <a:rPr lang="en-US" altLang="zh-CN" sz="1600" b="1"/>
                <a:t>     1   4</a:t>
              </a:r>
              <a:endParaRPr lang="en-US" altLang="zh-CN" sz="1600" b="1"/>
            </a:p>
            <a:p>
              <a:r>
                <a:rPr lang="en-US" altLang="zh-CN" sz="1600" b="1"/>
                <a:t>7   6   5</a:t>
              </a:r>
              <a:endParaRPr lang="en-US" altLang="zh-CN" sz="1600" b="1"/>
            </a:p>
          </p:txBody>
        </p:sp>
        <p:sp>
          <p:nvSpPr>
            <p:cNvPr id="69679" name="Text Box 8"/>
            <p:cNvSpPr txBox="1">
              <a:spLocks noChangeArrowheads="1"/>
            </p:cNvSpPr>
            <p:nvPr/>
          </p:nvSpPr>
          <p:spPr bwMode="auto">
            <a:xfrm>
              <a:off x="2784" y="1489"/>
              <a:ext cx="471" cy="523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 b="1" dirty="0"/>
                <a:t>2   8   3</a:t>
              </a:r>
              <a:endParaRPr lang="en-US" altLang="zh-CN" sz="1600" b="1" dirty="0"/>
            </a:p>
            <a:p>
              <a:r>
                <a:rPr lang="en-US" altLang="zh-CN" sz="1600" b="1" dirty="0"/>
                <a:t>1   4</a:t>
              </a:r>
              <a:endParaRPr lang="en-US" altLang="zh-CN" sz="1600" b="1" dirty="0"/>
            </a:p>
            <a:p>
              <a:r>
                <a:rPr lang="en-US" altLang="zh-CN" sz="1600" b="1" dirty="0"/>
                <a:t>7    6  5</a:t>
              </a:r>
              <a:endParaRPr lang="en-US" altLang="zh-CN" sz="1600" b="1" dirty="0"/>
            </a:p>
          </p:txBody>
        </p:sp>
        <p:sp>
          <p:nvSpPr>
            <p:cNvPr id="69680" name="Line 19"/>
            <p:cNvSpPr>
              <a:spLocks noChangeShapeType="1"/>
            </p:cNvSpPr>
            <p:nvPr/>
          </p:nvSpPr>
          <p:spPr bwMode="auto">
            <a:xfrm flipV="1">
              <a:off x="1968" y="129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69681" name="Line 20"/>
            <p:cNvSpPr>
              <a:spLocks noChangeShapeType="1"/>
            </p:cNvSpPr>
            <p:nvPr/>
          </p:nvSpPr>
          <p:spPr bwMode="auto">
            <a:xfrm flipV="1">
              <a:off x="1056" y="1296"/>
              <a:ext cx="91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69682" name="Line 21"/>
            <p:cNvSpPr>
              <a:spLocks noChangeShapeType="1"/>
            </p:cNvSpPr>
            <p:nvPr/>
          </p:nvSpPr>
          <p:spPr bwMode="auto">
            <a:xfrm flipH="1" flipV="1">
              <a:off x="2016" y="1296"/>
              <a:ext cx="105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grpSp>
        <p:nvGrpSpPr>
          <p:cNvPr id="4" name="Group 31"/>
          <p:cNvGrpSpPr/>
          <p:nvPr/>
        </p:nvGrpSpPr>
        <p:grpSpPr bwMode="auto">
          <a:xfrm>
            <a:off x="1371600" y="3200400"/>
            <a:ext cx="2271713" cy="1289050"/>
            <a:chOff x="144" y="2016"/>
            <a:chExt cx="1431" cy="812"/>
          </a:xfrm>
        </p:grpSpPr>
        <p:sp>
          <p:nvSpPr>
            <p:cNvPr id="69673" name="Text Box 10"/>
            <p:cNvSpPr txBox="1">
              <a:spLocks noChangeArrowheads="1"/>
            </p:cNvSpPr>
            <p:nvPr/>
          </p:nvSpPr>
          <p:spPr bwMode="auto">
            <a:xfrm>
              <a:off x="1104" y="2305"/>
              <a:ext cx="471" cy="523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 b="1"/>
                <a:t>2   8   3</a:t>
              </a:r>
              <a:endParaRPr lang="en-US" altLang="zh-CN" sz="1600" b="1"/>
            </a:p>
            <a:p>
              <a:r>
                <a:rPr lang="en-US" altLang="zh-CN" sz="1600" b="1"/>
                <a:t>7   1   4</a:t>
              </a:r>
              <a:endParaRPr lang="en-US" altLang="zh-CN" sz="1600" b="1"/>
            </a:p>
            <a:p>
              <a:r>
                <a:rPr lang="en-US" altLang="zh-CN" sz="1600" b="1"/>
                <a:t>    6    5</a:t>
              </a:r>
              <a:endParaRPr lang="en-US" altLang="zh-CN" sz="1600" b="1"/>
            </a:p>
          </p:txBody>
        </p:sp>
        <p:sp>
          <p:nvSpPr>
            <p:cNvPr id="69674" name="Text Box 12"/>
            <p:cNvSpPr txBox="1">
              <a:spLocks noChangeArrowheads="1"/>
            </p:cNvSpPr>
            <p:nvPr/>
          </p:nvSpPr>
          <p:spPr bwMode="auto">
            <a:xfrm>
              <a:off x="144" y="2305"/>
              <a:ext cx="471" cy="523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 b="1"/>
                <a:t>     8   3</a:t>
              </a:r>
              <a:endParaRPr lang="en-US" altLang="zh-CN" sz="1600" b="1"/>
            </a:p>
            <a:p>
              <a:r>
                <a:rPr lang="en-US" altLang="zh-CN" sz="1600" b="1"/>
                <a:t>2   1   4</a:t>
              </a:r>
              <a:endParaRPr lang="en-US" altLang="zh-CN" sz="1600" b="1"/>
            </a:p>
            <a:p>
              <a:r>
                <a:rPr lang="en-US" altLang="zh-CN" sz="1600" b="1"/>
                <a:t>7   6   5</a:t>
              </a:r>
              <a:endParaRPr lang="en-US" altLang="zh-CN" sz="1600" b="1"/>
            </a:p>
          </p:txBody>
        </p:sp>
        <p:sp>
          <p:nvSpPr>
            <p:cNvPr id="69675" name="Line 22"/>
            <p:cNvSpPr>
              <a:spLocks noChangeShapeType="1"/>
            </p:cNvSpPr>
            <p:nvPr/>
          </p:nvSpPr>
          <p:spPr bwMode="auto">
            <a:xfrm flipV="1">
              <a:off x="432" y="2016"/>
              <a:ext cx="57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69676" name="Line 23"/>
            <p:cNvSpPr>
              <a:spLocks noChangeShapeType="1"/>
            </p:cNvSpPr>
            <p:nvPr/>
          </p:nvSpPr>
          <p:spPr bwMode="auto">
            <a:xfrm flipH="1" flipV="1">
              <a:off x="1008" y="2016"/>
              <a:ext cx="33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grpSp>
        <p:nvGrpSpPr>
          <p:cNvPr id="5" name="Group 32"/>
          <p:cNvGrpSpPr/>
          <p:nvPr/>
        </p:nvGrpSpPr>
        <p:grpSpPr bwMode="auto">
          <a:xfrm>
            <a:off x="4267201" y="3200400"/>
            <a:ext cx="2576513" cy="1289050"/>
            <a:chOff x="1968" y="2016"/>
            <a:chExt cx="1623" cy="812"/>
          </a:xfrm>
        </p:grpSpPr>
        <p:sp>
          <p:nvSpPr>
            <p:cNvPr id="69669" name="Text Box 9"/>
            <p:cNvSpPr txBox="1">
              <a:spLocks noChangeArrowheads="1"/>
            </p:cNvSpPr>
            <p:nvPr/>
          </p:nvSpPr>
          <p:spPr bwMode="auto">
            <a:xfrm>
              <a:off x="2064" y="2305"/>
              <a:ext cx="471" cy="523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 b="1"/>
                <a:t>     2   3</a:t>
              </a:r>
              <a:endParaRPr lang="en-US" altLang="zh-CN" sz="1600" b="1"/>
            </a:p>
            <a:p>
              <a:r>
                <a:rPr lang="en-US" altLang="zh-CN" sz="1600" b="1"/>
                <a:t>1   8   4</a:t>
              </a:r>
              <a:endParaRPr lang="en-US" altLang="zh-CN" sz="1600" b="1"/>
            </a:p>
            <a:p>
              <a:r>
                <a:rPr lang="en-US" altLang="zh-CN" sz="1600" b="1"/>
                <a:t>7   6   5</a:t>
              </a:r>
              <a:endParaRPr lang="en-US" altLang="zh-CN" sz="1600" b="1"/>
            </a:p>
          </p:txBody>
        </p:sp>
        <p:sp>
          <p:nvSpPr>
            <p:cNvPr id="69670" name="Text Box 11"/>
            <p:cNvSpPr txBox="1">
              <a:spLocks noChangeArrowheads="1"/>
            </p:cNvSpPr>
            <p:nvPr/>
          </p:nvSpPr>
          <p:spPr bwMode="auto">
            <a:xfrm>
              <a:off x="3120" y="2305"/>
              <a:ext cx="471" cy="523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 b="1"/>
                <a:t>2   3</a:t>
              </a:r>
              <a:endParaRPr lang="en-US" altLang="zh-CN" sz="1600" b="1"/>
            </a:p>
            <a:p>
              <a:r>
                <a:rPr lang="en-US" altLang="zh-CN" sz="1600" b="1"/>
                <a:t>1   8   4</a:t>
              </a:r>
              <a:endParaRPr lang="en-US" altLang="zh-CN" sz="1600" b="1"/>
            </a:p>
            <a:p>
              <a:r>
                <a:rPr lang="en-US" altLang="zh-CN" sz="1600" b="1"/>
                <a:t>7   6   5</a:t>
              </a:r>
              <a:endParaRPr lang="en-US" altLang="zh-CN" sz="1600" b="1"/>
            </a:p>
          </p:txBody>
        </p:sp>
        <p:sp>
          <p:nvSpPr>
            <p:cNvPr id="69671" name="Line 24"/>
            <p:cNvSpPr>
              <a:spLocks noChangeShapeType="1"/>
            </p:cNvSpPr>
            <p:nvPr/>
          </p:nvSpPr>
          <p:spPr bwMode="auto">
            <a:xfrm flipH="1" flipV="1">
              <a:off x="1968" y="2016"/>
              <a:ext cx="33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69672" name="Line 25"/>
            <p:cNvSpPr>
              <a:spLocks noChangeShapeType="1"/>
            </p:cNvSpPr>
            <p:nvPr/>
          </p:nvSpPr>
          <p:spPr bwMode="auto">
            <a:xfrm flipH="1" flipV="1">
              <a:off x="2016" y="2016"/>
              <a:ext cx="13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grpSp>
        <p:nvGrpSpPr>
          <p:cNvPr id="6" name="Group 33"/>
          <p:cNvGrpSpPr/>
          <p:nvPr/>
        </p:nvGrpSpPr>
        <p:grpSpPr bwMode="auto">
          <a:xfrm>
            <a:off x="4419600" y="4495800"/>
            <a:ext cx="793750" cy="1060450"/>
            <a:chOff x="2064" y="2832"/>
            <a:chExt cx="500" cy="668"/>
          </a:xfrm>
        </p:grpSpPr>
        <p:sp>
          <p:nvSpPr>
            <p:cNvPr id="69667" name="Text Box 13"/>
            <p:cNvSpPr txBox="1">
              <a:spLocks noChangeArrowheads="1"/>
            </p:cNvSpPr>
            <p:nvPr/>
          </p:nvSpPr>
          <p:spPr bwMode="auto">
            <a:xfrm>
              <a:off x="2064" y="2977"/>
              <a:ext cx="500" cy="523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 b="1"/>
                <a:t>1   2    3</a:t>
              </a:r>
              <a:endParaRPr lang="en-US" altLang="zh-CN" sz="1600" b="1"/>
            </a:p>
            <a:p>
              <a:r>
                <a:rPr lang="en-US" altLang="zh-CN" sz="1600" b="1"/>
                <a:t>     8   4</a:t>
              </a:r>
              <a:endParaRPr lang="en-US" altLang="zh-CN" sz="1600" b="1"/>
            </a:p>
            <a:p>
              <a:r>
                <a:rPr lang="en-US" altLang="zh-CN" sz="1600" b="1"/>
                <a:t>7   6   5</a:t>
              </a:r>
              <a:endParaRPr lang="en-US" altLang="zh-CN" sz="1600" b="1"/>
            </a:p>
          </p:txBody>
        </p:sp>
        <p:sp>
          <p:nvSpPr>
            <p:cNvPr id="69668" name="Line 26"/>
            <p:cNvSpPr>
              <a:spLocks noChangeShapeType="1"/>
            </p:cNvSpPr>
            <p:nvPr/>
          </p:nvSpPr>
          <p:spPr bwMode="auto">
            <a:xfrm flipV="1">
              <a:off x="2304" y="283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grpSp>
        <p:nvGrpSpPr>
          <p:cNvPr id="7" name="Group 34"/>
          <p:cNvGrpSpPr/>
          <p:nvPr/>
        </p:nvGrpSpPr>
        <p:grpSpPr bwMode="auto">
          <a:xfrm>
            <a:off x="2667000" y="5562600"/>
            <a:ext cx="4287838" cy="1060450"/>
            <a:chOff x="960" y="3504"/>
            <a:chExt cx="2701" cy="668"/>
          </a:xfrm>
        </p:grpSpPr>
        <p:sp>
          <p:nvSpPr>
            <p:cNvPr id="69663" name="Text Box 14"/>
            <p:cNvSpPr txBox="1">
              <a:spLocks noChangeArrowheads="1"/>
            </p:cNvSpPr>
            <p:nvPr/>
          </p:nvSpPr>
          <p:spPr bwMode="auto">
            <a:xfrm>
              <a:off x="960" y="3649"/>
              <a:ext cx="471" cy="523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 b="1"/>
                <a:t>1   2   3</a:t>
              </a:r>
              <a:endParaRPr lang="en-US" altLang="zh-CN" sz="1600" b="1"/>
            </a:p>
            <a:p>
              <a:r>
                <a:rPr lang="en-US" altLang="zh-CN" sz="1600" b="1"/>
                <a:t>8        4</a:t>
              </a:r>
              <a:endParaRPr lang="en-US" altLang="zh-CN" sz="1600" b="1"/>
            </a:p>
            <a:p>
              <a:r>
                <a:rPr lang="en-US" altLang="zh-CN" sz="1600" b="1"/>
                <a:t>7   6   5</a:t>
              </a:r>
              <a:endParaRPr lang="en-US" altLang="zh-CN" sz="1600" b="1"/>
            </a:p>
          </p:txBody>
        </p:sp>
        <p:sp>
          <p:nvSpPr>
            <p:cNvPr id="69664" name="Text Box 15"/>
            <p:cNvSpPr txBox="1">
              <a:spLocks noChangeArrowheads="1"/>
            </p:cNvSpPr>
            <p:nvPr/>
          </p:nvSpPr>
          <p:spPr bwMode="auto">
            <a:xfrm>
              <a:off x="3190" y="3649"/>
              <a:ext cx="471" cy="523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 b="1"/>
                <a:t>1   2   3</a:t>
              </a:r>
              <a:endParaRPr lang="en-US" altLang="zh-CN" sz="1600" b="1"/>
            </a:p>
            <a:p>
              <a:r>
                <a:rPr lang="en-US" altLang="zh-CN" sz="1600" b="1"/>
                <a:t>7   8   4</a:t>
              </a:r>
              <a:endParaRPr lang="en-US" altLang="zh-CN" sz="1600" b="1"/>
            </a:p>
            <a:p>
              <a:r>
                <a:rPr lang="en-US" altLang="zh-CN" sz="1600" b="1"/>
                <a:t>     6   5</a:t>
              </a:r>
              <a:endParaRPr lang="en-US" altLang="zh-CN" sz="1600" b="1"/>
            </a:p>
          </p:txBody>
        </p:sp>
        <p:sp>
          <p:nvSpPr>
            <p:cNvPr id="69665" name="Line 27"/>
            <p:cNvSpPr>
              <a:spLocks noChangeShapeType="1"/>
            </p:cNvSpPr>
            <p:nvPr/>
          </p:nvSpPr>
          <p:spPr bwMode="auto">
            <a:xfrm flipV="1">
              <a:off x="1200" y="3504"/>
              <a:ext cx="110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69666" name="Line 28"/>
            <p:cNvSpPr>
              <a:spLocks noChangeShapeType="1"/>
            </p:cNvSpPr>
            <p:nvPr/>
          </p:nvSpPr>
          <p:spPr bwMode="auto">
            <a:xfrm flipH="1" flipV="1">
              <a:off x="2304" y="3504"/>
              <a:ext cx="115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sp>
        <p:nvSpPr>
          <p:cNvPr id="115748" name="Text Box 36"/>
          <p:cNvSpPr txBox="1">
            <a:spLocks noChangeArrowheads="1"/>
          </p:cNvSpPr>
          <p:nvPr/>
        </p:nvSpPr>
        <p:spPr bwMode="auto">
          <a:xfrm>
            <a:off x="4703971" y="-16698"/>
            <a:ext cx="580608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/>
              <a:t>s(4)</a:t>
            </a:r>
            <a:endParaRPr lang="en-US" altLang="zh-CN" sz="2000" b="1"/>
          </a:p>
        </p:txBody>
      </p:sp>
      <p:sp>
        <p:nvSpPr>
          <p:cNvPr id="115749" name="Text Box 37"/>
          <p:cNvSpPr txBox="1">
            <a:spLocks noChangeArrowheads="1"/>
          </p:cNvSpPr>
          <p:nvPr/>
        </p:nvSpPr>
        <p:spPr bwMode="auto">
          <a:xfrm>
            <a:off x="1654798" y="1431102"/>
            <a:ext cx="659155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/>
              <a:t>A(6)</a:t>
            </a:r>
            <a:endParaRPr lang="en-US" altLang="zh-CN" sz="2000" b="1"/>
          </a:p>
        </p:txBody>
      </p:sp>
      <p:sp>
        <p:nvSpPr>
          <p:cNvPr id="115750" name="Text Box 38"/>
          <p:cNvSpPr txBox="1">
            <a:spLocks noChangeArrowheads="1"/>
          </p:cNvSpPr>
          <p:nvPr/>
        </p:nvSpPr>
        <p:spPr bwMode="auto">
          <a:xfrm>
            <a:off x="4710011" y="1521589"/>
            <a:ext cx="644728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/>
              <a:t>B(4)</a:t>
            </a:r>
            <a:endParaRPr lang="en-US" altLang="zh-CN" sz="2000" b="1"/>
          </a:p>
        </p:txBody>
      </p:sp>
      <p:sp>
        <p:nvSpPr>
          <p:cNvPr id="115751" name="Text Box 39"/>
          <p:cNvSpPr txBox="1">
            <a:spLocks noChangeArrowheads="1"/>
          </p:cNvSpPr>
          <p:nvPr/>
        </p:nvSpPr>
        <p:spPr bwMode="auto">
          <a:xfrm>
            <a:off x="6462611" y="1431102"/>
            <a:ext cx="644728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/>
              <a:t>C(6)</a:t>
            </a:r>
            <a:endParaRPr lang="en-US" altLang="zh-CN" sz="2000" b="1"/>
          </a:p>
        </p:txBody>
      </p:sp>
      <p:sp>
        <p:nvSpPr>
          <p:cNvPr id="115752" name="Text Box 40"/>
          <p:cNvSpPr txBox="1">
            <a:spLocks noChangeArrowheads="1"/>
          </p:cNvSpPr>
          <p:nvPr/>
        </p:nvSpPr>
        <p:spPr bwMode="auto">
          <a:xfrm>
            <a:off x="1724586" y="2574102"/>
            <a:ext cx="671979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/>
              <a:t>D(5)</a:t>
            </a:r>
            <a:endParaRPr lang="en-US" altLang="zh-CN" sz="2000" b="1"/>
          </a:p>
        </p:txBody>
      </p:sp>
      <p:sp>
        <p:nvSpPr>
          <p:cNvPr id="115753" name="Text Box 41"/>
          <p:cNvSpPr txBox="1">
            <a:spLocks noChangeArrowheads="1"/>
          </p:cNvSpPr>
          <p:nvPr/>
        </p:nvSpPr>
        <p:spPr bwMode="auto">
          <a:xfrm>
            <a:off x="4722835" y="2574102"/>
            <a:ext cx="61908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/>
              <a:t>E(5)</a:t>
            </a:r>
            <a:endParaRPr lang="en-US" altLang="zh-CN" sz="2000" b="1"/>
          </a:p>
        </p:txBody>
      </p:sp>
      <p:sp>
        <p:nvSpPr>
          <p:cNvPr id="115754" name="Text Box 42"/>
          <p:cNvSpPr txBox="1">
            <a:spLocks noChangeArrowheads="1"/>
          </p:cNvSpPr>
          <p:nvPr/>
        </p:nvSpPr>
        <p:spPr bwMode="auto">
          <a:xfrm>
            <a:off x="6396892" y="2574102"/>
            <a:ext cx="61106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/>
              <a:t>F(6)</a:t>
            </a:r>
            <a:endParaRPr lang="en-US" altLang="zh-CN" sz="2000" b="1"/>
          </a:p>
        </p:txBody>
      </p:sp>
      <p:sp>
        <p:nvSpPr>
          <p:cNvPr id="115755" name="Text Box 43"/>
          <p:cNvSpPr txBox="1">
            <a:spLocks noChangeArrowheads="1"/>
          </p:cNvSpPr>
          <p:nvPr/>
        </p:nvSpPr>
        <p:spPr bwMode="auto">
          <a:xfrm>
            <a:off x="1407148" y="4555302"/>
            <a:ext cx="659155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/>
              <a:t>G(6)</a:t>
            </a:r>
            <a:endParaRPr lang="en-US" altLang="zh-CN" sz="2000" b="1"/>
          </a:p>
        </p:txBody>
      </p:sp>
      <p:sp>
        <p:nvSpPr>
          <p:cNvPr id="115756" name="Text Box 44"/>
          <p:cNvSpPr txBox="1">
            <a:spLocks noChangeArrowheads="1"/>
          </p:cNvSpPr>
          <p:nvPr/>
        </p:nvSpPr>
        <p:spPr bwMode="auto">
          <a:xfrm>
            <a:off x="2937373" y="4555302"/>
            <a:ext cx="68480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/>
              <a:t>H(7)</a:t>
            </a:r>
            <a:endParaRPr lang="en-US" altLang="zh-CN" sz="2000" b="1"/>
          </a:p>
        </p:txBody>
      </p:sp>
      <p:sp>
        <p:nvSpPr>
          <p:cNvPr id="115757" name="Text Box 45"/>
          <p:cNvSpPr txBox="1">
            <a:spLocks noChangeArrowheads="1"/>
          </p:cNvSpPr>
          <p:nvPr/>
        </p:nvSpPr>
        <p:spPr bwMode="auto">
          <a:xfrm>
            <a:off x="5186571" y="3869502"/>
            <a:ext cx="580608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/>
              <a:t>I(5)</a:t>
            </a:r>
            <a:endParaRPr lang="en-US" altLang="zh-CN" sz="2000" b="1"/>
          </a:p>
        </p:txBody>
      </p:sp>
      <p:sp>
        <p:nvSpPr>
          <p:cNvPr id="115758" name="Text Box 46"/>
          <p:cNvSpPr txBox="1">
            <a:spLocks noChangeArrowheads="1"/>
          </p:cNvSpPr>
          <p:nvPr/>
        </p:nvSpPr>
        <p:spPr bwMode="auto">
          <a:xfrm>
            <a:off x="6972300" y="3869502"/>
            <a:ext cx="53975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/>
              <a:t>J(7)</a:t>
            </a:r>
            <a:endParaRPr lang="en-US" altLang="zh-CN" sz="2000" b="1"/>
          </a:p>
        </p:txBody>
      </p:sp>
      <p:sp>
        <p:nvSpPr>
          <p:cNvPr id="115759" name="Text Box 47"/>
          <p:cNvSpPr txBox="1">
            <a:spLocks noChangeArrowheads="1"/>
          </p:cNvSpPr>
          <p:nvPr/>
        </p:nvSpPr>
        <p:spPr bwMode="auto">
          <a:xfrm>
            <a:off x="5269550" y="5088702"/>
            <a:ext cx="65595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/>
              <a:t>K(5)</a:t>
            </a:r>
            <a:endParaRPr lang="en-US" altLang="zh-CN" sz="2000" b="1"/>
          </a:p>
        </p:txBody>
      </p:sp>
      <p:sp>
        <p:nvSpPr>
          <p:cNvPr id="115760" name="Text Box 48"/>
          <p:cNvSpPr txBox="1">
            <a:spLocks noChangeArrowheads="1"/>
          </p:cNvSpPr>
          <p:nvPr/>
        </p:nvSpPr>
        <p:spPr bwMode="auto">
          <a:xfrm>
            <a:off x="1979635" y="6003102"/>
            <a:ext cx="61908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/>
              <a:t>L(5)</a:t>
            </a:r>
            <a:endParaRPr lang="en-US" altLang="zh-CN" sz="2000" b="1"/>
          </a:p>
        </p:txBody>
      </p:sp>
      <p:sp>
        <p:nvSpPr>
          <p:cNvPr id="115761" name="Text Box 49"/>
          <p:cNvSpPr txBox="1">
            <a:spLocks noChangeArrowheads="1"/>
          </p:cNvSpPr>
          <p:nvPr/>
        </p:nvSpPr>
        <p:spPr bwMode="auto">
          <a:xfrm>
            <a:off x="7086600" y="5926902"/>
            <a:ext cx="76200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/>
              <a:t>M(7)</a:t>
            </a:r>
            <a:endParaRPr lang="en-US" altLang="zh-CN" sz="2000" b="1"/>
          </a:p>
        </p:txBody>
      </p:sp>
      <p:sp>
        <p:nvSpPr>
          <p:cNvPr id="115762" name="Text Box 50"/>
          <p:cNvSpPr txBox="1">
            <a:spLocks noChangeArrowheads="1"/>
          </p:cNvSpPr>
          <p:nvPr/>
        </p:nvSpPr>
        <p:spPr bwMode="auto">
          <a:xfrm>
            <a:off x="3526259" y="6155502"/>
            <a:ext cx="700833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b="1" dirty="0"/>
              <a:t>目标</a:t>
            </a:r>
            <a:endParaRPr lang="zh-CN" altLang="en-US" sz="2000" b="1" dirty="0"/>
          </a:p>
        </p:txBody>
      </p:sp>
      <p:sp>
        <p:nvSpPr>
          <p:cNvPr id="115764" name="Oval 52"/>
          <p:cNvSpPr>
            <a:spLocks noChangeArrowheads="1"/>
          </p:cNvSpPr>
          <p:nvPr/>
        </p:nvSpPr>
        <p:spPr bwMode="auto">
          <a:xfrm>
            <a:off x="4802188" y="343784"/>
            <a:ext cx="223837" cy="476071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 b="1" dirty="0">
                <a:solidFill>
                  <a:srgbClr val="FF0000"/>
                </a:solidFill>
              </a:rPr>
              <a:t>1</a:t>
            </a:r>
            <a:endParaRPr lang="en-US" altLang="zh-CN" sz="1600" b="1" dirty="0">
              <a:solidFill>
                <a:srgbClr val="FF0000"/>
              </a:solidFill>
            </a:endParaRPr>
          </a:p>
        </p:txBody>
      </p:sp>
      <p:sp>
        <p:nvSpPr>
          <p:cNvPr id="115765" name="Oval 53"/>
          <p:cNvSpPr>
            <a:spLocks noChangeArrowheads="1"/>
          </p:cNvSpPr>
          <p:nvPr/>
        </p:nvSpPr>
        <p:spPr bwMode="auto">
          <a:xfrm>
            <a:off x="4725988" y="1105784"/>
            <a:ext cx="223837" cy="476071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 b="1">
                <a:solidFill>
                  <a:srgbClr val="FF0000"/>
                </a:solidFill>
              </a:rPr>
              <a:t>2</a:t>
            </a:r>
            <a:endParaRPr lang="en-US" altLang="zh-CN" sz="1600" b="1">
              <a:solidFill>
                <a:srgbClr val="FF0000"/>
              </a:solidFill>
            </a:endParaRPr>
          </a:p>
        </p:txBody>
      </p:sp>
      <p:sp>
        <p:nvSpPr>
          <p:cNvPr id="115767" name="Oval 55"/>
          <p:cNvSpPr>
            <a:spLocks noChangeArrowheads="1"/>
          </p:cNvSpPr>
          <p:nvPr/>
        </p:nvSpPr>
        <p:spPr bwMode="auto">
          <a:xfrm>
            <a:off x="3201988" y="2248784"/>
            <a:ext cx="223837" cy="476071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 b="1">
                <a:solidFill>
                  <a:srgbClr val="FF0000"/>
                </a:solidFill>
              </a:rPr>
              <a:t>3</a:t>
            </a:r>
            <a:endParaRPr lang="en-US" altLang="zh-CN" sz="1600" b="1">
              <a:solidFill>
                <a:srgbClr val="FF0000"/>
              </a:solidFill>
            </a:endParaRPr>
          </a:p>
        </p:txBody>
      </p:sp>
      <p:sp>
        <p:nvSpPr>
          <p:cNvPr id="115768" name="Oval 56"/>
          <p:cNvSpPr>
            <a:spLocks noChangeArrowheads="1"/>
          </p:cNvSpPr>
          <p:nvPr/>
        </p:nvSpPr>
        <p:spPr bwMode="auto">
          <a:xfrm>
            <a:off x="4725988" y="2172584"/>
            <a:ext cx="223837" cy="476071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 b="1">
                <a:solidFill>
                  <a:srgbClr val="FF0000"/>
                </a:solidFill>
              </a:rPr>
              <a:t>4</a:t>
            </a:r>
            <a:endParaRPr lang="en-US" altLang="zh-CN" sz="1600" b="1">
              <a:solidFill>
                <a:srgbClr val="FF0000"/>
              </a:solidFill>
            </a:endParaRPr>
          </a:p>
        </p:txBody>
      </p:sp>
      <p:sp>
        <p:nvSpPr>
          <p:cNvPr id="115769" name="Oval 57"/>
          <p:cNvSpPr>
            <a:spLocks noChangeArrowheads="1"/>
          </p:cNvSpPr>
          <p:nvPr/>
        </p:nvSpPr>
        <p:spPr bwMode="auto">
          <a:xfrm>
            <a:off x="5335588" y="3467984"/>
            <a:ext cx="223837" cy="476071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 b="1">
                <a:solidFill>
                  <a:srgbClr val="FF0000"/>
                </a:solidFill>
              </a:rPr>
              <a:t>5</a:t>
            </a:r>
            <a:endParaRPr lang="en-US" altLang="zh-CN" sz="1600" b="1">
              <a:solidFill>
                <a:srgbClr val="FF0000"/>
              </a:solidFill>
            </a:endParaRPr>
          </a:p>
        </p:txBody>
      </p:sp>
      <p:sp>
        <p:nvSpPr>
          <p:cNvPr id="115770" name="Oval 58"/>
          <p:cNvSpPr>
            <a:spLocks noChangeArrowheads="1"/>
          </p:cNvSpPr>
          <p:nvPr/>
        </p:nvSpPr>
        <p:spPr bwMode="auto">
          <a:xfrm>
            <a:off x="5335588" y="4610984"/>
            <a:ext cx="223837" cy="476071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 b="1">
                <a:solidFill>
                  <a:srgbClr val="FF0000"/>
                </a:solidFill>
              </a:rPr>
              <a:t>6</a:t>
            </a:r>
            <a:endParaRPr lang="en-US" altLang="zh-CN" sz="1600" b="1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1025" y="5057566"/>
            <a:ext cx="2619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13</a:t>
            </a:r>
            <a:r>
              <a:rPr lang="zh-CN" altLang="en-US" dirty="0"/>
              <a:t>步完成</a:t>
            </a:r>
            <a:r>
              <a:rPr lang="en-US" dirty="0" err="1"/>
              <a:t>搜索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48" grpId="0" autoUpdateAnimBg="0"/>
      <p:bldP spid="115749" grpId="0" autoUpdateAnimBg="0"/>
      <p:bldP spid="115750" grpId="0" autoUpdateAnimBg="0"/>
      <p:bldP spid="115751" grpId="0" autoUpdateAnimBg="0"/>
      <p:bldP spid="115752" grpId="0" autoUpdateAnimBg="0"/>
      <p:bldP spid="115753" grpId="0" autoUpdateAnimBg="0"/>
      <p:bldP spid="115754" grpId="0" autoUpdateAnimBg="0"/>
      <p:bldP spid="115755" grpId="0" autoUpdateAnimBg="0"/>
      <p:bldP spid="115756" grpId="0" autoUpdateAnimBg="0"/>
      <p:bldP spid="115757" grpId="0" autoUpdateAnimBg="0"/>
      <p:bldP spid="115758" grpId="0" autoUpdateAnimBg="0"/>
      <p:bldP spid="115759" grpId="0" autoUpdateAnimBg="0"/>
      <p:bldP spid="115760" grpId="0" autoUpdateAnimBg="0"/>
      <p:bldP spid="115761" grpId="0" autoUpdateAnimBg="0"/>
      <p:bldP spid="115762" grpId="0" autoUpdateAnimBg="0"/>
      <p:bldP spid="115764" grpId="0" animBg="1" autoUpdateAnimBg="0"/>
      <p:bldP spid="115765" grpId="0" animBg="1" autoUpdateAnimBg="0"/>
      <p:bldP spid="115767" grpId="0" animBg="1" autoUpdateAnimBg="0"/>
      <p:bldP spid="115768" grpId="0" animBg="1" autoUpdateAnimBg="0"/>
      <p:bldP spid="115769" grpId="0" animBg="1" autoUpdateAnimBg="0"/>
      <p:bldP spid="115770" grpId="0" animBg="1" autoUpdateAnimBg="0"/>
      <p:bldP spid="8" grpId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D46E160-36DE-4646-B86E-AC309ADC73FC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>
          <a:xfrm>
            <a:off x="259312" y="609600"/>
            <a:ext cx="84582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1.4.2</a:t>
            </a:r>
            <a:r>
              <a:rPr lang="zh-CN" altLang="en-US" dirty="0"/>
              <a:t> 最佳图搜索算法</a:t>
            </a:r>
            <a:r>
              <a:rPr lang="en-US" altLang="zh-CN" dirty="0"/>
              <a:t>A*</a:t>
            </a:r>
            <a:r>
              <a:rPr lang="zh-CN" altLang="en-US" dirty="0"/>
              <a:t>（</a:t>
            </a:r>
            <a:r>
              <a:rPr lang="en-US" altLang="zh-CN" dirty="0"/>
              <a:t>A*</a:t>
            </a:r>
            <a:r>
              <a:rPr lang="zh-CN" altLang="en-US" dirty="0"/>
              <a:t>算法）</a:t>
            </a:r>
            <a:endParaRPr lang="zh-CN" altLang="en-US" dirty="0"/>
          </a:p>
        </p:txBody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2171700"/>
          </a:xfrm>
        </p:spPr>
        <p:txBody>
          <a:bodyPr/>
          <a:lstStyle/>
          <a:p>
            <a:pPr eaLnBrk="1" hangingPunct="1"/>
            <a:r>
              <a:rPr lang="zh-CN" altLang="en-US" sz="3200" b="1" dirty="0"/>
              <a:t>在</a:t>
            </a:r>
            <a:r>
              <a:rPr lang="en-US" altLang="zh-CN" sz="3200" b="1" dirty="0"/>
              <a:t>A</a:t>
            </a:r>
            <a:r>
              <a:rPr lang="zh-CN" altLang="en-US" sz="3200" b="1" dirty="0"/>
              <a:t>算法中，如果满足条件：</a:t>
            </a:r>
            <a:endParaRPr lang="zh-CN" altLang="en-US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200" b="1" dirty="0"/>
              <a:t>		</a:t>
            </a:r>
            <a:r>
              <a:rPr lang="en-US" altLang="zh-CN" sz="3200" b="1" dirty="0"/>
              <a:t>h(n)≤h*(n)</a:t>
            </a:r>
            <a:endParaRPr lang="en-US" altLang="zh-CN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	</a:t>
            </a:r>
            <a:r>
              <a:rPr lang="zh-CN" altLang="en-US" sz="3200" b="1" dirty="0"/>
              <a:t>则</a:t>
            </a:r>
            <a:r>
              <a:rPr lang="en-US" altLang="zh-CN" sz="3200" b="1" dirty="0"/>
              <a:t>A</a:t>
            </a:r>
            <a:r>
              <a:rPr lang="zh-CN" altLang="en-US" sz="3200" b="1" dirty="0"/>
              <a:t>算法称为</a:t>
            </a:r>
            <a:r>
              <a:rPr lang="en-US" altLang="zh-CN" sz="3200" b="1" dirty="0"/>
              <a:t>A*</a:t>
            </a:r>
            <a:r>
              <a:rPr lang="zh-CN" altLang="en-US" sz="3200" b="1" dirty="0"/>
              <a:t>算法。</a:t>
            </a:r>
            <a:endParaRPr lang="en-US" altLang="en-US" sz="3200" b="1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dirty="0"/>
          </a:p>
        </p:txBody>
      </p:sp>
      <p:sp>
        <p:nvSpPr>
          <p:cNvPr id="70661" name="Rectangle 5"/>
          <p:cNvSpPr>
            <a:spLocks noChangeArrowheads="1"/>
          </p:cNvSpPr>
          <p:nvPr/>
        </p:nvSpPr>
        <p:spPr bwMode="auto">
          <a:xfrm>
            <a:off x="590550" y="4152900"/>
            <a:ext cx="7772400" cy="21717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en-US" altLang="en-US" sz="3200"/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en-US" altLang="zh-CN" sz="3200"/>
          </a:p>
        </p:txBody>
      </p:sp>
      <p:sp>
        <p:nvSpPr>
          <p:cNvPr id="2" name="TextBox 1"/>
          <p:cNvSpPr txBox="1"/>
          <p:nvPr/>
        </p:nvSpPr>
        <p:spPr>
          <a:xfrm>
            <a:off x="4572000" y="2653784"/>
            <a:ext cx="42441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We</a:t>
            </a:r>
            <a:r>
              <a:rPr lang="zh-CN" altLang="en-US" sz="2000" dirty="0"/>
              <a:t> </a:t>
            </a:r>
            <a:r>
              <a:rPr lang="en-US" altLang="zh-CN" sz="2000" dirty="0"/>
              <a:t>should</a:t>
            </a:r>
            <a:r>
              <a:rPr lang="zh-CN" altLang="en-US" sz="2000" dirty="0"/>
              <a:t> </a:t>
            </a:r>
            <a:r>
              <a:rPr lang="en-US" altLang="zh-CN" sz="2000" dirty="0"/>
              <a:t>be</a:t>
            </a:r>
            <a:r>
              <a:rPr lang="zh-CN" altLang="en-US" sz="2000" dirty="0"/>
              <a:t> </a:t>
            </a:r>
            <a:r>
              <a:rPr lang="en-US" altLang="zh-CN" sz="2000" b="1" dirty="0">
                <a:solidFill>
                  <a:srgbClr val="00B050"/>
                </a:solidFill>
              </a:rPr>
              <a:t>Optimistic</a:t>
            </a:r>
            <a:r>
              <a:rPr lang="zh-CN" altLang="en-US" sz="2000" dirty="0"/>
              <a:t> </a:t>
            </a:r>
            <a:r>
              <a:rPr lang="en-US" altLang="zh-CN" sz="2000" dirty="0"/>
              <a:t>or</a:t>
            </a:r>
            <a:r>
              <a:rPr lang="zh-CN" altLang="en-US" sz="2000" dirty="0"/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Pessimistic</a:t>
            </a:r>
            <a:r>
              <a:rPr lang="en-US" altLang="zh-CN" sz="2000" dirty="0"/>
              <a:t>?</a:t>
            </a:r>
            <a:r>
              <a:rPr lang="zh-CN" altLang="en-US" sz="2000" dirty="0"/>
              <a:t> </a:t>
            </a:r>
            <a:endParaRPr lang="en-US" sz="2000" dirty="0"/>
          </a:p>
        </p:txBody>
      </p:sp>
      <p:pic>
        <p:nvPicPr>
          <p:cNvPr id="3" name="Picture 6" descr="Optimism is the best way to see life fun turtle design. | Poster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06" b="10456"/>
          <a:stretch>
            <a:fillRect/>
          </a:stretch>
        </p:blipFill>
        <p:spPr bwMode="auto">
          <a:xfrm>
            <a:off x="5127182" y="3133731"/>
            <a:ext cx="3133832" cy="3423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06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0433279-2500-4359-9BD3-D7AB68FED718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/>
              <a:t>A*</a:t>
            </a:r>
            <a:r>
              <a:rPr lang="zh-CN" altLang="zh-CN"/>
              <a:t>条件举例</a:t>
            </a:r>
            <a:endParaRPr lang="zh-CN" altLang="en-US"/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419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3200" b="1" dirty="0"/>
              <a:t>8</a:t>
            </a:r>
            <a:r>
              <a:rPr lang="zh-CN" altLang="en-US" sz="3200" b="1" dirty="0"/>
              <a:t>数码问题</a:t>
            </a:r>
            <a:endParaRPr lang="zh-CN" altLang="en-US" sz="3200" b="1" dirty="0"/>
          </a:p>
          <a:p>
            <a:pPr lvl="1" eaLnBrk="1" hangingPunct="1"/>
            <a:r>
              <a:rPr lang="en-US" altLang="zh-CN" sz="2800" b="1" dirty="0"/>
              <a:t>h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(n) = “</a:t>
            </a:r>
            <a:r>
              <a:rPr lang="zh-CN" altLang="en-US" sz="2800" b="1" dirty="0"/>
              <a:t>不在位”的将牌数</a:t>
            </a:r>
            <a:endParaRPr lang="zh-CN" altLang="en-US" sz="2800" b="1" dirty="0"/>
          </a:p>
          <a:p>
            <a:pPr lvl="1" eaLnBrk="1" hangingPunct="1"/>
            <a:r>
              <a:rPr lang="en-US" altLang="zh-CN" sz="2800" b="1" dirty="0"/>
              <a:t>h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(n) = </a:t>
            </a:r>
            <a:r>
              <a:rPr lang="zh-CN" altLang="zh-CN" sz="2800" b="1" dirty="0"/>
              <a:t>将牌“不在位”的距离和</a:t>
            </a:r>
            <a:endParaRPr lang="zh-CN" altLang="en-US" sz="2800" b="1" dirty="0"/>
          </a:p>
        </p:txBody>
      </p:sp>
      <p:grpSp>
        <p:nvGrpSpPr>
          <p:cNvPr id="2" name="Group 10"/>
          <p:cNvGrpSpPr/>
          <p:nvPr/>
        </p:nvGrpSpPr>
        <p:grpSpPr bwMode="auto">
          <a:xfrm>
            <a:off x="1441451" y="3700464"/>
            <a:ext cx="4826001" cy="2276476"/>
            <a:chOff x="908" y="2331"/>
            <a:chExt cx="3040" cy="1434"/>
          </a:xfrm>
        </p:grpSpPr>
        <p:sp>
          <p:nvSpPr>
            <p:cNvPr id="71686" name="Text Box 4"/>
            <p:cNvSpPr txBox="1">
              <a:spLocks noChangeArrowheads="1"/>
            </p:cNvSpPr>
            <p:nvPr/>
          </p:nvSpPr>
          <p:spPr bwMode="auto">
            <a:xfrm>
              <a:off x="1172" y="2581"/>
              <a:ext cx="864" cy="872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</a:ln>
          </p:spPr>
          <p:txBody>
            <a:bodyPr anchor="ctr">
              <a:spAutoFit/>
            </a:bodyPr>
            <a:lstStyle/>
            <a:p>
              <a:r>
                <a:rPr lang="en-US" altLang="zh-CN" sz="2800" b="1" dirty="0">
                  <a:solidFill>
                    <a:srgbClr val="0000FF"/>
                  </a:solidFill>
                </a:rPr>
                <a:t>2    8</a:t>
              </a:r>
              <a:r>
                <a:rPr lang="en-US" altLang="zh-CN" sz="2800" b="1" dirty="0"/>
                <a:t>    3</a:t>
              </a:r>
              <a:endParaRPr lang="en-US" altLang="zh-CN" sz="2800" b="1" dirty="0"/>
            </a:p>
            <a:p>
              <a:r>
                <a:rPr lang="en-US" altLang="zh-CN" sz="2800" b="1" dirty="0">
                  <a:solidFill>
                    <a:srgbClr val="0000FF"/>
                  </a:solidFill>
                </a:rPr>
                <a:t>1    6</a:t>
              </a:r>
              <a:r>
                <a:rPr lang="en-US" altLang="zh-CN" sz="2800" b="1" dirty="0"/>
                <a:t>    4</a:t>
              </a:r>
              <a:endParaRPr lang="en-US" altLang="zh-CN" sz="2800" b="1" dirty="0"/>
            </a:p>
            <a:p>
              <a:r>
                <a:rPr lang="en-US" altLang="zh-CN" sz="2800" b="1" dirty="0"/>
                <a:t>7          5</a:t>
              </a:r>
              <a:endParaRPr lang="en-US" altLang="zh-CN" sz="2800" b="1" dirty="0"/>
            </a:p>
          </p:txBody>
        </p:sp>
        <p:sp>
          <p:nvSpPr>
            <p:cNvPr id="71687" name="Text Box 5"/>
            <p:cNvSpPr txBox="1">
              <a:spLocks noChangeArrowheads="1"/>
            </p:cNvSpPr>
            <p:nvPr/>
          </p:nvSpPr>
          <p:spPr bwMode="auto">
            <a:xfrm>
              <a:off x="1172" y="2331"/>
              <a:ext cx="832" cy="3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0000"/>
                  </a:solidFill>
                </a:rPr>
                <a:t>1    2    3</a:t>
              </a:r>
              <a:endParaRPr lang="en-US" altLang="zh-CN" sz="2800" b="1" dirty="0"/>
            </a:p>
          </p:txBody>
        </p:sp>
        <p:sp>
          <p:nvSpPr>
            <p:cNvPr id="71688" name="Text Box 6"/>
            <p:cNvSpPr txBox="1">
              <a:spLocks noChangeArrowheads="1"/>
            </p:cNvSpPr>
            <p:nvPr/>
          </p:nvSpPr>
          <p:spPr bwMode="auto">
            <a:xfrm>
              <a:off x="2176" y="2847"/>
              <a:ext cx="220" cy="60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800" b="1">
                  <a:solidFill>
                    <a:srgbClr val="FF0000"/>
                  </a:solidFill>
                </a:rPr>
                <a:t>4</a:t>
              </a:r>
              <a:endParaRPr lang="en-US" altLang="zh-CN" sz="2800" b="1">
                <a:solidFill>
                  <a:srgbClr val="FF0000"/>
                </a:solidFill>
              </a:endParaRPr>
            </a:p>
            <a:p>
              <a:pPr algn="ctr"/>
              <a:r>
                <a:rPr lang="en-US" altLang="zh-CN" sz="2800" b="1">
                  <a:solidFill>
                    <a:srgbClr val="FF0000"/>
                  </a:solidFill>
                </a:rPr>
                <a:t>5</a:t>
              </a:r>
              <a:endParaRPr lang="en-US" altLang="zh-CN" sz="2800" b="1"/>
            </a:p>
          </p:txBody>
        </p:sp>
        <p:sp>
          <p:nvSpPr>
            <p:cNvPr id="71689" name="Text Box 7"/>
            <p:cNvSpPr txBox="1">
              <a:spLocks noChangeArrowheads="1"/>
            </p:cNvSpPr>
            <p:nvPr/>
          </p:nvSpPr>
          <p:spPr bwMode="auto">
            <a:xfrm>
              <a:off x="1220" y="3435"/>
              <a:ext cx="728" cy="3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</a:rPr>
                <a:t>7    6    </a:t>
              </a:r>
              <a:endParaRPr lang="en-US" altLang="zh-CN" sz="2800" b="1"/>
            </a:p>
          </p:txBody>
        </p:sp>
        <p:sp>
          <p:nvSpPr>
            <p:cNvPr id="71690" name="Text Box 8"/>
            <p:cNvSpPr txBox="1">
              <a:spLocks noChangeArrowheads="1"/>
            </p:cNvSpPr>
            <p:nvPr/>
          </p:nvSpPr>
          <p:spPr bwMode="auto">
            <a:xfrm>
              <a:off x="908" y="2859"/>
              <a:ext cx="220" cy="3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rgbClr val="FF0000"/>
                  </a:solidFill>
                </a:rPr>
                <a:t>8</a:t>
              </a:r>
              <a:endParaRPr lang="en-US" altLang="zh-CN" sz="2800" b="1" dirty="0"/>
            </a:p>
          </p:txBody>
        </p:sp>
        <p:sp>
          <p:nvSpPr>
            <p:cNvPr id="71691" name="Text Box 9"/>
            <p:cNvSpPr txBox="1">
              <a:spLocks noChangeArrowheads="1"/>
            </p:cNvSpPr>
            <p:nvPr/>
          </p:nvSpPr>
          <p:spPr bwMode="auto">
            <a:xfrm>
              <a:off x="3072" y="2491"/>
              <a:ext cx="876" cy="9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r>
                <a:rPr lang="zh-CN" altLang="en-US" sz="2400" b="1" dirty="0"/>
                <a:t>将牌</a:t>
              </a:r>
              <a:r>
                <a:rPr lang="en-US" altLang="zh-CN" sz="2400" b="1" dirty="0"/>
                <a:t>1</a:t>
              </a:r>
              <a:r>
                <a:rPr lang="zh-CN" altLang="en-US" sz="2400" b="1" dirty="0"/>
                <a:t>：</a:t>
              </a:r>
              <a:r>
                <a:rPr lang="en-US" altLang="zh-CN" sz="2400" b="1" dirty="0"/>
                <a:t>1</a:t>
              </a:r>
              <a:endParaRPr lang="en-US" altLang="zh-CN" sz="2400" b="1" dirty="0"/>
            </a:p>
            <a:p>
              <a:r>
                <a:rPr lang="zh-CN" altLang="en-US" sz="2400" b="1" dirty="0"/>
                <a:t>将牌</a:t>
              </a:r>
              <a:r>
                <a:rPr lang="en-US" altLang="zh-CN" sz="2400" b="1" dirty="0"/>
                <a:t>2</a:t>
              </a:r>
              <a:r>
                <a:rPr lang="zh-CN" altLang="en-US" sz="2400" b="1" dirty="0"/>
                <a:t>：</a:t>
              </a:r>
              <a:r>
                <a:rPr lang="en-US" altLang="zh-CN" sz="2400" b="1" dirty="0"/>
                <a:t>1</a:t>
              </a:r>
              <a:endParaRPr lang="en-US" altLang="zh-CN" sz="2400" b="1" dirty="0"/>
            </a:p>
            <a:p>
              <a:r>
                <a:rPr lang="zh-CN" altLang="en-US" sz="2400" b="1" dirty="0"/>
                <a:t>将牌</a:t>
              </a:r>
              <a:r>
                <a:rPr lang="en-US" altLang="zh-CN" sz="2400" b="1" dirty="0"/>
                <a:t>6</a:t>
              </a:r>
              <a:r>
                <a:rPr lang="zh-CN" altLang="en-US" sz="2400" b="1" dirty="0"/>
                <a:t>：</a:t>
              </a:r>
              <a:r>
                <a:rPr lang="en-US" altLang="zh-CN" sz="2400" b="1" dirty="0"/>
                <a:t>1</a:t>
              </a:r>
              <a:endParaRPr lang="en-US" altLang="zh-CN" sz="2400" b="1" dirty="0"/>
            </a:p>
            <a:p>
              <a:r>
                <a:rPr lang="zh-CN" altLang="en-US" sz="2400" b="1" dirty="0"/>
                <a:t>将牌</a:t>
              </a:r>
              <a:r>
                <a:rPr lang="en-US" altLang="zh-CN" sz="2400" b="1" dirty="0"/>
                <a:t>8</a:t>
              </a:r>
              <a:r>
                <a:rPr lang="zh-CN" altLang="en-US" sz="2400" b="1" dirty="0"/>
                <a:t>：</a:t>
              </a:r>
              <a:r>
                <a:rPr lang="en-US" altLang="zh-CN" sz="2400" b="1" dirty="0"/>
                <a:t>2</a:t>
              </a:r>
              <a:endParaRPr lang="en-US" altLang="zh-CN" sz="2400" b="1" dirty="0"/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12C8A9C-DC26-43DE-B887-01392CC1D5AD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定义</a:t>
            </a:r>
            <a:r>
              <a:rPr lang="en-US" altLang="zh-CN"/>
              <a:t>h</a:t>
            </a:r>
            <a:r>
              <a:rPr lang="zh-CN" altLang="en-US"/>
              <a:t>函数的一般原则</a:t>
            </a:r>
            <a:endParaRPr lang="zh-CN" altLang="en-US"/>
          </a:p>
        </p:txBody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951630"/>
            <a:ext cx="7772400" cy="4068170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3200" b="1" dirty="0"/>
              <a:t>放宽</a:t>
            </a:r>
            <a:r>
              <a:rPr lang="zh-CN" altLang="en-US" sz="3200" b="1"/>
              <a:t>搜索问题的限制</a:t>
            </a:r>
            <a:r>
              <a:rPr lang="zh-CN" altLang="en-US" sz="3200" b="1" dirty="0"/>
              <a:t>条件，在宽条件下，给出估计函数。</a:t>
            </a:r>
            <a:endParaRPr lang="zh-CN" altLang="en-US" sz="3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A*</a:t>
            </a:r>
            <a:r>
              <a:rPr lang="zh-CN" altLang="en-US" dirty="0"/>
              <a:t>算法的主要结论</a:t>
            </a:r>
            <a:endParaRPr lang="zh-CN" altLang="en-US" dirty="0"/>
          </a:p>
        </p:txBody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6750" y="1771650"/>
            <a:ext cx="7772400" cy="433705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200" b="1" dirty="0"/>
              <a:t>定理</a:t>
            </a:r>
            <a:r>
              <a:rPr lang="en-US" altLang="zh-CN" sz="3200" b="1" dirty="0"/>
              <a:t> (</a:t>
            </a:r>
            <a:r>
              <a:rPr lang="zh-CN" altLang="en-US" sz="3200" b="1" dirty="0"/>
              <a:t>可采纳性定理</a:t>
            </a:r>
            <a:r>
              <a:rPr lang="en-US" altLang="zh-CN" sz="3200" b="1" dirty="0"/>
              <a:t>)</a:t>
            </a:r>
            <a:r>
              <a:rPr lang="zh-CN" altLang="en-US" sz="3200" b="1" dirty="0"/>
              <a:t>：</a:t>
            </a:r>
            <a:endParaRPr lang="zh-CN" altLang="en-US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200" b="1" dirty="0"/>
              <a:t>	若存在从初始节点</a:t>
            </a:r>
            <a:r>
              <a:rPr lang="en-US" altLang="zh-CN" sz="3200" b="1" dirty="0"/>
              <a:t>s</a:t>
            </a:r>
            <a:r>
              <a:rPr lang="zh-CN" altLang="en-US" sz="3200" b="1" dirty="0"/>
              <a:t>到目标节点</a:t>
            </a:r>
            <a:r>
              <a:rPr lang="en-US" altLang="zh-CN" sz="3200" b="1" dirty="0"/>
              <a:t>t</a:t>
            </a:r>
            <a:r>
              <a:rPr lang="zh-CN" altLang="en-US" sz="3200" b="1" dirty="0"/>
              <a:t>有路径，则</a:t>
            </a:r>
            <a:r>
              <a:rPr lang="en-US" altLang="zh-CN" sz="3200" b="1" dirty="0"/>
              <a:t>A*</a:t>
            </a:r>
            <a:r>
              <a:rPr lang="zh-CN" altLang="en-US" sz="3200" b="1" dirty="0"/>
              <a:t>必能找到最佳解结束。</a:t>
            </a:r>
            <a:endParaRPr lang="zh-CN" altLang="en-US" sz="3200" b="1" dirty="0"/>
          </a:p>
          <a:p>
            <a:pPr eaLnBrk="1" hangingPunct="1"/>
            <a:endParaRPr lang="zh-CN" altLang="en-US" sz="28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内容占位符 2"/>
          <p:cNvSpPr>
            <a:spLocks noGrp="1"/>
          </p:cNvSpPr>
          <p:nvPr>
            <p:ph idx="1"/>
          </p:nvPr>
        </p:nvSpPr>
        <p:spPr>
          <a:xfrm>
            <a:off x="622300" y="1358900"/>
            <a:ext cx="7772400" cy="4826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200" b="1" dirty="0"/>
              <a:t>定理：设对同一个问题定义了两个</a:t>
            </a:r>
            <a:r>
              <a:rPr lang="en-US" altLang="zh-CN" sz="3200" b="1" dirty="0"/>
              <a:t>A*</a:t>
            </a:r>
            <a:r>
              <a:rPr lang="zh-CN" altLang="en-US" sz="3200" b="1" dirty="0"/>
              <a:t>算法</a:t>
            </a:r>
            <a:r>
              <a:rPr lang="en-US" altLang="zh-CN" sz="3200" b="1" dirty="0"/>
              <a:t>A</a:t>
            </a:r>
            <a:r>
              <a:rPr lang="en-US" altLang="zh-CN" sz="3200" b="1" baseline="-25000" dirty="0"/>
              <a:t>1</a:t>
            </a:r>
            <a:r>
              <a:rPr lang="zh-CN" altLang="en-US" sz="3200" b="1" dirty="0"/>
              <a:t>和</a:t>
            </a:r>
            <a:r>
              <a:rPr lang="en-US" altLang="zh-CN" sz="3200" b="1" dirty="0"/>
              <a:t>A</a:t>
            </a:r>
            <a:r>
              <a:rPr lang="en-US" altLang="zh-CN" sz="3200" b="1" baseline="-25000" dirty="0"/>
              <a:t>2</a:t>
            </a:r>
            <a:r>
              <a:rPr lang="zh-CN" altLang="en-US" sz="3200" b="1" dirty="0"/>
              <a:t>，若</a:t>
            </a:r>
            <a:r>
              <a:rPr lang="en-US" altLang="zh-CN" sz="3200" b="1" dirty="0"/>
              <a:t>A</a:t>
            </a:r>
            <a:r>
              <a:rPr lang="en-US" altLang="zh-CN" sz="3200" b="1" baseline="-25000" dirty="0"/>
              <a:t>2</a:t>
            </a:r>
            <a:r>
              <a:rPr lang="zh-CN" altLang="en-US" sz="3200" b="1" dirty="0"/>
              <a:t>比</a:t>
            </a:r>
            <a:r>
              <a:rPr lang="en-US" altLang="zh-CN" sz="3200" b="1" dirty="0"/>
              <a:t>A</a:t>
            </a:r>
            <a:r>
              <a:rPr lang="en-US" altLang="zh-CN" sz="3200" b="1" baseline="-25000" dirty="0"/>
              <a:t>1</a:t>
            </a:r>
            <a:r>
              <a:rPr lang="zh-CN" altLang="en-US" sz="3200" b="1" dirty="0"/>
              <a:t>有较多的启发信息，即对所有非目标节点有</a:t>
            </a:r>
            <a:r>
              <a:rPr lang="en-US" altLang="zh-CN" sz="3200" b="1" dirty="0"/>
              <a:t>h</a:t>
            </a:r>
            <a:r>
              <a:rPr lang="en-US" altLang="zh-CN" sz="3200" b="1" baseline="-25000" dirty="0"/>
              <a:t>2</a:t>
            </a:r>
            <a:r>
              <a:rPr lang="en-US" altLang="zh-CN" sz="3200" b="1" dirty="0"/>
              <a:t>(n) &gt; h</a:t>
            </a:r>
            <a:r>
              <a:rPr lang="en-US" altLang="zh-CN" sz="3200" b="1" baseline="-25000" dirty="0"/>
              <a:t>1</a:t>
            </a:r>
            <a:r>
              <a:rPr lang="en-US" altLang="zh-CN" sz="3200" b="1" dirty="0"/>
              <a:t>(n)</a:t>
            </a:r>
            <a:r>
              <a:rPr lang="zh-CN" altLang="en-US" sz="3200" b="1" dirty="0"/>
              <a:t>，则在具有一条从</a:t>
            </a:r>
            <a:r>
              <a:rPr lang="en-US" altLang="zh-CN" sz="3200" b="1" dirty="0"/>
              <a:t>s</a:t>
            </a:r>
            <a:r>
              <a:rPr lang="zh-CN" altLang="en-US" sz="3200" b="1" dirty="0"/>
              <a:t>到</a:t>
            </a:r>
            <a:r>
              <a:rPr lang="en-US" altLang="zh-CN" sz="3200" b="1" dirty="0"/>
              <a:t>t</a:t>
            </a:r>
            <a:r>
              <a:rPr lang="zh-CN" altLang="en-US" sz="3200" b="1" dirty="0"/>
              <a:t>的路径的隐含图上，搜索结束时，由</a:t>
            </a:r>
            <a:r>
              <a:rPr lang="en-US" altLang="zh-CN" sz="3200" b="1" dirty="0"/>
              <a:t>A</a:t>
            </a:r>
            <a:r>
              <a:rPr lang="en-US" altLang="zh-CN" sz="3200" b="1" baseline="-25000" dirty="0"/>
              <a:t>2</a:t>
            </a:r>
            <a:r>
              <a:rPr lang="zh-CN" altLang="en-US" sz="3200" b="1" dirty="0"/>
              <a:t>所扩展的每一个节点，也必定由</a:t>
            </a:r>
            <a:r>
              <a:rPr lang="en-US" altLang="zh-CN" sz="3200" b="1" dirty="0"/>
              <a:t>A</a:t>
            </a:r>
            <a:r>
              <a:rPr lang="en-US" altLang="zh-CN" sz="3200" b="1" baseline="-25000" dirty="0"/>
              <a:t>1</a:t>
            </a:r>
            <a:r>
              <a:rPr lang="zh-CN" altLang="en-US" sz="3200" b="1" dirty="0"/>
              <a:t>所扩展，即</a:t>
            </a:r>
            <a:r>
              <a:rPr lang="en-US" altLang="zh-CN" sz="3200" b="1" dirty="0"/>
              <a:t>A</a:t>
            </a:r>
            <a:r>
              <a:rPr lang="en-US" altLang="zh-CN" sz="3200" b="1" baseline="-25000" dirty="0"/>
              <a:t>1</a:t>
            </a:r>
            <a:r>
              <a:rPr lang="zh-CN" altLang="en-US" sz="3200" b="1" dirty="0"/>
              <a:t>扩展的节点数至少和</a:t>
            </a:r>
            <a:r>
              <a:rPr lang="en-US" altLang="zh-CN" sz="3200" b="1" dirty="0"/>
              <a:t>A</a:t>
            </a:r>
            <a:r>
              <a:rPr lang="en-US" altLang="zh-CN" sz="3200" b="1" baseline="-25000" dirty="0"/>
              <a:t>2</a:t>
            </a:r>
            <a:r>
              <a:rPr lang="zh-CN" altLang="en-US" sz="3200" b="1" dirty="0"/>
              <a:t>一样多。</a:t>
            </a:r>
            <a:endParaRPr lang="zh-CN" altLang="en-US" sz="3200" b="1" dirty="0"/>
          </a:p>
          <a:p>
            <a:pPr eaLnBrk="1" hangingPunct="1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zh-CN" altLang="en-US" sz="3200" b="1" dirty="0"/>
              <a:t>简写：如果</a:t>
            </a:r>
            <a:r>
              <a:rPr lang="en-US" altLang="zh-CN" sz="3200" b="1" dirty="0"/>
              <a:t>h</a:t>
            </a:r>
            <a:r>
              <a:rPr lang="en-US" altLang="zh-CN" sz="3200" b="1" baseline="-25000" dirty="0"/>
              <a:t>2</a:t>
            </a:r>
            <a:r>
              <a:rPr lang="en-US" altLang="zh-CN" sz="3200" b="1" dirty="0"/>
              <a:t>(n) </a:t>
            </a:r>
            <a:r>
              <a:rPr lang="en-US" altLang="zh-CN" sz="3200" b="1" dirty="0">
                <a:solidFill>
                  <a:schemeClr val="tx2"/>
                </a:solidFill>
              </a:rPr>
              <a:t>&gt; </a:t>
            </a:r>
            <a:r>
              <a:rPr lang="en-US" altLang="zh-CN" sz="3200" b="1" dirty="0"/>
              <a:t>h</a:t>
            </a:r>
            <a:r>
              <a:rPr lang="en-US" altLang="zh-CN" sz="3200" b="1" baseline="-25000" dirty="0"/>
              <a:t>1</a:t>
            </a:r>
            <a:r>
              <a:rPr lang="en-US" altLang="zh-CN" sz="3200" b="1" dirty="0"/>
              <a:t>(n) (</a:t>
            </a:r>
            <a:r>
              <a:rPr lang="zh-CN" altLang="en-US" sz="3200" b="1" dirty="0"/>
              <a:t>目标节点除外</a:t>
            </a:r>
            <a:r>
              <a:rPr lang="en-US" altLang="zh-CN" sz="3200" b="1" dirty="0"/>
              <a:t>)</a:t>
            </a:r>
            <a:r>
              <a:rPr lang="zh-CN" altLang="en-US" sz="3200" b="1" dirty="0"/>
              <a:t>，则</a:t>
            </a:r>
            <a:r>
              <a:rPr lang="en-US" altLang="zh-CN" sz="3200" b="1" dirty="0"/>
              <a:t>A</a:t>
            </a:r>
            <a:r>
              <a:rPr lang="en-US" altLang="zh-CN" sz="3200" b="1" baseline="-25000" dirty="0"/>
              <a:t>1</a:t>
            </a:r>
            <a:r>
              <a:rPr lang="zh-CN" altLang="en-US" sz="3200" b="1" dirty="0"/>
              <a:t>扩展的节点数</a:t>
            </a:r>
            <a:r>
              <a:rPr lang="zh-CN" altLang="en-US" sz="3200" b="1" dirty="0">
                <a:solidFill>
                  <a:schemeClr val="tx2"/>
                </a:solidFill>
              </a:rPr>
              <a:t>≥</a:t>
            </a:r>
            <a:r>
              <a:rPr lang="en-US" altLang="zh-CN" sz="3200" b="1" dirty="0"/>
              <a:t>A</a:t>
            </a:r>
            <a:r>
              <a:rPr lang="en-US" altLang="zh-CN" sz="3200" b="1" baseline="-25000" dirty="0"/>
              <a:t>2</a:t>
            </a:r>
            <a:r>
              <a:rPr lang="zh-CN" altLang="zh-CN" sz="3200" b="1" dirty="0"/>
              <a:t>扩展的节点数</a:t>
            </a:r>
            <a:endParaRPr lang="zh-CN" altLang="en-US" sz="3200" b="1" dirty="0"/>
          </a:p>
          <a:p>
            <a:endParaRPr lang="zh-CN" altLang="en-US" dirty="0"/>
          </a:p>
        </p:txBody>
      </p:sp>
      <p:sp>
        <p:nvSpPr>
          <p:cNvPr id="7577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9F33F06-7D24-40EB-892A-EB6E789373F4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71478B2-889C-4C37-9577-0EAEECAD6121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</a:rPr>
              <a:t>注意：</a:t>
            </a:r>
            <a:endParaRPr lang="zh-CN" altLang="en-US" sz="3200" b="1" dirty="0">
              <a:solidFill>
                <a:srgbClr val="FF000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folHlink"/>
                </a:solidFill>
              </a:rPr>
              <a:t>   </a:t>
            </a:r>
            <a:r>
              <a:rPr lang="zh-CN" altLang="en-US" sz="3200" b="1" dirty="0"/>
              <a:t>上述定理，评价指标是“扩展的节点数”，也就是说，</a:t>
            </a:r>
            <a:r>
              <a:rPr lang="zh-CN" altLang="en-US" sz="3200" b="1" u="sng" dirty="0"/>
              <a:t>同一个节点无论被扩展多少次，都只计算一次</a:t>
            </a:r>
            <a:r>
              <a:rPr lang="zh-CN" altLang="en-US" sz="3200" b="1" dirty="0"/>
              <a:t>。</a:t>
            </a:r>
            <a:endParaRPr lang="zh-CN" altLang="en-US" sz="3200" b="1" dirty="0">
              <a:solidFill>
                <a:schemeClr val="folHlink"/>
              </a:solidFill>
            </a:endParaRPr>
          </a:p>
        </p:txBody>
      </p:sp>
      <p:pic>
        <p:nvPicPr>
          <p:cNvPr id="2" name="Picture 2" descr="doodle so what cartoon sign 12966751 Vector Art at Vecteezy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4508" y="4229061"/>
            <a:ext cx="2399168" cy="1444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FEF3F18-AAFB-414A-8062-82866A7FD945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81923" name="Oval 2"/>
          <p:cNvSpPr>
            <a:spLocks noChangeArrowheads="1"/>
          </p:cNvSpPr>
          <p:nvPr/>
        </p:nvSpPr>
        <p:spPr bwMode="auto">
          <a:xfrm flipH="1">
            <a:off x="1371600" y="196532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4" name="Oval 3"/>
          <p:cNvSpPr>
            <a:spLocks noChangeArrowheads="1"/>
          </p:cNvSpPr>
          <p:nvPr/>
        </p:nvSpPr>
        <p:spPr bwMode="auto">
          <a:xfrm flipH="1">
            <a:off x="609600" y="280352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5" name="Oval 4"/>
          <p:cNvSpPr>
            <a:spLocks noChangeArrowheads="1"/>
          </p:cNvSpPr>
          <p:nvPr/>
        </p:nvSpPr>
        <p:spPr bwMode="auto">
          <a:xfrm flipH="1">
            <a:off x="1295400" y="326072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6" name="Oval 5"/>
          <p:cNvSpPr>
            <a:spLocks noChangeArrowheads="1"/>
          </p:cNvSpPr>
          <p:nvPr/>
        </p:nvSpPr>
        <p:spPr bwMode="auto">
          <a:xfrm flipH="1">
            <a:off x="2057400" y="364172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7" name="Oval 6"/>
          <p:cNvSpPr>
            <a:spLocks noChangeArrowheads="1"/>
          </p:cNvSpPr>
          <p:nvPr/>
        </p:nvSpPr>
        <p:spPr bwMode="auto">
          <a:xfrm flipH="1">
            <a:off x="990600" y="478472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8" name="Line 7"/>
          <p:cNvSpPr>
            <a:spLocks noChangeShapeType="1"/>
          </p:cNvSpPr>
          <p:nvPr/>
        </p:nvSpPr>
        <p:spPr bwMode="auto">
          <a:xfrm flipH="1">
            <a:off x="762000" y="2117725"/>
            <a:ext cx="609600" cy="685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9" name="Line 8"/>
          <p:cNvSpPr>
            <a:spLocks noChangeShapeType="1"/>
          </p:cNvSpPr>
          <p:nvPr/>
        </p:nvSpPr>
        <p:spPr bwMode="auto">
          <a:xfrm flipH="1">
            <a:off x="1371600" y="2193925"/>
            <a:ext cx="76200" cy="1066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0" name="Line 9"/>
          <p:cNvSpPr>
            <a:spLocks noChangeShapeType="1"/>
          </p:cNvSpPr>
          <p:nvPr/>
        </p:nvSpPr>
        <p:spPr bwMode="auto">
          <a:xfrm>
            <a:off x="1524000" y="2117725"/>
            <a:ext cx="609600" cy="1524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1" name="Line 10"/>
          <p:cNvSpPr>
            <a:spLocks noChangeShapeType="1"/>
          </p:cNvSpPr>
          <p:nvPr/>
        </p:nvSpPr>
        <p:spPr bwMode="auto">
          <a:xfrm flipH="1">
            <a:off x="1066800" y="3794125"/>
            <a:ext cx="990600" cy="990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2" name="Line 11"/>
          <p:cNvSpPr>
            <a:spLocks noChangeShapeType="1"/>
          </p:cNvSpPr>
          <p:nvPr/>
        </p:nvSpPr>
        <p:spPr bwMode="auto">
          <a:xfrm>
            <a:off x="762000" y="2955925"/>
            <a:ext cx="533400" cy="381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3" name="Line 12"/>
          <p:cNvSpPr>
            <a:spLocks noChangeShapeType="1"/>
          </p:cNvSpPr>
          <p:nvPr/>
        </p:nvSpPr>
        <p:spPr bwMode="auto">
          <a:xfrm>
            <a:off x="1447800" y="3413125"/>
            <a:ext cx="609600" cy="304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4" name="Text Box 13"/>
          <p:cNvSpPr txBox="1">
            <a:spLocks noChangeArrowheads="1"/>
          </p:cNvSpPr>
          <p:nvPr/>
        </p:nvSpPr>
        <p:spPr bwMode="auto">
          <a:xfrm>
            <a:off x="1474713" y="1704330"/>
            <a:ext cx="803426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s(10)</a:t>
            </a:r>
            <a:endParaRPr lang="en-US" altLang="zh-CN" sz="2400" b="1" dirty="0"/>
          </a:p>
        </p:txBody>
      </p:sp>
      <p:sp>
        <p:nvSpPr>
          <p:cNvPr id="81935" name="Text Box 14"/>
          <p:cNvSpPr txBox="1">
            <a:spLocks noChangeArrowheads="1"/>
          </p:cNvSpPr>
          <p:nvPr/>
        </p:nvSpPr>
        <p:spPr bwMode="auto">
          <a:xfrm>
            <a:off x="2128664" y="3533130"/>
            <a:ext cx="755336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A(1)</a:t>
            </a:r>
            <a:endParaRPr lang="en-US" altLang="zh-CN" sz="2400" b="1" dirty="0"/>
          </a:p>
        </p:txBody>
      </p:sp>
      <p:sp>
        <p:nvSpPr>
          <p:cNvPr id="81936" name="Text Box 15"/>
          <p:cNvSpPr txBox="1">
            <a:spLocks noChangeArrowheads="1"/>
          </p:cNvSpPr>
          <p:nvPr/>
        </p:nvSpPr>
        <p:spPr bwMode="auto">
          <a:xfrm>
            <a:off x="968456" y="3392151"/>
            <a:ext cx="739305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B(5)</a:t>
            </a:r>
            <a:endParaRPr lang="en-US" altLang="zh-CN" sz="2400" b="1" dirty="0"/>
          </a:p>
        </p:txBody>
      </p:sp>
      <p:sp>
        <p:nvSpPr>
          <p:cNvPr id="81937" name="Text Box 16"/>
          <p:cNvSpPr txBox="1">
            <a:spLocks noChangeArrowheads="1"/>
          </p:cNvSpPr>
          <p:nvPr/>
        </p:nvSpPr>
        <p:spPr bwMode="auto">
          <a:xfrm>
            <a:off x="107392" y="2390130"/>
            <a:ext cx="739305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/>
              <a:t>C(8)</a:t>
            </a:r>
            <a:endParaRPr lang="en-US" altLang="zh-CN" sz="2400" b="1"/>
          </a:p>
        </p:txBody>
      </p:sp>
      <p:sp>
        <p:nvSpPr>
          <p:cNvPr id="81938" name="Text Box 17"/>
          <p:cNvSpPr txBox="1">
            <a:spLocks noChangeArrowheads="1"/>
          </p:cNvSpPr>
          <p:nvPr/>
        </p:nvSpPr>
        <p:spPr bwMode="auto">
          <a:xfrm>
            <a:off x="556637" y="5133330"/>
            <a:ext cx="1071127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G </a:t>
            </a:r>
            <a:r>
              <a:rPr lang="zh-CN" altLang="en-US" sz="2400" b="1" dirty="0"/>
              <a:t>目标</a:t>
            </a:r>
            <a:endParaRPr lang="zh-CN" altLang="en-US" sz="2400" b="1" dirty="0"/>
          </a:p>
        </p:txBody>
      </p:sp>
      <p:sp>
        <p:nvSpPr>
          <p:cNvPr id="81939" name="Text Box 18"/>
          <p:cNvSpPr txBox="1">
            <a:spLocks noChangeArrowheads="1"/>
          </p:cNvSpPr>
          <p:nvPr/>
        </p:nvSpPr>
        <p:spPr bwMode="auto">
          <a:xfrm>
            <a:off x="1905000" y="2618730"/>
            <a:ext cx="32573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/>
              <a:t>6</a:t>
            </a:r>
            <a:endParaRPr lang="en-US" altLang="zh-CN" sz="2400" b="1"/>
          </a:p>
        </p:txBody>
      </p:sp>
      <p:sp>
        <p:nvSpPr>
          <p:cNvPr id="81940" name="Text Box 19"/>
          <p:cNvSpPr txBox="1">
            <a:spLocks noChangeArrowheads="1"/>
          </p:cNvSpPr>
          <p:nvPr/>
        </p:nvSpPr>
        <p:spPr bwMode="auto">
          <a:xfrm>
            <a:off x="1143000" y="2466330"/>
            <a:ext cx="32573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/>
              <a:t>3</a:t>
            </a:r>
            <a:endParaRPr lang="en-US" altLang="zh-CN" sz="2400" b="1"/>
          </a:p>
        </p:txBody>
      </p:sp>
      <p:sp>
        <p:nvSpPr>
          <p:cNvPr id="81941" name="Text Box 20"/>
          <p:cNvSpPr txBox="1">
            <a:spLocks noChangeArrowheads="1"/>
          </p:cNvSpPr>
          <p:nvPr/>
        </p:nvSpPr>
        <p:spPr bwMode="auto">
          <a:xfrm>
            <a:off x="914400" y="2009130"/>
            <a:ext cx="32573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/>
              <a:t>1</a:t>
            </a:r>
            <a:endParaRPr lang="en-US" altLang="zh-CN" sz="2400" b="1"/>
          </a:p>
        </p:txBody>
      </p:sp>
      <p:sp>
        <p:nvSpPr>
          <p:cNvPr id="81942" name="Text Box 21"/>
          <p:cNvSpPr txBox="1">
            <a:spLocks noChangeArrowheads="1"/>
          </p:cNvSpPr>
          <p:nvPr/>
        </p:nvSpPr>
        <p:spPr bwMode="auto">
          <a:xfrm>
            <a:off x="762000" y="3054322"/>
            <a:ext cx="32573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1</a:t>
            </a:r>
            <a:endParaRPr lang="en-US" altLang="zh-CN" sz="2400" b="1" dirty="0"/>
          </a:p>
        </p:txBody>
      </p:sp>
      <p:sp>
        <p:nvSpPr>
          <p:cNvPr id="81943" name="Text Box 22"/>
          <p:cNvSpPr txBox="1">
            <a:spLocks noChangeArrowheads="1"/>
          </p:cNvSpPr>
          <p:nvPr/>
        </p:nvSpPr>
        <p:spPr bwMode="auto">
          <a:xfrm>
            <a:off x="1600200" y="3152130"/>
            <a:ext cx="32573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/>
              <a:t>1</a:t>
            </a:r>
            <a:endParaRPr lang="en-US" altLang="zh-CN" sz="2400" b="1"/>
          </a:p>
        </p:txBody>
      </p:sp>
      <p:sp>
        <p:nvSpPr>
          <p:cNvPr id="81944" name="Text Box 23"/>
          <p:cNvSpPr txBox="1">
            <a:spLocks noChangeArrowheads="1"/>
          </p:cNvSpPr>
          <p:nvPr/>
        </p:nvSpPr>
        <p:spPr bwMode="auto">
          <a:xfrm>
            <a:off x="1295400" y="3990330"/>
            <a:ext cx="32573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/>
              <a:t>8</a:t>
            </a:r>
            <a:endParaRPr lang="en-US" altLang="zh-CN" sz="2400" b="1"/>
          </a:p>
        </p:txBody>
      </p:sp>
      <p:sp>
        <p:nvSpPr>
          <p:cNvPr id="128025" name="Text Box 25"/>
          <p:cNvSpPr txBox="1">
            <a:spLocks noChangeArrowheads="1"/>
          </p:cNvSpPr>
          <p:nvPr/>
        </p:nvSpPr>
        <p:spPr bwMode="auto">
          <a:xfrm>
            <a:off x="762000" y="652791"/>
            <a:ext cx="1980029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/>
              <a:t>一个例子：</a:t>
            </a:r>
            <a:endParaRPr lang="zh-CN" altLang="en-US" sz="2800" b="1" dirty="0"/>
          </a:p>
        </p:txBody>
      </p:sp>
      <p:grpSp>
        <p:nvGrpSpPr>
          <p:cNvPr id="2" name="Group 32"/>
          <p:cNvGrpSpPr/>
          <p:nvPr/>
        </p:nvGrpSpPr>
        <p:grpSpPr bwMode="auto">
          <a:xfrm>
            <a:off x="3810000" y="1293813"/>
            <a:ext cx="4800600" cy="4421188"/>
            <a:chOff x="2400" y="815"/>
            <a:chExt cx="3024" cy="2785"/>
          </a:xfrm>
        </p:grpSpPr>
        <p:sp>
          <p:nvSpPr>
            <p:cNvPr id="81969" name="Line 26"/>
            <p:cNvSpPr>
              <a:spLocks noChangeShapeType="1"/>
            </p:cNvSpPr>
            <p:nvPr/>
          </p:nvSpPr>
          <p:spPr bwMode="auto">
            <a:xfrm>
              <a:off x="2400" y="1152"/>
              <a:ext cx="30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 sz="2400" b="1"/>
            </a:p>
          </p:txBody>
        </p:sp>
        <p:sp>
          <p:nvSpPr>
            <p:cNvPr id="81970" name="Line 27"/>
            <p:cNvSpPr>
              <a:spLocks noChangeShapeType="1"/>
            </p:cNvSpPr>
            <p:nvPr/>
          </p:nvSpPr>
          <p:spPr bwMode="auto">
            <a:xfrm>
              <a:off x="3696" y="864"/>
              <a:ext cx="0" cy="27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 sz="2400" b="1"/>
            </a:p>
          </p:txBody>
        </p:sp>
        <p:sp>
          <p:nvSpPr>
            <p:cNvPr id="81971" name="Text Box 29"/>
            <p:cNvSpPr txBox="1">
              <a:spLocks noChangeArrowheads="1"/>
            </p:cNvSpPr>
            <p:nvPr/>
          </p:nvSpPr>
          <p:spPr bwMode="auto">
            <a:xfrm>
              <a:off x="2496" y="815"/>
              <a:ext cx="777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/>
                <a:t>OPEN</a:t>
              </a:r>
              <a:r>
                <a:rPr lang="zh-CN" altLang="en-US" sz="2400" b="1" dirty="0"/>
                <a:t>表</a:t>
              </a:r>
              <a:endParaRPr lang="zh-CN" altLang="en-US" sz="2400" b="1" dirty="0"/>
            </a:p>
          </p:txBody>
        </p:sp>
        <p:sp>
          <p:nvSpPr>
            <p:cNvPr id="81972" name="Text Box 30"/>
            <p:cNvSpPr txBox="1">
              <a:spLocks noChangeArrowheads="1"/>
            </p:cNvSpPr>
            <p:nvPr/>
          </p:nvSpPr>
          <p:spPr bwMode="auto">
            <a:xfrm>
              <a:off x="3936" y="815"/>
              <a:ext cx="996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/>
                <a:t>CLOSED</a:t>
              </a:r>
              <a:r>
                <a:rPr lang="zh-CN" altLang="en-US" sz="2400" b="1" dirty="0"/>
                <a:t>表</a:t>
              </a:r>
              <a:endParaRPr lang="zh-CN" altLang="en-US" sz="2400" b="1" dirty="0"/>
            </a:p>
          </p:txBody>
        </p:sp>
      </p:grpSp>
      <p:sp>
        <p:nvSpPr>
          <p:cNvPr id="128033" name="Text Box 33"/>
          <p:cNvSpPr txBox="1">
            <a:spLocks noChangeArrowheads="1"/>
          </p:cNvSpPr>
          <p:nvPr/>
        </p:nvSpPr>
        <p:spPr bwMode="auto">
          <a:xfrm>
            <a:off x="3581400" y="1902768"/>
            <a:ext cx="803425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/>
              <a:t>s(10)</a:t>
            </a:r>
            <a:endParaRPr lang="en-US" altLang="zh-CN" sz="2400" b="1"/>
          </a:p>
        </p:txBody>
      </p:sp>
      <p:sp>
        <p:nvSpPr>
          <p:cNvPr id="128034" name="Text Box 34"/>
          <p:cNvSpPr txBox="1">
            <a:spLocks noChangeArrowheads="1"/>
          </p:cNvSpPr>
          <p:nvPr/>
        </p:nvSpPr>
        <p:spPr bwMode="auto">
          <a:xfrm>
            <a:off x="6019800" y="1902768"/>
            <a:ext cx="803425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/>
              <a:t>s(10)</a:t>
            </a:r>
            <a:endParaRPr lang="en-US" altLang="zh-CN" sz="2400" b="1"/>
          </a:p>
        </p:txBody>
      </p:sp>
      <p:sp>
        <p:nvSpPr>
          <p:cNvPr id="128035" name="Text Box 35"/>
          <p:cNvSpPr txBox="1">
            <a:spLocks noChangeArrowheads="1"/>
          </p:cNvSpPr>
          <p:nvPr/>
        </p:nvSpPr>
        <p:spPr bwMode="auto">
          <a:xfrm>
            <a:off x="3581400" y="2359968"/>
            <a:ext cx="2002471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/>
              <a:t>A(7) B(8) C(9)</a:t>
            </a:r>
            <a:endParaRPr lang="en-US" altLang="zh-CN" sz="2400" b="1"/>
          </a:p>
        </p:txBody>
      </p:sp>
      <p:sp>
        <p:nvSpPr>
          <p:cNvPr id="128036" name="Text Box 36"/>
          <p:cNvSpPr txBox="1">
            <a:spLocks noChangeArrowheads="1"/>
          </p:cNvSpPr>
          <p:nvPr/>
        </p:nvSpPr>
        <p:spPr bwMode="auto">
          <a:xfrm>
            <a:off x="6019800" y="2283768"/>
            <a:ext cx="1443024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/>
              <a:t>A(7) s(10)</a:t>
            </a:r>
            <a:endParaRPr lang="en-US" altLang="zh-CN" sz="2400" b="1"/>
          </a:p>
        </p:txBody>
      </p:sp>
      <p:sp>
        <p:nvSpPr>
          <p:cNvPr id="128037" name="Text Box 37"/>
          <p:cNvSpPr txBox="1">
            <a:spLocks noChangeArrowheads="1"/>
          </p:cNvSpPr>
          <p:nvPr/>
        </p:nvSpPr>
        <p:spPr bwMode="auto">
          <a:xfrm>
            <a:off x="3581400" y="2817168"/>
            <a:ext cx="2143536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B(8) C(9) G(14)</a:t>
            </a:r>
            <a:endParaRPr lang="en-US" altLang="zh-CN" sz="2400" b="1" dirty="0"/>
          </a:p>
        </p:txBody>
      </p:sp>
      <p:sp>
        <p:nvSpPr>
          <p:cNvPr id="128038" name="Text Box 38"/>
          <p:cNvSpPr txBox="1">
            <a:spLocks noChangeArrowheads="1"/>
          </p:cNvSpPr>
          <p:nvPr/>
        </p:nvSpPr>
        <p:spPr bwMode="auto">
          <a:xfrm>
            <a:off x="3581400" y="3350568"/>
            <a:ext cx="2159566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/>
              <a:t>A(5) C(9) G(14)</a:t>
            </a:r>
            <a:endParaRPr lang="en-US" altLang="zh-CN" sz="2400" b="1"/>
          </a:p>
        </p:txBody>
      </p:sp>
      <p:sp>
        <p:nvSpPr>
          <p:cNvPr id="128039" name="Text Box 39"/>
          <p:cNvSpPr txBox="1">
            <a:spLocks noChangeArrowheads="1"/>
          </p:cNvSpPr>
          <p:nvPr/>
        </p:nvSpPr>
        <p:spPr bwMode="auto">
          <a:xfrm>
            <a:off x="3581400" y="3807768"/>
            <a:ext cx="151996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/>
              <a:t>C(9) G(12)</a:t>
            </a:r>
            <a:endParaRPr lang="en-US" altLang="zh-CN" sz="2400" b="1"/>
          </a:p>
        </p:txBody>
      </p:sp>
      <p:sp>
        <p:nvSpPr>
          <p:cNvPr id="128040" name="Text Box 40"/>
          <p:cNvSpPr txBox="1">
            <a:spLocks noChangeArrowheads="1"/>
          </p:cNvSpPr>
          <p:nvPr/>
        </p:nvSpPr>
        <p:spPr bwMode="auto">
          <a:xfrm>
            <a:off x="3599934" y="4264968"/>
            <a:ext cx="231666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B(7) G(12) D(14)</a:t>
            </a:r>
            <a:endParaRPr lang="en-US" altLang="zh-CN" sz="2400" b="1" dirty="0"/>
          </a:p>
        </p:txBody>
      </p:sp>
      <p:sp>
        <p:nvSpPr>
          <p:cNvPr id="128041" name="Text Box 41"/>
          <p:cNvSpPr txBox="1">
            <a:spLocks noChangeArrowheads="1"/>
          </p:cNvSpPr>
          <p:nvPr/>
        </p:nvSpPr>
        <p:spPr bwMode="auto">
          <a:xfrm>
            <a:off x="3599934" y="4694579"/>
            <a:ext cx="233269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A(4) G(12) D(14)</a:t>
            </a:r>
            <a:endParaRPr lang="en-US" altLang="zh-CN" sz="2400" b="1" dirty="0"/>
          </a:p>
        </p:txBody>
      </p:sp>
      <p:sp>
        <p:nvSpPr>
          <p:cNvPr id="128042" name="Text Box 42"/>
          <p:cNvSpPr txBox="1">
            <a:spLocks noChangeArrowheads="1"/>
          </p:cNvSpPr>
          <p:nvPr/>
        </p:nvSpPr>
        <p:spPr bwMode="auto">
          <a:xfrm>
            <a:off x="3608172" y="5255568"/>
            <a:ext cx="1693092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G(11) D(14)</a:t>
            </a:r>
            <a:endParaRPr lang="en-US" altLang="zh-CN" sz="2400" b="1" dirty="0"/>
          </a:p>
        </p:txBody>
      </p:sp>
      <p:sp>
        <p:nvSpPr>
          <p:cNvPr id="128043" name="Text Box 43"/>
          <p:cNvSpPr txBox="1">
            <a:spLocks noChangeArrowheads="1"/>
          </p:cNvSpPr>
          <p:nvPr/>
        </p:nvSpPr>
        <p:spPr bwMode="auto">
          <a:xfrm>
            <a:off x="6096000" y="2817168"/>
            <a:ext cx="1426994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/>
              <a:t>B(8) s(10)</a:t>
            </a:r>
            <a:endParaRPr lang="en-US" altLang="zh-CN" sz="2400" b="1"/>
          </a:p>
        </p:txBody>
      </p:sp>
      <p:sp>
        <p:nvSpPr>
          <p:cNvPr id="128044" name="Text Box 44"/>
          <p:cNvSpPr txBox="1">
            <a:spLocks noChangeArrowheads="1"/>
          </p:cNvSpPr>
          <p:nvPr/>
        </p:nvSpPr>
        <p:spPr bwMode="auto">
          <a:xfrm>
            <a:off x="6096000" y="3274368"/>
            <a:ext cx="2066591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/>
              <a:t>A(5) B(8) s(10)</a:t>
            </a:r>
            <a:endParaRPr lang="en-US" altLang="zh-CN" sz="2400" b="1"/>
          </a:p>
        </p:txBody>
      </p:sp>
      <p:sp>
        <p:nvSpPr>
          <p:cNvPr id="128045" name="Text Box 45"/>
          <p:cNvSpPr txBox="1">
            <a:spLocks noChangeArrowheads="1"/>
          </p:cNvSpPr>
          <p:nvPr/>
        </p:nvSpPr>
        <p:spPr bwMode="auto">
          <a:xfrm>
            <a:off x="6096000" y="3731568"/>
            <a:ext cx="205428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/>
              <a:t>C(9) A(5) s(10)</a:t>
            </a:r>
            <a:endParaRPr lang="en-US" altLang="zh-CN" sz="2400" b="1"/>
          </a:p>
        </p:txBody>
      </p:sp>
      <p:sp>
        <p:nvSpPr>
          <p:cNvPr id="128046" name="Text Box 46"/>
          <p:cNvSpPr txBox="1">
            <a:spLocks noChangeArrowheads="1"/>
          </p:cNvSpPr>
          <p:nvPr/>
        </p:nvSpPr>
        <p:spPr bwMode="auto">
          <a:xfrm>
            <a:off x="6096000" y="4188768"/>
            <a:ext cx="2050561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/>
              <a:t>B(7) C(9) s(10)</a:t>
            </a:r>
            <a:endParaRPr lang="en-US" altLang="zh-CN" sz="2400" b="1"/>
          </a:p>
        </p:txBody>
      </p:sp>
      <p:sp>
        <p:nvSpPr>
          <p:cNvPr id="128047" name="Text Box 47"/>
          <p:cNvSpPr txBox="1">
            <a:spLocks noChangeArrowheads="1"/>
          </p:cNvSpPr>
          <p:nvPr/>
        </p:nvSpPr>
        <p:spPr bwMode="auto">
          <a:xfrm>
            <a:off x="6096000" y="4645968"/>
            <a:ext cx="269016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/>
              <a:t>A(4) B(7) C(9) s(10)</a:t>
            </a:r>
            <a:endParaRPr lang="en-US" altLang="zh-CN" sz="2400" b="1"/>
          </a:p>
        </p:txBody>
      </p:sp>
      <p:grpSp>
        <p:nvGrpSpPr>
          <p:cNvPr id="3" name="Group 51"/>
          <p:cNvGrpSpPr/>
          <p:nvPr/>
        </p:nvGrpSpPr>
        <p:grpSpPr bwMode="auto">
          <a:xfrm>
            <a:off x="3657600" y="2819400"/>
            <a:ext cx="533400" cy="2286000"/>
            <a:chOff x="1872" y="1776"/>
            <a:chExt cx="336" cy="1440"/>
          </a:xfrm>
        </p:grpSpPr>
        <p:sp>
          <p:nvSpPr>
            <p:cNvPr id="81966" name="Line 48"/>
            <p:cNvSpPr>
              <a:spLocks noChangeShapeType="1"/>
            </p:cNvSpPr>
            <p:nvPr/>
          </p:nvSpPr>
          <p:spPr bwMode="auto">
            <a:xfrm>
              <a:off x="1872" y="1776"/>
              <a:ext cx="288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81967" name="Line 49"/>
            <p:cNvSpPr>
              <a:spLocks noChangeShapeType="1"/>
            </p:cNvSpPr>
            <p:nvPr/>
          </p:nvSpPr>
          <p:spPr bwMode="auto">
            <a:xfrm>
              <a:off x="1872" y="2352"/>
              <a:ext cx="288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81968" name="Line 50"/>
            <p:cNvSpPr>
              <a:spLocks noChangeShapeType="1"/>
            </p:cNvSpPr>
            <p:nvPr/>
          </p:nvSpPr>
          <p:spPr bwMode="auto">
            <a:xfrm>
              <a:off x="1920" y="3216"/>
              <a:ext cx="288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grpSp>
        <p:nvGrpSpPr>
          <p:cNvPr id="4" name="Group 54"/>
          <p:cNvGrpSpPr/>
          <p:nvPr/>
        </p:nvGrpSpPr>
        <p:grpSpPr bwMode="auto">
          <a:xfrm>
            <a:off x="3657600" y="3200400"/>
            <a:ext cx="533400" cy="1524000"/>
            <a:chOff x="1872" y="2016"/>
            <a:chExt cx="336" cy="960"/>
          </a:xfrm>
        </p:grpSpPr>
        <p:sp>
          <p:nvSpPr>
            <p:cNvPr id="81964" name="Line 52"/>
            <p:cNvSpPr>
              <a:spLocks noChangeShapeType="1"/>
            </p:cNvSpPr>
            <p:nvPr/>
          </p:nvSpPr>
          <p:spPr bwMode="auto">
            <a:xfrm>
              <a:off x="1872" y="2016"/>
              <a:ext cx="336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81965" name="Line 53"/>
            <p:cNvSpPr>
              <a:spLocks noChangeShapeType="1"/>
            </p:cNvSpPr>
            <p:nvPr/>
          </p:nvSpPr>
          <p:spPr bwMode="auto">
            <a:xfrm>
              <a:off x="1872" y="2976"/>
              <a:ext cx="336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sp>
        <p:nvSpPr>
          <p:cNvPr id="53" name="Oval 3"/>
          <p:cNvSpPr>
            <a:spLocks noChangeArrowheads="1"/>
          </p:cNvSpPr>
          <p:nvPr/>
        </p:nvSpPr>
        <p:spPr bwMode="auto">
          <a:xfrm flipH="1">
            <a:off x="611996" y="3916362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" name="Line 11"/>
          <p:cNvSpPr>
            <a:spLocks noChangeShapeType="1"/>
          </p:cNvSpPr>
          <p:nvPr/>
        </p:nvSpPr>
        <p:spPr bwMode="auto">
          <a:xfrm>
            <a:off x="674200" y="2955925"/>
            <a:ext cx="19702" cy="94106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" name="Text Box 14"/>
          <p:cNvSpPr txBox="1">
            <a:spLocks noChangeArrowheads="1"/>
          </p:cNvSpPr>
          <p:nvPr/>
        </p:nvSpPr>
        <p:spPr bwMode="auto">
          <a:xfrm>
            <a:off x="330712" y="4084493"/>
            <a:ext cx="912429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D(12)</a:t>
            </a:r>
            <a:endParaRPr lang="en-US" altLang="zh-CN" sz="2400" b="1" dirty="0"/>
          </a:p>
        </p:txBody>
      </p:sp>
      <p:sp>
        <p:nvSpPr>
          <p:cNvPr id="56" name="Text Box 21"/>
          <p:cNvSpPr txBox="1">
            <a:spLocks noChangeArrowheads="1"/>
          </p:cNvSpPr>
          <p:nvPr/>
        </p:nvSpPr>
        <p:spPr bwMode="auto">
          <a:xfrm>
            <a:off x="319607" y="3236267"/>
            <a:ext cx="32573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1</a:t>
            </a:r>
            <a:endParaRPr lang="en-US" altLang="zh-CN" sz="2400" b="1" dirty="0"/>
          </a:p>
        </p:txBody>
      </p:sp>
      <p:grpSp>
        <p:nvGrpSpPr>
          <p:cNvPr id="5" name="Group 4"/>
          <p:cNvGrpSpPr/>
          <p:nvPr/>
        </p:nvGrpSpPr>
        <p:grpSpPr>
          <a:xfrm>
            <a:off x="1987161" y="1201336"/>
            <a:ext cx="1176483" cy="550528"/>
            <a:chOff x="1987161" y="1201336"/>
            <a:chExt cx="1176483" cy="550528"/>
          </a:xfrm>
        </p:grpSpPr>
        <p:sp>
          <p:nvSpPr>
            <p:cNvPr id="6" name="TextBox 5"/>
            <p:cNvSpPr txBox="1"/>
            <p:nvPr/>
          </p:nvSpPr>
          <p:spPr>
            <a:xfrm>
              <a:off x="2237644" y="1201336"/>
              <a:ext cx="92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err="1">
                  <a:solidFill>
                    <a:srgbClr val="2B11EF"/>
                  </a:solidFill>
                </a:rPr>
                <a:t>h值</a:t>
              </a:r>
              <a:endParaRPr lang="en-US" b="1" dirty="0">
                <a:solidFill>
                  <a:srgbClr val="2B11EF"/>
                </a:solidFill>
              </a:endParaRPr>
            </a:p>
          </p:txBody>
        </p:sp>
        <p:cxnSp>
          <p:nvCxnSpPr>
            <p:cNvPr id="7" name="Straight Arrow Connector 6"/>
            <p:cNvCxnSpPr>
              <a:stCxn id="6" idx="1"/>
            </p:cNvCxnSpPr>
            <p:nvPr/>
          </p:nvCxnSpPr>
          <p:spPr>
            <a:xfrm flipH="1">
              <a:off x="1987161" y="1386002"/>
              <a:ext cx="250483" cy="365862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/>
          <p:cNvGrpSpPr/>
          <p:nvPr/>
        </p:nvGrpSpPr>
        <p:grpSpPr>
          <a:xfrm>
            <a:off x="2140263" y="5471999"/>
            <a:ext cx="3584673" cy="1195502"/>
            <a:chOff x="2140263" y="5471999"/>
            <a:chExt cx="3584673" cy="1195502"/>
          </a:xfrm>
        </p:grpSpPr>
        <p:sp>
          <p:nvSpPr>
            <p:cNvPr id="9" name="TextBox 8"/>
            <p:cNvSpPr txBox="1"/>
            <p:nvPr/>
          </p:nvSpPr>
          <p:spPr>
            <a:xfrm>
              <a:off x="3131589" y="5985301"/>
              <a:ext cx="25933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err="1">
                  <a:solidFill>
                    <a:srgbClr val="FF0000"/>
                  </a:solidFill>
                </a:rPr>
                <a:t>哪里出问题了</a:t>
              </a:r>
              <a:r>
                <a:rPr lang="zh-CN" altLang="en-US" b="1" dirty="0">
                  <a:solidFill>
                    <a:srgbClr val="FF0000"/>
                  </a:solidFill>
                </a:rPr>
                <a:t>？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pic>
          <p:nvPicPr>
            <p:cNvPr id="10" name="Picture 2" descr="Shocked Baby | Person Centered Tech"/>
            <p:cNvPicPr>
              <a:picLocks noChangeAspect="1" noChangeArrowheads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2577"/>
            <a:stretch>
              <a:fillRect/>
            </a:stretch>
          </p:blipFill>
          <p:spPr bwMode="auto">
            <a:xfrm>
              <a:off x="2140263" y="5471999"/>
              <a:ext cx="887673" cy="11955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440" y="141605"/>
            <a:ext cx="5622290" cy="58127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33" grpId="0" autoUpdateAnimBg="0"/>
      <p:bldP spid="128034" grpId="0" autoUpdateAnimBg="0"/>
      <p:bldP spid="128035" grpId="0" autoUpdateAnimBg="0"/>
      <p:bldP spid="128036" grpId="0" autoUpdateAnimBg="0"/>
      <p:bldP spid="128037" grpId="0" autoUpdateAnimBg="0"/>
      <p:bldP spid="128038" grpId="0" autoUpdateAnimBg="0"/>
      <p:bldP spid="128039" grpId="0" autoUpdateAnimBg="0"/>
      <p:bldP spid="128040" grpId="0" autoUpdateAnimBg="0"/>
      <p:bldP spid="128041" grpId="0" autoUpdateAnimBg="0"/>
      <p:bldP spid="128042" grpId="0" autoUpdateAnimBg="0"/>
      <p:bldP spid="128043" grpId="0" autoUpdateAnimBg="0"/>
      <p:bldP spid="128044" grpId="0" autoUpdateAnimBg="0"/>
      <p:bldP spid="128045" grpId="0" autoUpdateAnimBg="0"/>
      <p:bldP spid="128046" grpId="0" autoUpdateAnimBg="0"/>
      <p:bldP spid="128047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8F0654D-BC70-4395-9C49-82A16E122667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1.4.3</a:t>
            </a:r>
            <a:r>
              <a:rPr lang="zh-CN" altLang="en-US" dirty="0"/>
              <a:t> </a:t>
            </a:r>
            <a:r>
              <a:rPr lang="en-US" altLang="zh-CN" dirty="0"/>
              <a:t>A*</a:t>
            </a:r>
            <a:r>
              <a:rPr lang="zh-CN" altLang="en-US" dirty="0"/>
              <a:t>算法的改进</a:t>
            </a:r>
            <a:endParaRPr lang="zh-CN" altLang="en-US" dirty="0"/>
          </a:p>
        </p:txBody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815152"/>
            <a:ext cx="7772400" cy="4204648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3200" b="1" dirty="0"/>
              <a:t>问题的提出：</a:t>
            </a:r>
            <a:endParaRPr lang="zh-CN" altLang="en-US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200" b="1" dirty="0"/>
              <a:t>	因</a:t>
            </a:r>
            <a:r>
              <a:rPr lang="en-US" altLang="zh-CN" sz="3200" b="1" dirty="0"/>
              <a:t>A</a:t>
            </a:r>
            <a:r>
              <a:rPr lang="zh-CN" altLang="en-US" sz="3200" b="1"/>
              <a:t>算法对</a:t>
            </a:r>
            <a:r>
              <a:rPr lang="en-US" altLang="zh-CN" sz="3200" b="1" dirty="0"/>
              <a:t>m</a:t>
            </a:r>
            <a:r>
              <a:rPr lang="en-US" altLang="zh-CN" sz="3200" b="1" baseline="-25000" dirty="0"/>
              <a:t>l</a:t>
            </a:r>
            <a:r>
              <a:rPr lang="zh-CN" altLang="en-US" sz="3200" b="1" dirty="0"/>
              <a:t>类节点可能要重新放回到</a:t>
            </a:r>
            <a:r>
              <a:rPr lang="en-US" altLang="zh-CN" sz="3200" b="1" dirty="0"/>
              <a:t>OPEN</a:t>
            </a:r>
            <a:r>
              <a:rPr lang="zh-CN" altLang="en-US" sz="3200" b="1" dirty="0"/>
              <a:t>表中，因此可能会导致多次重复扩展同一个节点，导致搜索效率下降。</a:t>
            </a:r>
            <a:endParaRPr lang="zh-CN" altLang="en-US" sz="3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2F3694B-1DE9-4B35-BDA2-1EAFD50D190C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解决的途径</a:t>
            </a:r>
            <a:endParaRPr lang="zh-CN" altLang="en-US"/>
          </a:p>
        </p:txBody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746912"/>
            <a:ext cx="7772400" cy="4272887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3200" b="1" dirty="0"/>
              <a:t>对</a:t>
            </a:r>
            <a:r>
              <a:rPr lang="en-US" altLang="zh-CN" sz="3200" b="1" dirty="0">
                <a:solidFill>
                  <a:srgbClr val="FF0000"/>
                </a:solidFill>
              </a:rPr>
              <a:t>h</a:t>
            </a:r>
            <a:r>
              <a:rPr lang="zh-CN" altLang="en-US" sz="3200" b="1" dirty="0"/>
              <a:t>加以限制</a:t>
            </a:r>
            <a:endParaRPr lang="zh-CN" altLang="en-US" sz="3200" b="1" dirty="0"/>
          </a:p>
          <a:p>
            <a:pPr lvl="1" eaLnBrk="1" hangingPunct="1"/>
            <a:r>
              <a:rPr lang="zh-CN" altLang="en-US" sz="2800" b="1" dirty="0"/>
              <a:t>能否对</a:t>
            </a:r>
            <a:r>
              <a:rPr lang="en-US" altLang="zh-CN" sz="2800" b="1" dirty="0"/>
              <a:t>h</a:t>
            </a:r>
            <a:r>
              <a:rPr lang="zh-CN" altLang="en-US" sz="2800" b="1" dirty="0"/>
              <a:t>增加适当的限制，使得第一次扩展一个节点时，就找到了从</a:t>
            </a:r>
            <a:r>
              <a:rPr lang="en-US" altLang="zh-CN" sz="2800" b="1" dirty="0"/>
              <a:t>s</a:t>
            </a:r>
            <a:r>
              <a:rPr lang="zh-CN" altLang="en-US" sz="2800" b="1" dirty="0"/>
              <a:t>到该节点的最短路径。</a:t>
            </a:r>
            <a:endParaRPr lang="zh-CN" altLang="en-US" sz="2800" b="1" dirty="0"/>
          </a:p>
          <a:p>
            <a:pPr eaLnBrk="1" hangingPunct="1"/>
            <a:r>
              <a:rPr lang="zh-CN" altLang="en-US" sz="3200" b="1" dirty="0"/>
              <a:t>对</a:t>
            </a:r>
            <a:r>
              <a:rPr lang="zh-CN" altLang="en-US" sz="3200" b="1" dirty="0">
                <a:solidFill>
                  <a:srgbClr val="FF0000"/>
                </a:solidFill>
              </a:rPr>
              <a:t>算法</a:t>
            </a:r>
            <a:r>
              <a:rPr lang="zh-CN" altLang="en-US" sz="3200" b="1" dirty="0"/>
              <a:t>加以改进</a:t>
            </a:r>
            <a:endParaRPr lang="zh-CN" altLang="en-US" sz="3200" b="1" dirty="0"/>
          </a:p>
          <a:p>
            <a:pPr lvl="1" eaLnBrk="1" hangingPunct="1"/>
            <a:r>
              <a:rPr lang="zh-CN" altLang="en-US" sz="2800" b="1" dirty="0"/>
              <a:t>能否对算法加以改进，避免或减少节点的多次扩展。</a:t>
            </a:r>
            <a:endParaRPr lang="zh-CN" altLang="en-US" sz="2800" b="1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63BC169-7F44-4BB6-A7EF-20942407EC48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改进应满足的条件</a:t>
            </a:r>
            <a:endParaRPr lang="zh-CN" altLang="en-US" dirty="0"/>
          </a:p>
        </p:txBody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774208"/>
            <a:ext cx="7772400" cy="4245591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3200" b="1" dirty="0"/>
              <a:t>可采纳性不变</a:t>
            </a:r>
            <a:endParaRPr lang="zh-CN" altLang="en-US" sz="3200" b="1" dirty="0"/>
          </a:p>
          <a:p>
            <a:pPr eaLnBrk="1" hangingPunct="1"/>
            <a:r>
              <a:rPr lang="zh-CN" altLang="en-US" sz="3200" b="1" dirty="0"/>
              <a:t>不多扩展节点</a:t>
            </a:r>
            <a:endParaRPr lang="zh-CN" altLang="en-US" sz="3200" b="1" dirty="0"/>
          </a:p>
          <a:p>
            <a:pPr eaLnBrk="1" hangingPunct="1"/>
            <a:r>
              <a:rPr lang="zh-CN" altLang="en-US" sz="3200" b="1" dirty="0"/>
              <a:t>不增加算法的复杂性</a:t>
            </a:r>
            <a:endParaRPr lang="zh-CN" altLang="en-US" sz="3200" b="1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合理的</a:t>
            </a:r>
            <a:r>
              <a:rPr lang="en-US" altLang="zh-CN" dirty="0"/>
              <a:t>h</a:t>
            </a:r>
            <a:r>
              <a:rPr lang="zh-CN" altLang="en-US" dirty="0"/>
              <a:t>函数应该满足的条件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914400" y="1626354"/>
                <a:ext cx="4557137" cy="4572000"/>
              </a:xfrm>
            </p:spPr>
            <p:txBody>
              <a:bodyPr/>
              <a:lstStyle/>
              <a:p>
                <a:r>
                  <a:rPr lang="zh-CN" altLang="en-US" dirty="0"/>
                  <a:t>设</a:t>
                </a:r>
                <a:r>
                  <a:rPr lang="en-US" altLang="zh-CN" dirty="0" err="1"/>
                  <a:t>n</a:t>
                </a:r>
                <a:r>
                  <a:rPr lang="en-US" altLang="zh-CN" baseline="-25000" dirty="0" err="1"/>
                  <a:t>i</a:t>
                </a:r>
                <a:r>
                  <a:rPr lang="zh-CN" altLang="en-US" dirty="0"/>
                  <a:t>是</a:t>
                </a:r>
                <a:r>
                  <a:rPr lang="en-US" altLang="zh-CN" dirty="0" err="1"/>
                  <a:t>n</a:t>
                </a:r>
                <a:r>
                  <a:rPr lang="en-US" altLang="zh-CN" baseline="-25000" dirty="0" err="1"/>
                  <a:t>j</a:t>
                </a:r>
                <a:r>
                  <a:rPr lang="zh-CN" altLang="en-US" dirty="0"/>
                  <a:t>的父节点</a:t>
                </a:r>
                <a:endParaRPr lang="en-US" altLang="zh-CN" dirty="0"/>
              </a:p>
              <a:p>
                <a:r>
                  <a:rPr lang="en-US" altLang="zh-CN" dirty="0"/>
                  <a:t>C(</a:t>
                </a:r>
                <a:r>
                  <a:rPr lang="en-US" altLang="zh-CN" dirty="0" err="1"/>
                  <a:t>n</a:t>
                </a:r>
                <a:r>
                  <a:rPr lang="en-US" altLang="zh-CN" baseline="-25000" dirty="0" err="1"/>
                  <a:t>i</a:t>
                </a:r>
                <a:r>
                  <a:rPr lang="en-US" altLang="zh-CN" dirty="0" err="1"/>
                  <a:t>,n</a:t>
                </a:r>
                <a:r>
                  <a:rPr lang="en-US" altLang="zh-CN" baseline="-25000" dirty="0" err="1"/>
                  <a:t>j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为</a:t>
                </a:r>
                <a:r>
                  <a:rPr lang="en-US" altLang="zh-CN" dirty="0" err="1"/>
                  <a:t>n</a:t>
                </a:r>
                <a:r>
                  <a:rPr lang="en-US" altLang="zh-CN" baseline="-25000" dirty="0" err="1"/>
                  <a:t>i</a:t>
                </a:r>
                <a:r>
                  <a:rPr lang="zh-CN" altLang="en-US" dirty="0"/>
                  <a:t>、</a:t>
                </a:r>
                <a:r>
                  <a:rPr lang="en-US" altLang="zh-CN" dirty="0" err="1"/>
                  <a:t>n</a:t>
                </a:r>
                <a:r>
                  <a:rPr lang="en-US" altLang="zh-CN" baseline="-25000" dirty="0" err="1"/>
                  <a:t>j</a:t>
                </a:r>
                <a:r>
                  <a:rPr lang="zh-CN" altLang="en-US" dirty="0"/>
                  <a:t>间的耗散值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那么合理的</a:t>
                </a:r>
                <a:r>
                  <a:rPr lang="en-US" altLang="zh-CN" dirty="0"/>
                  <a:t>h</a:t>
                </a:r>
                <a:r>
                  <a:rPr lang="zh-CN" altLang="en-US" dirty="0"/>
                  <a:t>函数应该满足：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  h(</a:t>
                </a:r>
                <a:r>
                  <a:rPr lang="zh-CN" altLang="en-US" dirty="0"/>
                  <a:t>目标</a:t>
                </a:r>
                <a:r>
                  <a:rPr lang="en-US" altLang="zh-CN" dirty="0"/>
                  <a:t>)=0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914400" y="1626354"/>
                <a:ext cx="4557137" cy="4572000"/>
              </a:xfrm>
              <a:blipFill rotWithShape="1">
                <a:blip r:embed="rId1"/>
                <a:stretch>
                  <a:fillRect t="-3" r="8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5"/>
          <p:cNvSpPr>
            <a:spLocks noChangeArrowheads="1"/>
          </p:cNvSpPr>
          <p:nvPr/>
        </p:nvSpPr>
        <p:spPr bwMode="auto">
          <a:xfrm flipH="1">
            <a:off x="6896100" y="2208690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Oval 6"/>
          <p:cNvSpPr>
            <a:spLocks noChangeArrowheads="1"/>
          </p:cNvSpPr>
          <p:nvPr/>
        </p:nvSpPr>
        <p:spPr bwMode="auto">
          <a:xfrm flipH="1">
            <a:off x="6134100" y="3046890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Oval 7"/>
          <p:cNvSpPr>
            <a:spLocks noChangeArrowheads="1"/>
          </p:cNvSpPr>
          <p:nvPr/>
        </p:nvSpPr>
        <p:spPr bwMode="auto">
          <a:xfrm flipH="1">
            <a:off x="6819900" y="3504090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Oval 8"/>
          <p:cNvSpPr>
            <a:spLocks noChangeArrowheads="1"/>
          </p:cNvSpPr>
          <p:nvPr/>
        </p:nvSpPr>
        <p:spPr bwMode="auto">
          <a:xfrm flipH="1">
            <a:off x="7581900" y="3885090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Oval 9"/>
          <p:cNvSpPr>
            <a:spLocks noChangeArrowheads="1"/>
          </p:cNvSpPr>
          <p:nvPr/>
        </p:nvSpPr>
        <p:spPr bwMode="auto">
          <a:xfrm flipH="1">
            <a:off x="6515100" y="5028090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Line 10"/>
          <p:cNvSpPr>
            <a:spLocks noChangeShapeType="1"/>
          </p:cNvSpPr>
          <p:nvPr/>
        </p:nvSpPr>
        <p:spPr bwMode="auto">
          <a:xfrm flipH="1">
            <a:off x="6286500" y="2361090"/>
            <a:ext cx="609600" cy="685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Line 11"/>
          <p:cNvSpPr>
            <a:spLocks noChangeShapeType="1"/>
          </p:cNvSpPr>
          <p:nvPr/>
        </p:nvSpPr>
        <p:spPr bwMode="auto">
          <a:xfrm flipH="1">
            <a:off x="6896100" y="2437290"/>
            <a:ext cx="76200" cy="1066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Line 12"/>
          <p:cNvSpPr>
            <a:spLocks noChangeShapeType="1"/>
          </p:cNvSpPr>
          <p:nvPr/>
        </p:nvSpPr>
        <p:spPr bwMode="auto">
          <a:xfrm>
            <a:off x="7048500" y="2361090"/>
            <a:ext cx="609600" cy="1524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13"/>
          <p:cNvSpPr>
            <a:spLocks noChangeShapeType="1"/>
          </p:cNvSpPr>
          <p:nvPr/>
        </p:nvSpPr>
        <p:spPr bwMode="auto">
          <a:xfrm flipH="1">
            <a:off x="6591300" y="4037490"/>
            <a:ext cx="990600" cy="990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Line 14"/>
          <p:cNvSpPr>
            <a:spLocks noChangeShapeType="1"/>
          </p:cNvSpPr>
          <p:nvPr/>
        </p:nvSpPr>
        <p:spPr bwMode="auto">
          <a:xfrm>
            <a:off x="6286500" y="3199290"/>
            <a:ext cx="533400" cy="381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15"/>
          <p:cNvSpPr>
            <a:spLocks noChangeShapeType="1"/>
          </p:cNvSpPr>
          <p:nvPr/>
        </p:nvSpPr>
        <p:spPr bwMode="auto">
          <a:xfrm>
            <a:off x="6972300" y="3656490"/>
            <a:ext cx="609600" cy="304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Text Box 16"/>
          <p:cNvSpPr txBox="1">
            <a:spLocks noChangeArrowheads="1"/>
          </p:cNvSpPr>
          <p:nvPr/>
        </p:nvSpPr>
        <p:spPr bwMode="auto">
          <a:xfrm>
            <a:off x="6999213" y="1947695"/>
            <a:ext cx="803426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/>
              <a:t>s(10)</a:t>
            </a:r>
            <a:endParaRPr lang="en-US" altLang="zh-CN" sz="2400" b="1"/>
          </a:p>
        </p:txBody>
      </p:sp>
      <p:sp>
        <p:nvSpPr>
          <p:cNvPr id="16" name="Text Box 17"/>
          <p:cNvSpPr txBox="1">
            <a:spLocks noChangeArrowheads="1"/>
          </p:cNvSpPr>
          <p:nvPr/>
        </p:nvSpPr>
        <p:spPr bwMode="auto">
          <a:xfrm>
            <a:off x="7639516" y="3776495"/>
            <a:ext cx="755336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A(1)</a:t>
            </a:r>
            <a:endParaRPr lang="en-US" altLang="zh-CN" sz="2400" b="1" dirty="0"/>
          </a:p>
        </p:txBody>
      </p:sp>
      <p:sp>
        <p:nvSpPr>
          <p:cNvPr id="17" name="Text Box 18"/>
          <p:cNvSpPr txBox="1">
            <a:spLocks noChangeArrowheads="1"/>
          </p:cNvSpPr>
          <p:nvPr/>
        </p:nvSpPr>
        <p:spPr bwMode="auto">
          <a:xfrm>
            <a:off x="6506604" y="3635516"/>
            <a:ext cx="739305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B(5)</a:t>
            </a:r>
            <a:endParaRPr lang="en-US" altLang="zh-CN" sz="2400" b="1" dirty="0"/>
          </a:p>
        </p:txBody>
      </p:sp>
      <p:sp>
        <p:nvSpPr>
          <p:cNvPr id="18" name="Text Box 19"/>
          <p:cNvSpPr txBox="1">
            <a:spLocks noChangeArrowheads="1"/>
          </p:cNvSpPr>
          <p:nvPr/>
        </p:nvSpPr>
        <p:spPr bwMode="auto">
          <a:xfrm>
            <a:off x="5631892" y="2633495"/>
            <a:ext cx="739305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C(8)</a:t>
            </a:r>
            <a:endParaRPr lang="en-US" altLang="zh-CN" sz="2400" b="1" dirty="0"/>
          </a:p>
        </p:txBody>
      </p:sp>
      <p:sp>
        <p:nvSpPr>
          <p:cNvPr id="19" name="Text Box 20"/>
          <p:cNvSpPr txBox="1">
            <a:spLocks noChangeArrowheads="1"/>
          </p:cNvSpPr>
          <p:nvPr/>
        </p:nvSpPr>
        <p:spPr bwMode="auto">
          <a:xfrm>
            <a:off x="6081137" y="5376695"/>
            <a:ext cx="1071127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/>
              <a:t>G </a:t>
            </a:r>
            <a:r>
              <a:rPr lang="zh-CN" altLang="en-US" sz="2400" b="1"/>
              <a:t>目标</a:t>
            </a:r>
            <a:endParaRPr lang="zh-CN" altLang="en-US" sz="2400" b="1"/>
          </a:p>
        </p:txBody>
      </p:sp>
      <p:sp>
        <p:nvSpPr>
          <p:cNvPr id="20" name="Text Box 21"/>
          <p:cNvSpPr txBox="1">
            <a:spLocks noChangeArrowheads="1"/>
          </p:cNvSpPr>
          <p:nvPr/>
        </p:nvSpPr>
        <p:spPr bwMode="auto">
          <a:xfrm>
            <a:off x="7429500" y="2862095"/>
            <a:ext cx="32573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/>
              <a:t>6</a:t>
            </a:r>
            <a:endParaRPr lang="en-US" altLang="zh-CN" sz="2400" b="1"/>
          </a:p>
        </p:txBody>
      </p:sp>
      <p:sp>
        <p:nvSpPr>
          <p:cNvPr id="21" name="Text Box 22"/>
          <p:cNvSpPr txBox="1">
            <a:spLocks noChangeArrowheads="1"/>
          </p:cNvSpPr>
          <p:nvPr/>
        </p:nvSpPr>
        <p:spPr bwMode="auto">
          <a:xfrm>
            <a:off x="6667500" y="2709695"/>
            <a:ext cx="32573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/>
              <a:t>3</a:t>
            </a:r>
            <a:endParaRPr lang="en-US" altLang="zh-CN" sz="2400" b="1"/>
          </a:p>
        </p:txBody>
      </p:sp>
      <p:sp>
        <p:nvSpPr>
          <p:cNvPr id="22" name="Text Box 23"/>
          <p:cNvSpPr txBox="1">
            <a:spLocks noChangeArrowheads="1"/>
          </p:cNvSpPr>
          <p:nvPr/>
        </p:nvSpPr>
        <p:spPr bwMode="auto">
          <a:xfrm>
            <a:off x="6438900" y="2252495"/>
            <a:ext cx="32573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1</a:t>
            </a:r>
            <a:endParaRPr lang="en-US" altLang="zh-CN" sz="2400" b="1" dirty="0"/>
          </a:p>
        </p:txBody>
      </p:sp>
      <p:sp>
        <p:nvSpPr>
          <p:cNvPr id="23" name="Text Box 24"/>
          <p:cNvSpPr txBox="1">
            <a:spLocks noChangeArrowheads="1"/>
          </p:cNvSpPr>
          <p:nvPr/>
        </p:nvSpPr>
        <p:spPr bwMode="auto">
          <a:xfrm>
            <a:off x="6272852" y="3270391"/>
            <a:ext cx="32573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1</a:t>
            </a:r>
            <a:endParaRPr lang="en-US" altLang="zh-CN" sz="2400" b="1" dirty="0"/>
          </a:p>
        </p:txBody>
      </p:sp>
      <p:sp>
        <p:nvSpPr>
          <p:cNvPr id="24" name="Text Box 25"/>
          <p:cNvSpPr txBox="1">
            <a:spLocks noChangeArrowheads="1"/>
          </p:cNvSpPr>
          <p:nvPr/>
        </p:nvSpPr>
        <p:spPr bwMode="auto">
          <a:xfrm>
            <a:off x="7124700" y="3395495"/>
            <a:ext cx="32573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/>
              <a:t>1</a:t>
            </a:r>
            <a:endParaRPr lang="en-US" altLang="zh-CN" sz="2400" b="1"/>
          </a:p>
        </p:txBody>
      </p:sp>
      <p:sp>
        <p:nvSpPr>
          <p:cNvPr id="25" name="Text Box 26"/>
          <p:cNvSpPr txBox="1">
            <a:spLocks noChangeArrowheads="1"/>
          </p:cNvSpPr>
          <p:nvPr/>
        </p:nvSpPr>
        <p:spPr bwMode="auto">
          <a:xfrm>
            <a:off x="6819900" y="4233695"/>
            <a:ext cx="32573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/>
              <a:t>8</a:t>
            </a:r>
            <a:endParaRPr lang="en-US" altLang="zh-CN" sz="2400" b="1"/>
          </a:p>
        </p:txBody>
      </p:sp>
      <p:sp>
        <p:nvSpPr>
          <p:cNvPr id="26" name="Oval 3"/>
          <p:cNvSpPr>
            <a:spLocks noChangeArrowheads="1"/>
          </p:cNvSpPr>
          <p:nvPr/>
        </p:nvSpPr>
        <p:spPr bwMode="auto">
          <a:xfrm flipH="1">
            <a:off x="6164292" y="419113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Line 11"/>
          <p:cNvSpPr>
            <a:spLocks noChangeShapeType="1"/>
          </p:cNvSpPr>
          <p:nvPr/>
        </p:nvSpPr>
        <p:spPr bwMode="auto">
          <a:xfrm>
            <a:off x="6226496" y="3230698"/>
            <a:ext cx="19702" cy="94106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Text Box 14"/>
          <p:cNvSpPr txBox="1">
            <a:spLocks noChangeArrowheads="1"/>
          </p:cNvSpPr>
          <p:nvPr/>
        </p:nvSpPr>
        <p:spPr bwMode="auto">
          <a:xfrm>
            <a:off x="5883008" y="4359266"/>
            <a:ext cx="912429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D(12)</a:t>
            </a:r>
            <a:endParaRPr lang="en-US" altLang="zh-CN" sz="2400" b="1" dirty="0"/>
          </a:p>
        </p:txBody>
      </p:sp>
      <p:sp>
        <p:nvSpPr>
          <p:cNvPr id="29" name="Text Box 21"/>
          <p:cNvSpPr txBox="1">
            <a:spLocks noChangeArrowheads="1"/>
          </p:cNvSpPr>
          <p:nvPr/>
        </p:nvSpPr>
        <p:spPr bwMode="auto">
          <a:xfrm>
            <a:off x="5871903" y="3511040"/>
            <a:ext cx="32573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1</a:t>
            </a:r>
            <a:endParaRPr lang="en-US" altLang="zh-C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3CF24F0-E3B9-41BC-9F26-7682632B12C3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 dirty="0">
              <a:ea typeface="黑体" panose="02010609060101010101" pitchFamily="49" charset="-122"/>
            </a:endParaRPr>
          </a:p>
        </p:txBody>
      </p:sp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对</a:t>
            </a:r>
            <a:r>
              <a:rPr lang="en-US" altLang="zh-CN"/>
              <a:t>h</a:t>
            </a:r>
            <a:r>
              <a:rPr lang="zh-CN" altLang="en-US"/>
              <a:t>加以限制</a:t>
            </a:r>
            <a:endParaRPr lang="zh-CN" altLang="en-US"/>
          </a:p>
        </p:txBody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772400" cy="4876800"/>
          </a:xfrm>
        </p:spPr>
        <p:txBody>
          <a:bodyPr/>
          <a:lstStyle/>
          <a:p>
            <a:pPr eaLnBrk="1" hangingPunct="1"/>
            <a:r>
              <a:rPr lang="zh-CN" altLang="en-US" sz="3200" b="1" dirty="0"/>
              <a:t>定义：一个启发函数</a:t>
            </a:r>
            <a:r>
              <a:rPr lang="en-US" altLang="zh-CN" sz="3200" b="1" dirty="0"/>
              <a:t>h</a:t>
            </a:r>
            <a:r>
              <a:rPr lang="zh-CN" altLang="en-US" sz="3200" b="1" dirty="0"/>
              <a:t>，如果对所有节点</a:t>
            </a:r>
            <a:r>
              <a:rPr lang="en-US" altLang="zh-CN" sz="3200" b="1" dirty="0" err="1"/>
              <a:t>n</a:t>
            </a:r>
            <a:r>
              <a:rPr lang="en-US" altLang="zh-CN" sz="3200" b="1" baseline="-25000" dirty="0" err="1"/>
              <a:t>i</a:t>
            </a:r>
            <a:r>
              <a:rPr lang="zh-CN" altLang="en-US" sz="3200" b="1" dirty="0"/>
              <a:t>和</a:t>
            </a:r>
            <a:r>
              <a:rPr lang="en-US" altLang="zh-CN" sz="3200" b="1" dirty="0" err="1"/>
              <a:t>n</a:t>
            </a:r>
            <a:r>
              <a:rPr lang="en-US" altLang="zh-CN" sz="3200" b="1" baseline="-25000" dirty="0" err="1"/>
              <a:t>j</a:t>
            </a:r>
            <a:r>
              <a:rPr lang="zh-CN" altLang="en-US" sz="3200" b="1" dirty="0"/>
              <a:t>，其中</a:t>
            </a:r>
            <a:r>
              <a:rPr lang="en-US" altLang="zh-CN" sz="3200" b="1" dirty="0" err="1"/>
              <a:t>n</a:t>
            </a:r>
            <a:r>
              <a:rPr lang="en-US" altLang="zh-CN" sz="3200" b="1" baseline="-25000" dirty="0" err="1"/>
              <a:t>j</a:t>
            </a:r>
            <a:r>
              <a:rPr lang="zh-CN" altLang="en-US" sz="3200" b="1" dirty="0"/>
              <a:t>是</a:t>
            </a:r>
            <a:r>
              <a:rPr lang="en-US" altLang="zh-CN" sz="3200" b="1" dirty="0" err="1"/>
              <a:t>n</a:t>
            </a:r>
            <a:r>
              <a:rPr lang="en-US" altLang="zh-CN" sz="3200" b="1" baseline="-25000" dirty="0" err="1"/>
              <a:t>i</a:t>
            </a:r>
            <a:r>
              <a:rPr lang="zh-CN" altLang="en-US" sz="3200" b="1" dirty="0"/>
              <a:t>的子节点，满足</a:t>
            </a:r>
            <a:endParaRPr lang="zh-CN" altLang="en-US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3200" b="1" dirty="0"/>
              <a:t>		</a:t>
            </a:r>
            <a:r>
              <a:rPr lang="en-US" altLang="zh-CN" sz="3200" b="1" dirty="0"/>
              <a:t>h(</a:t>
            </a:r>
            <a:r>
              <a:rPr lang="en-US" altLang="zh-CN" sz="3200" b="1" dirty="0" err="1"/>
              <a:t>n</a:t>
            </a:r>
            <a:r>
              <a:rPr lang="en-US" altLang="zh-CN" sz="3200" b="1" baseline="-25000" dirty="0" err="1"/>
              <a:t>i</a:t>
            </a:r>
            <a:r>
              <a:rPr lang="en-US" altLang="zh-CN" sz="3200" b="1" dirty="0"/>
              <a:t>) - h(</a:t>
            </a:r>
            <a:r>
              <a:rPr lang="en-US" altLang="zh-CN" sz="3200" b="1" dirty="0" err="1"/>
              <a:t>n</a:t>
            </a:r>
            <a:r>
              <a:rPr lang="en-US" altLang="zh-CN" sz="3200" b="1" baseline="-25000" dirty="0" err="1"/>
              <a:t>j</a:t>
            </a:r>
            <a:r>
              <a:rPr lang="en-US" altLang="zh-CN" sz="3200" b="1" dirty="0"/>
              <a:t>) ≤ c(</a:t>
            </a:r>
            <a:r>
              <a:rPr lang="en-US" altLang="zh-CN" sz="3200" b="1" dirty="0" err="1"/>
              <a:t>n</a:t>
            </a:r>
            <a:r>
              <a:rPr lang="en-US" altLang="zh-CN" sz="3200" b="1" baseline="-25000" dirty="0" err="1"/>
              <a:t>i</a:t>
            </a:r>
            <a:r>
              <a:rPr lang="en-US" altLang="zh-CN" sz="3200" b="1" dirty="0"/>
              <a:t>, </a:t>
            </a:r>
            <a:r>
              <a:rPr lang="en-US" altLang="zh-CN" sz="3200" b="1" dirty="0" err="1"/>
              <a:t>n</a:t>
            </a:r>
            <a:r>
              <a:rPr lang="en-US" altLang="zh-CN" sz="3200" b="1" baseline="-25000" dirty="0" err="1"/>
              <a:t>j</a:t>
            </a:r>
            <a:r>
              <a:rPr lang="en-US" altLang="zh-CN" sz="3200" b="1" dirty="0"/>
              <a:t>)</a:t>
            </a:r>
            <a:endParaRPr lang="en-US" altLang="zh-CN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		h(t) = 0</a:t>
            </a:r>
            <a:endParaRPr lang="en-US" altLang="zh-CN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	</a:t>
            </a:r>
            <a:r>
              <a:rPr lang="zh-CN" altLang="en-US" sz="3200" b="1" dirty="0"/>
              <a:t>或</a:t>
            </a:r>
            <a:endParaRPr lang="zh-CN" altLang="en-US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200" b="1" dirty="0"/>
              <a:t>         </a:t>
            </a:r>
            <a:r>
              <a:rPr lang="en-US" altLang="zh-CN" sz="3200" b="1" dirty="0"/>
              <a:t>h(</a:t>
            </a:r>
            <a:r>
              <a:rPr lang="en-US" altLang="zh-CN" sz="3200" b="1" dirty="0" err="1"/>
              <a:t>n</a:t>
            </a:r>
            <a:r>
              <a:rPr lang="en-US" altLang="zh-CN" sz="3200" b="1" baseline="-25000" dirty="0" err="1"/>
              <a:t>i</a:t>
            </a:r>
            <a:r>
              <a:rPr lang="en-US" altLang="zh-CN" sz="3200" b="1" dirty="0"/>
              <a:t>) ≤ c(</a:t>
            </a:r>
            <a:r>
              <a:rPr lang="en-US" altLang="zh-CN" sz="3200" b="1" dirty="0" err="1"/>
              <a:t>n</a:t>
            </a:r>
            <a:r>
              <a:rPr lang="en-US" altLang="zh-CN" sz="3200" b="1" baseline="-25000" dirty="0" err="1"/>
              <a:t>i</a:t>
            </a:r>
            <a:r>
              <a:rPr lang="en-US" altLang="zh-CN" sz="3200" b="1" dirty="0"/>
              <a:t>, </a:t>
            </a:r>
            <a:r>
              <a:rPr lang="en-US" altLang="zh-CN" sz="3200" b="1" dirty="0" err="1"/>
              <a:t>n</a:t>
            </a:r>
            <a:r>
              <a:rPr lang="en-US" altLang="zh-CN" sz="3200" b="1" baseline="-25000" dirty="0" err="1"/>
              <a:t>j</a:t>
            </a:r>
            <a:r>
              <a:rPr lang="en-US" altLang="zh-CN" sz="3200" b="1" dirty="0"/>
              <a:t>) + h(</a:t>
            </a:r>
            <a:r>
              <a:rPr lang="en-US" altLang="zh-CN" sz="3200" b="1" dirty="0" err="1"/>
              <a:t>n</a:t>
            </a:r>
            <a:r>
              <a:rPr lang="en-US" altLang="zh-CN" sz="3200" b="1" baseline="-25000" dirty="0" err="1"/>
              <a:t>j</a:t>
            </a:r>
            <a:r>
              <a:rPr lang="en-US" altLang="zh-CN" sz="3200" b="1" dirty="0"/>
              <a:t>) </a:t>
            </a:r>
            <a:endParaRPr lang="en-US" altLang="zh-CN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		h(t) = 0</a:t>
            </a:r>
            <a:endParaRPr lang="en-US" altLang="zh-CN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    </a:t>
            </a:r>
            <a:r>
              <a:rPr lang="zh-CN" altLang="en-US" sz="3200" b="1" dirty="0"/>
              <a:t>则称</a:t>
            </a:r>
            <a:r>
              <a:rPr lang="en-US" altLang="zh-CN" sz="3200" b="1" dirty="0"/>
              <a:t>h</a:t>
            </a:r>
            <a:r>
              <a:rPr lang="zh-CN" altLang="en-US" sz="3200" b="1" dirty="0"/>
              <a:t>是单调的</a:t>
            </a:r>
            <a:r>
              <a:rPr lang="zh-CN" altLang="en-US" b="1" dirty="0"/>
              <a:t>。</a:t>
            </a:r>
            <a:endParaRPr lang="zh-CN" altLang="en-US" b="1" dirty="0"/>
          </a:p>
        </p:txBody>
      </p:sp>
      <p:sp>
        <p:nvSpPr>
          <p:cNvPr id="86021" name="AutoShape 4"/>
          <p:cNvSpPr/>
          <p:nvPr/>
        </p:nvSpPr>
        <p:spPr bwMode="auto">
          <a:xfrm>
            <a:off x="1371600" y="2514600"/>
            <a:ext cx="228600" cy="762000"/>
          </a:xfrm>
          <a:prstGeom prst="leftBrace">
            <a:avLst>
              <a:gd name="adj1" fmla="val 27778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2" name="Oval 5"/>
          <p:cNvSpPr>
            <a:spLocks noChangeArrowheads="1"/>
          </p:cNvSpPr>
          <p:nvPr/>
        </p:nvSpPr>
        <p:spPr bwMode="auto">
          <a:xfrm>
            <a:off x="7185462" y="3429000"/>
            <a:ext cx="152400" cy="1524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3" name="Oval 6"/>
          <p:cNvSpPr>
            <a:spLocks noChangeArrowheads="1"/>
          </p:cNvSpPr>
          <p:nvPr/>
        </p:nvSpPr>
        <p:spPr bwMode="auto">
          <a:xfrm>
            <a:off x="6423462" y="4343400"/>
            <a:ext cx="152400" cy="1524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4" name="Oval 7"/>
          <p:cNvSpPr>
            <a:spLocks noChangeArrowheads="1"/>
          </p:cNvSpPr>
          <p:nvPr/>
        </p:nvSpPr>
        <p:spPr bwMode="auto">
          <a:xfrm>
            <a:off x="8023662" y="5638800"/>
            <a:ext cx="152400" cy="1524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5" name="Line 8"/>
          <p:cNvSpPr>
            <a:spLocks noChangeShapeType="1"/>
          </p:cNvSpPr>
          <p:nvPr/>
        </p:nvSpPr>
        <p:spPr bwMode="auto">
          <a:xfrm flipH="1">
            <a:off x="6575862" y="3581400"/>
            <a:ext cx="609600" cy="762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6" name="Line 9"/>
          <p:cNvSpPr>
            <a:spLocks noChangeShapeType="1"/>
          </p:cNvSpPr>
          <p:nvPr/>
        </p:nvSpPr>
        <p:spPr bwMode="auto">
          <a:xfrm>
            <a:off x="7261662" y="3581400"/>
            <a:ext cx="838200" cy="2057400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7" name="Text Box 10"/>
          <p:cNvSpPr txBox="1">
            <a:spLocks noChangeArrowheads="1"/>
          </p:cNvSpPr>
          <p:nvPr/>
        </p:nvSpPr>
        <p:spPr bwMode="auto">
          <a:xfrm>
            <a:off x="7718862" y="4188768"/>
            <a:ext cx="814647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/>
              <a:t>h(n</a:t>
            </a:r>
            <a:r>
              <a:rPr lang="en-US" altLang="zh-CN" sz="2400" b="1" baseline="-25000"/>
              <a:t>i</a:t>
            </a:r>
            <a:r>
              <a:rPr lang="en-US" altLang="zh-CN" sz="2400" b="1"/>
              <a:t>)</a:t>
            </a:r>
            <a:endParaRPr lang="en-US" altLang="zh-CN" sz="2400" b="1"/>
          </a:p>
        </p:txBody>
      </p:sp>
      <p:sp>
        <p:nvSpPr>
          <p:cNvPr id="86028" name="Line 11"/>
          <p:cNvSpPr>
            <a:spLocks noChangeShapeType="1"/>
          </p:cNvSpPr>
          <p:nvPr/>
        </p:nvSpPr>
        <p:spPr bwMode="auto">
          <a:xfrm>
            <a:off x="6575862" y="4495800"/>
            <a:ext cx="1447800" cy="1143000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9" name="Text Box 12"/>
          <p:cNvSpPr txBox="1">
            <a:spLocks noChangeArrowheads="1"/>
          </p:cNvSpPr>
          <p:nvPr/>
        </p:nvSpPr>
        <p:spPr bwMode="auto">
          <a:xfrm>
            <a:off x="7033062" y="2893368"/>
            <a:ext cx="417102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 err="1"/>
              <a:t>n</a:t>
            </a:r>
            <a:r>
              <a:rPr lang="en-US" altLang="zh-CN" sz="2400" b="1" baseline="-25000" dirty="0" err="1"/>
              <a:t>i</a:t>
            </a:r>
            <a:endParaRPr lang="en-US" altLang="zh-CN" sz="2400" b="1" baseline="-25000" dirty="0"/>
          </a:p>
        </p:txBody>
      </p:sp>
      <p:sp>
        <p:nvSpPr>
          <p:cNvPr id="86030" name="Text Box 13"/>
          <p:cNvSpPr txBox="1">
            <a:spLocks noChangeArrowheads="1"/>
          </p:cNvSpPr>
          <p:nvPr/>
        </p:nvSpPr>
        <p:spPr bwMode="auto">
          <a:xfrm>
            <a:off x="5966262" y="4188768"/>
            <a:ext cx="417102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/>
              <a:t>n</a:t>
            </a:r>
            <a:r>
              <a:rPr lang="en-US" altLang="zh-CN" sz="2400" b="1" baseline="-25000"/>
              <a:t>j</a:t>
            </a:r>
            <a:endParaRPr lang="en-US" altLang="zh-CN" sz="2400" b="1" baseline="-25000"/>
          </a:p>
        </p:txBody>
      </p:sp>
      <p:sp>
        <p:nvSpPr>
          <p:cNvPr id="86031" name="Text Box 14"/>
          <p:cNvSpPr txBox="1">
            <a:spLocks noChangeArrowheads="1"/>
          </p:cNvSpPr>
          <p:nvPr/>
        </p:nvSpPr>
        <p:spPr bwMode="auto">
          <a:xfrm>
            <a:off x="6561575" y="5026968"/>
            <a:ext cx="814647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/>
              <a:t>h(n</a:t>
            </a:r>
            <a:r>
              <a:rPr lang="en-US" altLang="zh-CN" sz="2400" b="1" baseline="-25000"/>
              <a:t>j</a:t>
            </a:r>
            <a:r>
              <a:rPr lang="en-US" altLang="zh-CN" sz="2400" b="1"/>
              <a:t>)</a:t>
            </a:r>
            <a:endParaRPr lang="en-US" altLang="zh-CN" sz="2400" b="1"/>
          </a:p>
        </p:txBody>
      </p:sp>
      <p:sp>
        <p:nvSpPr>
          <p:cNvPr id="86032" name="Text Box 15"/>
          <p:cNvSpPr txBox="1">
            <a:spLocks noChangeArrowheads="1"/>
          </p:cNvSpPr>
          <p:nvPr/>
        </p:nvSpPr>
        <p:spPr bwMode="auto">
          <a:xfrm>
            <a:off x="5890062" y="3579168"/>
            <a:ext cx="109837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/>
              <a:t>c(n</a:t>
            </a:r>
            <a:r>
              <a:rPr lang="en-US" altLang="zh-CN" sz="2400" b="1" baseline="-25000"/>
              <a:t>i</a:t>
            </a:r>
            <a:r>
              <a:rPr lang="en-US" altLang="zh-CN" sz="2400" b="1"/>
              <a:t>,n</a:t>
            </a:r>
            <a:r>
              <a:rPr lang="en-US" altLang="zh-CN" sz="2400" b="1" baseline="-25000"/>
              <a:t>j</a:t>
            </a:r>
            <a:r>
              <a:rPr lang="en-US" altLang="zh-CN" sz="2400" b="1"/>
              <a:t>)</a:t>
            </a:r>
            <a:endParaRPr lang="en-US" altLang="zh-CN" sz="2400" b="1"/>
          </a:p>
        </p:txBody>
      </p:sp>
      <p:sp>
        <p:nvSpPr>
          <p:cNvPr id="86033" name="AutoShape 17"/>
          <p:cNvSpPr/>
          <p:nvPr/>
        </p:nvSpPr>
        <p:spPr bwMode="auto">
          <a:xfrm>
            <a:off x="1301750" y="4267200"/>
            <a:ext cx="260350" cy="762000"/>
          </a:xfrm>
          <a:prstGeom prst="leftBrace">
            <a:avLst>
              <a:gd name="adj1" fmla="val 24390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1943100" y="5830028"/>
                <a:ext cx="5257800" cy="5315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p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d>
                      <m:r>
                        <a:rPr lang="en-US" altLang="zh-CN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𝒉</m:t>
                      </m:r>
                      <m:d>
                        <m:d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𝒉</m:t>
                      </m:r>
                      <m:d>
                        <m:d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US" altLang="zh-CN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b="1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100" y="5830028"/>
                <a:ext cx="5257800" cy="531556"/>
              </a:xfrm>
              <a:prstGeom prst="rect">
                <a:avLst/>
              </a:prstGeom>
              <a:blipFill rotWithShape="1">
                <a:blip r:embed="rId1"/>
                <a:stretch>
                  <a:fillRect t="-17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16F366E-40EC-424F-B63A-6E3FB7296CDA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/>
              <a:t>h</a:t>
            </a:r>
            <a:r>
              <a:rPr lang="zh-CN" altLang="en-US"/>
              <a:t>单调的性质</a:t>
            </a:r>
            <a:endParaRPr lang="zh-CN" altLang="en-US"/>
          </a:p>
        </p:txBody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419600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3200" b="1" dirty="0"/>
              <a:t>定理：</a:t>
            </a:r>
            <a:endParaRPr lang="zh-CN" altLang="en-US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200" b="1" dirty="0"/>
              <a:t>	若</a:t>
            </a:r>
            <a:r>
              <a:rPr lang="en-US" altLang="zh-CN" sz="3200" b="1" dirty="0"/>
              <a:t>h(n)</a:t>
            </a:r>
            <a:r>
              <a:rPr lang="zh-CN" altLang="en-US" sz="3200" b="1" dirty="0"/>
              <a:t>是单调的，则</a:t>
            </a:r>
            <a:r>
              <a:rPr lang="en-US" altLang="zh-CN" sz="3200" b="1" dirty="0"/>
              <a:t>A*</a:t>
            </a:r>
            <a:r>
              <a:rPr lang="zh-CN" altLang="en-US" sz="3200" b="1" dirty="0"/>
              <a:t>扩展了节点</a:t>
            </a:r>
            <a:r>
              <a:rPr lang="en-US" altLang="zh-CN" sz="3200" b="1" dirty="0"/>
              <a:t>n</a:t>
            </a:r>
            <a:r>
              <a:rPr lang="zh-CN" altLang="en-US" sz="3200" b="1" dirty="0"/>
              <a:t>之</a:t>
            </a:r>
            <a:endParaRPr lang="en-US" altLang="zh-CN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   </a:t>
            </a:r>
            <a:r>
              <a:rPr lang="zh-CN" altLang="en-US" sz="3200" b="1" dirty="0"/>
              <a:t>后，就已经找到了到达节点</a:t>
            </a:r>
            <a:r>
              <a:rPr lang="en-US" altLang="zh-CN" sz="3200" b="1" dirty="0"/>
              <a:t>n</a:t>
            </a:r>
            <a:r>
              <a:rPr lang="zh-CN" altLang="en-US" sz="3200" b="1" dirty="0"/>
              <a:t>的最佳路径。</a:t>
            </a:r>
            <a:endParaRPr lang="zh-CN" altLang="en-US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200" b="1" dirty="0"/>
              <a:t>	即：当</a:t>
            </a:r>
            <a:r>
              <a:rPr lang="en-US" altLang="zh-CN" sz="3200" b="1" dirty="0"/>
              <a:t>A*</a:t>
            </a:r>
            <a:r>
              <a:rPr lang="zh-CN" altLang="en-US" sz="3200" b="1" dirty="0"/>
              <a:t>选</a:t>
            </a:r>
            <a:r>
              <a:rPr lang="en-US" altLang="zh-CN" sz="3200" b="1" dirty="0"/>
              <a:t>n</a:t>
            </a:r>
            <a:r>
              <a:rPr lang="zh-CN" altLang="en-US" sz="3200" b="1" dirty="0"/>
              <a:t>扩展时，有</a:t>
            </a:r>
            <a:r>
              <a:rPr lang="en-US" altLang="zh-CN" sz="3200" b="1" dirty="0"/>
              <a:t>g(n)=g*(n)</a:t>
            </a:r>
            <a:r>
              <a:rPr lang="zh-CN" altLang="en-US" sz="3200" b="1" dirty="0"/>
              <a:t>。</a:t>
            </a:r>
            <a:endParaRPr lang="en-US" altLang="zh-CN" sz="3200" b="1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3200" b="1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FEF3F18-AAFB-414A-8062-82866A7FD945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81923" name="Oval 2"/>
          <p:cNvSpPr>
            <a:spLocks noChangeArrowheads="1"/>
          </p:cNvSpPr>
          <p:nvPr/>
        </p:nvSpPr>
        <p:spPr bwMode="auto">
          <a:xfrm flipH="1">
            <a:off x="1371600" y="196532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4" name="Oval 3"/>
          <p:cNvSpPr>
            <a:spLocks noChangeArrowheads="1"/>
          </p:cNvSpPr>
          <p:nvPr/>
        </p:nvSpPr>
        <p:spPr bwMode="auto">
          <a:xfrm flipH="1">
            <a:off x="609600" y="280352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5" name="Oval 4"/>
          <p:cNvSpPr>
            <a:spLocks noChangeArrowheads="1"/>
          </p:cNvSpPr>
          <p:nvPr/>
        </p:nvSpPr>
        <p:spPr bwMode="auto">
          <a:xfrm flipH="1">
            <a:off x="1295400" y="326072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6" name="Oval 5"/>
          <p:cNvSpPr>
            <a:spLocks noChangeArrowheads="1"/>
          </p:cNvSpPr>
          <p:nvPr/>
        </p:nvSpPr>
        <p:spPr bwMode="auto">
          <a:xfrm flipH="1">
            <a:off x="2057400" y="364172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7" name="Oval 6"/>
          <p:cNvSpPr>
            <a:spLocks noChangeArrowheads="1"/>
          </p:cNvSpPr>
          <p:nvPr/>
        </p:nvSpPr>
        <p:spPr bwMode="auto">
          <a:xfrm flipH="1">
            <a:off x="990600" y="478472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8" name="Line 7"/>
          <p:cNvSpPr>
            <a:spLocks noChangeShapeType="1"/>
          </p:cNvSpPr>
          <p:nvPr/>
        </p:nvSpPr>
        <p:spPr bwMode="auto">
          <a:xfrm flipH="1">
            <a:off x="762000" y="2117725"/>
            <a:ext cx="609600" cy="685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9" name="Line 8"/>
          <p:cNvSpPr>
            <a:spLocks noChangeShapeType="1"/>
          </p:cNvSpPr>
          <p:nvPr/>
        </p:nvSpPr>
        <p:spPr bwMode="auto">
          <a:xfrm flipH="1">
            <a:off x="1371600" y="2193925"/>
            <a:ext cx="76200" cy="1066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0" name="Line 9"/>
          <p:cNvSpPr>
            <a:spLocks noChangeShapeType="1"/>
          </p:cNvSpPr>
          <p:nvPr/>
        </p:nvSpPr>
        <p:spPr bwMode="auto">
          <a:xfrm>
            <a:off x="1524000" y="2117725"/>
            <a:ext cx="609600" cy="1524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1" name="Line 10"/>
          <p:cNvSpPr>
            <a:spLocks noChangeShapeType="1"/>
          </p:cNvSpPr>
          <p:nvPr/>
        </p:nvSpPr>
        <p:spPr bwMode="auto">
          <a:xfrm flipH="1">
            <a:off x="1066800" y="3794125"/>
            <a:ext cx="990600" cy="990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2" name="Line 11"/>
          <p:cNvSpPr>
            <a:spLocks noChangeShapeType="1"/>
          </p:cNvSpPr>
          <p:nvPr/>
        </p:nvSpPr>
        <p:spPr bwMode="auto">
          <a:xfrm>
            <a:off x="762000" y="2955925"/>
            <a:ext cx="533400" cy="381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3" name="Line 12"/>
          <p:cNvSpPr>
            <a:spLocks noChangeShapeType="1"/>
          </p:cNvSpPr>
          <p:nvPr/>
        </p:nvSpPr>
        <p:spPr bwMode="auto">
          <a:xfrm>
            <a:off x="1447800" y="3413125"/>
            <a:ext cx="609600" cy="304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4" name="Text Box 13"/>
          <p:cNvSpPr txBox="1">
            <a:spLocks noChangeArrowheads="1"/>
          </p:cNvSpPr>
          <p:nvPr/>
        </p:nvSpPr>
        <p:spPr bwMode="auto">
          <a:xfrm>
            <a:off x="1545245" y="1704330"/>
            <a:ext cx="662361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s</a:t>
            </a:r>
            <a:r>
              <a:rPr lang="en-US" altLang="zh-CN" sz="2400" b="1" dirty="0">
                <a:solidFill>
                  <a:srgbClr val="2B11EF"/>
                </a:solidFill>
              </a:rPr>
              <a:t>(4)</a:t>
            </a:r>
            <a:endParaRPr lang="en-US" altLang="zh-CN" sz="2400" b="1" dirty="0">
              <a:solidFill>
                <a:srgbClr val="2B11EF"/>
              </a:solidFill>
            </a:endParaRPr>
          </a:p>
        </p:txBody>
      </p:sp>
      <p:sp>
        <p:nvSpPr>
          <p:cNvPr id="81935" name="Text Box 14"/>
          <p:cNvSpPr txBox="1">
            <a:spLocks noChangeArrowheads="1"/>
          </p:cNvSpPr>
          <p:nvPr/>
        </p:nvSpPr>
        <p:spPr bwMode="auto">
          <a:xfrm>
            <a:off x="2128664" y="3533130"/>
            <a:ext cx="755335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A</a:t>
            </a:r>
            <a:r>
              <a:rPr lang="en-US" altLang="zh-CN" sz="2400" b="1" dirty="0">
                <a:solidFill>
                  <a:srgbClr val="2B11EF"/>
                </a:solidFill>
              </a:rPr>
              <a:t>(5)</a:t>
            </a:r>
            <a:endParaRPr lang="en-US" altLang="zh-CN" sz="2400" b="1" dirty="0">
              <a:solidFill>
                <a:srgbClr val="2B11EF"/>
              </a:solidFill>
            </a:endParaRPr>
          </a:p>
        </p:txBody>
      </p:sp>
      <p:sp>
        <p:nvSpPr>
          <p:cNvPr id="81936" name="Text Box 15"/>
          <p:cNvSpPr txBox="1">
            <a:spLocks noChangeArrowheads="1"/>
          </p:cNvSpPr>
          <p:nvPr/>
        </p:nvSpPr>
        <p:spPr bwMode="auto">
          <a:xfrm>
            <a:off x="968456" y="3392151"/>
            <a:ext cx="739305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B(5)</a:t>
            </a:r>
            <a:endParaRPr lang="en-US" altLang="zh-CN" sz="2400" b="1" dirty="0"/>
          </a:p>
        </p:txBody>
      </p:sp>
      <p:sp>
        <p:nvSpPr>
          <p:cNvPr id="81937" name="Text Box 16"/>
          <p:cNvSpPr txBox="1">
            <a:spLocks noChangeArrowheads="1"/>
          </p:cNvSpPr>
          <p:nvPr/>
        </p:nvSpPr>
        <p:spPr bwMode="auto">
          <a:xfrm>
            <a:off x="107392" y="2390130"/>
            <a:ext cx="739305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C</a:t>
            </a:r>
            <a:r>
              <a:rPr lang="en-US" altLang="zh-CN" sz="2400" b="1" dirty="0">
                <a:solidFill>
                  <a:srgbClr val="2B11EF"/>
                </a:solidFill>
              </a:rPr>
              <a:t>(4)</a:t>
            </a:r>
            <a:endParaRPr lang="en-US" altLang="zh-CN" sz="2400" b="1" dirty="0">
              <a:solidFill>
                <a:srgbClr val="2B11EF"/>
              </a:solidFill>
            </a:endParaRPr>
          </a:p>
        </p:txBody>
      </p:sp>
      <p:sp>
        <p:nvSpPr>
          <p:cNvPr id="81938" name="Text Box 17"/>
          <p:cNvSpPr txBox="1">
            <a:spLocks noChangeArrowheads="1"/>
          </p:cNvSpPr>
          <p:nvPr/>
        </p:nvSpPr>
        <p:spPr bwMode="auto">
          <a:xfrm>
            <a:off x="556637" y="5133330"/>
            <a:ext cx="1071127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G </a:t>
            </a:r>
            <a:r>
              <a:rPr lang="zh-CN" altLang="en-US" sz="2400" b="1" dirty="0"/>
              <a:t>目标</a:t>
            </a:r>
            <a:endParaRPr lang="zh-CN" altLang="en-US" sz="2400" b="1" dirty="0"/>
          </a:p>
        </p:txBody>
      </p:sp>
      <p:sp>
        <p:nvSpPr>
          <p:cNvPr id="81939" name="Text Box 18"/>
          <p:cNvSpPr txBox="1">
            <a:spLocks noChangeArrowheads="1"/>
          </p:cNvSpPr>
          <p:nvPr/>
        </p:nvSpPr>
        <p:spPr bwMode="auto">
          <a:xfrm>
            <a:off x="1905000" y="2618730"/>
            <a:ext cx="32573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/>
              <a:t>6</a:t>
            </a:r>
            <a:endParaRPr lang="en-US" altLang="zh-CN" sz="2400" b="1"/>
          </a:p>
        </p:txBody>
      </p:sp>
      <p:sp>
        <p:nvSpPr>
          <p:cNvPr id="81940" name="Text Box 19"/>
          <p:cNvSpPr txBox="1">
            <a:spLocks noChangeArrowheads="1"/>
          </p:cNvSpPr>
          <p:nvPr/>
        </p:nvSpPr>
        <p:spPr bwMode="auto">
          <a:xfrm>
            <a:off x="1143000" y="2466330"/>
            <a:ext cx="32573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/>
              <a:t>3</a:t>
            </a:r>
            <a:endParaRPr lang="en-US" altLang="zh-CN" sz="2400" b="1"/>
          </a:p>
        </p:txBody>
      </p:sp>
      <p:sp>
        <p:nvSpPr>
          <p:cNvPr id="81941" name="Text Box 20"/>
          <p:cNvSpPr txBox="1">
            <a:spLocks noChangeArrowheads="1"/>
          </p:cNvSpPr>
          <p:nvPr/>
        </p:nvSpPr>
        <p:spPr bwMode="auto">
          <a:xfrm>
            <a:off x="914400" y="2009130"/>
            <a:ext cx="32573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/>
              <a:t>1</a:t>
            </a:r>
            <a:endParaRPr lang="en-US" altLang="zh-CN" sz="2400" b="1"/>
          </a:p>
        </p:txBody>
      </p:sp>
      <p:sp>
        <p:nvSpPr>
          <p:cNvPr id="81942" name="Text Box 21"/>
          <p:cNvSpPr txBox="1">
            <a:spLocks noChangeArrowheads="1"/>
          </p:cNvSpPr>
          <p:nvPr/>
        </p:nvSpPr>
        <p:spPr bwMode="auto">
          <a:xfrm>
            <a:off x="762000" y="3054322"/>
            <a:ext cx="32573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1</a:t>
            </a:r>
            <a:endParaRPr lang="en-US" altLang="zh-CN" sz="2400" b="1" dirty="0"/>
          </a:p>
        </p:txBody>
      </p:sp>
      <p:sp>
        <p:nvSpPr>
          <p:cNvPr id="81943" name="Text Box 22"/>
          <p:cNvSpPr txBox="1">
            <a:spLocks noChangeArrowheads="1"/>
          </p:cNvSpPr>
          <p:nvPr/>
        </p:nvSpPr>
        <p:spPr bwMode="auto">
          <a:xfrm>
            <a:off x="1600200" y="3152130"/>
            <a:ext cx="32573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/>
              <a:t>1</a:t>
            </a:r>
            <a:endParaRPr lang="en-US" altLang="zh-CN" sz="2400" b="1"/>
          </a:p>
        </p:txBody>
      </p:sp>
      <p:sp>
        <p:nvSpPr>
          <p:cNvPr id="81944" name="Text Box 23"/>
          <p:cNvSpPr txBox="1">
            <a:spLocks noChangeArrowheads="1"/>
          </p:cNvSpPr>
          <p:nvPr/>
        </p:nvSpPr>
        <p:spPr bwMode="auto">
          <a:xfrm>
            <a:off x="1295400" y="3990330"/>
            <a:ext cx="32573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/>
              <a:t>8</a:t>
            </a:r>
            <a:endParaRPr lang="en-US" altLang="zh-CN" sz="2400" b="1"/>
          </a:p>
        </p:txBody>
      </p:sp>
      <p:sp>
        <p:nvSpPr>
          <p:cNvPr id="128025" name="Text Box 25"/>
          <p:cNvSpPr txBox="1">
            <a:spLocks noChangeArrowheads="1"/>
          </p:cNvSpPr>
          <p:nvPr/>
        </p:nvSpPr>
        <p:spPr bwMode="auto">
          <a:xfrm>
            <a:off x="762000" y="652791"/>
            <a:ext cx="2953053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/>
              <a:t>改进</a:t>
            </a:r>
            <a:r>
              <a:rPr lang="en-US" altLang="zh-CN" sz="2800" b="1" dirty="0"/>
              <a:t>h</a:t>
            </a:r>
            <a:r>
              <a:rPr lang="zh-CN" altLang="en-US" sz="2800" b="1" dirty="0"/>
              <a:t>后的例子：</a:t>
            </a:r>
            <a:endParaRPr lang="zh-CN" altLang="en-US" sz="2800" b="1" dirty="0"/>
          </a:p>
        </p:txBody>
      </p:sp>
      <p:sp>
        <p:nvSpPr>
          <p:cNvPr id="53" name="Oval 3"/>
          <p:cNvSpPr>
            <a:spLocks noChangeArrowheads="1"/>
          </p:cNvSpPr>
          <p:nvPr/>
        </p:nvSpPr>
        <p:spPr bwMode="auto">
          <a:xfrm flipH="1">
            <a:off x="611996" y="3916362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" name="Line 11"/>
          <p:cNvSpPr>
            <a:spLocks noChangeShapeType="1"/>
          </p:cNvSpPr>
          <p:nvPr/>
        </p:nvSpPr>
        <p:spPr bwMode="auto">
          <a:xfrm>
            <a:off x="674200" y="2955925"/>
            <a:ext cx="19702" cy="94106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" name="Text Box 14"/>
          <p:cNvSpPr txBox="1">
            <a:spLocks noChangeArrowheads="1"/>
          </p:cNvSpPr>
          <p:nvPr/>
        </p:nvSpPr>
        <p:spPr bwMode="auto">
          <a:xfrm>
            <a:off x="330712" y="4084493"/>
            <a:ext cx="912429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D(12)</a:t>
            </a:r>
            <a:endParaRPr lang="en-US" altLang="zh-CN" sz="2400" b="1" dirty="0"/>
          </a:p>
        </p:txBody>
      </p:sp>
      <p:sp>
        <p:nvSpPr>
          <p:cNvPr id="56" name="Text Box 21"/>
          <p:cNvSpPr txBox="1">
            <a:spLocks noChangeArrowheads="1"/>
          </p:cNvSpPr>
          <p:nvPr/>
        </p:nvSpPr>
        <p:spPr bwMode="auto">
          <a:xfrm>
            <a:off x="319607" y="3236267"/>
            <a:ext cx="32573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1</a:t>
            </a:r>
            <a:endParaRPr lang="en-US" altLang="zh-CN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704120" y="4676259"/>
            <a:ext cx="2953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还能凑出其他单调的h值吗</a:t>
            </a:r>
            <a:r>
              <a:rPr lang="zh-CN" altLang="en-US" dirty="0">
                <a:solidFill>
                  <a:srgbClr val="FF0000"/>
                </a:solidFill>
              </a:rPr>
              <a:t>？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0995" y="1401445"/>
            <a:ext cx="6001385" cy="24523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sz="2800" b="1" dirty="0"/>
              <a:t>思考题：</a:t>
            </a:r>
            <a:endParaRPr lang="en-US" altLang="zh-CN" sz="2800" b="1" dirty="0"/>
          </a:p>
          <a:p>
            <a:pPr marL="0" indent="0">
              <a:buNone/>
            </a:pPr>
            <a:r>
              <a:rPr lang="en-US" altLang="zh-CN" sz="2800" b="1" dirty="0"/>
              <a:t>h(n)</a:t>
            </a:r>
            <a:r>
              <a:rPr lang="zh-CN" altLang="en-US" sz="2800" b="1" dirty="0"/>
              <a:t>单调与</a:t>
            </a:r>
            <a:r>
              <a:rPr lang="en-US" altLang="zh-CN" sz="2800" b="1" dirty="0"/>
              <a:t>A</a:t>
            </a:r>
            <a:r>
              <a:rPr lang="zh-CN" altLang="en-US" sz="2800" b="1" dirty="0"/>
              <a:t>*条件的关系，即当</a:t>
            </a:r>
            <a:r>
              <a:rPr lang="en-US" altLang="zh-CN" sz="2800" b="1" dirty="0"/>
              <a:t>h(n)</a:t>
            </a:r>
            <a:r>
              <a:rPr lang="zh-CN" altLang="en-US" sz="2800" b="1" dirty="0"/>
              <a:t>满足单调条件时，是否一定满足</a:t>
            </a:r>
            <a:r>
              <a:rPr lang="en-US" altLang="zh-CN" sz="2800" b="1" dirty="0"/>
              <a:t>A</a:t>
            </a:r>
            <a:r>
              <a:rPr lang="zh-CN" altLang="en-US" sz="2800" b="1" dirty="0"/>
              <a:t>*条件。</a:t>
            </a:r>
            <a:endParaRPr lang="zh-CN" altLang="en-US" sz="2800" b="1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提示：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利用单调条件，从目标及目标的父节点向上归纳</a:t>
            </a:r>
            <a:endParaRPr lang="en-US" altLang="zh-CN" dirty="0"/>
          </a:p>
          <a:p>
            <a:pPr lvl="1"/>
            <a:r>
              <a:rPr lang="zh-CN" altLang="en-US" dirty="0"/>
              <a:t>结论是满足单调的</a:t>
            </a:r>
            <a:r>
              <a:rPr lang="en-US" altLang="zh-CN" dirty="0"/>
              <a:t>h</a:t>
            </a:r>
            <a:r>
              <a:rPr lang="zh-CN" altLang="en-US" dirty="0"/>
              <a:t>一定满足</a:t>
            </a:r>
            <a:r>
              <a:rPr lang="en-US" altLang="zh-CN" dirty="0"/>
              <a:t>A</a:t>
            </a:r>
            <a:r>
              <a:rPr lang="zh-CN" altLang="en-US" dirty="0"/>
              <a:t>*条件。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2C3FF74-1B7C-4B0B-8F75-1DC8662E93E6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/>
              <a:t>h</a:t>
            </a:r>
            <a:r>
              <a:rPr lang="zh-CN" altLang="en-US"/>
              <a:t>单调的例子</a:t>
            </a:r>
            <a:endParaRPr lang="zh-CN" altLang="en-US"/>
          </a:p>
        </p:txBody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772400" cy="48768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CN" sz="3200" b="1" dirty="0"/>
              <a:t>8</a:t>
            </a:r>
            <a:r>
              <a:rPr lang="zh-CN" altLang="en-US" sz="3200" b="1" dirty="0"/>
              <a:t>数码问题：</a:t>
            </a:r>
            <a:endParaRPr lang="zh-CN" altLang="en-US" sz="3200" b="1" dirty="0"/>
          </a:p>
          <a:p>
            <a:pPr lvl="1">
              <a:buNone/>
            </a:pPr>
            <a:r>
              <a:rPr lang="en-US" altLang="zh-CN" sz="3200" b="1" dirty="0"/>
              <a:t>h</a:t>
            </a:r>
            <a:r>
              <a:rPr lang="zh-CN" altLang="en-US" sz="3200" b="1" dirty="0"/>
              <a:t>为“不在位”的将牌数，</a:t>
            </a:r>
            <a:r>
              <a:rPr lang="en-US" altLang="zh-CN" sz="3200" b="1" dirty="0" err="1"/>
              <a:t>n</a:t>
            </a:r>
            <a:r>
              <a:rPr lang="en-US" altLang="zh-CN" sz="3200" b="1" baseline="-25000" dirty="0" err="1"/>
              <a:t>j</a:t>
            </a:r>
            <a:r>
              <a:rPr lang="zh-CN" altLang="zh-CN" sz="3200" b="1" dirty="0"/>
              <a:t>为</a:t>
            </a:r>
            <a:r>
              <a:rPr lang="en-US" altLang="zh-CN" sz="3200" b="1" dirty="0" err="1"/>
              <a:t>n</a:t>
            </a:r>
            <a:r>
              <a:rPr lang="en-US" altLang="zh-CN" sz="3200" b="1" baseline="-25000" dirty="0" err="1"/>
              <a:t>i</a:t>
            </a:r>
            <a:r>
              <a:rPr lang="zh-CN" altLang="zh-CN" sz="3200" b="1" dirty="0"/>
              <a:t>的后继节点</a:t>
            </a:r>
            <a:r>
              <a:rPr lang="zh-CN" altLang="en-US" sz="3200" b="1" dirty="0"/>
              <a:t>                      </a:t>
            </a:r>
            <a:r>
              <a:rPr lang="en-US" altLang="zh-CN" sz="3200" b="1" dirty="0"/>
              <a:t>1</a:t>
            </a:r>
            <a:endParaRPr lang="en-US" altLang="zh-CN" sz="3200" b="1" dirty="0"/>
          </a:p>
          <a:p>
            <a:pPr lvl="1" eaLnBrk="1" hangingPunct="1">
              <a:buFontTx/>
              <a:buNone/>
            </a:pPr>
            <a:r>
              <a:rPr lang="en-US" altLang="zh-CN" sz="3200" b="1" dirty="0"/>
              <a:t>	h(</a:t>
            </a:r>
            <a:r>
              <a:rPr lang="en-US" altLang="zh-CN" sz="3200" b="1" dirty="0" err="1"/>
              <a:t>n</a:t>
            </a:r>
            <a:r>
              <a:rPr lang="en-US" altLang="zh-CN" sz="3200" b="1" baseline="-25000" dirty="0" err="1"/>
              <a:t>i</a:t>
            </a:r>
            <a:r>
              <a:rPr lang="en-US" altLang="zh-CN" sz="3200" b="1" dirty="0"/>
              <a:t>) - h(</a:t>
            </a:r>
            <a:r>
              <a:rPr lang="en-US" altLang="zh-CN" sz="3200" b="1" dirty="0" err="1"/>
              <a:t>n</a:t>
            </a:r>
            <a:r>
              <a:rPr lang="en-US" altLang="zh-CN" sz="3200" b="1" baseline="-25000" dirty="0" err="1"/>
              <a:t>j</a:t>
            </a:r>
            <a:r>
              <a:rPr lang="en-US" altLang="zh-CN" sz="3200" b="1" dirty="0"/>
              <a:t>) =     0         </a:t>
            </a:r>
            <a:endParaRPr lang="en-US" altLang="zh-CN" sz="3200" b="1" dirty="0"/>
          </a:p>
          <a:p>
            <a:pPr lvl="1" eaLnBrk="1" hangingPunct="1">
              <a:buFontTx/>
              <a:buNone/>
            </a:pPr>
            <a:r>
              <a:rPr lang="en-US" altLang="zh-CN" sz="3200" b="1" dirty="0"/>
              <a:t>                                -1  </a:t>
            </a:r>
            <a:endParaRPr lang="en-US" altLang="zh-CN" sz="3200" b="1" dirty="0"/>
          </a:p>
          <a:p>
            <a:pPr lvl="1" eaLnBrk="1" hangingPunct="1">
              <a:buFontTx/>
              <a:buNone/>
            </a:pPr>
            <a:r>
              <a:rPr lang="en-US" altLang="zh-CN" sz="3200" b="1" dirty="0"/>
              <a:t>	h(t) = 0</a:t>
            </a:r>
            <a:endParaRPr lang="en-US" altLang="zh-CN" sz="3200" b="1" dirty="0"/>
          </a:p>
          <a:p>
            <a:pPr lvl="1" eaLnBrk="1" hangingPunct="1">
              <a:buFontTx/>
              <a:buNone/>
            </a:pPr>
            <a:r>
              <a:rPr lang="en-US" altLang="zh-CN" sz="3200" b="1" dirty="0"/>
              <a:t>	c(</a:t>
            </a:r>
            <a:r>
              <a:rPr lang="en-US" altLang="zh-CN" sz="3200" b="1" dirty="0" err="1"/>
              <a:t>n</a:t>
            </a:r>
            <a:r>
              <a:rPr lang="en-US" altLang="zh-CN" sz="3200" b="1" baseline="-25000" dirty="0" err="1"/>
              <a:t>i</a:t>
            </a:r>
            <a:r>
              <a:rPr lang="en-US" altLang="zh-CN" sz="3200" b="1" dirty="0"/>
              <a:t>, </a:t>
            </a:r>
            <a:r>
              <a:rPr lang="en-US" altLang="zh-CN" sz="3200" b="1" dirty="0" err="1"/>
              <a:t>n</a:t>
            </a:r>
            <a:r>
              <a:rPr lang="en-US" altLang="zh-CN" sz="3200" b="1" baseline="-25000" dirty="0" err="1"/>
              <a:t>j</a:t>
            </a:r>
            <a:r>
              <a:rPr lang="en-US" altLang="zh-CN" sz="3200" b="1" dirty="0"/>
              <a:t>) = 1</a:t>
            </a:r>
            <a:endParaRPr lang="en-US" altLang="zh-CN" sz="3200" b="1" dirty="0"/>
          </a:p>
          <a:p>
            <a:pPr lvl="1" eaLnBrk="1" hangingPunct="1">
              <a:buFontTx/>
              <a:buNone/>
            </a:pPr>
            <a:endParaRPr lang="en-US" altLang="zh-CN" sz="3200" b="1" dirty="0"/>
          </a:p>
          <a:p>
            <a:pPr lvl="1" eaLnBrk="1" hangingPunct="1">
              <a:buFontTx/>
              <a:buNone/>
            </a:pPr>
            <a:r>
              <a:rPr lang="en-US" altLang="zh-CN" sz="3200" b="1" dirty="0"/>
              <a:t>   </a:t>
            </a:r>
            <a:r>
              <a:rPr lang="zh-CN" altLang="en-US" sz="3200" b="1" dirty="0"/>
              <a:t>满足单调的条件。</a:t>
            </a:r>
            <a:endParaRPr lang="en-US" altLang="zh-CN" sz="3200" b="1" dirty="0"/>
          </a:p>
          <a:p>
            <a:pPr lvl="1">
              <a:buNone/>
            </a:pPr>
            <a:r>
              <a:rPr lang="zh-CN" altLang="en-US" sz="3200" b="1" dirty="0"/>
              <a:t>   </a:t>
            </a:r>
            <a:r>
              <a:rPr lang="en-US" altLang="zh-CN" sz="3200" b="1" dirty="0"/>
              <a:t>h(</a:t>
            </a:r>
            <a:r>
              <a:rPr lang="en-US" altLang="zh-CN" sz="3200" b="1" dirty="0" err="1"/>
              <a:t>n</a:t>
            </a:r>
            <a:r>
              <a:rPr lang="en-US" altLang="zh-CN" sz="3200" b="1" baseline="-25000" dirty="0" err="1"/>
              <a:t>i</a:t>
            </a:r>
            <a:r>
              <a:rPr lang="en-US" altLang="zh-CN" sz="3200" b="1" dirty="0"/>
              <a:t>) - h(</a:t>
            </a:r>
            <a:r>
              <a:rPr lang="en-US" altLang="zh-CN" sz="3200" b="1" dirty="0" err="1"/>
              <a:t>n</a:t>
            </a:r>
            <a:r>
              <a:rPr lang="en-US" altLang="zh-CN" sz="3200" b="1" baseline="-25000" dirty="0" err="1"/>
              <a:t>j</a:t>
            </a:r>
            <a:r>
              <a:rPr lang="en-US" altLang="zh-CN" sz="3200" b="1" dirty="0"/>
              <a:t>) ≤ c(</a:t>
            </a:r>
            <a:r>
              <a:rPr lang="en-US" altLang="zh-CN" sz="3200" b="1" dirty="0" err="1"/>
              <a:t>n</a:t>
            </a:r>
            <a:r>
              <a:rPr lang="en-US" altLang="zh-CN" sz="3200" b="1" baseline="-25000" dirty="0" err="1"/>
              <a:t>i</a:t>
            </a:r>
            <a:r>
              <a:rPr lang="en-US" altLang="zh-CN" sz="3200" b="1" dirty="0"/>
              <a:t>, </a:t>
            </a:r>
            <a:r>
              <a:rPr lang="en-US" altLang="zh-CN" sz="3200" b="1" dirty="0" err="1"/>
              <a:t>n</a:t>
            </a:r>
            <a:r>
              <a:rPr lang="en-US" altLang="zh-CN" sz="3200" b="1" baseline="-25000" dirty="0" err="1"/>
              <a:t>j</a:t>
            </a:r>
            <a:r>
              <a:rPr lang="en-US" altLang="zh-CN" sz="3200" b="1" dirty="0"/>
              <a:t>)</a:t>
            </a:r>
            <a:endParaRPr lang="en-US" altLang="zh-CN" sz="3200" b="1" dirty="0"/>
          </a:p>
          <a:p>
            <a:pPr lvl="1" eaLnBrk="1" hangingPunct="1">
              <a:buFontTx/>
              <a:buNone/>
            </a:pPr>
            <a:r>
              <a:rPr lang="zh-CN" altLang="en-US" sz="3200" dirty="0"/>
              <a:t>	</a:t>
            </a:r>
            <a:endParaRPr lang="zh-CN" altLang="en-US" sz="3200" dirty="0"/>
          </a:p>
        </p:txBody>
      </p:sp>
      <p:sp>
        <p:nvSpPr>
          <p:cNvPr id="88069" name="AutoShape 4"/>
          <p:cNvSpPr/>
          <p:nvPr/>
        </p:nvSpPr>
        <p:spPr bwMode="auto">
          <a:xfrm>
            <a:off x="3733800" y="2514600"/>
            <a:ext cx="152400" cy="1143000"/>
          </a:xfrm>
          <a:prstGeom prst="leftBrace">
            <a:avLst>
              <a:gd name="adj1" fmla="val 62500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10CC6B6-5F0D-4932-81AC-09AF03725A4C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对算法加以改进</a:t>
            </a:r>
            <a:endParaRPr lang="zh-CN" altLang="en-US"/>
          </a:p>
        </p:txBody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883390"/>
            <a:ext cx="7772400" cy="4136409"/>
          </a:xfrm>
        </p:spPr>
        <p:txBody>
          <a:bodyPr/>
          <a:lstStyle/>
          <a:p>
            <a:pPr eaLnBrk="1" hangingPunct="1"/>
            <a:r>
              <a:rPr lang="zh-CN" altLang="en-US" sz="3200" b="1" dirty="0"/>
              <a:t>一些结论：</a:t>
            </a:r>
            <a:endParaRPr lang="zh-CN" altLang="en-US" sz="3200" b="1" dirty="0"/>
          </a:p>
          <a:p>
            <a:pPr lvl="1" eaLnBrk="1" hangingPunct="1"/>
            <a:r>
              <a:rPr lang="en-US" altLang="zh-CN" sz="2800" b="1" dirty="0"/>
              <a:t>OPEN</a:t>
            </a:r>
            <a:r>
              <a:rPr lang="zh-CN" altLang="en-US" sz="2800" b="1" dirty="0"/>
              <a:t>表上任意具有</a:t>
            </a:r>
            <a:r>
              <a:rPr lang="en-US" altLang="zh-CN" sz="2800" b="1" dirty="0"/>
              <a:t>f(n) &lt; f*(s)</a:t>
            </a:r>
            <a:r>
              <a:rPr lang="zh-CN" altLang="en-US" sz="2800" b="1" dirty="0"/>
              <a:t>的节点定会被</a:t>
            </a:r>
            <a:r>
              <a:rPr lang="en-US" altLang="zh-CN" sz="2800" b="1" dirty="0"/>
              <a:t>A</a:t>
            </a:r>
            <a:r>
              <a:rPr lang="zh-CN" altLang="en-US" sz="2800" b="1" dirty="0"/>
              <a:t>*扩展。</a:t>
            </a:r>
            <a:endParaRPr lang="zh-CN" altLang="en-US" sz="2800" b="1" dirty="0"/>
          </a:p>
          <a:p>
            <a:pPr lvl="1" eaLnBrk="1" hangingPunct="1"/>
            <a:r>
              <a:rPr lang="en-US" altLang="zh-CN" sz="2800" b="1" dirty="0"/>
              <a:t>A*</a:t>
            </a:r>
            <a:r>
              <a:rPr lang="zh-CN" altLang="en-US" sz="2800" b="1" dirty="0"/>
              <a:t>选作扩展的任一节点，定有</a:t>
            </a:r>
            <a:r>
              <a:rPr lang="en-US" altLang="zh-CN" sz="2800" b="1" dirty="0"/>
              <a:t>f(n)≤f*(s)</a:t>
            </a:r>
            <a:r>
              <a:rPr lang="zh-CN" altLang="en-US" sz="2800" b="1" dirty="0"/>
              <a:t>。</a:t>
            </a:r>
            <a:endParaRPr lang="zh-CN" altLang="en-US" sz="2800" b="1" dirty="0"/>
          </a:p>
          <a:p>
            <a:pPr lvl="1" eaLnBrk="1" hangingPunct="1"/>
            <a:r>
              <a:rPr lang="zh-CN" altLang="en-US" sz="2800" b="1" dirty="0"/>
              <a:t>当</a:t>
            </a:r>
            <a:r>
              <a:rPr lang="en-US" altLang="zh-CN" sz="2800" b="1" dirty="0"/>
              <a:t>h(n)</a:t>
            </a:r>
            <a:r>
              <a:rPr lang="zh-CN" altLang="en-US" sz="2800" b="1" dirty="0"/>
              <a:t>恒等于</a:t>
            </a:r>
            <a:r>
              <a:rPr lang="en-US" altLang="zh-CN" sz="2800" b="1" dirty="0"/>
              <a:t>0</a:t>
            </a:r>
            <a:r>
              <a:rPr lang="zh-CN" altLang="en-US" sz="2800" b="1" dirty="0"/>
              <a:t>时，</a:t>
            </a:r>
            <a:r>
              <a:rPr lang="en-US" altLang="zh-CN" sz="2800" b="1" dirty="0"/>
              <a:t>h</a:t>
            </a:r>
            <a:r>
              <a:rPr lang="zh-CN" altLang="en-US" sz="2800" b="1" dirty="0"/>
              <a:t>为单调的。</a:t>
            </a:r>
            <a:endParaRPr lang="zh-CN" altLang="en-US" sz="2800" b="1" dirty="0"/>
          </a:p>
          <a:p>
            <a:pPr lvl="1" eaLnBrk="1" hangingPunct="1"/>
            <a:endParaRPr lang="en-US" altLang="zh-CN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C9CC2AC-851F-4CE3-B9A5-A2CD5476BEA2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改进的出发点</a:t>
            </a:r>
            <a:endParaRPr lang="zh-CN" altLang="en-US"/>
          </a:p>
        </p:txBody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489576"/>
            <a:ext cx="7772400" cy="609600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OPEN = ( … …    … … )</a:t>
            </a:r>
            <a:endParaRPr lang="en-US" altLang="zh-CN" sz="3200" b="1" dirty="0"/>
          </a:p>
        </p:txBody>
      </p:sp>
      <p:sp>
        <p:nvSpPr>
          <p:cNvPr id="90117" name="Line 4"/>
          <p:cNvSpPr>
            <a:spLocks noChangeShapeType="1"/>
          </p:cNvSpPr>
          <p:nvPr/>
        </p:nvSpPr>
        <p:spPr bwMode="auto">
          <a:xfrm>
            <a:off x="3581400" y="2337176"/>
            <a:ext cx="0" cy="1066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18" name="Text Box 5"/>
          <p:cNvSpPr txBox="1">
            <a:spLocks noChangeArrowheads="1"/>
          </p:cNvSpPr>
          <p:nvPr/>
        </p:nvSpPr>
        <p:spPr bwMode="auto">
          <a:xfrm>
            <a:off x="3276600" y="1694567"/>
            <a:ext cx="87395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/>
              <a:t>f*(s)</a:t>
            </a:r>
            <a:endParaRPr lang="en-US" altLang="zh-CN" sz="2800" b="1" dirty="0"/>
          </a:p>
        </p:txBody>
      </p:sp>
      <p:sp>
        <p:nvSpPr>
          <p:cNvPr id="90119" name="AutoShape 7"/>
          <p:cNvSpPr>
            <a:spLocks noChangeArrowheads="1"/>
          </p:cNvSpPr>
          <p:nvPr/>
        </p:nvSpPr>
        <p:spPr bwMode="auto">
          <a:xfrm>
            <a:off x="228600" y="3937376"/>
            <a:ext cx="2895600" cy="990600"/>
          </a:xfrm>
          <a:prstGeom prst="wedgeRoundRectCallout">
            <a:avLst>
              <a:gd name="adj1" fmla="val 41778"/>
              <a:gd name="adj2" fmla="val -136537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r>
              <a:rPr lang="en-US" altLang="zh-CN" sz="2400" b="1"/>
              <a:t>f</a:t>
            </a:r>
            <a:r>
              <a:rPr lang="zh-CN" altLang="zh-CN" sz="2400" b="1"/>
              <a:t>值小于</a:t>
            </a:r>
            <a:r>
              <a:rPr lang="en-US" altLang="zh-CN" sz="2400" b="1"/>
              <a:t>f*(s)</a:t>
            </a:r>
            <a:r>
              <a:rPr lang="zh-CN" altLang="zh-CN" sz="2400" b="1"/>
              <a:t>的节点</a:t>
            </a:r>
            <a:endParaRPr lang="zh-CN" altLang="en-US" sz="2400" b="1"/>
          </a:p>
        </p:txBody>
      </p:sp>
      <p:sp>
        <p:nvSpPr>
          <p:cNvPr id="90120" name="AutoShape 8"/>
          <p:cNvSpPr>
            <a:spLocks noChangeArrowheads="1"/>
          </p:cNvSpPr>
          <p:nvPr/>
        </p:nvSpPr>
        <p:spPr bwMode="auto">
          <a:xfrm>
            <a:off x="4572000" y="3937376"/>
            <a:ext cx="3352800" cy="990600"/>
          </a:xfrm>
          <a:prstGeom prst="wedgeRoundRectCallout">
            <a:avLst>
              <a:gd name="adj1" fmla="val -57102"/>
              <a:gd name="adj2" fmla="val -136537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r>
              <a:rPr lang="en-US" altLang="zh-CN" sz="2400" b="1"/>
              <a:t>f</a:t>
            </a:r>
            <a:r>
              <a:rPr lang="zh-CN" altLang="zh-CN" sz="2400" b="1"/>
              <a:t>值大于等于</a:t>
            </a:r>
            <a:r>
              <a:rPr lang="en-US" altLang="zh-CN" sz="2400" b="1"/>
              <a:t>f*(s)</a:t>
            </a:r>
            <a:r>
              <a:rPr lang="zh-CN" altLang="zh-CN" sz="2400" b="1"/>
              <a:t>的节点</a:t>
            </a:r>
            <a:endParaRPr lang="zh-CN" altLang="en-US" sz="2400" b="1"/>
          </a:p>
        </p:txBody>
      </p:sp>
      <p:sp>
        <p:nvSpPr>
          <p:cNvPr id="90121" name="Text Box 9"/>
          <p:cNvSpPr txBox="1">
            <a:spLocks noChangeArrowheads="1"/>
          </p:cNvSpPr>
          <p:nvPr/>
        </p:nvSpPr>
        <p:spPr bwMode="auto">
          <a:xfrm>
            <a:off x="425450" y="5646163"/>
            <a:ext cx="844814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/>
              <a:t>f</a:t>
            </a:r>
            <a:r>
              <a:rPr lang="en-US" altLang="zh-CN" sz="2800" b="1" baseline="-25000" dirty="0"/>
              <a:t>m</a:t>
            </a:r>
            <a:r>
              <a:rPr lang="zh-CN" altLang="en-US" sz="2800" b="1" dirty="0"/>
              <a:t>：</a:t>
            </a:r>
            <a:r>
              <a:rPr lang="zh-CN" altLang="zh-CN" sz="2800" b="1" dirty="0"/>
              <a:t>到目前为止已扩展节点的最大</a:t>
            </a:r>
            <a:r>
              <a:rPr lang="en-US" altLang="zh-CN" sz="2800" b="1" dirty="0"/>
              <a:t>f</a:t>
            </a:r>
            <a:r>
              <a:rPr lang="zh-CN" altLang="zh-CN" sz="2800" b="1" dirty="0"/>
              <a:t>值，</a:t>
            </a:r>
            <a:r>
              <a:rPr lang="zh-CN" altLang="en-US" sz="2800" b="1" dirty="0"/>
              <a:t>用</a:t>
            </a:r>
            <a:r>
              <a:rPr lang="en-US" altLang="zh-CN" sz="2800" b="1" dirty="0"/>
              <a:t>f</a:t>
            </a:r>
            <a:r>
              <a:rPr lang="en-US" altLang="zh-CN" sz="2800" b="1" baseline="-25000" dirty="0"/>
              <a:t>m</a:t>
            </a:r>
            <a:r>
              <a:rPr lang="zh-CN" altLang="en-US" sz="2800" b="1" dirty="0"/>
              <a:t>代替</a:t>
            </a:r>
            <a:r>
              <a:rPr lang="en-US" altLang="zh-CN" sz="2800" b="1" dirty="0"/>
              <a:t>f*(s)</a:t>
            </a:r>
            <a:endParaRPr lang="en-US" altLang="zh-CN" sz="28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4150557" y="1815444"/>
            <a:ext cx="1455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如何获得</a:t>
            </a:r>
            <a:r>
              <a:rPr lang="zh-CN" altLang="en-US" dirty="0">
                <a:solidFill>
                  <a:srgbClr val="FF0000"/>
                </a:solidFill>
              </a:rPr>
              <a:t>？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93819" y="5102403"/>
            <a:ext cx="2019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zh-CN" altLang="en-US" dirty="0">
                <a:solidFill>
                  <a:srgbClr val="FF0000"/>
                </a:solidFill>
              </a:rPr>
              <a:t>*算法的选择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21" grpId="0"/>
      <p:bldP spid="2" grpId="0"/>
      <p:bldP spid="3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09E8145-1A4D-4AA4-B320-BB91F35E734B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修正的</a:t>
            </a:r>
            <a:r>
              <a:rPr lang="en-US" altLang="zh-CN" dirty="0"/>
              <a:t>A</a:t>
            </a:r>
            <a:r>
              <a:rPr lang="zh-CN" altLang="en-US" dirty="0"/>
              <a:t>*算法</a:t>
            </a:r>
            <a:endParaRPr lang="zh-CN" altLang="en-US" dirty="0"/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4904" y="1017887"/>
            <a:ext cx="8534400" cy="541586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altLang="zh-CN" sz="3500" b="1" dirty="0"/>
              <a:t>Modified-A-algorithm (s)   s</a:t>
            </a:r>
            <a:r>
              <a:rPr lang="zh-CN" altLang="en-US" sz="3500" b="1" dirty="0"/>
              <a:t>为初始节点</a:t>
            </a:r>
            <a:endParaRPr lang="en-US" altLang="zh-CN" sz="3500" b="1" dirty="0"/>
          </a:p>
          <a:p>
            <a:pPr>
              <a:buNone/>
            </a:pPr>
            <a:r>
              <a:rPr lang="en-US" altLang="zh-CN" sz="3500" b="1" dirty="0"/>
              <a:t>OPEN=(s), CLOSED=(), f(s)=g(s)+h(s), </a:t>
            </a:r>
            <a:r>
              <a:rPr lang="en-US" altLang="zh-CN" sz="3500" b="1" dirty="0" err="1">
                <a:solidFill>
                  <a:srgbClr val="FF0000"/>
                </a:solidFill>
              </a:rPr>
              <a:t>f</a:t>
            </a:r>
            <a:r>
              <a:rPr lang="en-US" altLang="zh-CN" sz="3500" b="1" baseline="-25000" dirty="0" err="1">
                <a:solidFill>
                  <a:srgbClr val="FF0000"/>
                </a:solidFill>
              </a:rPr>
              <a:t>m</a:t>
            </a:r>
            <a:r>
              <a:rPr lang="en-US" altLang="zh-CN" sz="3500" b="1" dirty="0">
                <a:solidFill>
                  <a:srgbClr val="FF0000"/>
                </a:solidFill>
              </a:rPr>
              <a:t>=0</a:t>
            </a:r>
            <a:r>
              <a:rPr lang="en-US" altLang="zh-CN" sz="3500" b="1" dirty="0"/>
              <a:t>;</a:t>
            </a:r>
            <a:endParaRPr lang="en-US" altLang="zh-CN" sz="3500" b="1" dirty="0"/>
          </a:p>
          <a:p>
            <a:pPr>
              <a:buNone/>
            </a:pPr>
            <a:r>
              <a:rPr lang="en-US" altLang="zh-CN" sz="3500" b="1" dirty="0"/>
              <a:t>while OPEN</a:t>
            </a:r>
            <a:r>
              <a:rPr lang="zh-CN" altLang="en-US" sz="3500" b="1" dirty="0"/>
              <a:t>不空 </a:t>
            </a:r>
            <a:r>
              <a:rPr lang="en-US" altLang="zh-CN" sz="3500" b="1" dirty="0"/>
              <a:t>do</a:t>
            </a:r>
            <a:r>
              <a:rPr lang="zh-CN" altLang="en-US" sz="3500" b="1" dirty="0"/>
              <a:t>：</a:t>
            </a:r>
            <a:endParaRPr lang="en-US" altLang="zh-CN" sz="3500" b="1" dirty="0"/>
          </a:p>
          <a:p>
            <a:pPr>
              <a:buNone/>
            </a:pPr>
            <a:r>
              <a:rPr lang="en-US" altLang="zh-CN" sz="3500" b="1" dirty="0"/>
              <a:t>    begin</a:t>
            </a:r>
            <a:endParaRPr lang="en-US" altLang="zh-CN" sz="3500" b="1" dirty="0"/>
          </a:p>
          <a:p>
            <a:pPr>
              <a:buNone/>
            </a:pPr>
            <a:r>
              <a:rPr lang="en-US" altLang="zh-CN" sz="3200" b="1" dirty="0"/>
              <a:t>         </a:t>
            </a:r>
            <a:r>
              <a:rPr lang="en-US" altLang="zh-CN" sz="3500" b="1" dirty="0">
                <a:solidFill>
                  <a:srgbClr val="FF0000"/>
                </a:solidFill>
              </a:rPr>
              <a:t>NEST={</a:t>
            </a:r>
            <a:r>
              <a:rPr lang="en-US" altLang="zh-CN" sz="3500" b="1" dirty="0" err="1">
                <a:solidFill>
                  <a:srgbClr val="FF0000"/>
                </a:solidFill>
              </a:rPr>
              <a:t>n</a:t>
            </a:r>
            <a:r>
              <a:rPr lang="en-US" altLang="zh-CN" sz="3500" b="1" baseline="-25000" dirty="0" err="1">
                <a:solidFill>
                  <a:srgbClr val="FF0000"/>
                </a:solidFill>
              </a:rPr>
              <a:t>i</a:t>
            </a:r>
            <a:r>
              <a:rPr lang="en-US" altLang="zh-CN" sz="3500" b="1" dirty="0" err="1">
                <a:solidFill>
                  <a:srgbClr val="FF0000"/>
                </a:solidFill>
              </a:rPr>
              <a:t>|f</a:t>
            </a:r>
            <a:r>
              <a:rPr lang="en-US" altLang="zh-CN" sz="3500" b="1" dirty="0">
                <a:solidFill>
                  <a:srgbClr val="FF0000"/>
                </a:solidFill>
              </a:rPr>
              <a:t>(</a:t>
            </a:r>
            <a:r>
              <a:rPr lang="en-US" altLang="zh-CN" sz="3500" b="1" dirty="0" err="1">
                <a:solidFill>
                  <a:srgbClr val="FF0000"/>
                </a:solidFill>
              </a:rPr>
              <a:t>n</a:t>
            </a:r>
            <a:r>
              <a:rPr lang="en-US" altLang="zh-CN" sz="3500" b="1" baseline="-25000" dirty="0" err="1">
                <a:solidFill>
                  <a:srgbClr val="FF0000"/>
                </a:solidFill>
              </a:rPr>
              <a:t>i</a:t>
            </a:r>
            <a:r>
              <a:rPr lang="en-US" altLang="zh-CN" sz="3500" b="1" dirty="0">
                <a:solidFill>
                  <a:srgbClr val="FF0000"/>
                </a:solidFill>
              </a:rPr>
              <a:t>)&lt;</a:t>
            </a:r>
            <a:r>
              <a:rPr lang="en-US" altLang="zh-CN" sz="3500" b="1" dirty="0" err="1">
                <a:solidFill>
                  <a:srgbClr val="FF0000"/>
                </a:solidFill>
              </a:rPr>
              <a:t>f</a:t>
            </a:r>
            <a:r>
              <a:rPr lang="en-US" altLang="zh-CN" sz="3500" b="1" baseline="-25000" dirty="0" err="1">
                <a:solidFill>
                  <a:srgbClr val="FF0000"/>
                </a:solidFill>
              </a:rPr>
              <a:t>m</a:t>
            </a:r>
            <a:r>
              <a:rPr lang="en-US" altLang="zh-CN" sz="3500" b="1" dirty="0" err="1">
                <a:solidFill>
                  <a:srgbClr val="FF0000"/>
                </a:solidFill>
              </a:rPr>
              <a:t>,n</a:t>
            </a:r>
            <a:r>
              <a:rPr lang="en-US" altLang="zh-CN" sz="3500" b="1" baseline="-25000" dirty="0" err="1">
                <a:solidFill>
                  <a:srgbClr val="FF0000"/>
                </a:solidFill>
              </a:rPr>
              <a:t>i</a:t>
            </a:r>
            <a:r>
              <a:rPr lang="zh-CN" altLang="en-US" sz="3500" b="1" dirty="0">
                <a:solidFill>
                  <a:srgbClr val="FF0000"/>
                </a:solidFill>
              </a:rPr>
              <a:t>∈</a:t>
            </a:r>
            <a:r>
              <a:rPr lang="en-US" altLang="zh-CN" sz="3500" b="1" dirty="0">
                <a:solidFill>
                  <a:srgbClr val="FF0000"/>
                </a:solidFill>
              </a:rPr>
              <a:t>OPEN}</a:t>
            </a:r>
            <a:endParaRPr lang="en-US" altLang="zh-CN" sz="35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zh-CN" sz="3200" b="1" dirty="0">
                <a:solidFill>
                  <a:srgbClr val="FF0000"/>
                </a:solidFill>
              </a:rPr>
              <a:t>	</a:t>
            </a:r>
            <a:r>
              <a:rPr lang="en-US" altLang="zh-CN" sz="3500" b="1" dirty="0">
                <a:solidFill>
                  <a:srgbClr val="FF0000"/>
                </a:solidFill>
              </a:rPr>
              <a:t>     if NEST ≠ ( ) then n=NEST</a:t>
            </a:r>
            <a:r>
              <a:rPr lang="zh-CN" altLang="en-US" sz="3500" b="1" dirty="0">
                <a:solidFill>
                  <a:srgbClr val="FF0000"/>
                </a:solidFill>
              </a:rPr>
              <a:t>中</a:t>
            </a:r>
            <a:r>
              <a:rPr lang="en-US" altLang="zh-CN" sz="3500" b="1" dirty="0">
                <a:solidFill>
                  <a:srgbClr val="FF0000"/>
                </a:solidFill>
              </a:rPr>
              <a:t>g</a:t>
            </a:r>
            <a:r>
              <a:rPr lang="zh-CN" altLang="en-US" sz="3500" b="1" dirty="0">
                <a:solidFill>
                  <a:srgbClr val="FF0000"/>
                </a:solidFill>
              </a:rPr>
              <a:t>最小的节点</a:t>
            </a:r>
            <a:endParaRPr lang="zh-CN" altLang="en-US" sz="35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zh-CN" altLang="en-US" sz="3500" b="1" dirty="0">
                <a:solidFill>
                  <a:srgbClr val="FF0000"/>
                </a:solidFill>
              </a:rPr>
              <a:t>	</a:t>
            </a:r>
            <a:r>
              <a:rPr lang="en-US" altLang="zh-CN" sz="3500" b="1" dirty="0">
                <a:solidFill>
                  <a:srgbClr val="FF0000"/>
                </a:solidFill>
              </a:rPr>
              <a:t>     else n=FIRST(OPEN), </a:t>
            </a:r>
            <a:r>
              <a:rPr lang="en-US" altLang="zh-CN" sz="3500" b="1" dirty="0" err="1">
                <a:solidFill>
                  <a:srgbClr val="FF0000"/>
                </a:solidFill>
              </a:rPr>
              <a:t>f</a:t>
            </a:r>
            <a:r>
              <a:rPr lang="en-US" altLang="zh-CN" sz="3500" b="1" baseline="-25000" dirty="0" err="1">
                <a:solidFill>
                  <a:srgbClr val="FF0000"/>
                </a:solidFill>
              </a:rPr>
              <a:t>m</a:t>
            </a:r>
            <a:r>
              <a:rPr lang="en-US" altLang="zh-CN" sz="3500" b="1" dirty="0">
                <a:solidFill>
                  <a:srgbClr val="FF0000"/>
                </a:solidFill>
              </a:rPr>
              <a:t>=f(n);</a:t>
            </a:r>
            <a:endParaRPr lang="en-US" altLang="zh-CN" sz="35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zh-CN" sz="3500" b="1" dirty="0"/>
              <a:t>         if GOAL(n) THEN return n;</a:t>
            </a:r>
            <a:endParaRPr lang="en-US" altLang="zh-CN" sz="3500" b="1" dirty="0"/>
          </a:p>
          <a:p>
            <a:pPr>
              <a:buNone/>
            </a:pPr>
            <a:r>
              <a:rPr lang="en-US" altLang="zh-CN" sz="3500" b="1" dirty="0"/>
              <a:t>         REMOVE(n, OPEN), ADD(n, CLOSED);</a:t>
            </a:r>
            <a:endParaRPr lang="en-US" altLang="zh-CN" sz="3500" b="1" dirty="0"/>
          </a:p>
          <a:p>
            <a:pPr>
              <a:buNone/>
            </a:pPr>
            <a:r>
              <a:rPr lang="en-US" altLang="zh-CN" sz="3500" b="1" dirty="0"/>
              <a:t>         EXPAND(n) →{m</a:t>
            </a:r>
            <a:r>
              <a:rPr lang="en-US" altLang="zh-CN" sz="3500" b="1" baseline="-25000" dirty="0"/>
              <a:t>i</a:t>
            </a:r>
            <a:r>
              <a:rPr lang="en-US" altLang="zh-CN" sz="3500" b="1" dirty="0"/>
              <a:t>}, </a:t>
            </a:r>
            <a:endParaRPr lang="en-US" altLang="zh-CN" sz="3500" b="1" dirty="0"/>
          </a:p>
          <a:p>
            <a:pPr>
              <a:buNone/>
            </a:pPr>
            <a:r>
              <a:rPr lang="en-US" altLang="zh-CN" sz="3500" b="1" dirty="0"/>
              <a:t>	     </a:t>
            </a:r>
            <a:r>
              <a:rPr lang="zh-CN" altLang="zh-CN" sz="3500" b="1" dirty="0"/>
              <a:t>计算</a:t>
            </a:r>
            <a:r>
              <a:rPr lang="en-US" altLang="zh-CN" sz="3500" b="1" dirty="0"/>
              <a:t>f(n, m</a:t>
            </a:r>
            <a:r>
              <a:rPr lang="en-US" altLang="zh-CN" sz="3500" b="1" baseline="-25000" dirty="0"/>
              <a:t>i</a:t>
            </a:r>
            <a:r>
              <a:rPr lang="en-US" altLang="zh-CN" sz="3500" b="1" dirty="0"/>
              <a:t>)=g(n, m</a:t>
            </a:r>
            <a:r>
              <a:rPr lang="en-US" altLang="zh-CN" sz="3500" b="1" baseline="-25000" dirty="0"/>
              <a:t>i</a:t>
            </a:r>
            <a:r>
              <a:rPr lang="en-US" altLang="zh-CN" sz="3500" b="1" dirty="0"/>
              <a:t>)+h(m</a:t>
            </a:r>
            <a:r>
              <a:rPr lang="en-US" altLang="zh-CN" sz="3500" b="1" baseline="-25000" dirty="0"/>
              <a:t>i</a:t>
            </a:r>
            <a:r>
              <a:rPr lang="en-US" altLang="zh-CN" sz="3500" b="1" dirty="0"/>
              <a:t>);</a:t>
            </a:r>
            <a:endParaRPr lang="en-US" altLang="zh-CN" sz="3500" b="1" dirty="0"/>
          </a:p>
        </p:txBody>
      </p:sp>
      <p:sp>
        <p:nvSpPr>
          <p:cNvPr id="2" name="Rectangle 1"/>
          <p:cNvSpPr/>
          <p:nvPr/>
        </p:nvSpPr>
        <p:spPr>
          <a:xfrm>
            <a:off x="5971032" y="3319272"/>
            <a:ext cx="1069848" cy="548640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543797B-EDD5-4C08-BC50-C3E9A8B5D401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1462" y="836141"/>
            <a:ext cx="8172451" cy="5729416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      ADD(</a:t>
            </a:r>
            <a:r>
              <a:rPr lang="en-US" altLang="zh-CN" sz="3200" b="1" dirty="0" err="1"/>
              <a:t>m</a:t>
            </a:r>
            <a:r>
              <a:rPr lang="en-US" altLang="zh-CN" sz="3200" b="1" baseline="-25000" dirty="0" err="1"/>
              <a:t>j</a:t>
            </a:r>
            <a:r>
              <a:rPr lang="en-US" altLang="zh-CN" sz="3200" b="1" dirty="0"/>
              <a:t>, OPEN), </a:t>
            </a:r>
            <a:r>
              <a:rPr lang="zh-CN" altLang="en-US" sz="3200" b="1" dirty="0"/>
              <a:t>标记</a:t>
            </a:r>
            <a:r>
              <a:rPr lang="en-US" altLang="zh-CN" sz="3200" b="1" dirty="0" err="1"/>
              <a:t>m</a:t>
            </a:r>
            <a:r>
              <a:rPr lang="en-US" altLang="zh-CN" sz="3200" b="1" baseline="-25000" dirty="0" err="1"/>
              <a:t>j</a:t>
            </a:r>
            <a:r>
              <a:rPr lang="zh-CN" altLang="en-US" sz="3200" b="1" dirty="0"/>
              <a:t>到</a:t>
            </a:r>
            <a:r>
              <a:rPr lang="en-US" altLang="zh-CN" sz="3200" b="1" dirty="0"/>
              <a:t>n</a:t>
            </a:r>
            <a:r>
              <a:rPr lang="zh-CN" altLang="en-US" sz="3200" b="1" dirty="0"/>
              <a:t>的指针；</a:t>
            </a:r>
            <a:endParaRPr lang="zh-CN" altLang="en-US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      if f(n, </a:t>
            </a:r>
            <a:r>
              <a:rPr lang="en-US" altLang="zh-CN" sz="3200" b="1" dirty="0" err="1"/>
              <a:t>m</a:t>
            </a:r>
            <a:r>
              <a:rPr lang="en-US" altLang="zh-CN" sz="3200" b="1" baseline="-25000" dirty="0" err="1"/>
              <a:t>k</a:t>
            </a:r>
            <a:r>
              <a:rPr lang="en-US" altLang="zh-CN" sz="3200" b="1" dirty="0"/>
              <a:t>)&lt;f(</a:t>
            </a:r>
            <a:r>
              <a:rPr lang="en-US" altLang="zh-CN" sz="3200" b="1" dirty="0" err="1"/>
              <a:t>m</a:t>
            </a:r>
            <a:r>
              <a:rPr lang="en-US" altLang="zh-CN" sz="3200" b="1" baseline="-25000" dirty="0" err="1"/>
              <a:t>k</a:t>
            </a:r>
            <a:r>
              <a:rPr lang="en-US" altLang="zh-CN" sz="3200" b="1" dirty="0"/>
              <a:t>) then </a:t>
            </a:r>
            <a:endParaRPr lang="en-US" altLang="zh-CN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          f(</a:t>
            </a:r>
            <a:r>
              <a:rPr lang="en-US" altLang="zh-CN" sz="3200" b="1" dirty="0" err="1"/>
              <a:t>m</a:t>
            </a:r>
            <a:r>
              <a:rPr lang="en-US" altLang="zh-CN" sz="3200" b="1" baseline="-25000" dirty="0" err="1"/>
              <a:t>k</a:t>
            </a:r>
            <a:r>
              <a:rPr lang="en-US" altLang="zh-CN" sz="3200" b="1" dirty="0"/>
              <a:t>)=f(n, </a:t>
            </a:r>
            <a:r>
              <a:rPr lang="en-US" altLang="zh-CN" sz="3200" b="1" dirty="0" err="1"/>
              <a:t>m</a:t>
            </a:r>
            <a:r>
              <a:rPr lang="en-US" altLang="zh-CN" sz="3200" b="1" baseline="-25000" dirty="0" err="1"/>
              <a:t>k</a:t>
            </a:r>
            <a:r>
              <a:rPr lang="en-US" altLang="zh-CN" sz="3200" b="1" dirty="0"/>
              <a:t>), </a:t>
            </a:r>
            <a:r>
              <a:rPr lang="zh-CN" altLang="zh-CN" sz="3200" b="1" dirty="0"/>
              <a:t>标记</a:t>
            </a:r>
            <a:r>
              <a:rPr lang="en-US" altLang="zh-CN" sz="3200" b="1" dirty="0" err="1"/>
              <a:t>m</a:t>
            </a:r>
            <a:r>
              <a:rPr lang="en-US" altLang="zh-CN" sz="3200" b="1" baseline="-25000" dirty="0" err="1"/>
              <a:t>k</a:t>
            </a:r>
            <a:r>
              <a:rPr lang="zh-CN" altLang="zh-CN" sz="3200" b="1" dirty="0"/>
              <a:t>到</a:t>
            </a:r>
            <a:r>
              <a:rPr lang="en-US" altLang="zh-CN" sz="3200" b="1" dirty="0"/>
              <a:t>n</a:t>
            </a:r>
            <a:r>
              <a:rPr lang="zh-CN" altLang="zh-CN" sz="3200" b="1" dirty="0"/>
              <a:t>的指针；</a:t>
            </a:r>
            <a:endParaRPr lang="zh-CN" altLang="en-US" sz="28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      if f(n, m</a:t>
            </a:r>
            <a:r>
              <a:rPr lang="en-US" altLang="zh-CN" sz="3600" b="1" baseline="-25000" dirty="0"/>
              <a:t>l</a:t>
            </a:r>
            <a:r>
              <a:rPr lang="en-US" altLang="zh-CN" sz="3200" b="1" dirty="0"/>
              <a:t>)&lt;f(m</a:t>
            </a:r>
            <a:r>
              <a:rPr lang="en-US" altLang="zh-CN" sz="3600" b="1" baseline="-25000" dirty="0"/>
              <a:t>l</a:t>
            </a:r>
            <a:r>
              <a:rPr lang="en-US" altLang="zh-CN" sz="3200" b="1" dirty="0"/>
              <a:t>,) then </a:t>
            </a:r>
            <a:endParaRPr lang="en-US" altLang="zh-CN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          f(m</a:t>
            </a:r>
            <a:r>
              <a:rPr lang="en-US" altLang="zh-CN" sz="3600" b="1" baseline="-25000" dirty="0"/>
              <a:t>l</a:t>
            </a:r>
            <a:r>
              <a:rPr lang="en-US" altLang="zh-CN" sz="3200" b="1" dirty="0"/>
              <a:t>)=f(n, m</a:t>
            </a:r>
            <a:r>
              <a:rPr lang="en-US" altLang="zh-CN" sz="3200" b="1" baseline="-25000" dirty="0"/>
              <a:t>l</a:t>
            </a:r>
            <a:r>
              <a:rPr lang="en-US" altLang="zh-CN" sz="3200" b="1" dirty="0"/>
              <a:t>),</a:t>
            </a:r>
            <a:r>
              <a:rPr lang="zh-CN" altLang="en-US" sz="3200" b="1" dirty="0"/>
              <a:t>标记</a:t>
            </a:r>
            <a:r>
              <a:rPr lang="en-US" altLang="zh-CN" sz="3200" b="1" dirty="0"/>
              <a:t>m</a:t>
            </a:r>
            <a:r>
              <a:rPr lang="en-US" altLang="zh-CN" sz="3200" b="1" baseline="-25000" dirty="0"/>
              <a:t>l</a:t>
            </a:r>
            <a:r>
              <a:rPr lang="zh-CN" altLang="en-US" sz="3200" b="1" dirty="0"/>
              <a:t>到</a:t>
            </a:r>
            <a:r>
              <a:rPr lang="en-US" altLang="zh-CN" sz="3200" b="1" dirty="0"/>
              <a:t>n</a:t>
            </a:r>
            <a:r>
              <a:rPr lang="zh-CN" altLang="en-US" sz="3200" b="1" dirty="0"/>
              <a:t>的指针</a:t>
            </a:r>
            <a:r>
              <a:rPr lang="en-US" altLang="zh-CN" sz="3200" b="1" dirty="0"/>
              <a:t>, </a:t>
            </a:r>
            <a:endParaRPr lang="en-US" altLang="zh-CN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	       ADD(m</a:t>
            </a:r>
            <a:r>
              <a:rPr lang="en-US" altLang="zh-CN" sz="3200" b="1" baseline="-25000" dirty="0"/>
              <a:t>l</a:t>
            </a:r>
            <a:r>
              <a:rPr lang="en-US" altLang="zh-CN" sz="3200" b="1" dirty="0"/>
              <a:t>, OPEN);</a:t>
            </a:r>
            <a:endParaRPr lang="en-US" altLang="zh-CN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      OPEN</a:t>
            </a:r>
            <a:r>
              <a:rPr lang="zh-CN" altLang="zh-CN" sz="3200" b="1" dirty="0"/>
              <a:t>中的节点按</a:t>
            </a:r>
            <a:r>
              <a:rPr lang="en-US" altLang="zh-CN" sz="3200" b="1" dirty="0"/>
              <a:t>f</a:t>
            </a:r>
            <a:r>
              <a:rPr lang="zh-CN" altLang="zh-CN" sz="3200" b="1" dirty="0"/>
              <a:t>值从小到大排序；</a:t>
            </a:r>
            <a:endParaRPr lang="zh-CN" altLang="zh-CN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   end while</a:t>
            </a:r>
            <a:endParaRPr lang="en-US" altLang="zh-CN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return FAIL;</a:t>
            </a:r>
            <a:endParaRPr lang="zh-CN" altLang="en-US" sz="3200" b="1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35107A3-780B-4B70-8D00-0111611A1140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92163" name="Oval 3"/>
          <p:cNvSpPr>
            <a:spLocks noChangeArrowheads="1"/>
          </p:cNvSpPr>
          <p:nvPr/>
        </p:nvSpPr>
        <p:spPr bwMode="auto">
          <a:xfrm flipH="1">
            <a:off x="1371600" y="196532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4" name="Oval 4"/>
          <p:cNvSpPr>
            <a:spLocks noChangeArrowheads="1"/>
          </p:cNvSpPr>
          <p:nvPr/>
        </p:nvSpPr>
        <p:spPr bwMode="auto">
          <a:xfrm flipH="1">
            <a:off x="609600" y="280352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5" name="Oval 5"/>
          <p:cNvSpPr>
            <a:spLocks noChangeArrowheads="1"/>
          </p:cNvSpPr>
          <p:nvPr/>
        </p:nvSpPr>
        <p:spPr bwMode="auto">
          <a:xfrm flipH="1">
            <a:off x="1295400" y="326072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6" name="Oval 6"/>
          <p:cNvSpPr>
            <a:spLocks noChangeArrowheads="1"/>
          </p:cNvSpPr>
          <p:nvPr/>
        </p:nvSpPr>
        <p:spPr bwMode="auto">
          <a:xfrm flipH="1">
            <a:off x="2057400" y="364172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7" name="Oval 7"/>
          <p:cNvSpPr>
            <a:spLocks noChangeArrowheads="1"/>
          </p:cNvSpPr>
          <p:nvPr/>
        </p:nvSpPr>
        <p:spPr bwMode="auto">
          <a:xfrm flipH="1">
            <a:off x="990600" y="478472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8" name="Line 8"/>
          <p:cNvSpPr>
            <a:spLocks noChangeShapeType="1"/>
          </p:cNvSpPr>
          <p:nvPr/>
        </p:nvSpPr>
        <p:spPr bwMode="auto">
          <a:xfrm flipH="1">
            <a:off x="762000" y="2117725"/>
            <a:ext cx="609600" cy="685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9" name="Line 9"/>
          <p:cNvSpPr>
            <a:spLocks noChangeShapeType="1"/>
          </p:cNvSpPr>
          <p:nvPr/>
        </p:nvSpPr>
        <p:spPr bwMode="auto">
          <a:xfrm flipH="1">
            <a:off x="1371600" y="2193925"/>
            <a:ext cx="76200" cy="1066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70" name="Line 10"/>
          <p:cNvSpPr>
            <a:spLocks noChangeShapeType="1"/>
          </p:cNvSpPr>
          <p:nvPr/>
        </p:nvSpPr>
        <p:spPr bwMode="auto">
          <a:xfrm>
            <a:off x="1524000" y="2117725"/>
            <a:ext cx="609600" cy="1524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71" name="Line 11"/>
          <p:cNvSpPr>
            <a:spLocks noChangeShapeType="1"/>
          </p:cNvSpPr>
          <p:nvPr/>
        </p:nvSpPr>
        <p:spPr bwMode="auto">
          <a:xfrm flipH="1">
            <a:off x="1066800" y="3794125"/>
            <a:ext cx="990600" cy="990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72" name="Line 12"/>
          <p:cNvSpPr>
            <a:spLocks noChangeShapeType="1"/>
          </p:cNvSpPr>
          <p:nvPr/>
        </p:nvSpPr>
        <p:spPr bwMode="auto">
          <a:xfrm>
            <a:off x="762000" y="2955925"/>
            <a:ext cx="533400" cy="381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73" name="Line 13"/>
          <p:cNvSpPr>
            <a:spLocks noChangeShapeType="1"/>
          </p:cNvSpPr>
          <p:nvPr/>
        </p:nvSpPr>
        <p:spPr bwMode="auto">
          <a:xfrm>
            <a:off x="1447800" y="3413125"/>
            <a:ext cx="609600" cy="304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74" name="Text Box 14"/>
          <p:cNvSpPr txBox="1">
            <a:spLocks noChangeArrowheads="1"/>
          </p:cNvSpPr>
          <p:nvPr/>
        </p:nvSpPr>
        <p:spPr bwMode="auto">
          <a:xfrm>
            <a:off x="1474713" y="1704330"/>
            <a:ext cx="803426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/>
              <a:t>s(10)</a:t>
            </a:r>
            <a:endParaRPr lang="en-US" altLang="zh-CN" sz="2400" b="1"/>
          </a:p>
        </p:txBody>
      </p:sp>
      <p:sp>
        <p:nvSpPr>
          <p:cNvPr id="92175" name="Text Box 15"/>
          <p:cNvSpPr txBox="1">
            <a:spLocks noChangeArrowheads="1"/>
          </p:cNvSpPr>
          <p:nvPr/>
        </p:nvSpPr>
        <p:spPr bwMode="auto">
          <a:xfrm>
            <a:off x="2115016" y="3533130"/>
            <a:ext cx="755336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A(1)</a:t>
            </a:r>
            <a:endParaRPr lang="en-US" altLang="zh-CN" sz="2400" b="1" dirty="0"/>
          </a:p>
        </p:txBody>
      </p:sp>
      <p:sp>
        <p:nvSpPr>
          <p:cNvPr id="92176" name="Text Box 16"/>
          <p:cNvSpPr txBox="1">
            <a:spLocks noChangeArrowheads="1"/>
          </p:cNvSpPr>
          <p:nvPr/>
        </p:nvSpPr>
        <p:spPr bwMode="auto">
          <a:xfrm>
            <a:off x="982104" y="3378503"/>
            <a:ext cx="739305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B(5)</a:t>
            </a:r>
            <a:endParaRPr lang="en-US" altLang="zh-CN" sz="2400" b="1" dirty="0"/>
          </a:p>
        </p:txBody>
      </p:sp>
      <p:sp>
        <p:nvSpPr>
          <p:cNvPr id="92177" name="Text Box 17"/>
          <p:cNvSpPr txBox="1">
            <a:spLocks noChangeArrowheads="1"/>
          </p:cNvSpPr>
          <p:nvPr/>
        </p:nvSpPr>
        <p:spPr bwMode="auto">
          <a:xfrm>
            <a:off x="107392" y="2390130"/>
            <a:ext cx="739305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C(8)</a:t>
            </a:r>
            <a:endParaRPr lang="en-US" altLang="zh-CN" sz="2400" b="1" dirty="0"/>
          </a:p>
        </p:txBody>
      </p:sp>
      <p:sp>
        <p:nvSpPr>
          <p:cNvPr id="92178" name="Text Box 18"/>
          <p:cNvSpPr txBox="1">
            <a:spLocks noChangeArrowheads="1"/>
          </p:cNvSpPr>
          <p:nvPr/>
        </p:nvSpPr>
        <p:spPr bwMode="auto">
          <a:xfrm>
            <a:off x="556637" y="5133330"/>
            <a:ext cx="1071127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/>
              <a:t>G </a:t>
            </a:r>
            <a:r>
              <a:rPr lang="zh-CN" altLang="en-US" sz="2400" b="1"/>
              <a:t>目标</a:t>
            </a:r>
            <a:endParaRPr lang="zh-CN" altLang="en-US" sz="2400" b="1"/>
          </a:p>
        </p:txBody>
      </p:sp>
      <p:sp>
        <p:nvSpPr>
          <p:cNvPr id="92179" name="Text Box 19"/>
          <p:cNvSpPr txBox="1">
            <a:spLocks noChangeArrowheads="1"/>
          </p:cNvSpPr>
          <p:nvPr/>
        </p:nvSpPr>
        <p:spPr bwMode="auto">
          <a:xfrm>
            <a:off x="1905000" y="2618730"/>
            <a:ext cx="32573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/>
              <a:t>6</a:t>
            </a:r>
            <a:endParaRPr lang="en-US" altLang="zh-CN" sz="2400" b="1"/>
          </a:p>
        </p:txBody>
      </p:sp>
      <p:sp>
        <p:nvSpPr>
          <p:cNvPr id="92180" name="Text Box 20"/>
          <p:cNvSpPr txBox="1">
            <a:spLocks noChangeArrowheads="1"/>
          </p:cNvSpPr>
          <p:nvPr/>
        </p:nvSpPr>
        <p:spPr bwMode="auto">
          <a:xfrm>
            <a:off x="1143000" y="2466330"/>
            <a:ext cx="32573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/>
              <a:t>3</a:t>
            </a:r>
            <a:endParaRPr lang="en-US" altLang="zh-CN" sz="2400" b="1"/>
          </a:p>
        </p:txBody>
      </p:sp>
      <p:sp>
        <p:nvSpPr>
          <p:cNvPr id="92181" name="Text Box 21"/>
          <p:cNvSpPr txBox="1">
            <a:spLocks noChangeArrowheads="1"/>
          </p:cNvSpPr>
          <p:nvPr/>
        </p:nvSpPr>
        <p:spPr bwMode="auto">
          <a:xfrm>
            <a:off x="914400" y="2009130"/>
            <a:ext cx="32573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/>
              <a:t>1</a:t>
            </a:r>
            <a:endParaRPr lang="en-US" altLang="zh-CN" sz="2400" b="1"/>
          </a:p>
        </p:txBody>
      </p:sp>
      <p:sp>
        <p:nvSpPr>
          <p:cNvPr id="92182" name="Text Box 22"/>
          <p:cNvSpPr txBox="1">
            <a:spLocks noChangeArrowheads="1"/>
          </p:cNvSpPr>
          <p:nvPr/>
        </p:nvSpPr>
        <p:spPr bwMode="auto">
          <a:xfrm>
            <a:off x="734704" y="3027026"/>
            <a:ext cx="32573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1</a:t>
            </a:r>
            <a:endParaRPr lang="en-US" altLang="zh-CN" sz="2400" b="1" dirty="0"/>
          </a:p>
        </p:txBody>
      </p:sp>
      <p:sp>
        <p:nvSpPr>
          <p:cNvPr id="92183" name="Text Box 23"/>
          <p:cNvSpPr txBox="1">
            <a:spLocks noChangeArrowheads="1"/>
          </p:cNvSpPr>
          <p:nvPr/>
        </p:nvSpPr>
        <p:spPr bwMode="auto">
          <a:xfrm>
            <a:off x="1600200" y="3152130"/>
            <a:ext cx="32573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/>
              <a:t>1</a:t>
            </a:r>
            <a:endParaRPr lang="en-US" altLang="zh-CN" sz="2400" b="1"/>
          </a:p>
        </p:txBody>
      </p:sp>
      <p:sp>
        <p:nvSpPr>
          <p:cNvPr id="92184" name="Text Box 24"/>
          <p:cNvSpPr txBox="1">
            <a:spLocks noChangeArrowheads="1"/>
          </p:cNvSpPr>
          <p:nvPr/>
        </p:nvSpPr>
        <p:spPr bwMode="auto">
          <a:xfrm>
            <a:off x="1295400" y="3990330"/>
            <a:ext cx="32573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/>
              <a:t>8</a:t>
            </a:r>
            <a:endParaRPr lang="en-US" altLang="zh-CN" sz="2400" b="1"/>
          </a:p>
        </p:txBody>
      </p:sp>
      <p:sp>
        <p:nvSpPr>
          <p:cNvPr id="92185" name="Text Box 25"/>
          <p:cNvSpPr txBox="1">
            <a:spLocks noChangeArrowheads="1"/>
          </p:cNvSpPr>
          <p:nvPr/>
        </p:nvSpPr>
        <p:spPr bwMode="auto">
          <a:xfrm>
            <a:off x="762000" y="683568"/>
            <a:ext cx="2040943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/>
              <a:t>前面的例子：</a:t>
            </a:r>
            <a:endParaRPr lang="zh-CN" altLang="en-US" sz="2400" b="1" dirty="0"/>
          </a:p>
        </p:txBody>
      </p:sp>
      <p:sp>
        <p:nvSpPr>
          <p:cNvPr id="92186" name="Line 27"/>
          <p:cNvSpPr>
            <a:spLocks noChangeShapeType="1"/>
          </p:cNvSpPr>
          <p:nvPr/>
        </p:nvSpPr>
        <p:spPr bwMode="auto">
          <a:xfrm>
            <a:off x="3181064" y="1828800"/>
            <a:ext cx="5638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87" name="Line 28"/>
          <p:cNvSpPr>
            <a:spLocks noChangeShapeType="1"/>
          </p:cNvSpPr>
          <p:nvPr/>
        </p:nvSpPr>
        <p:spPr bwMode="auto">
          <a:xfrm>
            <a:off x="5334000" y="1371600"/>
            <a:ext cx="0" cy="434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88" name="Text Box 29"/>
          <p:cNvSpPr txBox="1">
            <a:spLocks noChangeArrowheads="1"/>
          </p:cNvSpPr>
          <p:nvPr/>
        </p:nvSpPr>
        <p:spPr bwMode="auto">
          <a:xfrm>
            <a:off x="3429000" y="1339334"/>
            <a:ext cx="979755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/>
              <a:t>OPEN</a:t>
            </a:r>
            <a:r>
              <a:rPr lang="zh-CN" altLang="en-US" b="1" dirty="0"/>
              <a:t>表</a:t>
            </a:r>
            <a:endParaRPr lang="zh-CN" altLang="en-US" b="1" dirty="0"/>
          </a:p>
        </p:txBody>
      </p:sp>
      <p:sp>
        <p:nvSpPr>
          <p:cNvPr id="92189" name="Text Box 30"/>
          <p:cNvSpPr txBox="1">
            <a:spLocks noChangeArrowheads="1"/>
          </p:cNvSpPr>
          <p:nvPr/>
        </p:nvSpPr>
        <p:spPr bwMode="auto">
          <a:xfrm>
            <a:off x="5715000" y="1339334"/>
            <a:ext cx="123303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/>
              <a:t>CLOSED</a:t>
            </a:r>
            <a:r>
              <a:rPr lang="zh-CN" altLang="en-US" b="1" dirty="0"/>
              <a:t>表</a:t>
            </a:r>
            <a:endParaRPr lang="zh-CN" altLang="en-US" b="1" dirty="0"/>
          </a:p>
        </p:txBody>
      </p:sp>
      <p:sp>
        <p:nvSpPr>
          <p:cNvPr id="92190" name="Line 31"/>
          <p:cNvSpPr>
            <a:spLocks noChangeShapeType="1"/>
          </p:cNvSpPr>
          <p:nvPr/>
        </p:nvSpPr>
        <p:spPr bwMode="auto">
          <a:xfrm>
            <a:off x="8235288" y="1371600"/>
            <a:ext cx="0" cy="441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91" name="Text Box 32"/>
          <p:cNvSpPr txBox="1">
            <a:spLocks noChangeArrowheads="1"/>
          </p:cNvSpPr>
          <p:nvPr/>
        </p:nvSpPr>
        <p:spPr bwMode="auto">
          <a:xfrm>
            <a:off x="8382000" y="1339334"/>
            <a:ext cx="380232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/>
              <a:t>f</a:t>
            </a:r>
            <a:r>
              <a:rPr lang="en-US" altLang="zh-CN" b="1" baseline="-25000" dirty="0"/>
              <a:t>m</a:t>
            </a:r>
            <a:endParaRPr lang="en-US" altLang="zh-CN" b="1" baseline="-25000" dirty="0"/>
          </a:p>
        </p:txBody>
      </p:sp>
      <p:sp>
        <p:nvSpPr>
          <p:cNvPr id="139297" name="Text Box 33"/>
          <p:cNvSpPr txBox="1">
            <a:spLocks noChangeArrowheads="1"/>
          </p:cNvSpPr>
          <p:nvPr/>
        </p:nvSpPr>
        <p:spPr bwMode="auto">
          <a:xfrm>
            <a:off x="3200400" y="2024341"/>
            <a:ext cx="910827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/>
              <a:t>s(0+10)</a:t>
            </a:r>
            <a:endParaRPr lang="en-US" altLang="zh-CN" b="1"/>
          </a:p>
        </p:txBody>
      </p:sp>
      <p:sp>
        <p:nvSpPr>
          <p:cNvPr id="139298" name="Text Box 34"/>
          <p:cNvSpPr txBox="1">
            <a:spLocks noChangeArrowheads="1"/>
          </p:cNvSpPr>
          <p:nvPr/>
        </p:nvSpPr>
        <p:spPr bwMode="auto">
          <a:xfrm>
            <a:off x="5486400" y="2024341"/>
            <a:ext cx="910827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/>
              <a:t>s(0+10)</a:t>
            </a:r>
            <a:endParaRPr lang="en-US" altLang="zh-CN" b="1"/>
          </a:p>
        </p:txBody>
      </p:sp>
      <p:sp>
        <p:nvSpPr>
          <p:cNvPr id="139299" name="Text Box 35"/>
          <p:cNvSpPr txBox="1">
            <a:spLocks noChangeArrowheads="1"/>
          </p:cNvSpPr>
          <p:nvPr/>
        </p:nvSpPr>
        <p:spPr bwMode="auto">
          <a:xfrm>
            <a:off x="8332788" y="2024341"/>
            <a:ext cx="396262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/>
              <a:t>10</a:t>
            </a:r>
            <a:endParaRPr lang="en-US" altLang="zh-CN" b="1"/>
          </a:p>
        </p:txBody>
      </p:sp>
      <p:sp>
        <p:nvSpPr>
          <p:cNvPr id="139300" name="Text Box 36"/>
          <p:cNvSpPr txBox="1">
            <a:spLocks noChangeArrowheads="1"/>
          </p:cNvSpPr>
          <p:nvPr/>
        </p:nvSpPr>
        <p:spPr bwMode="auto">
          <a:xfrm>
            <a:off x="3048000" y="2667000"/>
            <a:ext cx="2314575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>
                <a:solidFill>
                  <a:srgbClr val="00B0F0"/>
                </a:solidFill>
              </a:rPr>
              <a:t>A(6+1) B(3+5) C(1+8)</a:t>
            </a:r>
            <a:endParaRPr lang="en-US" altLang="zh-CN" b="1" dirty="0">
              <a:solidFill>
                <a:srgbClr val="00B0F0"/>
              </a:solidFill>
            </a:endParaRPr>
          </a:p>
        </p:txBody>
      </p:sp>
      <p:sp>
        <p:nvSpPr>
          <p:cNvPr id="139301" name="Line 37"/>
          <p:cNvSpPr>
            <a:spLocks noChangeShapeType="1"/>
          </p:cNvSpPr>
          <p:nvPr/>
        </p:nvSpPr>
        <p:spPr bwMode="auto">
          <a:xfrm>
            <a:off x="4572000" y="2971800"/>
            <a:ext cx="7620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02" name="Text Box 38"/>
          <p:cNvSpPr txBox="1">
            <a:spLocks noChangeArrowheads="1"/>
          </p:cNvSpPr>
          <p:nvPr/>
        </p:nvSpPr>
        <p:spPr bwMode="auto">
          <a:xfrm>
            <a:off x="5486400" y="2667000"/>
            <a:ext cx="163195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/>
              <a:t>s(0+10) C(1+8)</a:t>
            </a:r>
            <a:endParaRPr lang="en-US" altLang="zh-CN" b="1"/>
          </a:p>
        </p:txBody>
      </p:sp>
      <p:sp>
        <p:nvSpPr>
          <p:cNvPr id="139303" name="Text Box 39"/>
          <p:cNvSpPr txBox="1">
            <a:spLocks noChangeArrowheads="1"/>
          </p:cNvSpPr>
          <p:nvPr/>
        </p:nvSpPr>
        <p:spPr bwMode="auto">
          <a:xfrm>
            <a:off x="8382000" y="2589491"/>
            <a:ext cx="396262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/>
              <a:t>10</a:t>
            </a:r>
            <a:endParaRPr lang="en-US" altLang="zh-CN" b="1"/>
          </a:p>
        </p:txBody>
      </p:sp>
      <p:sp>
        <p:nvSpPr>
          <p:cNvPr id="139304" name="Text Box 40"/>
          <p:cNvSpPr txBox="1">
            <a:spLocks noChangeArrowheads="1"/>
          </p:cNvSpPr>
          <p:nvPr/>
        </p:nvSpPr>
        <p:spPr bwMode="auto">
          <a:xfrm>
            <a:off x="3036888" y="3199091"/>
            <a:ext cx="2359941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>
                <a:solidFill>
                  <a:srgbClr val="00B0F0"/>
                </a:solidFill>
              </a:rPr>
              <a:t>A(6+1)B(2+5)</a:t>
            </a:r>
            <a:r>
              <a:rPr lang="en-US" altLang="zh-CN" sz="1800" b="1" dirty="0"/>
              <a:t>D(2+12)</a:t>
            </a:r>
            <a:endParaRPr lang="en-US" altLang="zh-CN" b="1" dirty="0"/>
          </a:p>
        </p:txBody>
      </p:sp>
      <p:sp>
        <p:nvSpPr>
          <p:cNvPr id="139305" name="Line 41"/>
          <p:cNvSpPr>
            <a:spLocks noChangeShapeType="1"/>
          </p:cNvSpPr>
          <p:nvPr/>
        </p:nvSpPr>
        <p:spPr bwMode="auto">
          <a:xfrm>
            <a:off x="3785286" y="3505200"/>
            <a:ext cx="7620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06" name="Text Box 42"/>
          <p:cNvSpPr txBox="1">
            <a:spLocks noChangeArrowheads="1"/>
          </p:cNvSpPr>
          <p:nvPr/>
        </p:nvSpPr>
        <p:spPr bwMode="auto">
          <a:xfrm>
            <a:off x="5486400" y="3200400"/>
            <a:ext cx="2352675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/>
              <a:t>s(0+10) C(1+8) B(2+5)</a:t>
            </a:r>
            <a:endParaRPr lang="en-US" altLang="zh-CN" b="1"/>
          </a:p>
        </p:txBody>
      </p:sp>
      <p:sp>
        <p:nvSpPr>
          <p:cNvPr id="139307" name="Text Box 43"/>
          <p:cNvSpPr txBox="1">
            <a:spLocks noChangeArrowheads="1"/>
          </p:cNvSpPr>
          <p:nvPr/>
        </p:nvSpPr>
        <p:spPr bwMode="auto">
          <a:xfrm>
            <a:off x="8382000" y="3199091"/>
            <a:ext cx="396262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/>
              <a:t>10</a:t>
            </a:r>
            <a:endParaRPr lang="en-US" altLang="zh-CN" b="1"/>
          </a:p>
        </p:txBody>
      </p:sp>
      <p:sp>
        <p:nvSpPr>
          <p:cNvPr id="139308" name="Text Box 44"/>
          <p:cNvSpPr txBox="1">
            <a:spLocks noChangeArrowheads="1"/>
          </p:cNvSpPr>
          <p:nvPr/>
        </p:nvSpPr>
        <p:spPr bwMode="auto">
          <a:xfrm>
            <a:off x="3048000" y="3808691"/>
            <a:ext cx="1784463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>
                <a:solidFill>
                  <a:srgbClr val="00B0F0"/>
                </a:solidFill>
              </a:rPr>
              <a:t>A(3+1</a:t>
            </a:r>
            <a:r>
              <a:rPr lang="en-US" altLang="zh-CN" b="1" dirty="0">
                <a:solidFill>
                  <a:srgbClr val="00B0F0"/>
                </a:solidFill>
              </a:rPr>
              <a:t>)</a:t>
            </a:r>
            <a:r>
              <a:rPr lang="en-US" altLang="zh-CN" b="1" dirty="0"/>
              <a:t> D(2+12) </a:t>
            </a:r>
            <a:endParaRPr lang="en-US" altLang="zh-CN" b="1" dirty="0"/>
          </a:p>
        </p:txBody>
      </p:sp>
      <p:sp>
        <p:nvSpPr>
          <p:cNvPr id="139309" name="Text Box 45"/>
          <p:cNvSpPr txBox="1">
            <a:spLocks noChangeArrowheads="1"/>
          </p:cNvSpPr>
          <p:nvPr/>
        </p:nvSpPr>
        <p:spPr bwMode="auto">
          <a:xfrm>
            <a:off x="5334000" y="3808691"/>
            <a:ext cx="2956259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/>
              <a:t>s(0+10)C(1+8)B(2+5)A(3+1)</a:t>
            </a:r>
            <a:endParaRPr lang="en-US" altLang="zh-CN" b="1"/>
          </a:p>
        </p:txBody>
      </p:sp>
      <p:sp>
        <p:nvSpPr>
          <p:cNvPr id="139310" name="Text Box 46"/>
          <p:cNvSpPr txBox="1">
            <a:spLocks noChangeArrowheads="1"/>
          </p:cNvSpPr>
          <p:nvPr/>
        </p:nvSpPr>
        <p:spPr bwMode="auto">
          <a:xfrm>
            <a:off x="8382000" y="3808691"/>
            <a:ext cx="396262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/>
              <a:t>10</a:t>
            </a:r>
            <a:endParaRPr lang="en-US" altLang="zh-CN" b="1"/>
          </a:p>
        </p:txBody>
      </p:sp>
      <p:sp>
        <p:nvSpPr>
          <p:cNvPr id="139311" name="Line 47"/>
          <p:cNvSpPr>
            <a:spLocks noChangeShapeType="1"/>
          </p:cNvSpPr>
          <p:nvPr/>
        </p:nvSpPr>
        <p:spPr bwMode="auto">
          <a:xfrm>
            <a:off x="3124200" y="4114800"/>
            <a:ext cx="7620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12" name="Text Box 48"/>
          <p:cNvSpPr txBox="1">
            <a:spLocks noChangeArrowheads="1"/>
          </p:cNvSpPr>
          <p:nvPr/>
        </p:nvSpPr>
        <p:spPr bwMode="auto">
          <a:xfrm>
            <a:off x="3048000" y="4494491"/>
            <a:ext cx="1890261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/>
              <a:t>G(11+0</a:t>
            </a:r>
            <a:r>
              <a:rPr lang="en-US" altLang="zh-CN" b="1" dirty="0"/>
              <a:t>) D(2+12) </a:t>
            </a:r>
            <a:endParaRPr lang="en-US" altLang="zh-CN" b="1" dirty="0"/>
          </a:p>
        </p:txBody>
      </p:sp>
      <p:sp>
        <p:nvSpPr>
          <p:cNvPr id="48" name="Oval 3"/>
          <p:cNvSpPr>
            <a:spLocks noChangeArrowheads="1"/>
          </p:cNvSpPr>
          <p:nvPr/>
        </p:nvSpPr>
        <p:spPr bwMode="auto">
          <a:xfrm flipH="1">
            <a:off x="611996" y="3916362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" name="Line 11"/>
          <p:cNvSpPr>
            <a:spLocks noChangeShapeType="1"/>
          </p:cNvSpPr>
          <p:nvPr/>
        </p:nvSpPr>
        <p:spPr bwMode="auto">
          <a:xfrm>
            <a:off x="674200" y="2955925"/>
            <a:ext cx="19702" cy="94106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" name="Text Box 14"/>
          <p:cNvSpPr txBox="1">
            <a:spLocks noChangeArrowheads="1"/>
          </p:cNvSpPr>
          <p:nvPr/>
        </p:nvSpPr>
        <p:spPr bwMode="auto">
          <a:xfrm>
            <a:off x="330712" y="4084493"/>
            <a:ext cx="912429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D(12)</a:t>
            </a:r>
            <a:endParaRPr lang="en-US" altLang="zh-CN" sz="2400" b="1" dirty="0"/>
          </a:p>
        </p:txBody>
      </p:sp>
      <p:sp>
        <p:nvSpPr>
          <p:cNvPr id="51" name="Text Box 21"/>
          <p:cNvSpPr txBox="1">
            <a:spLocks noChangeArrowheads="1"/>
          </p:cNvSpPr>
          <p:nvPr/>
        </p:nvSpPr>
        <p:spPr bwMode="auto">
          <a:xfrm>
            <a:off x="319607" y="3236267"/>
            <a:ext cx="32573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1</a:t>
            </a:r>
            <a:endParaRPr lang="en-US" altLang="zh-CN" sz="2400" b="1" dirty="0"/>
          </a:p>
        </p:txBody>
      </p:sp>
      <p:sp>
        <p:nvSpPr>
          <p:cNvPr id="52" name="Text Box 48"/>
          <p:cNvSpPr txBox="1">
            <a:spLocks noChangeArrowheads="1"/>
          </p:cNvSpPr>
          <p:nvPr/>
        </p:nvSpPr>
        <p:spPr bwMode="auto">
          <a:xfrm>
            <a:off x="3019165" y="5940242"/>
            <a:ext cx="366158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/>
              <a:t>说明：蓝颜色表示在</a:t>
            </a:r>
            <a:r>
              <a:rPr lang="en-US" altLang="zh-CN" b="1" dirty="0"/>
              <a:t>nest</a:t>
            </a:r>
            <a:r>
              <a:rPr lang="zh-CN" altLang="en-US" b="1" dirty="0"/>
              <a:t>中的节点</a:t>
            </a:r>
            <a:r>
              <a:rPr lang="en-US" altLang="zh-CN" b="1" dirty="0"/>
              <a:t> </a:t>
            </a:r>
            <a:endParaRPr lang="en-US" altLang="zh-CN" b="1" dirty="0"/>
          </a:p>
        </p:txBody>
      </p:sp>
      <p:grpSp>
        <p:nvGrpSpPr>
          <p:cNvPr id="4" name="Group 3"/>
          <p:cNvGrpSpPr/>
          <p:nvPr/>
        </p:nvGrpSpPr>
        <p:grpSpPr>
          <a:xfrm>
            <a:off x="3081202" y="4485347"/>
            <a:ext cx="878151" cy="800073"/>
            <a:chOff x="3081202" y="4485347"/>
            <a:chExt cx="878151" cy="800073"/>
          </a:xfrm>
        </p:grpSpPr>
        <p:sp>
          <p:nvSpPr>
            <p:cNvPr id="2" name="Rectangle 1"/>
            <p:cNvSpPr/>
            <p:nvPr/>
          </p:nvSpPr>
          <p:spPr>
            <a:xfrm>
              <a:off x="3081202" y="4485347"/>
              <a:ext cx="878150" cy="36933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3081203" y="4916088"/>
              <a:ext cx="8781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err="1">
                  <a:solidFill>
                    <a:srgbClr val="00B050"/>
                  </a:solidFill>
                </a:rPr>
                <a:t>结束</a:t>
              </a:r>
              <a:endParaRPr lang="en-US" b="1" dirty="0">
                <a:solidFill>
                  <a:srgbClr val="00B05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9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9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9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97" grpId="0" autoUpdateAnimBg="0"/>
      <p:bldP spid="139298" grpId="0" autoUpdateAnimBg="0"/>
      <p:bldP spid="139299" grpId="0" autoUpdateAnimBg="0"/>
      <p:bldP spid="139300" grpId="0" autoUpdateAnimBg="0"/>
      <p:bldP spid="139301" grpId="0" animBg="1"/>
      <p:bldP spid="139302" grpId="0" autoUpdateAnimBg="0"/>
      <p:bldP spid="139303" grpId="0" autoUpdateAnimBg="0"/>
      <p:bldP spid="139304" grpId="0" autoUpdateAnimBg="0"/>
      <p:bldP spid="139305" grpId="0" animBg="1"/>
      <p:bldP spid="139306" grpId="0" autoUpdateAnimBg="0"/>
      <p:bldP spid="139307" grpId="0" autoUpdateAnimBg="0"/>
      <p:bldP spid="139308" grpId="0" autoUpdateAnimBg="0"/>
      <p:bldP spid="139309" grpId="0" autoUpdateAnimBg="0"/>
      <p:bldP spid="139310" grpId="0" autoUpdateAnimBg="0"/>
      <p:bldP spid="139311" grpId="0" animBg="1"/>
      <p:bldP spid="139312" grpId="0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35107A3-780B-4B70-8D00-0111611A1140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92163" name="Oval 3"/>
          <p:cNvSpPr>
            <a:spLocks noChangeArrowheads="1"/>
          </p:cNvSpPr>
          <p:nvPr/>
        </p:nvSpPr>
        <p:spPr bwMode="auto">
          <a:xfrm flipH="1">
            <a:off x="1371600" y="196532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4" name="Oval 4"/>
          <p:cNvSpPr>
            <a:spLocks noChangeArrowheads="1"/>
          </p:cNvSpPr>
          <p:nvPr/>
        </p:nvSpPr>
        <p:spPr bwMode="auto">
          <a:xfrm flipH="1">
            <a:off x="609600" y="280352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5" name="Oval 5"/>
          <p:cNvSpPr>
            <a:spLocks noChangeArrowheads="1"/>
          </p:cNvSpPr>
          <p:nvPr/>
        </p:nvSpPr>
        <p:spPr bwMode="auto">
          <a:xfrm flipH="1">
            <a:off x="1295400" y="326072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6" name="Oval 6"/>
          <p:cNvSpPr>
            <a:spLocks noChangeArrowheads="1"/>
          </p:cNvSpPr>
          <p:nvPr/>
        </p:nvSpPr>
        <p:spPr bwMode="auto">
          <a:xfrm flipH="1">
            <a:off x="2057400" y="364172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7" name="Oval 7"/>
          <p:cNvSpPr>
            <a:spLocks noChangeArrowheads="1"/>
          </p:cNvSpPr>
          <p:nvPr/>
        </p:nvSpPr>
        <p:spPr bwMode="auto">
          <a:xfrm flipH="1">
            <a:off x="990600" y="478472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8" name="Line 8"/>
          <p:cNvSpPr>
            <a:spLocks noChangeShapeType="1"/>
          </p:cNvSpPr>
          <p:nvPr/>
        </p:nvSpPr>
        <p:spPr bwMode="auto">
          <a:xfrm flipH="1">
            <a:off x="762000" y="2117725"/>
            <a:ext cx="609600" cy="685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9" name="Line 9"/>
          <p:cNvSpPr>
            <a:spLocks noChangeShapeType="1"/>
          </p:cNvSpPr>
          <p:nvPr/>
        </p:nvSpPr>
        <p:spPr bwMode="auto">
          <a:xfrm flipH="1">
            <a:off x="1371600" y="2193925"/>
            <a:ext cx="76200" cy="1066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70" name="Line 10"/>
          <p:cNvSpPr>
            <a:spLocks noChangeShapeType="1"/>
          </p:cNvSpPr>
          <p:nvPr/>
        </p:nvSpPr>
        <p:spPr bwMode="auto">
          <a:xfrm>
            <a:off x="1524000" y="2117725"/>
            <a:ext cx="609600" cy="1524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71" name="Line 11"/>
          <p:cNvSpPr>
            <a:spLocks noChangeShapeType="1"/>
          </p:cNvSpPr>
          <p:nvPr/>
        </p:nvSpPr>
        <p:spPr bwMode="auto">
          <a:xfrm flipH="1">
            <a:off x="1066800" y="3794125"/>
            <a:ext cx="990600" cy="990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72" name="Line 12"/>
          <p:cNvSpPr>
            <a:spLocks noChangeShapeType="1"/>
          </p:cNvSpPr>
          <p:nvPr/>
        </p:nvSpPr>
        <p:spPr bwMode="auto">
          <a:xfrm>
            <a:off x="762000" y="2955925"/>
            <a:ext cx="533400" cy="381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73" name="Line 13"/>
          <p:cNvSpPr>
            <a:spLocks noChangeShapeType="1"/>
          </p:cNvSpPr>
          <p:nvPr/>
        </p:nvSpPr>
        <p:spPr bwMode="auto">
          <a:xfrm>
            <a:off x="1447800" y="3413125"/>
            <a:ext cx="609600" cy="304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74" name="Text Box 14"/>
          <p:cNvSpPr txBox="1">
            <a:spLocks noChangeArrowheads="1"/>
          </p:cNvSpPr>
          <p:nvPr/>
        </p:nvSpPr>
        <p:spPr bwMode="auto">
          <a:xfrm>
            <a:off x="1545245" y="1704330"/>
            <a:ext cx="662361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</a:rPr>
              <a:t>s(9)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92175" name="Text Box 15"/>
          <p:cNvSpPr txBox="1">
            <a:spLocks noChangeArrowheads="1"/>
          </p:cNvSpPr>
          <p:nvPr/>
        </p:nvSpPr>
        <p:spPr bwMode="auto">
          <a:xfrm>
            <a:off x="2115016" y="3533130"/>
            <a:ext cx="755336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A(1)</a:t>
            </a:r>
            <a:endParaRPr lang="en-US" altLang="zh-CN" sz="2400" b="1" dirty="0"/>
          </a:p>
        </p:txBody>
      </p:sp>
      <p:sp>
        <p:nvSpPr>
          <p:cNvPr id="92176" name="Text Box 16"/>
          <p:cNvSpPr txBox="1">
            <a:spLocks noChangeArrowheads="1"/>
          </p:cNvSpPr>
          <p:nvPr/>
        </p:nvSpPr>
        <p:spPr bwMode="auto">
          <a:xfrm>
            <a:off x="982104" y="3378503"/>
            <a:ext cx="739305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B(5)</a:t>
            </a:r>
            <a:endParaRPr lang="en-US" altLang="zh-CN" sz="2400" b="1" dirty="0"/>
          </a:p>
        </p:txBody>
      </p:sp>
      <p:sp>
        <p:nvSpPr>
          <p:cNvPr id="92177" name="Text Box 17"/>
          <p:cNvSpPr txBox="1">
            <a:spLocks noChangeArrowheads="1"/>
          </p:cNvSpPr>
          <p:nvPr/>
        </p:nvSpPr>
        <p:spPr bwMode="auto">
          <a:xfrm>
            <a:off x="107392" y="2390130"/>
            <a:ext cx="739305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C(8)</a:t>
            </a:r>
            <a:endParaRPr lang="en-US" altLang="zh-CN" sz="2400" b="1" dirty="0"/>
          </a:p>
        </p:txBody>
      </p:sp>
      <p:sp>
        <p:nvSpPr>
          <p:cNvPr id="92178" name="Text Box 18"/>
          <p:cNvSpPr txBox="1">
            <a:spLocks noChangeArrowheads="1"/>
          </p:cNvSpPr>
          <p:nvPr/>
        </p:nvSpPr>
        <p:spPr bwMode="auto">
          <a:xfrm>
            <a:off x="556637" y="5133330"/>
            <a:ext cx="1071127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/>
              <a:t>G </a:t>
            </a:r>
            <a:r>
              <a:rPr lang="zh-CN" altLang="en-US" sz="2400" b="1"/>
              <a:t>目标</a:t>
            </a:r>
            <a:endParaRPr lang="zh-CN" altLang="en-US" sz="2400" b="1"/>
          </a:p>
        </p:txBody>
      </p:sp>
      <p:sp>
        <p:nvSpPr>
          <p:cNvPr id="92179" name="Text Box 19"/>
          <p:cNvSpPr txBox="1">
            <a:spLocks noChangeArrowheads="1"/>
          </p:cNvSpPr>
          <p:nvPr/>
        </p:nvSpPr>
        <p:spPr bwMode="auto">
          <a:xfrm>
            <a:off x="1905000" y="2618730"/>
            <a:ext cx="32573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/>
              <a:t>6</a:t>
            </a:r>
            <a:endParaRPr lang="en-US" altLang="zh-CN" sz="2400" b="1"/>
          </a:p>
        </p:txBody>
      </p:sp>
      <p:sp>
        <p:nvSpPr>
          <p:cNvPr id="92180" name="Text Box 20"/>
          <p:cNvSpPr txBox="1">
            <a:spLocks noChangeArrowheads="1"/>
          </p:cNvSpPr>
          <p:nvPr/>
        </p:nvSpPr>
        <p:spPr bwMode="auto">
          <a:xfrm>
            <a:off x="1143000" y="2466330"/>
            <a:ext cx="32573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/>
              <a:t>3</a:t>
            </a:r>
            <a:endParaRPr lang="en-US" altLang="zh-CN" sz="2400" b="1"/>
          </a:p>
        </p:txBody>
      </p:sp>
      <p:sp>
        <p:nvSpPr>
          <p:cNvPr id="92181" name="Text Box 21"/>
          <p:cNvSpPr txBox="1">
            <a:spLocks noChangeArrowheads="1"/>
          </p:cNvSpPr>
          <p:nvPr/>
        </p:nvSpPr>
        <p:spPr bwMode="auto">
          <a:xfrm>
            <a:off x="914400" y="2009130"/>
            <a:ext cx="32573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/>
              <a:t>1</a:t>
            </a:r>
            <a:endParaRPr lang="en-US" altLang="zh-CN" sz="2400" b="1"/>
          </a:p>
        </p:txBody>
      </p:sp>
      <p:sp>
        <p:nvSpPr>
          <p:cNvPr id="92182" name="Text Box 22"/>
          <p:cNvSpPr txBox="1">
            <a:spLocks noChangeArrowheads="1"/>
          </p:cNvSpPr>
          <p:nvPr/>
        </p:nvSpPr>
        <p:spPr bwMode="auto">
          <a:xfrm>
            <a:off x="734704" y="3027026"/>
            <a:ext cx="32573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1</a:t>
            </a:r>
            <a:endParaRPr lang="en-US" altLang="zh-CN" sz="2400" b="1" dirty="0"/>
          </a:p>
        </p:txBody>
      </p:sp>
      <p:sp>
        <p:nvSpPr>
          <p:cNvPr id="92183" name="Text Box 23"/>
          <p:cNvSpPr txBox="1">
            <a:spLocks noChangeArrowheads="1"/>
          </p:cNvSpPr>
          <p:nvPr/>
        </p:nvSpPr>
        <p:spPr bwMode="auto">
          <a:xfrm>
            <a:off x="1600200" y="3152130"/>
            <a:ext cx="32573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/>
              <a:t>1</a:t>
            </a:r>
            <a:endParaRPr lang="en-US" altLang="zh-CN" sz="2400" b="1"/>
          </a:p>
        </p:txBody>
      </p:sp>
      <p:sp>
        <p:nvSpPr>
          <p:cNvPr id="92184" name="Text Box 24"/>
          <p:cNvSpPr txBox="1">
            <a:spLocks noChangeArrowheads="1"/>
          </p:cNvSpPr>
          <p:nvPr/>
        </p:nvSpPr>
        <p:spPr bwMode="auto">
          <a:xfrm>
            <a:off x="1295400" y="3990330"/>
            <a:ext cx="32573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/>
              <a:t>8</a:t>
            </a:r>
            <a:endParaRPr lang="en-US" altLang="zh-CN" sz="2400" b="1"/>
          </a:p>
        </p:txBody>
      </p:sp>
      <p:sp>
        <p:nvSpPr>
          <p:cNvPr id="92185" name="Text Box 25"/>
          <p:cNvSpPr txBox="1">
            <a:spLocks noChangeArrowheads="1"/>
          </p:cNvSpPr>
          <p:nvPr/>
        </p:nvSpPr>
        <p:spPr bwMode="auto">
          <a:xfrm>
            <a:off x="762000" y="683568"/>
            <a:ext cx="4267515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/>
              <a:t>前面的例子中，</a:t>
            </a:r>
            <a:r>
              <a:rPr lang="en-US" altLang="zh-CN" sz="2400" b="1" dirty="0"/>
              <a:t>h(S)</a:t>
            </a:r>
            <a:r>
              <a:rPr lang="zh-CN" altLang="en-US" sz="2400" b="1" dirty="0"/>
              <a:t>修改为</a:t>
            </a:r>
            <a:r>
              <a:rPr lang="en-US" altLang="zh-CN" sz="2400" b="1" dirty="0"/>
              <a:t>9</a:t>
            </a:r>
            <a:r>
              <a:rPr lang="zh-CN" altLang="en-US" sz="2400" b="1" dirty="0"/>
              <a:t>：</a:t>
            </a:r>
            <a:endParaRPr lang="zh-CN" altLang="en-US" sz="2400" b="1" dirty="0"/>
          </a:p>
        </p:txBody>
      </p:sp>
      <p:sp>
        <p:nvSpPr>
          <p:cNvPr id="92186" name="Line 27"/>
          <p:cNvSpPr>
            <a:spLocks noChangeShapeType="1"/>
          </p:cNvSpPr>
          <p:nvPr/>
        </p:nvSpPr>
        <p:spPr bwMode="auto">
          <a:xfrm>
            <a:off x="3073970" y="1828800"/>
            <a:ext cx="5638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87" name="Line 28"/>
          <p:cNvSpPr>
            <a:spLocks noChangeShapeType="1"/>
          </p:cNvSpPr>
          <p:nvPr/>
        </p:nvSpPr>
        <p:spPr bwMode="auto">
          <a:xfrm>
            <a:off x="5408142" y="1371600"/>
            <a:ext cx="0" cy="434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88" name="Text Box 29"/>
          <p:cNvSpPr txBox="1">
            <a:spLocks noChangeArrowheads="1"/>
          </p:cNvSpPr>
          <p:nvPr/>
        </p:nvSpPr>
        <p:spPr bwMode="auto">
          <a:xfrm>
            <a:off x="3429000" y="1339334"/>
            <a:ext cx="979755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/>
              <a:t>OPEN</a:t>
            </a:r>
            <a:r>
              <a:rPr lang="zh-CN" altLang="en-US" b="1" dirty="0"/>
              <a:t>表</a:t>
            </a:r>
            <a:endParaRPr lang="zh-CN" altLang="en-US" b="1" dirty="0"/>
          </a:p>
        </p:txBody>
      </p:sp>
      <p:sp>
        <p:nvSpPr>
          <p:cNvPr id="92189" name="Text Box 30"/>
          <p:cNvSpPr txBox="1">
            <a:spLocks noChangeArrowheads="1"/>
          </p:cNvSpPr>
          <p:nvPr/>
        </p:nvSpPr>
        <p:spPr bwMode="auto">
          <a:xfrm>
            <a:off x="5715000" y="1339334"/>
            <a:ext cx="123303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/>
              <a:t>CLOSED</a:t>
            </a:r>
            <a:r>
              <a:rPr lang="zh-CN" altLang="en-US" b="1" dirty="0"/>
              <a:t>表</a:t>
            </a:r>
            <a:endParaRPr lang="zh-CN" altLang="en-US" b="1" dirty="0"/>
          </a:p>
        </p:txBody>
      </p:sp>
      <p:sp>
        <p:nvSpPr>
          <p:cNvPr id="92190" name="Line 31"/>
          <p:cNvSpPr>
            <a:spLocks noChangeShapeType="1"/>
          </p:cNvSpPr>
          <p:nvPr/>
        </p:nvSpPr>
        <p:spPr bwMode="auto">
          <a:xfrm>
            <a:off x="8350620" y="1371600"/>
            <a:ext cx="0" cy="441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91" name="Text Box 32"/>
          <p:cNvSpPr txBox="1">
            <a:spLocks noChangeArrowheads="1"/>
          </p:cNvSpPr>
          <p:nvPr/>
        </p:nvSpPr>
        <p:spPr bwMode="auto">
          <a:xfrm>
            <a:off x="8382000" y="1339334"/>
            <a:ext cx="380232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/>
              <a:t>f</a:t>
            </a:r>
            <a:r>
              <a:rPr lang="en-US" altLang="zh-CN" b="1" baseline="-25000" dirty="0"/>
              <a:t>m</a:t>
            </a:r>
            <a:endParaRPr lang="en-US" altLang="zh-CN" b="1" baseline="-25000" dirty="0"/>
          </a:p>
        </p:txBody>
      </p:sp>
      <p:sp>
        <p:nvSpPr>
          <p:cNvPr id="139297" name="Text Box 33"/>
          <p:cNvSpPr txBox="1">
            <a:spLocks noChangeArrowheads="1"/>
          </p:cNvSpPr>
          <p:nvPr/>
        </p:nvSpPr>
        <p:spPr bwMode="auto">
          <a:xfrm>
            <a:off x="3052116" y="2024341"/>
            <a:ext cx="805029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/>
              <a:t>s(0+9)</a:t>
            </a:r>
            <a:endParaRPr lang="en-US" altLang="zh-CN" b="1" dirty="0"/>
          </a:p>
        </p:txBody>
      </p:sp>
      <p:sp>
        <p:nvSpPr>
          <p:cNvPr id="139298" name="Text Box 34"/>
          <p:cNvSpPr txBox="1">
            <a:spLocks noChangeArrowheads="1"/>
          </p:cNvSpPr>
          <p:nvPr/>
        </p:nvSpPr>
        <p:spPr bwMode="auto">
          <a:xfrm>
            <a:off x="5486400" y="2024341"/>
            <a:ext cx="805029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/>
              <a:t>s(0+9)</a:t>
            </a:r>
            <a:endParaRPr lang="en-US" altLang="zh-CN" b="1" dirty="0"/>
          </a:p>
        </p:txBody>
      </p:sp>
      <p:sp>
        <p:nvSpPr>
          <p:cNvPr id="139299" name="Text Box 35"/>
          <p:cNvSpPr txBox="1">
            <a:spLocks noChangeArrowheads="1"/>
          </p:cNvSpPr>
          <p:nvPr/>
        </p:nvSpPr>
        <p:spPr bwMode="auto">
          <a:xfrm>
            <a:off x="8332788" y="2024341"/>
            <a:ext cx="290464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/>
              <a:t>9</a:t>
            </a:r>
            <a:endParaRPr lang="en-US" altLang="zh-CN" b="1" dirty="0"/>
          </a:p>
        </p:txBody>
      </p:sp>
      <p:sp>
        <p:nvSpPr>
          <p:cNvPr id="139300" name="Text Box 36"/>
          <p:cNvSpPr txBox="1">
            <a:spLocks noChangeArrowheads="1"/>
          </p:cNvSpPr>
          <p:nvPr/>
        </p:nvSpPr>
        <p:spPr bwMode="auto">
          <a:xfrm>
            <a:off x="3048000" y="2667000"/>
            <a:ext cx="2314575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>
                <a:solidFill>
                  <a:srgbClr val="00B0F0"/>
                </a:solidFill>
              </a:rPr>
              <a:t>A(6+1) B(3+5) </a:t>
            </a:r>
            <a:r>
              <a:rPr lang="en-US" altLang="zh-CN" b="1" dirty="0"/>
              <a:t>C(1+8)</a:t>
            </a:r>
            <a:endParaRPr lang="en-US" altLang="zh-CN" b="1" dirty="0"/>
          </a:p>
        </p:txBody>
      </p:sp>
      <p:sp>
        <p:nvSpPr>
          <p:cNvPr id="139301" name="Line 37"/>
          <p:cNvSpPr>
            <a:spLocks noChangeShapeType="1"/>
          </p:cNvSpPr>
          <p:nvPr/>
        </p:nvSpPr>
        <p:spPr bwMode="auto">
          <a:xfrm>
            <a:off x="3810000" y="2995655"/>
            <a:ext cx="7620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02" name="Text Box 38"/>
          <p:cNvSpPr txBox="1">
            <a:spLocks noChangeArrowheads="1"/>
          </p:cNvSpPr>
          <p:nvPr/>
        </p:nvSpPr>
        <p:spPr bwMode="auto">
          <a:xfrm>
            <a:off x="5486400" y="2665691"/>
            <a:ext cx="1534394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/>
              <a:t>s(0+9) B(3+5)</a:t>
            </a:r>
            <a:endParaRPr lang="en-US" altLang="zh-CN" b="1" dirty="0"/>
          </a:p>
        </p:txBody>
      </p:sp>
      <p:sp>
        <p:nvSpPr>
          <p:cNvPr id="139303" name="Text Box 39"/>
          <p:cNvSpPr txBox="1">
            <a:spLocks noChangeArrowheads="1"/>
          </p:cNvSpPr>
          <p:nvPr/>
        </p:nvSpPr>
        <p:spPr bwMode="auto">
          <a:xfrm>
            <a:off x="8382000" y="2589491"/>
            <a:ext cx="290464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/>
              <a:t>9</a:t>
            </a:r>
            <a:endParaRPr lang="en-US" altLang="zh-CN" b="1" dirty="0"/>
          </a:p>
        </p:txBody>
      </p:sp>
      <p:sp>
        <p:nvSpPr>
          <p:cNvPr id="139304" name="Text Box 40"/>
          <p:cNvSpPr txBox="1">
            <a:spLocks noChangeArrowheads="1"/>
          </p:cNvSpPr>
          <p:nvPr/>
        </p:nvSpPr>
        <p:spPr bwMode="auto">
          <a:xfrm>
            <a:off x="3036887" y="3199091"/>
            <a:ext cx="2589555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>
                <a:solidFill>
                  <a:srgbClr val="00B0F0"/>
                </a:solidFill>
              </a:rPr>
              <a:t>A(4+1) </a:t>
            </a:r>
            <a:r>
              <a:rPr lang="en-US" altLang="zh-CN" b="1" dirty="0"/>
              <a:t>C(1+8)</a:t>
            </a:r>
            <a:endParaRPr lang="en-US" altLang="zh-CN" b="1" dirty="0"/>
          </a:p>
        </p:txBody>
      </p:sp>
      <p:sp>
        <p:nvSpPr>
          <p:cNvPr id="139305" name="Line 41"/>
          <p:cNvSpPr>
            <a:spLocks noChangeShapeType="1"/>
          </p:cNvSpPr>
          <p:nvPr/>
        </p:nvSpPr>
        <p:spPr bwMode="auto">
          <a:xfrm>
            <a:off x="3068584" y="3505200"/>
            <a:ext cx="7620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06" name="Text Box 42"/>
          <p:cNvSpPr txBox="1">
            <a:spLocks noChangeArrowheads="1"/>
          </p:cNvSpPr>
          <p:nvPr/>
        </p:nvSpPr>
        <p:spPr bwMode="auto">
          <a:xfrm>
            <a:off x="5486400" y="3199091"/>
            <a:ext cx="2265748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/>
              <a:t>s(0+9) </a:t>
            </a:r>
            <a:r>
              <a:rPr lang="en-US" altLang="zh-CN" b="1" dirty="0"/>
              <a:t>B(3+5) A(4+1)</a:t>
            </a:r>
            <a:endParaRPr lang="en-US" altLang="zh-CN" b="1" dirty="0"/>
          </a:p>
        </p:txBody>
      </p:sp>
      <p:sp>
        <p:nvSpPr>
          <p:cNvPr id="139307" name="Text Box 43"/>
          <p:cNvSpPr txBox="1">
            <a:spLocks noChangeArrowheads="1"/>
          </p:cNvSpPr>
          <p:nvPr/>
        </p:nvSpPr>
        <p:spPr bwMode="auto">
          <a:xfrm>
            <a:off x="8382000" y="3199091"/>
            <a:ext cx="290464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/>
              <a:t>9</a:t>
            </a:r>
            <a:endParaRPr lang="en-US" altLang="zh-CN" b="1" dirty="0"/>
          </a:p>
        </p:txBody>
      </p:sp>
      <p:sp>
        <p:nvSpPr>
          <p:cNvPr id="139308" name="Text Box 44"/>
          <p:cNvSpPr txBox="1">
            <a:spLocks noChangeArrowheads="1"/>
          </p:cNvSpPr>
          <p:nvPr/>
        </p:nvSpPr>
        <p:spPr bwMode="auto">
          <a:xfrm>
            <a:off x="3048000" y="3808691"/>
            <a:ext cx="1709122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/>
              <a:t>C(1+8) G(12+0)</a:t>
            </a:r>
            <a:endParaRPr lang="en-US" altLang="zh-CN" b="1" dirty="0"/>
          </a:p>
        </p:txBody>
      </p:sp>
      <p:sp>
        <p:nvSpPr>
          <p:cNvPr id="139309" name="Text Box 45"/>
          <p:cNvSpPr txBox="1">
            <a:spLocks noChangeArrowheads="1"/>
          </p:cNvSpPr>
          <p:nvPr/>
        </p:nvSpPr>
        <p:spPr bwMode="auto">
          <a:xfrm>
            <a:off x="5449332" y="3808691"/>
            <a:ext cx="2265748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/>
              <a:t>s(0+9) A(4+1) C(1+8)</a:t>
            </a:r>
            <a:endParaRPr lang="en-US" altLang="zh-CN" b="1" dirty="0"/>
          </a:p>
        </p:txBody>
      </p:sp>
      <p:sp>
        <p:nvSpPr>
          <p:cNvPr id="139310" name="Text Box 46"/>
          <p:cNvSpPr txBox="1">
            <a:spLocks noChangeArrowheads="1"/>
          </p:cNvSpPr>
          <p:nvPr/>
        </p:nvSpPr>
        <p:spPr bwMode="auto">
          <a:xfrm>
            <a:off x="8382000" y="3808691"/>
            <a:ext cx="290464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</a:rPr>
              <a:t>9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139311" name="Line 47"/>
          <p:cNvSpPr>
            <a:spLocks noChangeShapeType="1"/>
          </p:cNvSpPr>
          <p:nvPr/>
        </p:nvSpPr>
        <p:spPr bwMode="auto">
          <a:xfrm>
            <a:off x="3124200" y="4183580"/>
            <a:ext cx="7620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12" name="Text Box 48"/>
          <p:cNvSpPr txBox="1">
            <a:spLocks noChangeArrowheads="1"/>
          </p:cNvSpPr>
          <p:nvPr/>
        </p:nvSpPr>
        <p:spPr bwMode="auto">
          <a:xfrm>
            <a:off x="2990021" y="4896778"/>
            <a:ext cx="2579552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00B0F0"/>
                </a:solidFill>
              </a:rPr>
              <a:t>A(3+1)</a:t>
            </a:r>
            <a:r>
              <a:rPr lang="en-US" altLang="zh-CN" b="1" dirty="0"/>
              <a:t>G(12+0) D(2+12) </a:t>
            </a:r>
            <a:endParaRPr lang="en-US" altLang="zh-CN" b="1" dirty="0"/>
          </a:p>
        </p:txBody>
      </p:sp>
      <p:sp>
        <p:nvSpPr>
          <p:cNvPr id="48" name="Oval 3"/>
          <p:cNvSpPr>
            <a:spLocks noChangeArrowheads="1"/>
          </p:cNvSpPr>
          <p:nvPr/>
        </p:nvSpPr>
        <p:spPr bwMode="auto">
          <a:xfrm flipH="1">
            <a:off x="611996" y="3916362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" name="Line 11"/>
          <p:cNvSpPr>
            <a:spLocks noChangeShapeType="1"/>
          </p:cNvSpPr>
          <p:nvPr/>
        </p:nvSpPr>
        <p:spPr bwMode="auto">
          <a:xfrm>
            <a:off x="674200" y="2955925"/>
            <a:ext cx="19702" cy="94106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" name="Text Box 14"/>
          <p:cNvSpPr txBox="1">
            <a:spLocks noChangeArrowheads="1"/>
          </p:cNvSpPr>
          <p:nvPr/>
        </p:nvSpPr>
        <p:spPr bwMode="auto">
          <a:xfrm>
            <a:off x="330712" y="4084493"/>
            <a:ext cx="912429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D(12)</a:t>
            </a:r>
            <a:endParaRPr lang="en-US" altLang="zh-CN" sz="2400" b="1" dirty="0"/>
          </a:p>
        </p:txBody>
      </p:sp>
      <p:sp>
        <p:nvSpPr>
          <p:cNvPr id="51" name="Text Box 21"/>
          <p:cNvSpPr txBox="1">
            <a:spLocks noChangeArrowheads="1"/>
          </p:cNvSpPr>
          <p:nvPr/>
        </p:nvSpPr>
        <p:spPr bwMode="auto">
          <a:xfrm>
            <a:off x="319607" y="3236267"/>
            <a:ext cx="32573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1</a:t>
            </a:r>
            <a:endParaRPr lang="en-US" altLang="zh-CN" sz="2400" b="1" dirty="0"/>
          </a:p>
        </p:txBody>
      </p:sp>
      <p:sp>
        <p:nvSpPr>
          <p:cNvPr id="52" name="Text Box 48"/>
          <p:cNvSpPr txBox="1">
            <a:spLocks noChangeArrowheads="1"/>
          </p:cNvSpPr>
          <p:nvPr/>
        </p:nvSpPr>
        <p:spPr bwMode="auto">
          <a:xfrm>
            <a:off x="3993790" y="6163048"/>
            <a:ext cx="366158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/>
              <a:t>说明：蓝颜色表示在</a:t>
            </a:r>
            <a:r>
              <a:rPr lang="en-US" altLang="zh-CN" b="1" dirty="0"/>
              <a:t>nest</a:t>
            </a:r>
            <a:r>
              <a:rPr lang="zh-CN" altLang="en-US" b="1" dirty="0"/>
              <a:t>中的节点</a:t>
            </a:r>
            <a:r>
              <a:rPr lang="en-US" altLang="zh-CN" b="1" dirty="0"/>
              <a:t> </a:t>
            </a:r>
            <a:endParaRPr lang="en-US" altLang="zh-CN" b="1" dirty="0"/>
          </a:p>
        </p:txBody>
      </p:sp>
      <p:sp>
        <p:nvSpPr>
          <p:cNvPr id="53" name="Text Box 48"/>
          <p:cNvSpPr txBox="1">
            <a:spLocks noChangeArrowheads="1"/>
          </p:cNvSpPr>
          <p:nvPr/>
        </p:nvSpPr>
        <p:spPr bwMode="auto">
          <a:xfrm>
            <a:off x="2949939" y="4335730"/>
            <a:ext cx="2513932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00B0F0"/>
                </a:solidFill>
              </a:rPr>
              <a:t>B</a:t>
            </a:r>
            <a:r>
              <a:rPr lang="en-US" altLang="zh-CN" sz="1800" b="1" dirty="0">
                <a:solidFill>
                  <a:srgbClr val="00B0F0"/>
                </a:solidFill>
              </a:rPr>
              <a:t>(2+5</a:t>
            </a:r>
            <a:r>
              <a:rPr lang="en-US" altLang="zh-CN" b="1" dirty="0">
                <a:solidFill>
                  <a:srgbClr val="00B0F0"/>
                </a:solidFill>
              </a:rPr>
              <a:t>)</a:t>
            </a:r>
            <a:r>
              <a:rPr lang="en-US" altLang="zh-CN" b="1" dirty="0"/>
              <a:t> G(12+0) D(2+12)</a:t>
            </a:r>
            <a:endParaRPr lang="en-US" altLang="zh-CN" b="1" dirty="0"/>
          </a:p>
        </p:txBody>
      </p:sp>
      <p:sp>
        <p:nvSpPr>
          <p:cNvPr id="54" name="Text Box 45"/>
          <p:cNvSpPr txBox="1">
            <a:spLocks noChangeArrowheads="1"/>
          </p:cNvSpPr>
          <p:nvPr/>
        </p:nvSpPr>
        <p:spPr bwMode="auto">
          <a:xfrm>
            <a:off x="5362575" y="4325002"/>
            <a:ext cx="2161169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/>
              <a:t>s(0+9)C(1+8)B(2+5)</a:t>
            </a:r>
            <a:endParaRPr lang="en-US" altLang="zh-CN" b="1" dirty="0"/>
          </a:p>
        </p:txBody>
      </p:sp>
      <p:sp>
        <p:nvSpPr>
          <p:cNvPr id="55" name="Text Box 45"/>
          <p:cNvSpPr txBox="1">
            <a:spLocks noChangeArrowheads="1"/>
          </p:cNvSpPr>
          <p:nvPr/>
        </p:nvSpPr>
        <p:spPr bwMode="auto">
          <a:xfrm>
            <a:off x="5463871" y="4902884"/>
            <a:ext cx="2892523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/>
              <a:t>s(0+9)C(1+8)B(2+5)</a:t>
            </a:r>
            <a:r>
              <a:rPr lang="en-US" altLang="zh-CN" b="1" dirty="0"/>
              <a:t> A(3+1)</a:t>
            </a:r>
            <a:endParaRPr lang="en-US" altLang="zh-CN" b="1" dirty="0"/>
          </a:p>
        </p:txBody>
      </p:sp>
      <p:sp>
        <p:nvSpPr>
          <p:cNvPr id="56" name="Text Box 48"/>
          <p:cNvSpPr txBox="1">
            <a:spLocks noChangeArrowheads="1"/>
          </p:cNvSpPr>
          <p:nvPr/>
        </p:nvSpPr>
        <p:spPr bwMode="auto">
          <a:xfrm>
            <a:off x="2961677" y="5384180"/>
            <a:ext cx="1890261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/>
              <a:t>G(11+0) D(2+12) </a:t>
            </a:r>
            <a:endParaRPr lang="en-US" altLang="zh-CN" b="1" dirty="0"/>
          </a:p>
        </p:txBody>
      </p:sp>
      <p:sp>
        <p:nvSpPr>
          <p:cNvPr id="57" name="Line 47"/>
          <p:cNvSpPr>
            <a:spLocks noChangeShapeType="1"/>
          </p:cNvSpPr>
          <p:nvPr/>
        </p:nvSpPr>
        <p:spPr bwMode="auto">
          <a:xfrm>
            <a:off x="3000610" y="4672050"/>
            <a:ext cx="7620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</a:ln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58" name="Line 47"/>
          <p:cNvSpPr>
            <a:spLocks noChangeShapeType="1"/>
          </p:cNvSpPr>
          <p:nvPr/>
        </p:nvSpPr>
        <p:spPr bwMode="auto">
          <a:xfrm>
            <a:off x="3019156" y="5275957"/>
            <a:ext cx="7620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" name="Text Box 46"/>
          <p:cNvSpPr txBox="1">
            <a:spLocks noChangeArrowheads="1"/>
          </p:cNvSpPr>
          <p:nvPr/>
        </p:nvSpPr>
        <p:spPr bwMode="auto">
          <a:xfrm>
            <a:off x="8422306" y="4326441"/>
            <a:ext cx="290464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/>
              <a:t>9</a:t>
            </a:r>
            <a:endParaRPr lang="en-US" altLang="zh-CN" b="1" dirty="0"/>
          </a:p>
        </p:txBody>
      </p:sp>
      <p:sp>
        <p:nvSpPr>
          <p:cNvPr id="60" name="Text Box 46"/>
          <p:cNvSpPr txBox="1">
            <a:spLocks noChangeArrowheads="1"/>
          </p:cNvSpPr>
          <p:nvPr/>
        </p:nvSpPr>
        <p:spPr bwMode="auto">
          <a:xfrm>
            <a:off x="8446852" y="4906625"/>
            <a:ext cx="290464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/>
              <a:t>9</a:t>
            </a:r>
            <a:endParaRPr lang="en-US" altLang="zh-CN" b="1" dirty="0"/>
          </a:p>
        </p:txBody>
      </p:sp>
      <p:grpSp>
        <p:nvGrpSpPr>
          <p:cNvPr id="2" name="Group 1"/>
          <p:cNvGrpSpPr/>
          <p:nvPr/>
        </p:nvGrpSpPr>
        <p:grpSpPr>
          <a:xfrm>
            <a:off x="2989924" y="5388469"/>
            <a:ext cx="878151" cy="800073"/>
            <a:chOff x="3081202" y="4485347"/>
            <a:chExt cx="878151" cy="800073"/>
          </a:xfrm>
        </p:grpSpPr>
        <p:sp>
          <p:nvSpPr>
            <p:cNvPr id="3" name="Rectangle 2"/>
            <p:cNvSpPr/>
            <p:nvPr/>
          </p:nvSpPr>
          <p:spPr>
            <a:xfrm>
              <a:off x="3081202" y="4485347"/>
              <a:ext cx="878150" cy="36933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081203" y="4916088"/>
              <a:ext cx="8781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err="1">
                  <a:solidFill>
                    <a:srgbClr val="00B050"/>
                  </a:solidFill>
                </a:rPr>
                <a:t>结束</a:t>
              </a:r>
              <a:endParaRPr lang="en-US" b="1" dirty="0">
                <a:solidFill>
                  <a:srgbClr val="00B050"/>
                </a:solidFill>
              </a:endParaRP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5557274" y="442396"/>
            <a:ext cx="2049864" cy="381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为什么变慢了</a:t>
            </a:r>
            <a:r>
              <a:rPr lang="zh-CN" altLang="en-US" dirty="0">
                <a:solidFill>
                  <a:srgbClr val="FF0000"/>
                </a:solidFill>
              </a:rPr>
              <a:t>？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9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9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9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97" grpId="0" autoUpdateAnimBg="0"/>
      <p:bldP spid="139298" grpId="0" autoUpdateAnimBg="0"/>
      <p:bldP spid="139299" grpId="0" autoUpdateAnimBg="0"/>
      <p:bldP spid="139300" grpId="0" autoUpdateAnimBg="0"/>
      <p:bldP spid="139301" grpId="0" animBg="1"/>
      <p:bldP spid="139302" grpId="0" autoUpdateAnimBg="0"/>
      <p:bldP spid="139303" grpId="0" autoUpdateAnimBg="0"/>
      <p:bldP spid="139304" grpId="0" autoUpdateAnimBg="0"/>
      <p:bldP spid="139305" grpId="0" animBg="1"/>
      <p:bldP spid="139306" grpId="0" autoUpdateAnimBg="0"/>
      <p:bldP spid="139307" grpId="0" autoUpdateAnimBg="0"/>
      <p:bldP spid="139308" grpId="0" autoUpdateAnimBg="0"/>
      <p:bldP spid="139309" grpId="0" autoUpdateAnimBg="0"/>
      <p:bldP spid="139310" grpId="0" autoUpdateAnimBg="0"/>
      <p:bldP spid="139311" grpId="0" animBg="1"/>
      <p:bldP spid="139312" grpId="0" autoUpdateAnimBg="0"/>
      <p:bldP spid="53" grpId="0" autoUpdateAnimBg="0"/>
      <p:bldP spid="54" grpId="0" autoUpdateAnimBg="0"/>
      <p:bldP spid="55" grpId="0" autoUpdateAnimBg="0"/>
      <p:bldP spid="56" grpId="0" autoUpdateAnimBg="0"/>
      <p:bldP spid="57" grpId="0" animBg="1"/>
      <p:bldP spid="58" grpId="0" animBg="1"/>
      <p:bldP spid="59" grpId="0" autoUpdateAnimBg="0"/>
      <p:bldP spid="60" grpId="0" autoUpdateAnimBg="0"/>
      <p:bldP spid="5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sz="3200" dirty="0"/>
              <a:t>A</a:t>
            </a:r>
            <a:r>
              <a:rPr lang="zh-CN" altLang="en-US" sz="3200" dirty="0"/>
              <a:t>*算法、</a:t>
            </a:r>
            <a:r>
              <a:rPr lang="en-US" altLang="zh-CN" sz="3200" dirty="0"/>
              <a:t>A</a:t>
            </a:r>
            <a:r>
              <a:rPr lang="zh-CN" altLang="en-US" sz="3200" dirty="0"/>
              <a:t>算法、迪杰斯特拉算法、宽度优先算法之间是什么关系？</a:t>
            </a:r>
            <a:endParaRPr lang="en-US" altLang="zh-CN" sz="3200" dirty="0"/>
          </a:p>
          <a:p>
            <a:pPr lvl="1"/>
            <a:endParaRPr lang="en-US" altLang="zh-CN" sz="3200" dirty="0"/>
          </a:p>
          <a:p>
            <a:r>
              <a:rPr lang="zh-CN" altLang="en-US" sz="3200" dirty="0"/>
              <a:t>如何修改</a:t>
            </a:r>
            <a:r>
              <a:rPr lang="en-US" altLang="zh-CN" sz="3200" dirty="0"/>
              <a:t>A*</a:t>
            </a:r>
            <a:r>
              <a:rPr lang="zh-CN" altLang="en-US" sz="3200" dirty="0"/>
              <a:t>算法，当问题存在多于</a:t>
            </a:r>
            <a:r>
              <a:rPr lang="en-US" altLang="zh-CN" sz="3200" dirty="0"/>
              <a:t>n</a:t>
            </a:r>
            <a:r>
              <a:rPr lang="zh-CN" altLang="en-US" sz="3200" dirty="0"/>
              <a:t>个解时，算法可以求解前</a:t>
            </a:r>
            <a:r>
              <a:rPr lang="en-US" altLang="zh-CN" sz="3200" dirty="0"/>
              <a:t>n</a:t>
            </a:r>
            <a:r>
              <a:rPr lang="zh-CN" altLang="en-US" sz="3200" dirty="0"/>
              <a:t>个最好的解。</a:t>
            </a:r>
            <a:endParaRPr lang="en-US" altLang="zh-CN" sz="3200" dirty="0"/>
          </a:p>
          <a:p>
            <a:pPr lvl="1"/>
            <a:r>
              <a:rPr lang="zh-CN" altLang="en-US" sz="2800" dirty="0">
                <a:solidFill>
                  <a:srgbClr val="FF0000"/>
                </a:solidFill>
              </a:rPr>
              <a:t>提示：</a:t>
            </a:r>
            <a:r>
              <a:rPr lang="zh-CN" altLang="en-US" sz="2800" dirty="0"/>
              <a:t>对于每个节点，当存在多于</a:t>
            </a:r>
            <a:r>
              <a:rPr lang="en-US" altLang="zh-CN" sz="2800" dirty="0"/>
              <a:t>n</a:t>
            </a:r>
            <a:r>
              <a:rPr lang="zh-CN" altLang="en-US" sz="2800" dirty="0"/>
              <a:t>条路径时，都要保留前</a:t>
            </a:r>
            <a:r>
              <a:rPr lang="en-US" altLang="zh-CN" sz="2800" dirty="0"/>
              <a:t>n</a:t>
            </a:r>
            <a:r>
              <a:rPr lang="zh-CN" altLang="en-US" sz="2800" dirty="0"/>
              <a:t>条最短距离的路径。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Quick Guide to Gradient Descent and its Variants | by Riccardo Di Sipio |  Towards AI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152" y="2667000"/>
            <a:ext cx="6503090" cy="3385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625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3A07BAE-BE62-4335-9CB6-8D94AC0D7AB3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1.5</a:t>
            </a:r>
            <a:r>
              <a:rPr lang="zh-CN" altLang="en-US" dirty="0"/>
              <a:t> 其他的搜索算法</a:t>
            </a:r>
            <a:endParaRPr lang="zh-CN" altLang="en-US" dirty="0"/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685800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3200" b="1" dirty="0"/>
              <a:t>爬山法（局部搜索算法）</a:t>
            </a:r>
            <a:endParaRPr lang="zh-CN" altLang="en-US" sz="32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2166366" y="5885545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连续空间搜索</a:t>
            </a:r>
            <a:r>
              <a:rPr lang="en-US" altLang="zh-CN" dirty="0"/>
              <a:t>/</a:t>
            </a:r>
            <a:r>
              <a:rPr lang="zh-CN" altLang="en-US" dirty="0"/>
              <a:t>优化，机器学习中最为重要的问题</a:t>
            </a:r>
            <a:endParaRPr lang="en-US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906AA4E-A68F-499A-AEA0-23F9C470D5B7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其他的搜索算法</a:t>
            </a:r>
            <a:endParaRPr lang="zh-CN" altLang="en-US" dirty="0"/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705970"/>
            <a:ext cx="7772400" cy="4313830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3200" b="1" dirty="0"/>
              <a:t>随机搜索算法</a:t>
            </a:r>
            <a:endParaRPr lang="zh-CN" altLang="en-US" sz="3200" b="1" dirty="0"/>
          </a:p>
          <a:p>
            <a:pPr eaLnBrk="1" hangingPunct="1"/>
            <a:r>
              <a:rPr lang="zh-CN" altLang="en-US" sz="3200" b="1" dirty="0"/>
              <a:t>动态规划算法</a:t>
            </a:r>
            <a:endParaRPr lang="zh-CN" altLang="en-US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200" b="1" dirty="0"/>
              <a:t>	如果对于任何</a:t>
            </a:r>
            <a:r>
              <a:rPr lang="en-US" altLang="zh-CN" sz="3200" b="1" dirty="0"/>
              <a:t>n</a:t>
            </a:r>
            <a:r>
              <a:rPr lang="zh-CN" altLang="en-US" sz="3200" b="1" dirty="0"/>
              <a:t>，当</a:t>
            </a:r>
            <a:r>
              <a:rPr lang="en-US" altLang="zh-CN" sz="3200" b="1" dirty="0"/>
              <a:t>h(n)=0</a:t>
            </a:r>
            <a:r>
              <a:rPr lang="zh-CN" altLang="en-US" sz="3200" b="1" dirty="0"/>
              <a:t>时，</a:t>
            </a:r>
            <a:r>
              <a:rPr lang="en-US" altLang="zh-CN" sz="3200" b="1" dirty="0"/>
              <a:t>A*</a:t>
            </a:r>
            <a:r>
              <a:rPr lang="zh-CN" altLang="en-US" sz="3200" b="1" dirty="0"/>
              <a:t>算法就成为了动态规划算法。</a:t>
            </a:r>
            <a:endParaRPr lang="zh-CN" altLang="en-US" sz="3200" b="1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779A19B-5994-4039-85C7-AE1F87CD4DBF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819150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动态规划：</a:t>
            </a:r>
            <a:r>
              <a:rPr lang="en-US" altLang="zh-CN" b="0" dirty="0" err="1"/>
              <a:t>viterbi</a:t>
            </a:r>
            <a:r>
              <a:rPr lang="zh-CN" altLang="en-US" b="0" dirty="0"/>
              <a:t>算法</a:t>
            </a:r>
            <a:endParaRPr lang="zh-CN" altLang="en-US" dirty="0"/>
          </a:p>
        </p:txBody>
      </p:sp>
      <p:sp>
        <p:nvSpPr>
          <p:cNvPr id="98309" name="Oval 4"/>
          <p:cNvSpPr>
            <a:spLocks noChangeArrowheads="1"/>
          </p:cNvSpPr>
          <p:nvPr/>
        </p:nvSpPr>
        <p:spPr bwMode="auto">
          <a:xfrm>
            <a:off x="781050" y="3238500"/>
            <a:ext cx="361950" cy="32385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0" name="Oval 5"/>
          <p:cNvSpPr>
            <a:spLocks noChangeArrowheads="1"/>
          </p:cNvSpPr>
          <p:nvPr/>
        </p:nvSpPr>
        <p:spPr bwMode="auto">
          <a:xfrm>
            <a:off x="2038350" y="2609850"/>
            <a:ext cx="361950" cy="32385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1" name="Oval 6"/>
          <p:cNvSpPr>
            <a:spLocks noChangeArrowheads="1"/>
          </p:cNvSpPr>
          <p:nvPr/>
        </p:nvSpPr>
        <p:spPr bwMode="auto">
          <a:xfrm>
            <a:off x="1981200" y="3905250"/>
            <a:ext cx="361950" cy="32385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2" name="Oval 7"/>
          <p:cNvSpPr>
            <a:spLocks noChangeArrowheads="1"/>
          </p:cNvSpPr>
          <p:nvPr/>
        </p:nvSpPr>
        <p:spPr bwMode="auto">
          <a:xfrm>
            <a:off x="3810000" y="2305050"/>
            <a:ext cx="361950" cy="32385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3" name="Oval 8"/>
          <p:cNvSpPr>
            <a:spLocks noChangeArrowheads="1"/>
          </p:cNvSpPr>
          <p:nvPr/>
        </p:nvSpPr>
        <p:spPr bwMode="auto">
          <a:xfrm>
            <a:off x="3733800" y="3352800"/>
            <a:ext cx="361950" cy="32385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4" name="Oval 9"/>
          <p:cNvSpPr>
            <a:spLocks noChangeArrowheads="1"/>
          </p:cNvSpPr>
          <p:nvPr/>
        </p:nvSpPr>
        <p:spPr bwMode="auto">
          <a:xfrm>
            <a:off x="3867150" y="4533900"/>
            <a:ext cx="361950" cy="32385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5" name="Oval 10"/>
          <p:cNvSpPr>
            <a:spLocks noChangeArrowheads="1"/>
          </p:cNvSpPr>
          <p:nvPr/>
        </p:nvSpPr>
        <p:spPr bwMode="auto">
          <a:xfrm>
            <a:off x="5219700" y="2324100"/>
            <a:ext cx="361950" cy="32385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6" name="Oval 11"/>
          <p:cNvSpPr>
            <a:spLocks noChangeArrowheads="1"/>
          </p:cNvSpPr>
          <p:nvPr/>
        </p:nvSpPr>
        <p:spPr bwMode="auto">
          <a:xfrm>
            <a:off x="5162550" y="3314700"/>
            <a:ext cx="361950" cy="32385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7" name="Oval 12"/>
          <p:cNvSpPr>
            <a:spLocks noChangeArrowheads="1"/>
          </p:cNvSpPr>
          <p:nvPr/>
        </p:nvSpPr>
        <p:spPr bwMode="auto">
          <a:xfrm>
            <a:off x="5181600" y="4457700"/>
            <a:ext cx="361950" cy="32385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8" name="Text Box 14"/>
          <p:cNvSpPr txBox="1">
            <a:spLocks noChangeArrowheads="1"/>
          </p:cNvSpPr>
          <p:nvPr/>
        </p:nvSpPr>
        <p:spPr bwMode="auto">
          <a:xfrm>
            <a:off x="827169" y="1540818"/>
            <a:ext cx="44275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 dirty="0"/>
              <a:t>S</a:t>
            </a:r>
            <a:r>
              <a:rPr lang="en-US" altLang="zh-CN" sz="3600" b="1" baseline="-25000" dirty="0"/>
              <a:t>0</a:t>
            </a:r>
            <a:endParaRPr lang="en-US" altLang="zh-CN" sz="3600" b="1" baseline="-25000" dirty="0"/>
          </a:p>
        </p:txBody>
      </p:sp>
      <p:sp>
        <p:nvSpPr>
          <p:cNvPr id="98319" name="Text Box 15"/>
          <p:cNvSpPr txBox="1">
            <a:spLocks noChangeArrowheads="1"/>
          </p:cNvSpPr>
          <p:nvPr/>
        </p:nvSpPr>
        <p:spPr bwMode="auto">
          <a:xfrm>
            <a:off x="7822728" y="2805282"/>
            <a:ext cx="420519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 dirty="0"/>
              <a:t>t</a:t>
            </a:r>
            <a:endParaRPr lang="en-US" altLang="zh-CN" sz="2000" b="1" dirty="0"/>
          </a:p>
        </p:txBody>
      </p:sp>
      <p:sp>
        <p:nvSpPr>
          <p:cNvPr id="98320" name="Line 16"/>
          <p:cNvSpPr>
            <a:spLocks noChangeShapeType="1"/>
          </p:cNvSpPr>
          <p:nvPr/>
        </p:nvSpPr>
        <p:spPr bwMode="auto">
          <a:xfrm flipV="1">
            <a:off x="1143000" y="2857500"/>
            <a:ext cx="895350" cy="533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21" name="Line 17"/>
          <p:cNvSpPr>
            <a:spLocks noChangeShapeType="1"/>
          </p:cNvSpPr>
          <p:nvPr/>
        </p:nvSpPr>
        <p:spPr bwMode="auto">
          <a:xfrm>
            <a:off x="1143000" y="3429000"/>
            <a:ext cx="857250" cy="5905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22" name="Line 18"/>
          <p:cNvSpPr>
            <a:spLocks noChangeShapeType="1"/>
          </p:cNvSpPr>
          <p:nvPr/>
        </p:nvSpPr>
        <p:spPr bwMode="auto">
          <a:xfrm flipV="1">
            <a:off x="2400300" y="2457450"/>
            <a:ext cx="1390650" cy="2857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23" name="Line 19"/>
          <p:cNvSpPr>
            <a:spLocks noChangeShapeType="1"/>
          </p:cNvSpPr>
          <p:nvPr/>
        </p:nvSpPr>
        <p:spPr bwMode="auto">
          <a:xfrm>
            <a:off x="2400300" y="2781300"/>
            <a:ext cx="1314450" cy="7429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24" name="Line 20"/>
          <p:cNvSpPr>
            <a:spLocks noChangeShapeType="1"/>
          </p:cNvSpPr>
          <p:nvPr/>
        </p:nvSpPr>
        <p:spPr bwMode="auto">
          <a:xfrm>
            <a:off x="2400300" y="2800350"/>
            <a:ext cx="1466850" cy="19240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25" name="Line 21"/>
          <p:cNvSpPr>
            <a:spLocks noChangeShapeType="1"/>
          </p:cNvSpPr>
          <p:nvPr/>
        </p:nvSpPr>
        <p:spPr bwMode="auto">
          <a:xfrm flipV="1">
            <a:off x="2343150" y="3581400"/>
            <a:ext cx="1333500" cy="533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26" name="Line 22"/>
          <p:cNvSpPr>
            <a:spLocks noChangeShapeType="1"/>
          </p:cNvSpPr>
          <p:nvPr/>
        </p:nvSpPr>
        <p:spPr bwMode="auto">
          <a:xfrm>
            <a:off x="2362200" y="4152900"/>
            <a:ext cx="1428750" cy="533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27" name="Line 23"/>
          <p:cNvSpPr>
            <a:spLocks noChangeShapeType="1"/>
          </p:cNvSpPr>
          <p:nvPr/>
        </p:nvSpPr>
        <p:spPr bwMode="auto">
          <a:xfrm flipV="1">
            <a:off x="2381250" y="2495550"/>
            <a:ext cx="1352550" cy="16383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28" name="Line 24"/>
          <p:cNvSpPr>
            <a:spLocks noChangeShapeType="1"/>
          </p:cNvSpPr>
          <p:nvPr/>
        </p:nvSpPr>
        <p:spPr bwMode="auto">
          <a:xfrm>
            <a:off x="4171950" y="2457450"/>
            <a:ext cx="990600" cy="190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29" name="Line 25"/>
          <p:cNvSpPr>
            <a:spLocks noChangeShapeType="1"/>
          </p:cNvSpPr>
          <p:nvPr/>
        </p:nvSpPr>
        <p:spPr bwMode="auto">
          <a:xfrm>
            <a:off x="4171950" y="2514600"/>
            <a:ext cx="971550" cy="9334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30" name="Line 26"/>
          <p:cNvSpPr>
            <a:spLocks noChangeShapeType="1"/>
          </p:cNvSpPr>
          <p:nvPr/>
        </p:nvSpPr>
        <p:spPr bwMode="auto">
          <a:xfrm>
            <a:off x="4152900" y="2533650"/>
            <a:ext cx="1028700" cy="20002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31" name="Line 27"/>
          <p:cNvSpPr>
            <a:spLocks noChangeShapeType="1"/>
          </p:cNvSpPr>
          <p:nvPr/>
        </p:nvSpPr>
        <p:spPr bwMode="auto">
          <a:xfrm flipV="1">
            <a:off x="4057650" y="2533650"/>
            <a:ext cx="1162050" cy="10096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32" name="Line 28"/>
          <p:cNvSpPr>
            <a:spLocks noChangeShapeType="1"/>
          </p:cNvSpPr>
          <p:nvPr/>
        </p:nvSpPr>
        <p:spPr bwMode="auto">
          <a:xfrm flipV="1">
            <a:off x="4114800" y="3505200"/>
            <a:ext cx="1028700" cy="76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33" name="Line 29"/>
          <p:cNvSpPr>
            <a:spLocks noChangeShapeType="1"/>
          </p:cNvSpPr>
          <p:nvPr/>
        </p:nvSpPr>
        <p:spPr bwMode="auto">
          <a:xfrm>
            <a:off x="4114800" y="3600450"/>
            <a:ext cx="1066800" cy="10477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34" name="Line 30"/>
          <p:cNvSpPr>
            <a:spLocks noChangeShapeType="1"/>
          </p:cNvSpPr>
          <p:nvPr/>
        </p:nvSpPr>
        <p:spPr bwMode="auto">
          <a:xfrm flipV="1">
            <a:off x="4248150" y="2628900"/>
            <a:ext cx="1009650" cy="2057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35" name="Line 31"/>
          <p:cNvSpPr>
            <a:spLocks noChangeShapeType="1"/>
          </p:cNvSpPr>
          <p:nvPr/>
        </p:nvSpPr>
        <p:spPr bwMode="auto">
          <a:xfrm flipV="1">
            <a:off x="4229100" y="4686300"/>
            <a:ext cx="952500" cy="190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36" name="Line 32"/>
          <p:cNvSpPr>
            <a:spLocks noChangeShapeType="1"/>
          </p:cNvSpPr>
          <p:nvPr/>
        </p:nvSpPr>
        <p:spPr bwMode="auto">
          <a:xfrm flipV="1">
            <a:off x="4229100" y="3581400"/>
            <a:ext cx="914400" cy="11239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37" name="Line 36"/>
          <p:cNvSpPr>
            <a:spLocks noChangeShapeType="1"/>
          </p:cNvSpPr>
          <p:nvPr/>
        </p:nvSpPr>
        <p:spPr bwMode="auto">
          <a:xfrm>
            <a:off x="1543050" y="2133600"/>
            <a:ext cx="19050" cy="3028950"/>
          </a:xfrm>
          <a:prstGeom prst="line">
            <a:avLst/>
          </a:prstGeom>
          <a:noFill/>
          <a:ln w="57150" cap="rnd">
            <a:solidFill>
              <a:srgbClr val="FF0000"/>
            </a:solidFill>
            <a:prstDash val="sysDot"/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38" name="Line 37"/>
          <p:cNvSpPr>
            <a:spLocks noChangeShapeType="1"/>
          </p:cNvSpPr>
          <p:nvPr/>
        </p:nvSpPr>
        <p:spPr bwMode="auto">
          <a:xfrm>
            <a:off x="3124200" y="2152650"/>
            <a:ext cx="19050" cy="3028950"/>
          </a:xfrm>
          <a:prstGeom prst="line">
            <a:avLst/>
          </a:prstGeom>
          <a:noFill/>
          <a:ln w="57150" cap="rnd">
            <a:solidFill>
              <a:srgbClr val="FF0000"/>
            </a:solidFill>
            <a:prstDash val="sysDot"/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39" name="Line 38"/>
          <p:cNvSpPr>
            <a:spLocks noChangeShapeType="1"/>
          </p:cNvSpPr>
          <p:nvPr/>
        </p:nvSpPr>
        <p:spPr bwMode="auto">
          <a:xfrm>
            <a:off x="4762500" y="2190750"/>
            <a:ext cx="19050" cy="3028950"/>
          </a:xfrm>
          <a:prstGeom prst="line">
            <a:avLst/>
          </a:prstGeom>
          <a:noFill/>
          <a:ln w="57150" cap="rnd">
            <a:solidFill>
              <a:srgbClr val="FF0000"/>
            </a:solidFill>
            <a:prstDash val="sysDot"/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40" name="Text Box 45"/>
          <p:cNvSpPr txBox="1">
            <a:spLocks noChangeArrowheads="1"/>
          </p:cNvSpPr>
          <p:nvPr/>
        </p:nvSpPr>
        <p:spPr bwMode="auto">
          <a:xfrm>
            <a:off x="2046369" y="1540818"/>
            <a:ext cx="44275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/>
              <a:t>S</a:t>
            </a:r>
            <a:r>
              <a:rPr lang="en-US" altLang="zh-CN" sz="3600" b="1" baseline="-25000"/>
              <a:t>1</a:t>
            </a:r>
            <a:endParaRPr lang="en-US" altLang="zh-CN" sz="3600" b="1" baseline="-25000"/>
          </a:p>
        </p:txBody>
      </p:sp>
      <p:sp>
        <p:nvSpPr>
          <p:cNvPr id="98341" name="Text Box 46"/>
          <p:cNvSpPr txBox="1">
            <a:spLocks noChangeArrowheads="1"/>
          </p:cNvSpPr>
          <p:nvPr/>
        </p:nvSpPr>
        <p:spPr bwMode="auto">
          <a:xfrm>
            <a:off x="3722769" y="1597968"/>
            <a:ext cx="44275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/>
              <a:t>S</a:t>
            </a:r>
            <a:r>
              <a:rPr lang="en-US" altLang="zh-CN" sz="3600" b="1" baseline="-25000"/>
              <a:t>2</a:t>
            </a:r>
            <a:endParaRPr lang="en-US" altLang="zh-CN" sz="3600" b="1" baseline="-25000"/>
          </a:p>
        </p:txBody>
      </p:sp>
      <p:sp>
        <p:nvSpPr>
          <p:cNvPr id="98342" name="Text Box 47"/>
          <p:cNvSpPr txBox="1">
            <a:spLocks noChangeArrowheads="1"/>
          </p:cNvSpPr>
          <p:nvPr/>
        </p:nvSpPr>
        <p:spPr bwMode="auto">
          <a:xfrm>
            <a:off x="5075319" y="1559868"/>
            <a:ext cx="44275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/>
              <a:t>S</a:t>
            </a:r>
            <a:r>
              <a:rPr lang="en-US" altLang="zh-CN" sz="3600" b="1" baseline="-25000"/>
              <a:t>3</a:t>
            </a:r>
            <a:endParaRPr lang="en-US" altLang="zh-CN" sz="3600" b="1" baseline="-25000"/>
          </a:p>
        </p:txBody>
      </p:sp>
      <p:sp>
        <p:nvSpPr>
          <p:cNvPr id="98343" name="Oval 49"/>
          <p:cNvSpPr>
            <a:spLocks noChangeArrowheads="1"/>
          </p:cNvSpPr>
          <p:nvPr/>
        </p:nvSpPr>
        <p:spPr bwMode="auto">
          <a:xfrm>
            <a:off x="6369050" y="2330450"/>
            <a:ext cx="361950" cy="32385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44" name="Oval 50"/>
          <p:cNvSpPr>
            <a:spLocks noChangeArrowheads="1"/>
          </p:cNvSpPr>
          <p:nvPr/>
        </p:nvSpPr>
        <p:spPr bwMode="auto">
          <a:xfrm>
            <a:off x="6311900" y="3321050"/>
            <a:ext cx="361950" cy="32385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45" name="Oval 51"/>
          <p:cNvSpPr>
            <a:spLocks noChangeArrowheads="1"/>
          </p:cNvSpPr>
          <p:nvPr/>
        </p:nvSpPr>
        <p:spPr bwMode="auto">
          <a:xfrm>
            <a:off x="6330950" y="4464050"/>
            <a:ext cx="361950" cy="32385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46" name="Oval 52"/>
          <p:cNvSpPr>
            <a:spLocks noChangeArrowheads="1"/>
          </p:cNvSpPr>
          <p:nvPr/>
        </p:nvSpPr>
        <p:spPr bwMode="auto">
          <a:xfrm>
            <a:off x="7969250" y="3302000"/>
            <a:ext cx="361950" cy="32385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47" name="Line 53"/>
          <p:cNvSpPr>
            <a:spLocks noChangeShapeType="1"/>
          </p:cNvSpPr>
          <p:nvPr/>
        </p:nvSpPr>
        <p:spPr bwMode="auto">
          <a:xfrm>
            <a:off x="6750050" y="2520950"/>
            <a:ext cx="1181100" cy="914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48" name="Line 54"/>
          <p:cNvSpPr>
            <a:spLocks noChangeShapeType="1"/>
          </p:cNvSpPr>
          <p:nvPr/>
        </p:nvSpPr>
        <p:spPr bwMode="auto">
          <a:xfrm flipV="1">
            <a:off x="6692900" y="3473450"/>
            <a:ext cx="1219200" cy="381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49" name="Line 55"/>
          <p:cNvSpPr>
            <a:spLocks noChangeShapeType="1"/>
          </p:cNvSpPr>
          <p:nvPr/>
        </p:nvSpPr>
        <p:spPr bwMode="auto">
          <a:xfrm flipV="1">
            <a:off x="6673850" y="3549650"/>
            <a:ext cx="1257300" cy="10858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50" name="Line 56"/>
          <p:cNvSpPr>
            <a:spLocks noChangeShapeType="1"/>
          </p:cNvSpPr>
          <p:nvPr/>
        </p:nvSpPr>
        <p:spPr bwMode="auto">
          <a:xfrm>
            <a:off x="7169150" y="2178050"/>
            <a:ext cx="19050" cy="3028950"/>
          </a:xfrm>
          <a:prstGeom prst="line">
            <a:avLst/>
          </a:prstGeom>
          <a:noFill/>
          <a:ln w="57150" cap="rnd">
            <a:solidFill>
              <a:srgbClr val="FF0000"/>
            </a:solidFill>
            <a:prstDash val="sysDot"/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51" name="Text Box 57"/>
          <p:cNvSpPr txBox="1">
            <a:spLocks noChangeArrowheads="1"/>
          </p:cNvSpPr>
          <p:nvPr/>
        </p:nvSpPr>
        <p:spPr bwMode="auto">
          <a:xfrm>
            <a:off x="6221339" y="1617018"/>
            <a:ext cx="47481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/>
              <a:t>S</a:t>
            </a:r>
            <a:r>
              <a:rPr lang="en-US" altLang="zh-CN" sz="3600" b="1" baseline="-25000"/>
              <a:t>n</a:t>
            </a:r>
            <a:endParaRPr lang="en-US" altLang="zh-CN" sz="3600" b="1" baseline="-25000"/>
          </a:p>
        </p:txBody>
      </p:sp>
      <p:sp>
        <p:nvSpPr>
          <p:cNvPr id="98352" name="Text Box 58"/>
          <p:cNvSpPr txBox="1">
            <a:spLocks noChangeArrowheads="1"/>
          </p:cNvSpPr>
          <p:nvPr/>
        </p:nvSpPr>
        <p:spPr bwMode="auto">
          <a:xfrm>
            <a:off x="5524500" y="3257550"/>
            <a:ext cx="87630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cs typeface="Times New Roman" panose="02020603050405020304" pitchFamily="18" charset="0"/>
              </a:rPr>
              <a:t>……</a:t>
            </a:r>
            <a:endParaRPr lang="en-US" altLang="zh-CN" sz="2000" b="1">
              <a:cs typeface="Times New Roman" panose="02020603050405020304" pitchFamily="18" charset="0"/>
            </a:endParaRPr>
          </a:p>
        </p:txBody>
      </p:sp>
      <p:sp>
        <p:nvSpPr>
          <p:cNvPr id="98353" name="Text Box 59"/>
          <p:cNvSpPr txBox="1">
            <a:spLocks noChangeArrowheads="1"/>
          </p:cNvSpPr>
          <p:nvPr/>
        </p:nvSpPr>
        <p:spPr bwMode="auto">
          <a:xfrm>
            <a:off x="5619750" y="2247900"/>
            <a:ext cx="87630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cs typeface="Times New Roman" panose="02020603050405020304" pitchFamily="18" charset="0"/>
              </a:rPr>
              <a:t>……</a:t>
            </a:r>
            <a:endParaRPr lang="en-US" altLang="zh-CN" sz="2000" b="1" dirty="0">
              <a:cs typeface="Times New Roman" panose="02020603050405020304" pitchFamily="18" charset="0"/>
            </a:endParaRPr>
          </a:p>
        </p:txBody>
      </p:sp>
      <p:sp>
        <p:nvSpPr>
          <p:cNvPr id="98354" name="Text Box 60"/>
          <p:cNvSpPr txBox="1">
            <a:spLocks noChangeArrowheads="1"/>
          </p:cNvSpPr>
          <p:nvPr/>
        </p:nvSpPr>
        <p:spPr bwMode="auto">
          <a:xfrm>
            <a:off x="5543550" y="4362450"/>
            <a:ext cx="87630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cs typeface="Times New Roman" panose="02020603050405020304" pitchFamily="18" charset="0"/>
              </a:rPr>
              <a:t>……</a:t>
            </a:r>
            <a:endParaRPr lang="en-US" altLang="zh-CN" sz="2000" b="1">
              <a:cs typeface="Times New Roman" panose="02020603050405020304" pitchFamily="18" charset="0"/>
            </a:endParaRPr>
          </a:p>
        </p:txBody>
      </p:sp>
      <p:sp>
        <p:nvSpPr>
          <p:cNvPr id="98355" name="Text Box 61"/>
          <p:cNvSpPr txBox="1">
            <a:spLocks noChangeArrowheads="1"/>
          </p:cNvSpPr>
          <p:nvPr/>
        </p:nvSpPr>
        <p:spPr bwMode="auto">
          <a:xfrm>
            <a:off x="457200" y="3867150"/>
            <a:ext cx="87630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cs typeface="Times New Roman" panose="02020603050405020304" pitchFamily="18" charset="0"/>
              </a:rPr>
              <a:t>W</a:t>
            </a:r>
            <a:r>
              <a:rPr lang="en-US" altLang="zh-CN" sz="3600" b="1" baseline="-25000">
                <a:cs typeface="Times New Roman" panose="02020603050405020304" pitchFamily="18" charset="0"/>
              </a:rPr>
              <a:t>0</a:t>
            </a:r>
            <a:endParaRPr lang="en-US" altLang="zh-CN" sz="3600" b="1" baseline="-25000">
              <a:cs typeface="Times New Roman" panose="02020603050405020304" pitchFamily="18" charset="0"/>
            </a:endParaRPr>
          </a:p>
        </p:txBody>
      </p:sp>
      <p:sp>
        <p:nvSpPr>
          <p:cNvPr id="98356" name="Text Box 62"/>
          <p:cNvSpPr txBox="1">
            <a:spLocks noChangeArrowheads="1"/>
          </p:cNvSpPr>
          <p:nvPr/>
        </p:nvSpPr>
        <p:spPr bwMode="auto">
          <a:xfrm>
            <a:off x="1885950" y="2990850"/>
            <a:ext cx="87630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cs typeface="Times New Roman" panose="02020603050405020304" pitchFamily="18" charset="0"/>
              </a:rPr>
              <a:t>W</a:t>
            </a:r>
            <a:r>
              <a:rPr lang="en-US" altLang="zh-CN" sz="3600" b="1" baseline="-25000">
                <a:cs typeface="Times New Roman" panose="02020603050405020304" pitchFamily="18" charset="0"/>
              </a:rPr>
              <a:t>1,1</a:t>
            </a:r>
            <a:endParaRPr lang="en-US" altLang="zh-CN" sz="3600" b="1" baseline="-25000">
              <a:cs typeface="Times New Roman" panose="02020603050405020304" pitchFamily="18" charset="0"/>
            </a:endParaRPr>
          </a:p>
        </p:txBody>
      </p:sp>
      <p:sp>
        <p:nvSpPr>
          <p:cNvPr id="98357" name="Text Box 63"/>
          <p:cNvSpPr txBox="1">
            <a:spLocks noChangeArrowheads="1"/>
          </p:cNvSpPr>
          <p:nvPr/>
        </p:nvSpPr>
        <p:spPr bwMode="auto">
          <a:xfrm>
            <a:off x="1771650" y="4267200"/>
            <a:ext cx="87630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cs typeface="Times New Roman" panose="02020603050405020304" pitchFamily="18" charset="0"/>
              </a:rPr>
              <a:t>W</a:t>
            </a:r>
            <a:r>
              <a:rPr lang="en-US" altLang="zh-CN" sz="3600" b="1" baseline="-25000">
                <a:cs typeface="Times New Roman" panose="02020603050405020304" pitchFamily="18" charset="0"/>
              </a:rPr>
              <a:t>1,2</a:t>
            </a:r>
            <a:endParaRPr lang="en-US" altLang="zh-CN" sz="3600" b="1" baseline="-25000">
              <a:cs typeface="Times New Roman" panose="02020603050405020304" pitchFamily="18" charset="0"/>
            </a:endParaRPr>
          </a:p>
        </p:txBody>
      </p:sp>
      <p:sp>
        <p:nvSpPr>
          <p:cNvPr id="98358" name="Text Box 77"/>
          <p:cNvSpPr txBox="1">
            <a:spLocks noChangeArrowheads="1"/>
          </p:cNvSpPr>
          <p:nvPr/>
        </p:nvSpPr>
        <p:spPr bwMode="auto">
          <a:xfrm>
            <a:off x="3543300" y="2705100"/>
            <a:ext cx="87630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cs typeface="Times New Roman" panose="02020603050405020304" pitchFamily="18" charset="0"/>
              </a:rPr>
              <a:t>W</a:t>
            </a:r>
            <a:r>
              <a:rPr lang="en-US" altLang="zh-CN" sz="3600" b="1" baseline="-25000">
                <a:cs typeface="Times New Roman" panose="02020603050405020304" pitchFamily="18" charset="0"/>
              </a:rPr>
              <a:t>2,1</a:t>
            </a:r>
            <a:endParaRPr lang="en-US" altLang="zh-CN" sz="3600" b="1" baseline="-25000">
              <a:cs typeface="Times New Roman" panose="02020603050405020304" pitchFamily="18" charset="0"/>
            </a:endParaRPr>
          </a:p>
        </p:txBody>
      </p:sp>
      <p:sp>
        <p:nvSpPr>
          <p:cNvPr id="98359" name="Text Box 78"/>
          <p:cNvSpPr txBox="1">
            <a:spLocks noChangeArrowheads="1"/>
          </p:cNvSpPr>
          <p:nvPr/>
        </p:nvSpPr>
        <p:spPr bwMode="auto">
          <a:xfrm>
            <a:off x="3467100" y="3695700"/>
            <a:ext cx="87630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cs typeface="Times New Roman" panose="02020603050405020304" pitchFamily="18" charset="0"/>
              </a:rPr>
              <a:t>W</a:t>
            </a:r>
            <a:r>
              <a:rPr lang="en-US" altLang="zh-CN" sz="3600" b="1" baseline="-25000">
                <a:cs typeface="Times New Roman" panose="02020603050405020304" pitchFamily="18" charset="0"/>
              </a:rPr>
              <a:t>2,2</a:t>
            </a:r>
            <a:endParaRPr lang="en-US" altLang="zh-CN" sz="3600" b="1" baseline="-25000">
              <a:cs typeface="Times New Roman" panose="02020603050405020304" pitchFamily="18" charset="0"/>
            </a:endParaRPr>
          </a:p>
        </p:txBody>
      </p:sp>
      <p:sp>
        <p:nvSpPr>
          <p:cNvPr id="98360" name="Text Box 79"/>
          <p:cNvSpPr txBox="1">
            <a:spLocks noChangeArrowheads="1"/>
          </p:cNvSpPr>
          <p:nvPr/>
        </p:nvSpPr>
        <p:spPr bwMode="auto">
          <a:xfrm>
            <a:off x="3581400" y="5010150"/>
            <a:ext cx="87630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cs typeface="Times New Roman" panose="02020603050405020304" pitchFamily="18" charset="0"/>
              </a:rPr>
              <a:t>W</a:t>
            </a:r>
            <a:r>
              <a:rPr lang="en-US" altLang="zh-CN" sz="3600" b="1" baseline="-25000">
                <a:cs typeface="Times New Roman" panose="02020603050405020304" pitchFamily="18" charset="0"/>
              </a:rPr>
              <a:t>2,3</a:t>
            </a:r>
            <a:endParaRPr lang="en-US" altLang="zh-CN" sz="3600" b="1" baseline="-25000">
              <a:cs typeface="Times New Roman" panose="02020603050405020304" pitchFamily="18" charset="0"/>
            </a:endParaRPr>
          </a:p>
        </p:txBody>
      </p:sp>
      <p:sp>
        <p:nvSpPr>
          <p:cNvPr id="98361" name="Text Box 80"/>
          <p:cNvSpPr txBox="1">
            <a:spLocks noChangeArrowheads="1"/>
          </p:cNvSpPr>
          <p:nvPr/>
        </p:nvSpPr>
        <p:spPr bwMode="auto">
          <a:xfrm>
            <a:off x="5029200" y="4914900"/>
            <a:ext cx="87630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cs typeface="Times New Roman" panose="02020603050405020304" pitchFamily="18" charset="0"/>
              </a:rPr>
              <a:t>W</a:t>
            </a:r>
            <a:r>
              <a:rPr lang="en-US" altLang="zh-CN" sz="3600" b="1" baseline="-25000">
                <a:cs typeface="Times New Roman" panose="02020603050405020304" pitchFamily="18" charset="0"/>
              </a:rPr>
              <a:t>3,3</a:t>
            </a:r>
            <a:endParaRPr lang="en-US" altLang="zh-CN" sz="3600" b="1" baseline="-25000">
              <a:cs typeface="Times New Roman" panose="02020603050405020304" pitchFamily="18" charset="0"/>
            </a:endParaRPr>
          </a:p>
        </p:txBody>
      </p:sp>
      <p:sp>
        <p:nvSpPr>
          <p:cNvPr id="98362" name="Text Box 81"/>
          <p:cNvSpPr txBox="1">
            <a:spLocks noChangeArrowheads="1"/>
          </p:cNvSpPr>
          <p:nvPr/>
        </p:nvSpPr>
        <p:spPr bwMode="auto">
          <a:xfrm>
            <a:off x="5105400" y="3752850"/>
            <a:ext cx="87630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cs typeface="Times New Roman" panose="02020603050405020304" pitchFamily="18" charset="0"/>
              </a:rPr>
              <a:t>W</a:t>
            </a:r>
            <a:r>
              <a:rPr lang="en-US" altLang="zh-CN" sz="3600" b="1" baseline="-25000">
                <a:cs typeface="Times New Roman" panose="02020603050405020304" pitchFamily="18" charset="0"/>
              </a:rPr>
              <a:t>3,2</a:t>
            </a:r>
            <a:endParaRPr lang="en-US" altLang="zh-CN" sz="3600" b="1" baseline="-25000">
              <a:cs typeface="Times New Roman" panose="02020603050405020304" pitchFamily="18" charset="0"/>
            </a:endParaRPr>
          </a:p>
        </p:txBody>
      </p:sp>
      <p:sp>
        <p:nvSpPr>
          <p:cNvPr id="98363" name="Text Box 82"/>
          <p:cNvSpPr txBox="1">
            <a:spLocks noChangeArrowheads="1"/>
          </p:cNvSpPr>
          <p:nvPr/>
        </p:nvSpPr>
        <p:spPr bwMode="auto">
          <a:xfrm>
            <a:off x="5200650" y="2743200"/>
            <a:ext cx="87630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cs typeface="Times New Roman" panose="02020603050405020304" pitchFamily="18" charset="0"/>
              </a:rPr>
              <a:t>W</a:t>
            </a:r>
            <a:r>
              <a:rPr lang="en-US" altLang="zh-CN" sz="3600" b="1" baseline="-25000">
                <a:cs typeface="Times New Roman" panose="02020603050405020304" pitchFamily="18" charset="0"/>
              </a:rPr>
              <a:t>3,1</a:t>
            </a:r>
            <a:endParaRPr lang="en-US" altLang="zh-CN" sz="3600" b="1" baseline="-25000">
              <a:cs typeface="Times New Roman" panose="02020603050405020304" pitchFamily="18" charset="0"/>
            </a:endParaRPr>
          </a:p>
        </p:txBody>
      </p:sp>
      <p:sp>
        <p:nvSpPr>
          <p:cNvPr id="98364" name="Text Box 83"/>
          <p:cNvSpPr txBox="1">
            <a:spLocks noChangeArrowheads="1"/>
          </p:cNvSpPr>
          <p:nvPr/>
        </p:nvSpPr>
        <p:spPr bwMode="auto">
          <a:xfrm>
            <a:off x="6172200" y="2590800"/>
            <a:ext cx="87630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cs typeface="Times New Roman" panose="02020603050405020304" pitchFamily="18" charset="0"/>
              </a:rPr>
              <a:t>W</a:t>
            </a:r>
            <a:r>
              <a:rPr lang="en-US" altLang="zh-CN" sz="3600" b="1" baseline="-25000">
                <a:cs typeface="Times New Roman" panose="02020603050405020304" pitchFamily="18" charset="0"/>
              </a:rPr>
              <a:t>n,1</a:t>
            </a:r>
            <a:endParaRPr lang="en-US" altLang="zh-CN" sz="3600" b="1" baseline="-25000">
              <a:cs typeface="Times New Roman" panose="02020603050405020304" pitchFamily="18" charset="0"/>
            </a:endParaRPr>
          </a:p>
        </p:txBody>
      </p:sp>
      <p:sp>
        <p:nvSpPr>
          <p:cNvPr id="98365" name="Text Box 84"/>
          <p:cNvSpPr txBox="1">
            <a:spLocks noChangeArrowheads="1"/>
          </p:cNvSpPr>
          <p:nvPr/>
        </p:nvSpPr>
        <p:spPr bwMode="auto">
          <a:xfrm>
            <a:off x="6229350" y="3638550"/>
            <a:ext cx="87630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cs typeface="Times New Roman" panose="02020603050405020304" pitchFamily="18" charset="0"/>
              </a:rPr>
              <a:t>W</a:t>
            </a:r>
            <a:r>
              <a:rPr lang="en-US" altLang="zh-CN" sz="3600" b="1" baseline="-25000">
                <a:cs typeface="Times New Roman" panose="02020603050405020304" pitchFamily="18" charset="0"/>
              </a:rPr>
              <a:t>n,2</a:t>
            </a:r>
            <a:endParaRPr lang="en-US" altLang="zh-CN" sz="3600" b="1" baseline="-25000">
              <a:cs typeface="Times New Roman" panose="02020603050405020304" pitchFamily="18" charset="0"/>
            </a:endParaRPr>
          </a:p>
        </p:txBody>
      </p:sp>
      <p:sp>
        <p:nvSpPr>
          <p:cNvPr id="98366" name="Text Box 85"/>
          <p:cNvSpPr txBox="1">
            <a:spLocks noChangeArrowheads="1"/>
          </p:cNvSpPr>
          <p:nvPr/>
        </p:nvSpPr>
        <p:spPr bwMode="auto">
          <a:xfrm>
            <a:off x="6153150" y="4819650"/>
            <a:ext cx="87630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cs typeface="Times New Roman" panose="02020603050405020304" pitchFamily="18" charset="0"/>
              </a:rPr>
              <a:t>W</a:t>
            </a:r>
            <a:r>
              <a:rPr lang="en-US" altLang="zh-CN" sz="3600" b="1" baseline="-25000">
                <a:cs typeface="Times New Roman" panose="02020603050405020304" pitchFamily="18" charset="0"/>
              </a:rPr>
              <a:t>n,3</a:t>
            </a:r>
            <a:endParaRPr lang="en-US" altLang="zh-CN" sz="3600" b="1" baseline="-25000">
              <a:cs typeface="Times New Roman" panose="02020603050405020304" pitchFamily="18" charset="0"/>
            </a:endParaRPr>
          </a:p>
        </p:txBody>
      </p:sp>
      <p:sp>
        <p:nvSpPr>
          <p:cNvPr id="98367" name="Text Box 86"/>
          <p:cNvSpPr txBox="1">
            <a:spLocks noChangeArrowheads="1"/>
          </p:cNvSpPr>
          <p:nvPr/>
        </p:nvSpPr>
        <p:spPr bwMode="auto">
          <a:xfrm>
            <a:off x="7791450" y="3733800"/>
            <a:ext cx="97155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cs typeface="Times New Roman" panose="02020603050405020304" pitchFamily="18" charset="0"/>
              </a:rPr>
              <a:t>W</a:t>
            </a:r>
            <a:r>
              <a:rPr lang="en-US" altLang="zh-CN" sz="3600" b="1" baseline="-25000" dirty="0">
                <a:cs typeface="Times New Roman" panose="02020603050405020304" pitchFamily="18" charset="0"/>
              </a:rPr>
              <a:t>n+1</a:t>
            </a:r>
            <a:endParaRPr lang="en-US" altLang="zh-CN" sz="3600" b="1" baseline="-25000" dirty="0">
              <a:cs typeface="Times New Roman" panose="02020603050405020304" pitchFamily="18" charset="0"/>
            </a:endParaRPr>
          </a:p>
        </p:txBody>
      </p:sp>
      <p:pic>
        <p:nvPicPr>
          <p:cNvPr id="2052" name="Picture 4" descr="LLM Decoding: Balancing Quality and Latency | by Aalok Patwa | Medium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884" y="1463807"/>
            <a:ext cx="8316831" cy="500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886075" y="6189143"/>
            <a:ext cx="377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有限搜索宽度下成为beam</a:t>
            </a:r>
            <a:r>
              <a:rPr lang="zh-CN" altLang="en-US" dirty="0"/>
              <a:t> </a:t>
            </a:r>
            <a:r>
              <a:rPr lang="en-US" altLang="zh-CN" dirty="0"/>
              <a:t>search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F1318EB-A675-43A9-AAAA-A05F72820007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724400"/>
            <a:ext cx="8210550" cy="1447800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/>
              <a:t>其中：</a:t>
            </a:r>
            <a:r>
              <a:rPr lang="en-US" altLang="zh-CN" sz="2800" b="1" dirty="0"/>
              <a:t>Q(</a:t>
            </a:r>
            <a:r>
              <a:rPr lang="en-US" altLang="zh-CN" sz="2800" b="1" dirty="0" err="1"/>
              <a:t>W</a:t>
            </a:r>
            <a:r>
              <a:rPr lang="en-US" altLang="zh-CN" sz="3600" b="1" baseline="-25000" dirty="0" err="1"/>
              <a:t>ij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表示起点到点</a:t>
            </a:r>
            <a:r>
              <a:rPr lang="en-US" altLang="zh-CN" sz="2800" b="1" dirty="0" err="1"/>
              <a:t>W</a:t>
            </a:r>
            <a:r>
              <a:rPr lang="en-US" altLang="zh-CN" sz="3600" b="1" baseline="-25000" dirty="0" err="1"/>
              <a:t>ij</a:t>
            </a:r>
            <a:r>
              <a:rPr lang="zh-CN" altLang="en-US" sz="2800" b="1" dirty="0"/>
              <a:t>的最佳路径值</a:t>
            </a:r>
            <a:endParaRPr lang="zh-CN" altLang="en-US" sz="28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/>
              <a:t>             </a:t>
            </a:r>
            <a:r>
              <a:rPr lang="en-US" altLang="zh-CN" sz="2800" b="1" dirty="0"/>
              <a:t>D(W</a:t>
            </a:r>
            <a:r>
              <a:rPr lang="en-US" altLang="zh-CN" sz="3600" b="1" baseline="-25000" dirty="0"/>
              <a:t>i-1,k</a:t>
            </a:r>
            <a:r>
              <a:rPr lang="en-US" altLang="zh-CN" sz="2800" b="1" dirty="0"/>
              <a:t>, </a:t>
            </a:r>
            <a:r>
              <a:rPr lang="en-US" altLang="zh-CN" sz="2800" b="1" dirty="0" err="1"/>
              <a:t>W</a:t>
            </a:r>
            <a:r>
              <a:rPr lang="en-US" altLang="zh-CN" sz="3600" b="1" baseline="-25000" dirty="0" err="1"/>
              <a:t>i,k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表示</a:t>
            </a:r>
            <a:r>
              <a:rPr lang="en-US" altLang="zh-CN" sz="2800" b="1" dirty="0"/>
              <a:t>W</a:t>
            </a:r>
            <a:r>
              <a:rPr lang="en-US" altLang="zh-CN" sz="3600" b="1" baseline="-25000" dirty="0"/>
              <a:t>i-1,k</a:t>
            </a:r>
            <a:r>
              <a:rPr lang="zh-CN" altLang="en-US" sz="2800" b="1" dirty="0"/>
              <a:t>到</a:t>
            </a:r>
            <a:r>
              <a:rPr lang="en-US" altLang="zh-CN" sz="2800" b="1" dirty="0" err="1"/>
              <a:t>W</a:t>
            </a:r>
            <a:r>
              <a:rPr lang="en-US" altLang="zh-CN" sz="3600" b="1" baseline="-25000" dirty="0" err="1"/>
              <a:t>i,j</a:t>
            </a:r>
            <a:r>
              <a:rPr lang="zh-CN" altLang="en-US" sz="2800" b="1" dirty="0"/>
              <a:t>的距离</a:t>
            </a:r>
            <a:endParaRPr lang="zh-CN" altLang="en-US" sz="2800" b="1" dirty="0"/>
          </a:p>
        </p:txBody>
      </p:sp>
      <p:sp>
        <p:nvSpPr>
          <p:cNvPr id="19462" name="Rectangle 5"/>
          <p:cNvSpPr>
            <a:spLocks noChangeArrowheads="1"/>
          </p:cNvSpPr>
          <p:nvPr/>
        </p:nvSpPr>
        <p:spPr bwMode="auto">
          <a:xfrm>
            <a:off x="0" y="316230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9458" name="Object 4"/>
          <p:cNvGraphicFramePr>
            <a:graphicFrameLocks noChangeAspect="1"/>
          </p:cNvGraphicFramePr>
          <p:nvPr/>
        </p:nvGraphicFramePr>
        <p:xfrm>
          <a:off x="323850" y="2571750"/>
          <a:ext cx="8524875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1" imgW="103225600" imgH="17068800" progId="Equation.3">
                  <p:embed/>
                </p:oleObj>
              </mc:Choice>
              <mc:Fallback>
                <p:oleObj name="公式" r:id="rId1" imgW="103225600" imgH="17068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2571750"/>
                        <a:ext cx="8524875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1.6</a:t>
            </a:r>
            <a:r>
              <a:rPr lang="zh-CN" altLang="en-US" dirty="0"/>
              <a:t> 搜索算法实用举例拼音输入法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sz="3200" dirty="0" err="1"/>
              <a:t>ji</a:t>
            </a:r>
            <a:r>
              <a:rPr lang="en-US" altLang="zh-CN" sz="3200" dirty="0"/>
              <a:t> qi </a:t>
            </a:r>
            <a:r>
              <a:rPr lang="en-US" altLang="zh-CN" sz="3200" dirty="0" err="1"/>
              <a:t>xue</a:t>
            </a:r>
            <a:r>
              <a:rPr lang="en-US" altLang="zh-CN" sz="3200" dirty="0"/>
              <a:t> xi </a:t>
            </a:r>
            <a:r>
              <a:rPr lang="en-US" altLang="zh-CN" sz="3200" dirty="0" err="1"/>
              <a:t>ji</a:t>
            </a:r>
            <a:r>
              <a:rPr lang="en-US" altLang="zh-CN" sz="3200" dirty="0"/>
              <a:t> qi </a:t>
            </a:r>
            <a:r>
              <a:rPr lang="en-US" altLang="zh-CN" sz="3200" dirty="0" err="1"/>
              <a:t>ying</a:t>
            </a:r>
            <a:r>
              <a:rPr lang="en-US" altLang="zh-CN" sz="3200" dirty="0"/>
              <a:t> </a:t>
            </a:r>
            <a:r>
              <a:rPr lang="en-US" altLang="zh-CN" sz="3200" dirty="0" err="1"/>
              <a:t>yong</a:t>
            </a:r>
            <a:endParaRPr lang="en-US" altLang="zh-CN" sz="3200" dirty="0"/>
          </a:p>
          <a:p>
            <a:pPr marL="0" indent="0">
              <a:buNone/>
            </a:pPr>
            <a:endParaRPr lang="zh-CN" altLang="en-US" sz="32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5417" y="3638005"/>
            <a:ext cx="3114675" cy="20955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拼音输入法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CN" sz="2800" b="1" dirty="0"/>
              <a:t> </a:t>
            </a:r>
            <a:endParaRPr lang="en-US" altLang="zh-CN" sz="2800" b="1" dirty="0"/>
          </a:p>
          <a:p>
            <a:pPr>
              <a:buNone/>
            </a:pPr>
            <a:r>
              <a:rPr lang="en-US" altLang="zh-CN" sz="2800" dirty="0"/>
              <a:t> </a:t>
            </a:r>
            <a:r>
              <a:rPr lang="en-US" altLang="zh-CN" sz="2800" dirty="0" err="1"/>
              <a:t>ji</a:t>
            </a:r>
            <a:r>
              <a:rPr lang="en-US" altLang="zh-CN" sz="2800" dirty="0"/>
              <a:t>    qi    </a:t>
            </a:r>
            <a:r>
              <a:rPr lang="en-US" altLang="zh-CN" sz="2800" dirty="0" err="1"/>
              <a:t>xue</a:t>
            </a:r>
            <a:r>
              <a:rPr lang="en-US" altLang="zh-CN" sz="2800" dirty="0"/>
              <a:t>  xi    </a:t>
            </a:r>
            <a:r>
              <a:rPr lang="en-US" altLang="zh-CN" sz="2800" dirty="0" err="1"/>
              <a:t>ji</a:t>
            </a:r>
            <a:r>
              <a:rPr lang="en-US" altLang="zh-CN" sz="2800" dirty="0"/>
              <a:t>     qi   </a:t>
            </a:r>
            <a:r>
              <a:rPr lang="en-US" altLang="zh-CN" sz="2800" dirty="0" err="1"/>
              <a:t>ying</a:t>
            </a:r>
            <a:r>
              <a:rPr lang="en-US" altLang="zh-CN" sz="2800" dirty="0"/>
              <a:t>  </a:t>
            </a:r>
            <a:r>
              <a:rPr lang="en-US" altLang="zh-CN" sz="2800" dirty="0" err="1"/>
              <a:t>yong</a:t>
            </a:r>
            <a:endParaRPr lang="en-US" altLang="zh-CN" sz="2800" dirty="0"/>
          </a:p>
          <a:p>
            <a:pPr>
              <a:buNone/>
            </a:pPr>
            <a:r>
              <a:rPr lang="zh-CN" altLang="en-US" sz="2800" b="1" dirty="0"/>
              <a:t>及  期   学   系   及  期   应    勇</a:t>
            </a:r>
            <a:endParaRPr lang="en-US" altLang="zh-CN" sz="2800" b="1" dirty="0"/>
          </a:p>
          <a:p>
            <a:pPr>
              <a:buNone/>
            </a:pPr>
            <a:r>
              <a:rPr lang="zh-CN" altLang="en-US" sz="2800" b="1" dirty="0"/>
              <a:t>计  器   雪   习   计  器   英    用</a:t>
            </a:r>
            <a:endParaRPr lang="en-US" altLang="zh-CN" sz="2800" b="1" dirty="0"/>
          </a:p>
          <a:p>
            <a:pPr>
              <a:buNone/>
            </a:pPr>
            <a:r>
              <a:rPr lang="zh-CN" altLang="en-US" sz="2800" b="1" dirty="0"/>
              <a:t>机  其   薛   西   机  其   营    永</a:t>
            </a:r>
            <a:endParaRPr lang="en-US" altLang="zh-CN" sz="2800" b="1" dirty="0"/>
          </a:p>
          <a:p>
            <a:pPr>
              <a:buNone/>
            </a:pPr>
            <a:r>
              <a:rPr lang="en-US" altLang="zh-CN" sz="2800" b="1" dirty="0"/>
              <a:t>…  …   …   …   …   …   …    …</a:t>
            </a:r>
            <a:endParaRPr lang="en-US" altLang="zh-C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拼音输入法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CN" sz="2800" b="1" dirty="0"/>
              <a:t> </a:t>
            </a:r>
            <a:endParaRPr lang="en-US" altLang="zh-CN" sz="2800" b="1" dirty="0"/>
          </a:p>
          <a:p>
            <a:pPr>
              <a:buNone/>
            </a:pPr>
            <a:r>
              <a:rPr lang="en-US" altLang="zh-CN" sz="2800" dirty="0"/>
              <a:t> </a:t>
            </a:r>
            <a:r>
              <a:rPr lang="en-US" altLang="zh-CN" sz="2800" dirty="0" err="1"/>
              <a:t>ji</a:t>
            </a:r>
            <a:r>
              <a:rPr lang="en-US" altLang="zh-CN" sz="2800" dirty="0"/>
              <a:t>    qi    </a:t>
            </a:r>
            <a:r>
              <a:rPr lang="en-US" altLang="zh-CN" sz="2800" dirty="0" err="1"/>
              <a:t>xue</a:t>
            </a:r>
            <a:r>
              <a:rPr lang="en-US" altLang="zh-CN" sz="2800" dirty="0"/>
              <a:t>  xi    </a:t>
            </a:r>
            <a:r>
              <a:rPr lang="en-US" altLang="zh-CN" sz="2800" dirty="0" err="1"/>
              <a:t>ji</a:t>
            </a:r>
            <a:r>
              <a:rPr lang="en-US" altLang="zh-CN" sz="2800" dirty="0"/>
              <a:t>     qi   </a:t>
            </a:r>
            <a:r>
              <a:rPr lang="en-US" altLang="zh-CN" sz="2800" dirty="0" err="1"/>
              <a:t>ying</a:t>
            </a:r>
            <a:r>
              <a:rPr lang="en-US" altLang="zh-CN" sz="2800" dirty="0"/>
              <a:t>  </a:t>
            </a:r>
            <a:r>
              <a:rPr lang="en-US" altLang="zh-CN" sz="2800" dirty="0" err="1"/>
              <a:t>yong</a:t>
            </a:r>
            <a:endParaRPr lang="en-US" altLang="zh-CN" sz="2800" dirty="0"/>
          </a:p>
          <a:p>
            <a:pPr>
              <a:buNone/>
            </a:pPr>
            <a:r>
              <a:rPr lang="zh-CN" altLang="en-US" sz="2800" b="1" dirty="0"/>
              <a:t>及  期   </a:t>
            </a:r>
            <a:r>
              <a:rPr lang="zh-CN" altLang="en-US" sz="2800" b="1" dirty="0">
                <a:solidFill>
                  <a:srgbClr val="0000FF"/>
                </a:solidFill>
              </a:rPr>
              <a:t>学</a:t>
            </a:r>
            <a:r>
              <a:rPr lang="zh-CN" altLang="en-US" sz="2800" b="1" dirty="0"/>
              <a:t>   系   </a:t>
            </a:r>
            <a:r>
              <a:rPr lang="zh-CN" altLang="en-US" sz="2800" b="1" dirty="0">
                <a:solidFill>
                  <a:srgbClr val="0000FF"/>
                </a:solidFill>
              </a:rPr>
              <a:t>及</a:t>
            </a:r>
            <a:r>
              <a:rPr lang="zh-CN" altLang="en-US" sz="2800" b="1" dirty="0"/>
              <a:t>  期   </a:t>
            </a:r>
            <a:r>
              <a:rPr lang="zh-CN" altLang="en-US" sz="2800" b="1" dirty="0">
                <a:solidFill>
                  <a:srgbClr val="0000FF"/>
                </a:solidFill>
              </a:rPr>
              <a:t>应</a:t>
            </a:r>
            <a:r>
              <a:rPr lang="zh-CN" altLang="en-US" sz="2800" b="1" dirty="0"/>
              <a:t>    勇</a:t>
            </a:r>
            <a:endParaRPr lang="en-US" altLang="zh-CN" sz="2800" b="1" dirty="0"/>
          </a:p>
          <a:p>
            <a:pPr>
              <a:buNone/>
            </a:pPr>
            <a:r>
              <a:rPr lang="zh-CN" altLang="en-US" sz="2800" b="1" dirty="0"/>
              <a:t>计  </a:t>
            </a:r>
            <a:r>
              <a:rPr lang="zh-CN" altLang="en-US" sz="2800" b="1" dirty="0">
                <a:solidFill>
                  <a:srgbClr val="0000FF"/>
                </a:solidFill>
              </a:rPr>
              <a:t>器</a:t>
            </a:r>
            <a:r>
              <a:rPr lang="zh-CN" altLang="en-US" sz="2800" b="1" dirty="0"/>
              <a:t>   雪   </a:t>
            </a:r>
            <a:r>
              <a:rPr lang="zh-CN" altLang="en-US" sz="2800" b="1" dirty="0">
                <a:solidFill>
                  <a:srgbClr val="0000FF"/>
                </a:solidFill>
              </a:rPr>
              <a:t>习</a:t>
            </a:r>
            <a:r>
              <a:rPr lang="zh-CN" altLang="en-US" sz="2800" b="1" dirty="0"/>
              <a:t>   计  器   英    </a:t>
            </a:r>
            <a:r>
              <a:rPr lang="zh-CN" altLang="en-US" sz="2800" b="1" dirty="0">
                <a:solidFill>
                  <a:srgbClr val="0000FF"/>
                </a:solidFill>
              </a:rPr>
              <a:t>用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机</a:t>
            </a:r>
            <a:r>
              <a:rPr lang="zh-CN" altLang="en-US" sz="2800" b="1" dirty="0"/>
              <a:t>  其   薛   西   机  </a:t>
            </a:r>
            <a:r>
              <a:rPr lang="zh-CN" altLang="en-US" sz="2800" b="1" dirty="0">
                <a:solidFill>
                  <a:srgbClr val="0000FF"/>
                </a:solidFill>
              </a:rPr>
              <a:t>其</a:t>
            </a:r>
            <a:r>
              <a:rPr lang="zh-CN" altLang="en-US" sz="2800" b="1" dirty="0"/>
              <a:t>   营    永</a:t>
            </a:r>
            <a:endParaRPr lang="en-US" altLang="zh-CN" sz="2800" b="1" dirty="0"/>
          </a:p>
          <a:p>
            <a:pPr>
              <a:buNone/>
            </a:pPr>
            <a:r>
              <a:rPr lang="en-US" altLang="zh-CN" sz="2800" b="1" dirty="0"/>
              <a:t>…  …   …   …   …   …   …    …</a:t>
            </a:r>
            <a:endParaRPr lang="en-US" altLang="zh-CN" sz="2800" b="1" dirty="0"/>
          </a:p>
          <a:p>
            <a:pPr>
              <a:buNone/>
            </a:pPr>
            <a:endParaRPr lang="en-US" altLang="zh-CN" sz="2800" b="1" dirty="0"/>
          </a:p>
        </p:txBody>
      </p:sp>
      <p:grpSp>
        <p:nvGrpSpPr>
          <p:cNvPr id="4" name="Group 3"/>
          <p:cNvGrpSpPr/>
          <p:nvPr/>
        </p:nvGrpSpPr>
        <p:grpSpPr>
          <a:xfrm>
            <a:off x="3576320" y="1447800"/>
            <a:ext cx="3484880" cy="716280"/>
            <a:chOff x="3576320" y="1447800"/>
            <a:chExt cx="3484880" cy="716280"/>
          </a:xfrm>
        </p:grpSpPr>
        <p:sp>
          <p:nvSpPr>
            <p:cNvPr id="5" name="TextBox 4"/>
            <p:cNvSpPr txBox="1"/>
            <p:nvPr/>
          </p:nvSpPr>
          <p:spPr>
            <a:xfrm>
              <a:off x="3576320" y="1447800"/>
              <a:ext cx="34848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FF0000"/>
                  </a:solidFill>
                </a:rPr>
                <a:t>现实中并不存在此分割符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6" name="Straight Arrow Connector 5"/>
            <p:cNvCxnSpPr/>
            <p:nvPr/>
          </p:nvCxnSpPr>
          <p:spPr>
            <a:xfrm>
              <a:off x="4236720" y="1817132"/>
              <a:ext cx="0" cy="34694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flipH="1">
              <a:off x="3728720" y="1817132"/>
              <a:ext cx="193040" cy="34694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拼音输入法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8112642" cy="4572000"/>
          </a:xfrm>
        </p:spPr>
        <p:txBody>
          <a:bodyPr>
            <a:normAutofit/>
          </a:bodyPr>
          <a:lstStyle/>
          <a:p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sz="3000" b="1" dirty="0"/>
              <a:t>汉语约有</a:t>
            </a:r>
            <a:r>
              <a:rPr lang="en-US" altLang="zh-CN" sz="3000" b="1" dirty="0"/>
              <a:t>400</a:t>
            </a:r>
            <a:r>
              <a:rPr lang="zh-CN" altLang="en-US" sz="3000" b="1" dirty="0"/>
              <a:t>个音，常用汉字</a:t>
            </a:r>
            <a:r>
              <a:rPr lang="en-US" altLang="zh-CN" sz="3000" b="1" dirty="0"/>
              <a:t>4000</a:t>
            </a:r>
            <a:r>
              <a:rPr lang="zh-CN" altLang="en-US" sz="3000" b="1" dirty="0"/>
              <a:t>个，平均一个音对应</a:t>
            </a:r>
            <a:r>
              <a:rPr lang="en-US" altLang="zh-CN" sz="3000" b="1" dirty="0"/>
              <a:t>10</a:t>
            </a:r>
            <a:r>
              <a:rPr lang="zh-CN" altLang="en-US" sz="3000" b="1" dirty="0"/>
              <a:t>个汉字。</a:t>
            </a:r>
            <a:endParaRPr lang="zh-CN" altLang="en-US" sz="3000" b="1" dirty="0"/>
          </a:p>
          <a:p>
            <a:pPr>
              <a:lnSpc>
                <a:spcPct val="120000"/>
              </a:lnSpc>
            </a:pPr>
            <a:r>
              <a:rPr lang="zh-CN" altLang="en-US" sz="3000" b="1" dirty="0"/>
              <a:t>汉语句子平均长度</a:t>
            </a:r>
            <a:r>
              <a:rPr lang="en-US" altLang="zh-CN" sz="3000" b="1" dirty="0"/>
              <a:t>11</a:t>
            </a:r>
            <a:r>
              <a:rPr lang="zh-CN" altLang="en-US" sz="3000" b="1" dirty="0"/>
              <a:t>个</a:t>
            </a:r>
            <a:endParaRPr lang="zh-CN" altLang="en-US" sz="3000" b="1" dirty="0"/>
          </a:p>
          <a:p>
            <a:pPr>
              <a:lnSpc>
                <a:spcPct val="120000"/>
              </a:lnSpc>
            </a:pPr>
            <a:r>
              <a:rPr lang="zh-CN" altLang="en-US" sz="3000" b="1" dirty="0"/>
              <a:t>一个</a:t>
            </a:r>
            <a:r>
              <a:rPr lang="en-US" altLang="zh-CN" sz="3000" b="1" dirty="0"/>
              <a:t>11</a:t>
            </a:r>
            <a:r>
              <a:rPr lang="zh-CN" altLang="en-US" sz="3000" b="1" dirty="0"/>
              <a:t>个音的拼音串，约有</a:t>
            </a:r>
            <a:r>
              <a:rPr lang="en-US" altLang="zh-CN" sz="3000" b="1" dirty="0"/>
              <a:t>10</a:t>
            </a:r>
            <a:r>
              <a:rPr lang="en-US" altLang="zh-CN" sz="3000" b="1" baseline="30000" dirty="0"/>
              <a:t>11</a:t>
            </a:r>
            <a:r>
              <a:rPr lang="zh-CN" altLang="en-US" sz="3000" b="1" dirty="0"/>
              <a:t>个可能的句子</a:t>
            </a:r>
            <a:endParaRPr lang="zh-CN" altLang="en-US" sz="3000" b="1" dirty="0"/>
          </a:p>
          <a:p>
            <a:pPr>
              <a:lnSpc>
                <a:spcPct val="120000"/>
              </a:lnSpc>
            </a:pPr>
            <a:r>
              <a:rPr lang="zh-CN" altLang="en-US" sz="3000" b="1" dirty="0"/>
              <a:t>假设</a:t>
            </a:r>
            <a:r>
              <a:rPr lang="en-US" altLang="zh-CN" sz="3000" b="1" dirty="0"/>
              <a:t>1</a:t>
            </a:r>
            <a:r>
              <a:rPr lang="zh-CN" altLang="en-US" sz="3000" b="1" dirty="0"/>
              <a:t>毫秒生成一个句子，需要</a:t>
            </a:r>
            <a:r>
              <a:rPr lang="en-US" altLang="zh-CN" sz="3000" b="1" dirty="0"/>
              <a:t>3</a:t>
            </a:r>
            <a:r>
              <a:rPr lang="zh-CN" altLang="en-US" sz="3000" b="1" dirty="0"/>
              <a:t>年时间</a:t>
            </a:r>
            <a:endParaRPr lang="zh-CN" altLang="en-US" sz="3000" b="1" dirty="0"/>
          </a:p>
          <a:p>
            <a:pPr>
              <a:lnSpc>
                <a:spcPct val="120000"/>
              </a:lnSpc>
            </a:pPr>
            <a:r>
              <a:rPr lang="zh-CN" altLang="en-US" sz="3000" b="1" dirty="0"/>
              <a:t>如何从这么多句子中找出正确的句子呢？</a:t>
            </a:r>
            <a:endParaRPr lang="zh-CN" altLang="en-US" sz="3000" b="1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拼音输入法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  <a:p>
            <a:pPr>
              <a:lnSpc>
                <a:spcPct val="130000"/>
              </a:lnSpc>
            </a:pPr>
            <a:r>
              <a:rPr lang="zh-CN" altLang="en-US" sz="3000" b="1" dirty="0"/>
              <a:t>涉及两个问题</a:t>
            </a:r>
            <a:endParaRPr lang="en-US" altLang="zh-CN" sz="3000" b="1" dirty="0"/>
          </a:p>
          <a:p>
            <a:pPr marL="548640" lvl="2" indent="-274320">
              <a:lnSpc>
                <a:spcPct val="130000"/>
              </a:lnSpc>
              <a:spcBef>
                <a:spcPts val="580"/>
              </a:spcBef>
              <a:buClr>
                <a:schemeClr val="accent1"/>
              </a:buClr>
              <a:buBlip>
                <a:blip r:embed="rId1"/>
              </a:buBlip>
            </a:pPr>
            <a:r>
              <a:rPr lang="zh-CN" altLang="en-US" sz="2600" b="1" dirty="0"/>
              <a:t>如何判断一个句子是一个正常的句子</a:t>
            </a:r>
            <a:endParaRPr lang="en-US" altLang="zh-CN" sz="2600" b="1" dirty="0"/>
          </a:p>
          <a:p>
            <a:pPr marL="548640" lvl="2" indent="-274320">
              <a:lnSpc>
                <a:spcPct val="130000"/>
              </a:lnSpc>
              <a:spcBef>
                <a:spcPts val="580"/>
              </a:spcBef>
              <a:buClr>
                <a:schemeClr val="accent1"/>
              </a:buClr>
              <a:buBlip>
                <a:blip r:embed="rId1"/>
              </a:buBlip>
            </a:pPr>
            <a:r>
              <a:rPr lang="zh-CN" altLang="en-US" sz="2600" b="1" dirty="0"/>
              <a:t>如何从众多的句子中找出这个正常的句子</a:t>
            </a:r>
            <a:endParaRPr lang="zh-CN" altLang="en-US" sz="2600" b="1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拼音输入法</a:t>
            </a:r>
            <a:endParaRPr lang="zh-CN" altLang="en-US" dirty="0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1436688" y="3834529"/>
          <a:ext cx="4751388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公式" r:id="rId1" imgW="86156800" imgH="21132800" progId="Equation.3">
                  <p:embed/>
                </p:oleObj>
              </mc:Choice>
              <mc:Fallback>
                <p:oleObj name="公式" r:id="rId1" imgW="86156800" imgH="21132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688" y="3834529"/>
                        <a:ext cx="4751388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1425537" y="1601979"/>
          <a:ext cx="553720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公式" r:id="rId3" imgW="100380800" imgH="10160000" progId="Equation.3">
                  <p:embed/>
                </p:oleObj>
              </mc:Choice>
              <mc:Fallback>
                <p:oleObj name="公式" r:id="rId3" imgW="100380800" imgH="10160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5537" y="1601979"/>
                        <a:ext cx="5537200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9"/>
          <p:cNvGrpSpPr/>
          <p:nvPr/>
        </p:nvGrpSpPr>
        <p:grpSpPr bwMode="auto">
          <a:xfrm>
            <a:off x="1425537" y="2358741"/>
            <a:ext cx="2302335" cy="577851"/>
            <a:chOff x="859" y="2446"/>
            <a:chExt cx="1390" cy="364"/>
          </a:xfrm>
        </p:grpSpPr>
        <p:graphicFrame>
          <p:nvGraphicFramePr>
            <p:cNvPr id="10" name="Object 10"/>
            <p:cNvGraphicFramePr>
              <a:graphicFrameLocks noChangeAspect="1"/>
            </p:cNvGraphicFramePr>
            <p:nvPr/>
          </p:nvGraphicFramePr>
          <p:xfrm>
            <a:off x="859" y="2481"/>
            <a:ext cx="636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公式" r:id="rId5" imgW="18288000" imgH="9753600" progId="Equation.3">
                    <p:embed/>
                  </p:oleObj>
                </mc:Choice>
                <mc:Fallback>
                  <p:oleObj name="公式" r:id="rId5" imgW="18288000" imgH="97536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9" y="2481"/>
                          <a:ext cx="636" cy="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1484" y="2446"/>
              <a:ext cx="765" cy="3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800" b="1" dirty="0"/>
                <a:t>为常量</a:t>
              </a:r>
              <a:endParaRPr lang="zh-CN" altLang="en-US" sz="2800" b="1" dirty="0"/>
            </a:p>
          </p:txBody>
        </p:sp>
      </p:grpSp>
      <p:grpSp>
        <p:nvGrpSpPr>
          <p:cNvPr id="15" name="Group 15"/>
          <p:cNvGrpSpPr/>
          <p:nvPr/>
        </p:nvGrpSpPr>
        <p:grpSpPr bwMode="auto">
          <a:xfrm>
            <a:off x="1380933" y="5505885"/>
            <a:ext cx="6381752" cy="544513"/>
            <a:chOff x="1162" y="3386"/>
            <a:chExt cx="4020" cy="343"/>
          </a:xfrm>
        </p:grpSpPr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1162" y="3399"/>
              <a:ext cx="344" cy="3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800" b="1" dirty="0"/>
                <a:t>求</a:t>
              </a:r>
              <a:endParaRPr lang="zh-CN" altLang="en-US" sz="2800" b="1" dirty="0"/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4611" y="3386"/>
              <a:ext cx="571" cy="3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800" b="1" dirty="0"/>
                <a:t>最大</a:t>
              </a:r>
              <a:endParaRPr lang="zh-CN" altLang="en-US" sz="28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1381912" y="3213235"/>
                <a:ext cx="2419816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)≈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912" y="3213235"/>
                <a:ext cx="2419816" cy="553998"/>
              </a:xfrm>
              <a:prstGeom prst="rect">
                <a:avLst/>
              </a:prstGeom>
              <a:blipFill rotWithShape="1">
                <a:blip r:embed="rId7"/>
                <a:stretch>
                  <a:fillRect l="-6" t="-24" r="26" b="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1" name="Object 4"/>
          <p:cNvGraphicFramePr>
            <a:graphicFrameLocks noChangeAspect="1"/>
          </p:cNvGraphicFramePr>
          <p:nvPr/>
        </p:nvGraphicFramePr>
        <p:xfrm>
          <a:off x="2104834" y="5199497"/>
          <a:ext cx="4751388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公式" r:id="rId8" imgW="86156800" imgH="21132800" progId="Equation.3">
                  <p:embed/>
                </p:oleObj>
              </mc:Choice>
              <mc:Fallback>
                <p:oleObj name="公式" r:id="rId8" imgW="86156800" imgH="21132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4834" y="5199497"/>
                        <a:ext cx="4751388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13"/>
          <p:cNvGrpSpPr/>
          <p:nvPr/>
        </p:nvGrpSpPr>
        <p:grpSpPr>
          <a:xfrm>
            <a:off x="5394960" y="1046635"/>
            <a:ext cx="985520" cy="555344"/>
            <a:chOff x="5394960" y="1046635"/>
            <a:chExt cx="985520" cy="555344"/>
          </a:xfrm>
        </p:grpSpPr>
        <p:sp>
          <p:nvSpPr>
            <p:cNvPr id="8" name="TextBox 5"/>
            <p:cNvSpPr txBox="1"/>
            <p:nvPr/>
          </p:nvSpPr>
          <p:spPr>
            <a:xfrm>
              <a:off x="5394960" y="1046635"/>
              <a:ext cx="985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FF0000"/>
                  </a:solidFill>
                </a:rPr>
                <a:t>汉字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12" name="Straight Arrow Connector 7"/>
            <p:cNvCxnSpPr/>
            <p:nvPr/>
          </p:nvCxnSpPr>
          <p:spPr>
            <a:xfrm flipH="1">
              <a:off x="5557520" y="1415967"/>
              <a:ext cx="121920" cy="18601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6553200" y="1055659"/>
            <a:ext cx="985520" cy="578731"/>
            <a:chOff x="6553200" y="1055659"/>
            <a:chExt cx="985520" cy="578731"/>
          </a:xfrm>
        </p:grpSpPr>
        <p:sp>
          <p:nvSpPr>
            <p:cNvPr id="13" name="TextBox 2"/>
            <p:cNvSpPr txBox="1"/>
            <p:nvPr/>
          </p:nvSpPr>
          <p:spPr>
            <a:xfrm>
              <a:off x="6553200" y="1055659"/>
              <a:ext cx="985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0000FF"/>
                  </a:solidFill>
                </a:rPr>
                <a:t>拼音</a:t>
              </a:r>
              <a:endParaRPr lang="en-US" dirty="0">
                <a:solidFill>
                  <a:srgbClr val="0000FF"/>
                </a:solidFill>
              </a:endParaRPr>
            </a:p>
          </p:txBody>
        </p:sp>
        <p:cxnSp>
          <p:nvCxnSpPr>
            <p:cNvPr id="19" name="Straight Arrow Connector 12"/>
            <p:cNvCxnSpPr/>
            <p:nvPr/>
          </p:nvCxnSpPr>
          <p:spPr>
            <a:xfrm flipH="1">
              <a:off x="6693662" y="1448378"/>
              <a:ext cx="121920" cy="186012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18"/>
          <p:cNvSpPr txBox="1"/>
          <p:nvPr/>
        </p:nvSpPr>
        <p:spPr>
          <a:xfrm>
            <a:off x="3950297" y="3303662"/>
            <a:ext cx="2359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简化</a:t>
            </a:r>
            <a:r>
              <a:rPr lang="zh-CN" altLang="en-US" dirty="0"/>
              <a:t>：忽略多音字</a:t>
            </a:r>
            <a:endParaRPr lang="en-US" dirty="0"/>
          </a:p>
        </p:txBody>
      </p:sp>
      <p:sp>
        <p:nvSpPr>
          <p:cNvPr id="23" name="TextBox 21"/>
          <p:cNvSpPr txBox="1"/>
          <p:nvPr/>
        </p:nvSpPr>
        <p:spPr>
          <a:xfrm>
            <a:off x="6329680" y="4261739"/>
            <a:ext cx="2359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链式法则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拼音输入法</a:t>
            </a:r>
            <a:endParaRPr lang="zh-CN" altLang="en-US" dirty="0"/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303141" y="2783651"/>
            <a:ext cx="2097088" cy="52387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dirty="0"/>
              <a:t>二元语法时：</a:t>
            </a:r>
            <a:endParaRPr lang="zh-CN" altLang="en-US" sz="2400" dirty="0"/>
          </a:p>
        </p:txBody>
      </p:sp>
      <p:grpSp>
        <p:nvGrpSpPr>
          <p:cNvPr id="15" name="Group 15"/>
          <p:cNvGrpSpPr/>
          <p:nvPr/>
        </p:nvGrpSpPr>
        <p:grpSpPr bwMode="auto">
          <a:xfrm>
            <a:off x="1303141" y="3819646"/>
            <a:ext cx="6099179" cy="541338"/>
            <a:chOff x="1161" y="3399"/>
            <a:chExt cx="3842" cy="341"/>
          </a:xfrm>
        </p:grpSpPr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1161" y="3399"/>
              <a:ext cx="343" cy="3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800" dirty="0"/>
                <a:t>求</a:t>
              </a:r>
              <a:endParaRPr lang="zh-CN" altLang="en-US" sz="2800" dirty="0"/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3530" y="3410"/>
              <a:ext cx="1473" cy="3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800" dirty="0"/>
                <a:t>所对应的句子</a:t>
              </a:r>
              <a:endParaRPr lang="zh-CN" altLang="en-US" sz="2800" dirty="0"/>
            </a:p>
          </p:txBody>
        </p:sp>
      </p:grpSp>
      <p:sp>
        <p:nvSpPr>
          <p:cNvPr id="20" name="Text Box 16"/>
          <p:cNvSpPr txBox="1">
            <a:spLocks noChangeArrowheads="1"/>
          </p:cNvSpPr>
          <p:nvPr/>
        </p:nvSpPr>
        <p:spPr bwMode="auto">
          <a:xfrm>
            <a:off x="1243046" y="5396570"/>
            <a:ext cx="543739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dirty="0"/>
              <a:t>求</a:t>
            </a:r>
            <a:endParaRPr lang="zh-CN" altLang="en-US" sz="2800" dirty="0"/>
          </a:p>
        </p:txBody>
      </p:sp>
      <p:sp>
        <p:nvSpPr>
          <p:cNvPr id="21" name="Text Box 18"/>
          <p:cNvSpPr txBox="1">
            <a:spLocks noChangeArrowheads="1"/>
          </p:cNvSpPr>
          <p:nvPr/>
        </p:nvSpPr>
        <p:spPr bwMode="auto">
          <a:xfrm>
            <a:off x="6028196" y="5357045"/>
            <a:ext cx="2410394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dirty="0"/>
              <a:t>所对应的句子</a:t>
            </a:r>
            <a:endParaRPr lang="zh-CN" altLang="en-US" sz="2800" dirty="0"/>
          </a:p>
        </p:txBody>
      </p:sp>
      <p:sp>
        <p:nvSpPr>
          <p:cNvPr id="22" name="Text Box 16"/>
          <p:cNvSpPr txBox="1">
            <a:spLocks noChangeArrowheads="1"/>
          </p:cNvSpPr>
          <p:nvPr/>
        </p:nvSpPr>
        <p:spPr bwMode="auto">
          <a:xfrm>
            <a:off x="1303141" y="4654996"/>
            <a:ext cx="1620958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dirty="0"/>
              <a:t>等价于：</a:t>
            </a:r>
            <a:endParaRPr lang="zh-CN" altLang="en-US" sz="2800" dirty="0"/>
          </a:p>
        </p:txBody>
      </p:sp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1303141" y="1632898"/>
          <a:ext cx="3995381" cy="955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公式" r:id="rId1" imgW="86156800" imgH="21132800" progId="Equation.3">
                  <p:embed/>
                </p:oleObj>
              </mc:Choice>
              <mc:Fallback>
                <p:oleObj name="公式" r:id="rId1" imgW="86156800" imgH="21132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3141" y="1632898"/>
                        <a:ext cx="3995381" cy="9557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3300831" y="2418125"/>
                <a:ext cx="3676969" cy="1176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zh-CN" alt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∏"/>
                          <m:ctrlPr>
                            <a:rPr kumimoji="1" lang="zh-CN" alt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0831" y="2418125"/>
                <a:ext cx="3676969" cy="1176219"/>
              </a:xfrm>
              <a:prstGeom prst="rect">
                <a:avLst/>
              </a:prstGeom>
              <a:blipFill rotWithShape="1">
                <a:blip r:embed="rId3"/>
                <a:stretch>
                  <a:fillRect l="-3" t="-4" r="-1025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1741680" y="3478777"/>
                <a:ext cx="3504742" cy="1176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800" b="0" i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kumimoji="1" lang="zh-CN" alt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∏"/>
                          <m:ctrlPr>
                            <a:rPr kumimoji="1" lang="zh-CN" alt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kumimoji="1" lang="zh-CN" alt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1680" y="3478777"/>
                <a:ext cx="3504742" cy="1176219"/>
              </a:xfrm>
              <a:prstGeom prst="rect">
                <a:avLst/>
              </a:prstGeom>
              <a:blipFill rotWithShape="1">
                <a:blip r:embed="rId4"/>
                <a:stretch>
                  <a:fillRect l="-15" t="-21" r="-1357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1786785" y="5030545"/>
                <a:ext cx="4325992" cy="1176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80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6785" y="5030545"/>
                <a:ext cx="4325992" cy="1176219"/>
              </a:xfrm>
              <a:prstGeom prst="rect">
                <a:avLst/>
              </a:prstGeom>
              <a:blipFill rotWithShape="1">
                <a:blip r:embed="rId5"/>
                <a:stretch>
                  <a:fillRect l="-12" t="-6" r="-302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0" grpId="0"/>
      <p:bldP spid="21" grpId="0"/>
      <p:bldP spid="22" grpId="0"/>
      <p:bldP spid="9" grpId="0"/>
      <p:bldP spid="10" grpId="0"/>
      <p:bldP spid="11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" name="直接箭头连接符 82"/>
          <p:cNvCxnSpPr/>
          <p:nvPr/>
        </p:nvCxnSpPr>
        <p:spPr>
          <a:xfrm>
            <a:off x="1488076" y="4288974"/>
            <a:ext cx="5932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/>
          <p:cNvCxnSpPr/>
          <p:nvPr/>
        </p:nvCxnSpPr>
        <p:spPr>
          <a:xfrm>
            <a:off x="1488894" y="3437709"/>
            <a:ext cx="544801" cy="8599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/>
          <p:nvPr/>
        </p:nvCxnSpPr>
        <p:spPr>
          <a:xfrm>
            <a:off x="1488076" y="2555957"/>
            <a:ext cx="593273" cy="17970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/>
          <p:nvPr/>
        </p:nvCxnSpPr>
        <p:spPr>
          <a:xfrm flipV="1">
            <a:off x="1476640" y="2612571"/>
            <a:ext cx="564409" cy="166811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拼音输入法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079871" y="1447799"/>
            <a:ext cx="7271656" cy="4108269"/>
          </a:xfrm>
        </p:spPr>
        <p:txBody>
          <a:bodyPr>
            <a:normAutofit/>
          </a:bodyPr>
          <a:lstStyle/>
          <a:p>
            <a:pPr>
              <a:buNone/>
            </a:pPr>
            <a:endParaRPr lang="en-US" altLang="zh-CN" sz="2400" b="1" dirty="0"/>
          </a:p>
          <a:p>
            <a:pPr>
              <a:buNone/>
            </a:pPr>
            <a:endParaRPr lang="en-US" altLang="zh-CN" sz="2400" b="1" dirty="0"/>
          </a:p>
          <a:p>
            <a:pPr>
              <a:buNone/>
            </a:pPr>
            <a:r>
              <a:rPr lang="zh-CN" altLang="en-US" sz="2400" b="1" dirty="0"/>
              <a:t>及</a:t>
            </a:r>
            <a:r>
              <a:rPr lang="en-US" altLang="zh-CN" sz="2400" b="1" dirty="0"/>
              <a:t>	</a:t>
            </a:r>
            <a:r>
              <a:rPr lang="zh-CN" altLang="en-US" sz="2400" b="1" dirty="0"/>
              <a:t>期</a:t>
            </a:r>
            <a:r>
              <a:rPr lang="en-US" altLang="zh-CN" sz="2400" b="1" dirty="0"/>
              <a:t>	</a:t>
            </a:r>
            <a:r>
              <a:rPr lang="zh-CN" altLang="en-US" sz="2400" b="1" dirty="0">
                <a:solidFill>
                  <a:srgbClr val="0000FF"/>
                </a:solidFill>
              </a:rPr>
              <a:t>学</a:t>
            </a:r>
            <a:r>
              <a:rPr lang="en-US" altLang="zh-CN" sz="2400" b="1" dirty="0"/>
              <a:t>	</a:t>
            </a:r>
            <a:r>
              <a:rPr lang="zh-CN" altLang="en-US" sz="2400" b="1" dirty="0"/>
              <a:t>系</a:t>
            </a:r>
            <a:r>
              <a:rPr lang="en-US" altLang="zh-CN" sz="2400" b="1" dirty="0"/>
              <a:t>	</a:t>
            </a:r>
            <a:r>
              <a:rPr lang="zh-CN" altLang="en-US" sz="2400" b="1" dirty="0">
                <a:solidFill>
                  <a:srgbClr val="0000FF"/>
                </a:solidFill>
              </a:rPr>
              <a:t>及</a:t>
            </a:r>
            <a:r>
              <a:rPr lang="en-US" altLang="zh-CN" sz="2400" b="1" dirty="0"/>
              <a:t>	</a:t>
            </a:r>
            <a:r>
              <a:rPr lang="zh-CN" altLang="en-US" sz="2400" b="1" dirty="0"/>
              <a:t>期</a:t>
            </a:r>
            <a:r>
              <a:rPr lang="en-US" altLang="zh-CN" sz="2400" b="1" dirty="0"/>
              <a:t>	</a:t>
            </a:r>
            <a:r>
              <a:rPr lang="zh-CN" altLang="en-US" sz="2400" b="1" dirty="0">
                <a:solidFill>
                  <a:srgbClr val="0000FF"/>
                </a:solidFill>
              </a:rPr>
              <a:t>应</a:t>
            </a:r>
            <a:r>
              <a:rPr lang="en-US" altLang="zh-CN" sz="2400" b="1" dirty="0"/>
              <a:t>	</a:t>
            </a:r>
            <a:r>
              <a:rPr lang="zh-CN" altLang="en-US" sz="2400" b="1" dirty="0"/>
              <a:t>勇</a:t>
            </a:r>
            <a:endParaRPr lang="en-US" altLang="zh-CN" sz="2400" b="1" dirty="0"/>
          </a:p>
          <a:p>
            <a:pPr>
              <a:buNone/>
            </a:pPr>
            <a:endParaRPr lang="en-US" altLang="zh-CN" sz="2400" b="1" dirty="0"/>
          </a:p>
          <a:p>
            <a:pPr>
              <a:buNone/>
            </a:pPr>
            <a:r>
              <a:rPr lang="zh-CN" altLang="en-US" sz="2400" b="1" dirty="0"/>
              <a:t>计</a:t>
            </a:r>
            <a:r>
              <a:rPr lang="en-US" altLang="zh-CN" sz="2400" b="1" dirty="0"/>
              <a:t>	</a:t>
            </a:r>
            <a:r>
              <a:rPr lang="zh-CN" altLang="en-US" sz="2400" b="1" dirty="0">
                <a:solidFill>
                  <a:srgbClr val="0000FF"/>
                </a:solidFill>
              </a:rPr>
              <a:t>器</a:t>
            </a:r>
            <a:r>
              <a:rPr lang="en-US" altLang="zh-CN" sz="2400" b="1" dirty="0"/>
              <a:t>	</a:t>
            </a:r>
            <a:r>
              <a:rPr lang="zh-CN" altLang="en-US" sz="2400" b="1" dirty="0"/>
              <a:t>雪</a:t>
            </a:r>
            <a:r>
              <a:rPr lang="en-US" altLang="zh-CN" sz="2400" b="1" dirty="0"/>
              <a:t>	</a:t>
            </a:r>
            <a:r>
              <a:rPr lang="zh-CN" altLang="en-US" sz="2400" b="1" dirty="0">
                <a:solidFill>
                  <a:srgbClr val="0000FF"/>
                </a:solidFill>
              </a:rPr>
              <a:t>习</a:t>
            </a:r>
            <a:r>
              <a:rPr lang="en-US" altLang="zh-CN" sz="2400" b="1" dirty="0"/>
              <a:t>	</a:t>
            </a:r>
            <a:r>
              <a:rPr lang="zh-CN" altLang="en-US" sz="2400" b="1" dirty="0"/>
              <a:t>计</a:t>
            </a:r>
            <a:r>
              <a:rPr lang="en-US" altLang="zh-CN" sz="2400" b="1" dirty="0"/>
              <a:t>	</a:t>
            </a:r>
            <a:r>
              <a:rPr lang="zh-CN" altLang="en-US" sz="2400" b="1" dirty="0"/>
              <a:t>器</a:t>
            </a:r>
            <a:r>
              <a:rPr lang="en-US" altLang="zh-CN" sz="2400" b="1" dirty="0"/>
              <a:t>	</a:t>
            </a:r>
            <a:r>
              <a:rPr lang="zh-CN" altLang="en-US" sz="2400" b="1" dirty="0"/>
              <a:t>英</a:t>
            </a:r>
            <a:r>
              <a:rPr lang="en-US" altLang="zh-CN" sz="2400" b="1" dirty="0"/>
              <a:t>	</a:t>
            </a:r>
            <a:r>
              <a:rPr lang="zh-CN" altLang="en-US" sz="2400" b="1" dirty="0">
                <a:solidFill>
                  <a:srgbClr val="0000FF"/>
                </a:solidFill>
              </a:rPr>
              <a:t>用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>
              <a:buNone/>
            </a:pPr>
            <a:endParaRPr lang="en-US" altLang="zh-CN" sz="2400" b="1" dirty="0">
              <a:solidFill>
                <a:srgbClr val="0000FF"/>
              </a:solidFill>
            </a:endParaRPr>
          </a:p>
          <a:p>
            <a:pPr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机</a:t>
            </a:r>
            <a:r>
              <a:rPr lang="en-US" altLang="zh-CN" sz="2400" b="1" dirty="0"/>
              <a:t>	</a:t>
            </a:r>
            <a:r>
              <a:rPr lang="zh-CN" altLang="en-US" sz="2400" b="1" dirty="0"/>
              <a:t>其</a:t>
            </a:r>
            <a:r>
              <a:rPr lang="en-US" altLang="zh-CN" sz="2400" b="1" dirty="0"/>
              <a:t>	</a:t>
            </a:r>
            <a:r>
              <a:rPr lang="zh-CN" altLang="en-US" sz="2400" b="1" dirty="0"/>
              <a:t>薛</a:t>
            </a:r>
            <a:r>
              <a:rPr lang="en-US" altLang="zh-CN" sz="2400" b="1" dirty="0"/>
              <a:t>	</a:t>
            </a:r>
            <a:r>
              <a:rPr lang="zh-CN" altLang="en-US" sz="2400" b="1" dirty="0"/>
              <a:t>西</a:t>
            </a:r>
            <a:r>
              <a:rPr lang="en-US" altLang="zh-CN" sz="2400" b="1" dirty="0"/>
              <a:t>	</a:t>
            </a:r>
            <a:r>
              <a:rPr lang="zh-CN" altLang="en-US" sz="2400" b="1" dirty="0"/>
              <a:t>机</a:t>
            </a:r>
            <a:r>
              <a:rPr lang="en-US" altLang="zh-CN" sz="2400" b="1" dirty="0"/>
              <a:t>	</a:t>
            </a:r>
            <a:r>
              <a:rPr lang="zh-CN" altLang="en-US" sz="2400" b="1" dirty="0">
                <a:solidFill>
                  <a:srgbClr val="0000FF"/>
                </a:solidFill>
              </a:rPr>
              <a:t>其</a:t>
            </a:r>
            <a:r>
              <a:rPr lang="en-US" altLang="zh-CN" sz="2400" b="1" dirty="0"/>
              <a:t>	</a:t>
            </a:r>
            <a:r>
              <a:rPr lang="zh-CN" altLang="en-US" sz="2400" b="1" dirty="0"/>
              <a:t>营</a:t>
            </a:r>
            <a:r>
              <a:rPr lang="en-US" altLang="zh-CN" sz="2400" b="1" dirty="0"/>
              <a:t>	</a:t>
            </a:r>
            <a:r>
              <a:rPr lang="zh-CN" altLang="en-US" sz="2400" b="1" dirty="0"/>
              <a:t>永</a:t>
            </a:r>
            <a:endParaRPr lang="en-US" altLang="zh-CN" sz="2400" b="1" dirty="0"/>
          </a:p>
          <a:p>
            <a:pPr>
              <a:buNone/>
            </a:pPr>
            <a:r>
              <a:rPr lang="en-US" altLang="zh-CN" sz="2400" b="1" dirty="0"/>
              <a:t>…  	…  	 …   	…  	…   	…  	 …  	…</a:t>
            </a:r>
            <a:endParaRPr lang="en-US" altLang="zh-CN" sz="2400" b="1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椭圆 3"/>
          <p:cNvSpPr/>
          <p:nvPr/>
        </p:nvSpPr>
        <p:spPr>
          <a:xfrm>
            <a:off x="372278" y="3345981"/>
            <a:ext cx="200297" cy="20029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8486503" y="3300548"/>
            <a:ext cx="200297" cy="20029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箭头连接符 25"/>
          <p:cNvCxnSpPr/>
          <p:nvPr/>
        </p:nvCxnSpPr>
        <p:spPr>
          <a:xfrm flipV="1">
            <a:off x="582401" y="2547252"/>
            <a:ext cx="568217" cy="8534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 flipV="1">
            <a:off x="604676" y="3426823"/>
            <a:ext cx="545942" cy="182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>
            <a:off x="1488076" y="2547252"/>
            <a:ext cx="5932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/>
          <p:cNvCxnSpPr/>
          <p:nvPr/>
        </p:nvCxnSpPr>
        <p:spPr>
          <a:xfrm>
            <a:off x="1488076" y="3426823"/>
            <a:ext cx="5932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/>
          <p:nvPr/>
        </p:nvCxnSpPr>
        <p:spPr>
          <a:xfrm flipV="1">
            <a:off x="1477187" y="2582087"/>
            <a:ext cx="568217" cy="8534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/>
          <p:cNvCxnSpPr/>
          <p:nvPr/>
        </p:nvCxnSpPr>
        <p:spPr>
          <a:xfrm>
            <a:off x="1500603" y="2558139"/>
            <a:ext cx="544801" cy="8599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563875" y="3537574"/>
            <a:ext cx="586743" cy="8154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V="1">
            <a:off x="1488076" y="3457303"/>
            <a:ext cx="532313" cy="8098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/>
          <p:cNvCxnSpPr/>
          <p:nvPr/>
        </p:nvCxnSpPr>
        <p:spPr>
          <a:xfrm>
            <a:off x="2384520" y="2569019"/>
            <a:ext cx="5932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箭头连接符 96"/>
          <p:cNvCxnSpPr/>
          <p:nvPr/>
        </p:nvCxnSpPr>
        <p:spPr>
          <a:xfrm>
            <a:off x="2423142" y="3418107"/>
            <a:ext cx="5932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/>
          <p:cNvCxnSpPr/>
          <p:nvPr/>
        </p:nvCxnSpPr>
        <p:spPr>
          <a:xfrm>
            <a:off x="2423142" y="4297686"/>
            <a:ext cx="5932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/>
          <p:cNvCxnSpPr/>
          <p:nvPr/>
        </p:nvCxnSpPr>
        <p:spPr>
          <a:xfrm>
            <a:off x="3326663" y="4297686"/>
            <a:ext cx="5932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/>
          <p:cNvCxnSpPr/>
          <p:nvPr/>
        </p:nvCxnSpPr>
        <p:spPr>
          <a:xfrm>
            <a:off x="3326663" y="3457302"/>
            <a:ext cx="5932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箭头连接符 105"/>
          <p:cNvCxnSpPr/>
          <p:nvPr/>
        </p:nvCxnSpPr>
        <p:spPr>
          <a:xfrm>
            <a:off x="3326663" y="2547252"/>
            <a:ext cx="5932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/>
          <p:cNvCxnSpPr/>
          <p:nvPr/>
        </p:nvCxnSpPr>
        <p:spPr>
          <a:xfrm>
            <a:off x="4232105" y="2569019"/>
            <a:ext cx="5932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/>
          <p:cNvCxnSpPr/>
          <p:nvPr/>
        </p:nvCxnSpPr>
        <p:spPr>
          <a:xfrm>
            <a:off x="5129351" y="2534175"/>
            <a:ext cx="5932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/>
          <p:cNvCxnSpPr/>
          <p:nvPr/>
        </p:nvCxnSpPr>
        <p:spPr>
          <a:xfrm>
            <a:off x="4232105" y="3448583"/>
            <a:ext cx="5932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箭头连接符 109"/>
          <p:cNvCxnSpPr/>
          <p:nvPr/>
        </p:nvCxnSpPr>
        <p:spPr>
          <a:xfrm>
            <a:off x="4232105" y="4306383"/>
            <a:ext cx="5932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箭头连接符 112"/>
          <p:cNvCxnSpPr/>
          <p:nvPr/>
        </p:nvCxnSpPr>
        <p:spPr>
          <a:xfrm>
            <a:off x="5151124" y="3436371"/>
            <a:ext cx="5932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箭头连接符 113"/>
          <p:cNvCxnSpPr/>
          <p:nvPr/>
        </p:nvCxnSpPr>
        <p:spPr>
          <a:xfrm>
            <a:off x="5142415" y="4335588"/>
            <a:ext cx="5932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114"/>
          <p:cNvCxnSpPr/>
          <p:nvPr/>
        </p:nvCxnSpPr>
        <p:spPr>
          <a:xfrm>
            <a:off x="6078576" y="4316892"/>
            <a:ext cx="5932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115"/>
          <p:cNvCxnSpPr/>
          <p:nvPr/>
        </p:nvCxnSpPr>
        <p:spPr>
          <a:xfrm>
            <a:off x="6078576" y="3467806"/>
            <a:ext cx="5932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/>
          <p:cNvCxnSpPr/>
          <p:nvPr/>
        </p:nvCxnSpPr>
        <p:spPr>
          <a:xfrm>
            <a:off x="6078576" y="2534175"/>
            <a:ext cx="5932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/>
          <p:cNvCxnSpPr/>
          <p:nvPr/>
        </p:nvCxnSpPr>
        <p:spPr>
          <a:xfrm>
            <a:off x="7008238" y="2555957"/>
            <a:ext cx="5932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箭头连接符 118"/>
          <p:cNvCxnSpPr/>
          <p:nvPr/>
        </p:nvCxnSpPr>
        <p:spPr>
          <a:xfrm>
            <a:off x="6988631" y="3479063"/>
            <a:ext cx="5932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箭头连接符 122"/>
          <p:cNvCxnSpPr/>
          <p:nvPr/>
        </p:nvCxnSpPr>
        <p:spPr>
          <a:xfrm>
            <a:off x="6979922" y="4353006"/>
            <a:ext cx="5932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/>
          <p:cNvCxnSpPr>
            <a:endCxn id="5" idx="2"/>
          </p:cNvCxnSpPr>
          <p:nvPr/>
        </p:nvCxnSpPr>
        <p:spPr>
          <a:xfrm flipV="1">
            <a:off x="7885604" y="3400697"/>
            <a:ext cx="600899" cy="9523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箭头连接符 126"/>
          <p:cNvCxnSpPr>
            <a:endCxn id="5" idx="2"/>
          </p:cNvCxnSpPr>
          <p:nvPr/>
        </p:nvCxnSpPr>
        <p:spPr>
          <a:xfrm>
            <a:off x="7885604" y="2534175"/>
            <a:ext cx="600899" cy="8665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箭头连接符 130"/>
          <p:cNvCxnSpPr/>
          <p:nvPr/>
        </p:nvCxnSpPr>
        <p:spPr>
          <a:xfrm flipV="1">
            <a:off x="2432958" y="3435519"/>
            <a:ext cx="555186" cy="84506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箭头连接符 137"/>
          <p:cNvCxnSpPr/>
          <p:nvPr/>
        </p:nvCxnSpPr>
        <p:spPr>
          <a:xfrm flipV="1">
            <a:off x="2423142" y="2586441"/>
            <a:ext cx="593273" cy="171124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箭头连接符 148"/>
          <p:cNvCxnSpPr/>
          <p:nvPr/>
        </p:nvCxnSpPr>
        <p:spPr>
          <a:xfrm>
            <a:off x="2401354" y="2547252"/>
            <a:ext cx="565017" cy="8795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箭头连接符 154"/>
          <p:cNvCxnSpPr/>
          <p:nvPr/>
        </p:nvCxnSpPr>
        <p:spPr>
          <a:xfrm>
            <a:off x="2418743" y="3444234"/>
            <a:ext cx="565017" cy="8795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/>
          <p:cNvCxnSpPr/>
          <p:nvPr/>
        </p:nvCxnSpPr>
        <p:spPr>
          <a:xfrm>
            <a:off x="2384520" y="2551599"/>
            <a:ext cx="631895" cy="181140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V="1">
            <a:off x="2423142" y="2612571"/>
            <a:ext cx="544301" cy="7881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3326663" y="2612571"/>
            <a:ext cx="515994" cy="8142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V="1">
            <a:off x="4232105" y="2612573"/>
            <a:ext cx="568495" cy="8142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5151124" y="2547252"/>
            <a:ext cx="571500" cy="180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V="1">
            <a:off x="6078576" y="2612573"/>
            <a:ext cx="548647" cy="165462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7008238" y="2586441"/>
            <a:ext cx="564957" cy="8708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endCxn id="5" idx="2"/>
          </p:cNvCxnSpPr>
          <p:nvPr/>
        </p:nvCxnSpPr>
        <p:spPr>
          <a:xfrm flipV="1">
            <a:off x="7885604" y="3400697"/>
            <a:ext cx="600899" cy="261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箭头连接符 160"/>
          <p:cNvCxnSpPr/>
          <p:nvPr/>
        </p:nvCxnSpPr>
        <p:spPr>
          <a:xfrm flipV="1">
            <a:off x="3326663" y="3500845"/>
            <a:ext cx="515994" cy="7797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接箭头连接符 164"/>
          <p:cNvCxnSpPr/>
          <p:nvPr/>
        </p:nvCxnSpPr>
        <p:spPr>
          <a:xfrm flipV="1">
            <a:off x="3349516" y="2564353"/>
            <a:ext cx="538847" cy="8626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箭头连接符 170"/>
          <p:cNvCxnSpPr/>
          <p:nvPr/>
        </p:nvCxnSpPr>
        <p:spPr>
          <a:xfrm flipV="1">
            <a:off x="5133691" y="3508667"/>
            <a:ext cx="608506" cy="77191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接箭头连接符 171"/>
          <p:cNvCxnSpPr/>
          <p:nvPr/>
        </p:nvCxnSpPr>
        <p:spPr>
          <a:xfrm flipV="1">
            <a:off x="5151124" y="2581605"/>
            <a:ext cx="538847" cy="8626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箭头连接符 180"/>
          <p:cNvCxnSpPr/>
          <p:nvPr/>
        </p:nvCxnSpPr>
        <p:spPr>
          <a:xfrm flipV="1">
            <a:off x="6074240" y="3509383"/>
            <a:ext cx="510574" cy="7624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箭头连接符 181"/>
          <p:cNvCxnSpPr/>
          <p:nvPr/>
        </p:nvCxnSpPr>
        <p:spPr>
          <a:xfrm flipV="1">
            <a:off x="6091673" y="2572890"/>
            <a:ext cx="538847" cy="8626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箭头连接符 182"/>
          <p:cNvCxnSpPr/>
          <p:nvPr/>
        </p:nvCxnSpPr>
        <p:spPr>
          <a:xfrm flipV="1">
            <a:off x="6997281" y="3488963"/>
            <a:ext cx="556280" cy="8279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接箭头连接符 183"/>
          <p:cNvCxnSpPr/>
          <p:nvPr/>
        </p:nvCxnSpPr>
        <p:spPr>
          <a:xfrm flipV="1">
            <a:off x="7014714" y="2617911"/>
            <a:ext cx="538847" cy="8626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接箭头连接符 184"/>
          <p:cNvCxnSpPr/>
          <p:nvPr/>
        </p:nvCxnSpPr>
        <p:spPr>
          <a:xfrm flipV="1">
            <a:off x="4232911" y="3481090"/>
            <a:ext cx="515994" cy="7797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箭头连接符 185"/>
          <p:cNvCxnSpPr/>
          <p:nvPr/>
        </p:nvCxnSpPr>
        <p:spPr>
          <a:xfrm>
            <a:off x="3316117" y="2540692"/>
            <a:ext cx="631895" cy="181140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接箭头连接符 187"/>
          <p:cNvCxnSpPr/>
          <p:nvPr/>
        </p:nvCxnSpPr>
        <p:spPr>
          <a:xfrm>
            <a:off x="4213056" y="2534114"/>
            <a:ext cx="631895" cy="181140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接箭头连接符 188"/>
          <p:cNvCxnSpPr/>
          <p:nvPr/>
        </p:nvCxnSpPr>
        <p:spPr>
          <a:xfrm>
            <a:off x="6040248" y="2524180"/>
            <a:ext cx="631895" cy="181140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接箭头连接符 189"/>
          <p:cNvCxnSpPr/>
          <p:nvPr/>
        </p:nvCxnSpPr>
        <p:spPr>
          <a:xfrm>
            <a:off x="6978799" y="2605703"/>
            <a:ext cx="631895" cy="181140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接箭头连接符 190"/>
          <p:cNvCxnSpPr/>
          <p:nvPr/>
        </p:nvCxnSpPr>
        <p:spPr>
          <a:xfrm>
            <a:off x="3334144" y="3435519"/>
            <a:ext cx="565017" cy="8795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箭头连接符 191"/>
          <p:cNvCxnSpPr/>
          <p:nvPr/>
        </p:nvCxnSpPr>
        <p:spPr>
          <a:xfrm>
            <a:off x="4231830" y="3444233"/>
            <a:ext cx="565017" cy="8795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箭头连接符 192"/>
          <p:cNvCxnSpPr/>
          <p:nvPr/>
        </p:nvCxnSpPr>
        <p:spPr>
          <a:xfrm>
            <a:off x="5129351" y="3435519"/>
            <a:ext cx="565017" cy="8795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接箭头连接符 193"/>
          <p:cNvCxnSpPr/>
          <p:nvPr/>
        </p:nvCxnSpPr>
        <p:spPr>
          <a:xfrm>
            <a:off x="6053312" y="3458987"/>
            <a:ext cx="565017" cy="8795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接箭头连接符 195"/>
          <p:cNvCxnSpPr/>
          <p:nvPr/>
        </p:nvCxnSpPr>
        <p:spPr>
          <a:xfrm>
            <a:off x="7008306" y="3504711"/>
            <a:ext cx="565017" cy="8795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箭头连接符 196"/>
          <p:cNvCxnSpPr/>
          <p:nvPr/>
        </p:nvCxnSpPr>
        <p:spPr>
          <a:xfrm flipV="1">
            <a:off x="5129223" y="2524181"/>
            <a:ext cx="560748" cy="176479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接箭头连接符 200"/>
          <p:cNvCxnSpPr/>
          <p:nvPr/>
        </p:nvCxnSpPr>
        <p:spPr>
          <a:xfrm flipV="1">
            <a:off x="6992813" y="2558447"/>
            <a:ext cx="560748" cy="176479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箭头连接符 201"/>
          <p:cNvCxnSpPr/>
          <p:nvPr/>
        </p:nvCxnSpPr>
        <p:spPr>
          <a:xfrm flipV="1">
            <a:off x="3309076" y="2515490"/>
            <a:ext cx="560748" cy="176479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箭头连接符 202"/>
          <p:cNvCxnSpPr/>
          <p:nvPr/>
        </p:nvCxnSpPr>
        <p:spPr>
          <a:xfrm flipV="1">
            <a:off x="4250624" y="2558447"/>
            <a:ext cx="560748" cy="176479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接箭头连接符 204"/>
          <p:cNvCxnSpPr/>
          <p:nvPr/>
        </p:nvCxnSpPr>
        <p:spPr>
          <a:xfrm>
            <a:off x="5151373" y="2551821"/>
            <a:ext cx="600899" cy="8665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接箭头连接符 205"/>
          <p:cNvCxnSpPr/>
          <p:nvPr/>
        </p:nvCxnSpPr>
        <p:spPr>
          <a:xfrm>
            <a:off x="6083294" y="2569920"/>
            <a:ext cx="600899" cy="8665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箭头连接符 206"/>
          <p:cNvCxnSpPr/>
          <p:nvPr/>
        </p:nvCxnSpPr>
        <p:spPr>
          <a:xfrm>
            <a:off x="4227878" y="2568999"/>
            <a:ext cx="600899" cy="8665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曲线连接符 211"/>
          <p:cNvCxnSpPr/>
          <p:nvPr/>
        </p:nvCxnSpPr>
        <p:spPr>
          <a:xfrm rot="16200000" flipH="1">
            <a:off x="5825822" y="1880902"/>
            <a:ext cx="711445" cy="404398"/>
          </a:xfrm>
          <a:prstGeom prst="curvedConnector3">
            <a:avLst/>
          </a:prstGeom>
          <a:ln w="38100">
            <a:solidFill>
              <a:srgbClr val="119F1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Text Box 16"/>
          <p:cNvSpPr txBox="1">
            <a:spLocks noChangeArrowheads="1"/>
          </p:cNvSpPr>
          <p:nvPr/>
        </p:nvSpPr>
        <p:spPr bwMode="auto">
          <a:xfrm>
            <a:off x="1295169" y="5468510"/>
            <a:ext cx="543739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dirty="0"/>
              <a:t>求</a:t>
            </a:r>
            <a:endParaRPr lang="zh-CN" altLang="en-US" sz="2800" dirty="0"/>
          </a:p>
        </p:txBody>
      </p:sp>
      <p:sp>
        <p:nvSpPr>
          <p:cNvPr id="216" name="Text Box 18"/>
          <p:cNvSpPr txBox="1">
            <a:spLocks noChangeArrowheads="1"/>
          </p:cNvSpPr>
          <p:nvPr/>
        </p:nvSpPr>
        <p:spPr bwMode="auto">
          <a:xfrm>
            <a:off x="5087681" y="5409297"/>
            <a:ext cx="902811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dirty="0"/>
              <a:t>最小</a:t>
            </a:r>
            <a:endParaRPr lang="zh-CN" alt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1754761" y="5094535"/>
                <a:ext cx="3429913" cy="1176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4761" y="5094535"/>
                <a:ext cx="3429913" cy="1176219"/>
              </a:xfrm>
              <a:prstGeom prst="rect">
                <a:avLst/>
              </a:prstGeom>
              <a:blipFill rotWithShape="1">
                <a:blip r:embed="rId1"/>
                <a:stretch>
                  <a:fillRect l="-7" t="-48" r="-799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4633814" y="1047351"/>
                <a:ext cx="283423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kumimoji="1" lang="en-US" altLang="zh-CN" sz="280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3814" y="1047351"/>
                <a:ext cx="2834237" cy="430887"/>
              </a:xfrm>
              <a:prstGeom prst="rect">
                <a:avLst/>
              </a:prstGeom>
              <a:blipFill rotWithShape="1">
                <a:blip r:embed="rId2"/>
                <a:stretch>
                  <a:fillRect l="-8" t="-55" r="-701" b="1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" grpId="0"/>
      <p:bldP spid="216" grpId="0"/>
      <p:bldP spid="6" grpId="0"/>
      <p:bldP spid="9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sz="3200" b="1" dirty="0"/>
              <a:t>概率的计算（语言模型）</a:t>
            </a:r>
            <a:endParaRPr lang="en-US" altLang="zh-CN" sz="3200" b="1" dirty="0"/>
          </a:p>
          <a:p>
            <a:endParaRPr lang="en-US" altLang="zh-CN" sz="3200" b="1" dirty="0"/>
          </a:p>
          <a:p>
            <a:endParaRPr lang="en-US" altLang="zh-CN" sz="3200" b="1" dirty="0"/>
          </a:p>
          <a:p>
            <a:endParaRPr lang="en-US" altLang="zh-CN" sz="3200" b="1" dirty="0"/>
          </a:p>
          <a:p>
            <a:r>
              <a:rPr lang="zh-CN" altLang="en-US" sz="3200" b="1" dirty="0"/>
              <a:t>平滑</a:t>
            </a:r>
            <a:endParaRPr lang="en-US" altLang="zh-CN" sz="3200" b="1" dirty="0"/>
          </a:p>
          <a:p>
            <a:pPr lvl="1">
              <a:buNone/>
            </a:pPr>
            <a:r>
              <a:rPr lang="zh-CN" altLang="en-US" sz="2800" b="1" dirty="0"/>
              <a:t>  解决                      可能为</a:t>
            </a:r>
            <a:r>
              <a:rPr lang="en-US" altLang="zh-CN" sz="2800" b="1" dirty="0"/>
              <a:t>0</a:t>
            </a:r>
            <a:r>
              <a:rPr lang="zh-CN" altLang="en-US" sz="2800" b="1" dirty="0"/>
              <a:t>的问题，有很多种方法，其中一种简单的方法：</a:t>
            </a:r>
            <a:endParaRPr lang="zh-CN" altLang="en-US"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8"/>
              <p:cNvSpPr txBox="1"/>
              <p:nvPr/>
            </p:nvSpPr>
            <p:spPr bwMode="auto">
              <a:xfrm>
                <a:off x="1579563" y="2008188"/>
                <a:ext cx="4808537" cy="1058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同现的次数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zh-CN" altLang="en-U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出现的次数</m:t>
                          </m:r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4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79563" y="2008188"/>
                <a:ext cx="4808537" cy="1058862"/>
              </a:xfrm>
              <a:prstGeom prst="rect">
                <a:avLst/>
              </a:prstGeom>
              <a:blipFill rotWithShape="1">
                <a:blip r:embed="rId1"/>
                <a:stretch>
                  <a:fillRect l="-7" t="-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8003" name="Object 8"/>
          <p:cNvGraphicFramePr>
            <a:graphicFrameLocks noChangeAspect="1"/>
          </p:cNvGraphicFramePr>
          <p:nvPr/>
        </p:nvGraphicFramePr>
        <p:xfrm>
          <a:off x="2263302" y="4230297"/>
          <a:ext cx="1705031" cy="5249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公式" r:id="rId2" imgW="23164800" imgH="7315200" progId="Equation.3">
                  <p:embed/>
                </p:oleObj>
              </mc:Choice>
              <mc:Fallback>
                <p:oleObj name="公式" r:id="rId2" imgW="23164800" imgH="7315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3302" y="4230297"/>
                        <a:ext cx="1705031" cy="5249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1318355" y="5410200"/>
                <a:ext cx="691124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8355" y="5410200"/>
                <a:ext cx="6911245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1" b="1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4768953" y="3421619"/>
            <a:ext cx="2944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语料中没见过的词怎么办</a:t>
            </a:r>
            <a:r>
              <a:rPr lang="zh-CN" altLang="en-US" dirty="0">
                <a:solidFill>
                  <a:srgbClr val="FF0000"/>
                </a:solidFill>
              </a:rPr>
              <a:t>？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8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sz="3200" b="1" dirty="0"/>
              <a:t>概率的计算（语言模型）</a:t>
            </a:r>
            <a:endParaRPr lang="en-US" altLang="zh-CN" sz="3200" b="1" dirty="0"/>
          </a:p>
          <a:p>
            <a:endParaRPr lang="en-US" altLang="zh-CN" sz="3200" b="1" dirty="0"/>
          </a:p>
          <a:p>
            <a:endParaRPr lang="en-US" altLang="zh-CN" sz="3200" b="1" dirty="0"/>
          </a:p>
          <a:p>
            <a:r>
              <a:rPr lang="zh-CN" altLang="en-US" sz="3200" b="1" dirty="0"/>
              <a:t>大语言模型呢？</a:t>
            </a:r>
            <a:endParaRPr lang="en-US" altLang="zh-CN" sz="3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8"/>
              <p:cNvSpPr txBox="1"/>
              <p:nvPr/>
            </p:nvSpPr>
            <p:spPr bwMode="auto">
              <a:xfrm>
                <a:off x="1579563" y="2008188"/>
                <a:ext cx="4808537" cy="1058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同现的次数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zh-CN" altLang="en-U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出现的次数</m:t>
                          </m:r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4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79563" y="2008188"/>
                <a:ext cx="4808537" cy="1058862"/>
              </a:xfrm>
              <a:prstGeom prst="rect">
                <a:avLst/>
              </a:prstGeom>
              <a:blipFill rotWithShape="1">
                <a:blip r:embed="rId1"/>
                <a:stretch>
                  <a:fillRect l="-7" t="-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 descr="Paper Walkthrough: Bidirectional Encoder Representations from Transformers  (BERT)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826"/>
          <a:stretch>
            <a:fillRect/>
          </a:stretch>
        </p:blipFill>
        <p:spPr bwMode="auto">
          <a:xfrm>
            <a:off x="2223477" y="3828290"/>
            <a:ext cx="4697046" cy="2751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/>
          <p:cNvGrpSpPr/>
          <p:nvPr/>
        </p:nvGrpSpPr>
        <p:grpSpPr>
          <a:xfrm>
            <a:off x="6388100" y="2671482"/>
            <a:ext cx="2963863" cy="1268637"/>
            <a:chOff x="6388100" y="2671482"/>
            <a:chExt cx="2963863" cy="1268637"/>
          </a:xfrm>
        </p:grpSpPr>
        <p:sp>
          <p:nvSpPr>
            <p:cNvPr id="7" name="TextBox 6"/>
            <p:cNvSpPr txBox="1"/>
            <p:nvPr/>
          </p:nvSpPr>
          <p:spPr>
            <a:xfrm>
              <a:off x="7236292" y="2994213"/>
              <a:ext cx="21156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err="1">
                  <a:solidFill>
                    <a:srgbClr val="FF0000"/>
                  </a:solidFill>
                </a:rPr>
                <a:t>最大似然估计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cxnSp>
          <p:nvCxnSpPr>
            <p:cNvPr id="9" name="Straight Arrow Connector 8"/>
            <p:cNvCxnSpPr>
              <a:stCxn id="7" idx="1"/>
            </p:cNvCxnSpPr>
            <p:nvPr/>
          </p:nvCxnSpPr>
          <p:spPr>
            <a:xfrm flipH="1" flipV="1">
              <a:off x="6388100" y="2671482"/>
              <a:ext cx="848192" cy="50739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>
              <a:stCxn id="7" idx="1"/>
            </p:cNvCxnSpPr>
            <p:nvPr/>
          </p:nvCxnSpPr>
          <p:spPr>
            <a:xfrm flipH="1">
              <a:off x="6812196" y="3178879"/>
              <a:ext cx="424096" cy="76124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/>
          <p:cNvSpPr txBox="1"/>
          <p:nvPr/>
        </p:nvSpPr>
        <p:spPr>
          <a:xfrm>
            <a:off x="3090864" y="518080"/>
            <a:ext cx="32972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背后的参数化方式不同</a:t>
            </a:r>
            <a:r>
              <a:rPr lang="zh-CN" altLang="en-US" b="1" dirty="0">
                <a:solidFill>
                  <a:srgbClr val="FF0000"/>
                </a:solidFill>
              </a:rPr>
              <a:t>：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sz="2400" b="1" dirty="0">
                <a:solidFill>
                  <a:srgbClr val="FF0000"/>
                </a:solidFill>
              </a:rPr>
              <a:t>样本空间 </a:t>
            </a:r>
            <a:r>
              <a:rPr lang="en-US" altLang="zh-CN" sz="2400" b="1" dirty="0">
                <a:solidFill>
                  <a:srgbClr val="FF0000"/>
                </a:solidFill>
              </a:rPr>
              <a:t>vs</a:t>
            </a:r>
            <a:r>
              <a:rPr lang="zh-CN" altLang="en-US" sz="2400" b="1" dirty="0">
                <a:solidFill>
                  <a:srgbClr val="FF0000"/>
                </a:solidFill>
              </a:rPr>
              <a:t> 表征空间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编程作业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sz="3200" dirty="0"/>
              <a:t>编程实现拼音输入法，具体见网络学堂。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蛮力搜索</a:t>
            </a:r>
            <a:endParaRPr lang="en-US" altLang="zh-CN" sz="3200" dirty="0"/>
          </a:p>
          <a:p>
            <a:pPr lvl="1"/>
            <a:r>
              <a:rPr lang="zh-CN" altLang="en-US" sz="2800" dirty="0"/>
              <a:t>深度优先</a:t>
            </a:r>
            <a:endParaRPr lang="en-US" altLang="zh-CN" sz="2800" dirty="0"/>
          </a:p>
          <a:p>
            <a:pPr lvl="1"/>
            <a:r>
              <a:rPr lang="zh-CN" altLang="en-US" sz="2800" dirty="0"/>
              <a:t>宽度优先</a:t>
            </a:r>
            <a:endParaRPr lang="en-US" altLang="zh-CN" sz="3200" dirty="0"/>
          </a:p>
          <a:p>
            <a:r>
              <a:rPr lang="zh-CN" altLang="en-US" sz="3200" dirty="0"/>
              <a:t>启发式搜索</a:t>
            </a:r>
            <a:endParaRPr lang="en-US" altLang="zh-CN" sz="3200" dirty="0"/>
          </a:p>
          <a:p>
            <a:pPr lvl="1"/>
            <a:r>
              <a:rPr lang="en-US" altLang="zh-CN" sz="2800" dirty="0"/>
              <a:t>A</a:t>
            </a:r>
            <a:r>
              <a:rPr lang="zh-CN" altLang="en-US" sz="2800" dirty="0"/>
              <a:t>算法</a:t>
            </a:r>
            <a:endParaRPr lang="en-US" altLang="zh-CN" sz="2800" dirty="0"/>
          </a:p>
          <a:p>
            <a:pPr lvl="1"/>
            <a:r>
              <a:rPr lang="en-US" altLang="zh-CN" sz="2800" dirty="0"/>
              <a:t>A</a:t>
            </a:r>
            <a:r>
              <a:rPr lang="zh-CN" altLang="en-US" sz="2800" dirty="0"/>
              <a:t>*算法</a:t>
            </a:r>
            <a:endParaRPr lang="en-US" altLang="zh-CN" sz="2800" dirty="0"/>
          </a:p>
          <a:p>
            <a:pPr lvl="1"/>
            <a:r>
              <a:rPr lang="zh-CN" altLang="en-US" sz="2800" dirty="0"/>
              <a:t>改进的</a:t>
            </a:r>
            <a:r>
              <a:rPr lang="en-US" altLang="zh-CN" sz="2800" dirty="0"/>
              <a:t>A</a:t>
            </a:r>
            <a:r>
              <a:rPr lang="zh-CN" altLang="en-US" sz="2800" dirty="0"/>
              <a:t>*算法</a:t>
            </a:r>
            <a:endParaRPr lang="en-US" altLang="zh-CN" sz="2800" dirty="0"/>
          </a:p>
          <a:p>
            <a:r>
              <a:rPr lang="zh-CN" altLang="en-US" sz="3200" dirty="0"/>
              <a:t>动态规划</a:t>
            </a:r>
            <a:endParaRPr lang="en-US" altLang="zh-CN" sz="3200" dirty="0"/>
          </a:p>
          <a:p>
            <a:pPr lvl="1"/>
            <a:r>
              <a:rPr lang="en-US" altLang="zh-CN" sz="2800" dirty="0" err="1"/>
              <a:t>viterbi</a:t>
            </a:r>
            <a:r>
              <a:rPr lang="zh-CN" altLang="en-US" sz="2800" dirty="0"/>
              <a:t>算法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搜索问题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914400" y="1755058"/>
            <a:ext cx="7772400" cy="4264742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问题举例：</a:t>
            </a:r>
            <a:endParaRPr lang="en-US" altLang="zh-CN" sz="3200" b="1" dirty="0"/>
          </a:p>
          <a:p>
            <a:pPr lvl="1"/>
            <a:r>
              <a:rPr lang="zh-CN" altLang="en-US" sz="2800" b="1" dirty="0"/>
              <a:t>地图路径</a:t>
            </a:r>
            <a:endParaRPr lang="en-US" altLang="zh-CN" sz="2800" b="1" dirty="0"/>
          </a:p>
          <a:p>
            <a:pPr lvl="1"/>
            <a:r>
              <a:rPr lang="zh-CN" altLang="en-US" sz="2800" b="1" dirty="0"/>
              <a:t>传教士和野人问题</a:t>
            </a:r>
            <a:endParaRPr lang="en-US" altLang="zh-CN" sz="2800" b="1" dirty="0"/>
          </a:p>
          <a:p>
            <a:pPr lvl="1"/>
            <a:r>
              <a:rPr lang="zh-CN" altLang="en-US" sz="2800" b="1" dirty="0"/>
              <a:t>华容道问题</a:t>
            </a:r>
            <a:endParaRPr lang="en-US" altLang="zh-CN" sz="2800" b="1" dirty="0"/>
          </a:p>
          <a:p>
            <a:pPr lvl="1"/>
            <a:r>
              <a:rPr lang="zh-CN" altLang="en-US" sz="2800" b="1" dirty="0"/>
              <a:t>八皇后问题</a:t>
            </a:r>
            <a:endParaRPr lang="zh-CN" altLang="en-US" sz="28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272" y="4114541"/>
            <a:ext cx="2640227" cy="264022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108" y="4358073"/>
            <a:ext cx="2153164" cy="215316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6299" y="4466966"/>
            <a:ext cx="2580501" cy="1935376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搜索问题</a:t>
            </a:r>
            <a:endParaRPr lang="zh-CN" altLang="en-US" dirty="0"/>
          </a:p>
        </p:txBody>
      </p:sp>
      <p:grpSp>
        <p:nvGrpSpPr>
          <p:cNvPr id="134146" name="Group 2"/>
          <p:cNvGrpSpPr/>
          <p:nvPr/>
        </p:nvGrpSpPr>
        <p:grpSpPr bwMode="auto">
          <a:xfrm>
            <a:off x="2597149" y="1918571"/>
            <a:ext cx="4850785" cy="4157763"/>
            <a:chOff x="3240" y="3060"/>
            <a:chExt cx="4770" cy="4620"/>
          </a:xfrm>
        </p:grpSpPr>
        <p:sp>
          <p:nvSpPr>
            <p:cNvPr id="134147" name="AutoShape 3"/>
            <p:cNvSpPr>
              <a:spLocks noChangeArrowheads="1"/>
            </p:cNvSpPr>
            <p:nvPr/>
          </p:nvSpPr>
          <p:spPr bwMode="auto">
            <a:xfrm>
              <a:off x="3240" y="3555"/>
              <a:ext cx="3060" cy="3495"/>
            </a:xfrm>
            <a:prstGeom prst="flowChartExtract">
              <a:avLst/>
            </a:prstGeom>
            <a:noFill/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4148" name="Freeform 4"/>
            <p:cNvSpPr/>
            <p:nvPr/>
          </p:nvSpPr>
          <p:spPr bwMode="auto">
            <a:xfrm>
              <a:off x="3780" y="3585"/>
              <a:ext cx="990" cy="3465"/>
            </a:xfrm>
            <a:custGeom>
              <a:avLst/>
              <a:gdLst/>
              <a:ahLst/>
              <a:cxnLst>
                <a:cxn ang="0">
                  <a:pos x="990" y="0"/>
                </a:cxn>
                <a:cxn ang="0">
                  <a:pos x="840" y="630"/>
                </a:cxn>
                <a:cxn ang="0">
                  <a:pos x="825" y="975"/>
                </a:cxn>
                <a:cxn ang="0">
                  <a:pos x="810" y="1500"/>
                </a:cxn>
                <a:cxn ang="0">
                  <a:pos x="660" y="1785"/>
                </a:cxn>
                <a:cxn ang="0">
                  <a:pos x="390" y="2055"/>
                </a:cxn>
                <a:cxn ang="0">
                  <a:pos x="435" y="2535"/>
                </a:cxn>
                <a:cxn ang="0">
                  <a:pos x="360" y="3030"/>
                </a:cxn>
                <a:cxn ang="0">
                  <a:pos x="0" y="3465"/>
                </a:cxn>
              </a:cxnLst>
              <a:rect l="0" t="0" r="r" b="b"/>
              <a:pathLst>
                <a:path w="990" h="3465">
                  <a:moveTo>
                    <a:pt x="990" y="0"/>
                  </a:moveTo>
                  <a:lnTo>
                    <a:pt x="840" y="630"/>
                  </a:lnTo>
                  <a:lnTo>
                    <a:pt x="825" y="975"/>
                  </a:lnTo>
                  <a:lnTo>
                    <a:pt x="810" y="1500"/>
                  </a:lnTo>
                  <a:lnTo>
                    <a:pt x="660" y="1785"/>
                  </a:lnTo>
                  <a:lnTo>
                    <a:pt x="390" y="2055"/>
                  </a:lnTo>
                  <a:lnTo>
                    <a:pt x="435" y="2535"/>
                  </a:lnTo>
                  <a:lnTo>
                    <a:pt x="360" y="3030"/>
                  </a:lnTo>
                  <a:lnTo>
                    <a:pt x="0" y="3465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4149" name="Freeform 5"/>
            <p:cNvSpPr/>
            <p:nvPr/>
          </p:nvSpPr>
          <p:spPr bwMode="auto">
            <a:xfrm>
              <a:off x="4770" y="3600"/>
              <a:ext cx="870" cy="34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5" y="465"/>
                </a:cxn>
                <a:cxn ang="0">
                  <a:pos x="195" y="975"/>
                </a:cxn>
                <a:cxn ang="0">
                  <a:pos x="285" y="1605"/>
                </a:cxn>
                <a:cxn ang="0">
                  <a:pos x="435" y="2280"/>
                </a:cxn>
                <a:cxn ang="0">
                  <a:pos x="705" y="2775"/>
                </a:cxn>
                <a:cxn ang="0">
                  <a:pos x="810" y="3180"/>
                </a:cxn>
                <a:cxn ang="0">
                  <a:pos x="870" y="3450"/>
                </a:cxn>
              </a:cxnLst>
              <a:rect l="0" t="0" r="r" b="b"/>
              <a:pathLst>
                <a:path w="870" h="3450">
                  <a:moveTo>
                    <a:pt x="0" y="0"/>
                  </a:moveTo>
                  <a:lnTo>
                    <a:pt x="45" y="465"/>
                  </a:lnTo>
                  <a:lnTo>
                    <a:pt x="195" y="975"/>
                  </a:lnTo>
                  <a:lnTo>
                    <a:pt x="285" y="1605"/>
                  </a:lnTo>
                  <a:lnTo>
                    <a:pt x="435" y="2280"/>
                  </a:lnTo>
                  <a:lnTo>
                    <a:pt x="705" y="2775"/>
                  </a:lnTo>
                  <a:lnTo>
                    <a:pt x="810" y="3180"/>
                  </a:lnTo>
                  <a:lnTo>
                    <a:pt x="870" y="345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4150" name="Freeform 6"/>
            <p:cNvSpPr/>
            <p:nvPr/>
          </p:nvSpPr>
          <p:spPr bwMode="auto">
            <a:xfrm>
              <a:off x="4530" y="3555"/>
              <a:ext cx="585" cy="3495"/>
            </a:xfrm>
            <a:custGeom>
              <a:avLst/>
              <a:gdLst/>
              <a:ahLst/>
              <a:cxnLst>
                <a:cxn ang="0">
                  <a:pos x="240" y="0"/>
                </a:cxn>
                <a:cxn ang="0">
                  <a:pos x="180" y="720"/>
                </a:cxn>
                <a:cxn ang="0">
                  <a:pos x="345" y="1185"/>
                </a:cxn>
                <a:cxn ang="0">
                  <a:pos x="45" y="1905"/>
                </a:cxn>
                <a:cxn ang="0">
                  <a:pos x="585" y="2865"/>
                </a:cxn>
                <a:cxn ang="0">
                  <a:pos x="0" y="3495"/>
                </a:cxn>
              </a:cxnLst>
              <a:rect l="0" t="0" r="r" b="b"/>
              <a:pathLst>
                <a:path w="585" h="3495">
                  <a:moveTo>
                    <a:pt x="240" y="0"/>
                  </a:moveTo>
                  <a:lnTo>
                    <a:pt x="180" y="720"/>
                  </a:lnTo>
                  <a:lnTo>
                    <a:pt x="345" y="1185"/>
                  </a:lnTo>
                  <a:lnTo>
                    <a:pt x="45" y="1905"/>
                  </a:lnTo>
                  <a:lnTo>
                    <a:pt x="585" y="2865"/>
                  </a:lnTo>
                  <a:lnTo>
                    <a:pt x="0" y="3495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dash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34151" name="Line 7"/>
            <p:cNvSpPr>
              <a:spLocks noChangeShapeType="1"/>
            </p:cNvSpPr>
            <p:nvPr/>
          </p:nvSpPr>
          <p:spPr bwMode="auto">
            <a:xfrm flipV="1">
              <a:off x="5010" y="6705"/>
              <a:ext cx="54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4152" name="Line 8"/>
            <p:cNvSpPr>
              <a:spLocks noChangeShapeType="1"/>
            </p:cNvSpPr>
            <p:nvPr/>
          </p:nvSpPr>
          <p:spPr bwMode="auto">
            <a:xfrm flipV="1">
              <a:off x="4635" y="6420"/>
              <a:ext cx="870" cy="6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4153" name="Line 9"/>
            <p:cNvSpPr>
              <a:spLocks noChangeShapeType="1"/>
            </p:cNvSpPr>
            <p:nvPr/>
          </p:nvSpPr>
          <p:spPr bwMode="auto">
            <a:xfrm flipV="1">
              <a:off x="4260" y="6225"/>
              <a:ext cx="1140" cy="8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4154" name="Line 10"/>
            <p:cNvSpPr>
              <a:spLocks noChangeShapeType="1"/>
            </p:cNvSpPr>
            <p:nvPr/>
          </p:nvSpPr>
          <p:spPr bwMode="auto">
            <a:xfrm flipV="1">
              <a:off x="3930" y="6060"/>
              <a:ext cx="1350" cy="9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4155" name="Line 11"/>
            <p:cNvSpPr>
              <a:spLocks noChangeShapeType="1"/>
            </p:cNvSpPr>
            <p:nvPr/>
          </p:nvSpPr>
          <p:spPr bwMode="auto">
            <a:xfrm flipV="1">
              <a:off x="4155" y="5880"/>
              <a:ext cx="1065" cy="7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4156" name="Line 12"/>
            <p:cNvSpPr>
              <a:spLocks noChangeShapeType="1"/>
            </p:cNvSpPr>
            <p:nvPr/>
          </p:nvSpPr>
          <p:spPr bwMode="auto">
            <a:xfrm flipV="1">
              <a:off x="4185" y="5655"/>
              <a:ext cx="975" cy="6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4157" name="Line 13"/>
            <p:cNvSpPr>
              <a:spLocks noChangeShapeType="1"/>
            </p:cNvSpPr>
            <p:nvPr/>
          </p:nvSpPr>
          <p:spPr bwMode="auto">
            <a:xfrm flipV="1">
              <a:off x="4215" y="5355"/>
              <a:ext cx="855" cy="6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4158" name="Line 14"/>
            <p:cNvSpPr>
              <a:spLocks noChangeShapeType="1"/>
            </p:cNvSpPr>
            <p:nvPr/>
          </p:nvSpPr>
          <p:spPr bwMode="auto">
            <a:xfrm flipV="1">
              <a:off x="4185" y="5085"/>
              <a:ext cx="840" cy="6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4159" name="Line 15"/>
            <p:cNvSpPr>
              <a:spLocks noChangeShapeType="1"/>
            </p:cNvSpPr>
            <p:nvPr/>
          </p:nvSpPr>
          <p:spPr bwMode="auto">
            <a:xfrm flipV="1">
              <a:off x="4545" y="4770"/>
              <a:ext cx="450" cy="40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4160" name="Line 16"/>
            <p:cNvSpPr>
              <a:spLocks noChangeShapeType="1"/>
            </p:cNvSpPr>
            <p:nvPr/>
          </p:nvSpPr>
          <p:spPr bwMode="auto">
            <a:xfrm flipV="1">
              <a:off x="4605" y="4500"/>
              <a:ext cx="330" cy="31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4161" name="Line 17"/>
            <p:cNvSpPr>
              <a:spLocks noChangeShapeType="1"/>
            </p:cNvSpPr>
            <p:nvPr/>
          </p:nvSpPr>
          <p:spPr bwMode="auto">
            <a:xfrm flipV="1">
              <a:off x="4620" y="4215"/>
              <a:ext cx="225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4162" name="Line 18"/>
            <p:cNvSpPr>
              <a:spLocks noChangeShapeType="1"/>
            </p:cNvSpPr>
            <p:nvPr/>
          </p:nvSpPr>
          <p:spPr bwMode="auto">
            <a:xfrm flipV="1">
              <a:off x="4650" y="3945"/>
              <a:ext cx="150" cy="1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4163" name="Oval 19"/>
            <p:cNvSpPr>
              <a:spLocks noChangeArrowheads="1"/>
            </p:cNvSpPr>
            <p:nvPr/>
          </p:nvSpPr>
          <p:spPr bwMode="auto">
            <a:xfrm>
              <a:off x="4485" y="6960"/>
              <a:ext cx="143" cy="14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4164" name="Oval 20"/>
            <p:cNvSpPr>
              <a:spLocks noChangeArrowheads="1"/>
            </p:cNvSpPr>
            <p:nvPr/>
          </p:nvSpPr>
          <p:spPr bwMode="auto">
            <a:xfrm>
              <a:off x="5025" y="6330"/>
              <a:ext cx="143" cy="14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4165" name="Oval 21"/>
            <p:cNvSpPr>
              <a:spLocks noChangeArrowheads="1"/>
            </p:cNvSpPr>
            <p:nvPr/>
          </p:nvSpPr>
          <p:spPr bwMode="auto">
            <a:xfrm>
              <a:off x="4515" y="5370"/>
              <a:ext cx="143" cy="14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4166" name="Oval 22"/>
            <p:cNvSpPr>
              <a:spLocks noChangeArrowheads="1"/>
            </p:cNvSpPr>
            <p:nvPr/>
          </p:nvSpPr>
          <p:spPr bwMode="auto">
            <a:xfrm>
              <a:off x="4815" y="4650"/>
              <a:ext cx="143" cy="14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4167" name="Oval 23"/>
            <p:cNvSpPr>
              <a:spLocks noChangeArrowheads="1"/>
            </p:cNvSpPr>
            <p:nvPr/>
          </p:nvSpPr>
          <p:spPr bwMode="auto">
            <a:xfrm>
              <a:off x="4650" y="4140"/>
              <a:ext cx="143" cy="14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4168" name="Text Box 24"/>
            <p:cNvSpPr txBox="1">
              <a:spLocks noChangeArrowheads="1"/>
            </p:cNvSpPr>
            <p:nvPr/>
          </p:nvSpPr>
          <p:spPr bwMode="auto">
            <a:xfrm>
              <a:off x="4455" y="3060"/>
              <a:ext cx="795" cy="48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S</a:t>
              </a:r>
              <a:r>
                <a:rPr kumimoji="0" lang="en-US" altLang="zh-CN" b="1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0</a:t>
              </a:r>
              <a:endParaRPr kumimoji="0" lang="zh-CN" altLang="zh-CN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34169" name="AutoShape 25"/>
            <p:cNvSpPr>
              <a:spLocks noChangeArrowheads="1"/>
            </p:cNvSpPr>
            <p:nvPr/>
          </p:nvSpPr>
          <p:spPr bwMode="auto">
            <a:xfrm>
              <a:off x="6150" y="3585"/>
              <a:ext cx="1860" cy="450"/>
            </a:xfrm>
            <a:prstGeom prst="wedgeRectCallout">
              <a:avLst>
                <a:gd name="adj1" fmla="val -105644"/>
                <a:gd name="adj2" fmla="val 173333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问题全状态空间</a:t>
              </a:r>
              <a:endParaRPr kumimoji="0" lang="zh-CN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34170" name="AutoShape 26"/>
            <p:cNvSpPr>
              <a:spLocks noChangeArrowheads="1"/>
            </p:cNvSpPr>
            <p:nvPr/>
          </p:nvSpPr>
          <p:spPr bwMode="auto">
            <a:xfrm>
              <a:off x="5940" y="4425"/>
              <a:ext cx="1260" cy="450"/>
            </a:xfrm>
            <a:prstGeom prst="wedgeRectCallout">
              <a:avLst>
                <a:gd name="adj1" fmla="val -132144"/>
                <a:gd name="adj2" fmla="val 173333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搜索空间</a:t>
              </a:r>
              <a:endParaRPr kumimoji="0" lang="zh-CN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34171" name="AutoShape 27"/>
            <p:cNvSpPr>
              <a:spLocks noChangeArrowheads="1"/>
            </p:cNvSpPr>
            <p:nvPr/>
          </p:nvSpPr>
          <p:spPr bwMode="auto">
            <a:xfrm>
              <a:off x="6000" y="5130"/>
              <a:ext cx="1260" cy="450"/>
            </a:xfrm>
            <a:prstGeom prst="wedgeRectCallout">
              <a:avLst>
                <a:gd name="adj1" fmla="val -132144"/>
                <a:gd name="adj2" fmla="val 173333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解路径</a:t>
              </a:r>
              <a:endParaRPr kumimoji="0" lang="zh-CN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34172" name="Text Box 28"/>
            <p:cNvSpPr txBox="1">
              <a:spLocks noChangeArrowheads="1"/>
            </p:cNvSpPr>
            <p:nvPr/>
          </p:nvSpPr>
          <p:spPr bwMode="auto">
            <a:xfrm>
              <a:off x="4170" y="7200"/>
              <a:ext cx="795" cy="48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S</a:t>
              </a:r>
              <a:r>
                <a:rPr kumimoji="0" lang="en-US" altLang="zh-CN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g</a:t>
              </a:r>
              <a:endParaRPr kumimoji="0" lang="zh-CN" altLang="zh-CN" sz="4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以传教士与野人问题为例探索</a:t>
            </a:r>
            <a:r>
              <a:rPr lang="en-US" altLang="zh-CN" dirty="0"/>
              <a:t>h</a:t>
            </a:r>
            <a:r>
              <a:rPr lang="zh-CN" altLang="en-US" dirty="0"/>
              <a:t>函数</a:t>
            </a:r>
            <a:endParaRPr lang="zh-CN" altLang="en-US" dirty="0"/>
          </a:p>
        </p:txBody>
      </p:sp>
      <p:sp>
        <p:nvSpPr>
          <p:cNvPr id="17412" name="内容占位符 2"/>
          <p:cNvSpPr>
            <a:spLocks noGrp="1"/>
          </p:cNvSpPr>
          <p:nvPr>
            <p:ph idx="1"/>
          </p:nvPr>
        </p:nvSpPr>
        <p:spPr>
          <a:xfrm>
            <a:off x="914400" y="3869633"/>
            <a:ext cx="7772400" cy="2335696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思路：放宽约束条件，在宽约束条件下得到一个估计值。</a:t>
            </a:r>
            <a:endParaRPr lang="en-US" altLang="zh-CN" sz="3200" b="1" dirty="0"/>
          </a:p>
          <a:p>
            <a:r>
              <a:rPr lang="zh-CN" altLang="en-US" sz="3200" b="1" dirty="0"/>
              <a:t>假设只有乘船人数的约束没有其他约束</a:t>
            </a:r>
            <a:endParaRPr lang="en-US" altLang="zh-CN" sz="3200" b="1" dirty="0"/>
          </a:p>
          <a:p>
            <a:r>
              <a:rPr lang="zh-CN" altLang="en-US" sz="3200" b="1" dirty="0"/>
              <a:t>从左岸到右岸至少需要的摆渡次数：</a:t>
            </a:r>
            <a:endParaRPr lang="zh-CN" altLang="en-US" sz="3200" b="1" dirty="0"/>
          </a:p>
        </p:txBody>
      </p:sp>
      <p:sp>
        <p:nvSpPr>
          <p:cNvPr id="1741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72425FB-73BB-4EAA-B82E-79694CE9CB95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174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41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824566" y="1745112"/>
            <a:ext cx="595206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dirty="0"/>
              <a:t>假设左岸现在有：</a:t>
            </a:r>
            <a:r>
              <a:rPr kumimoji="1" lang="en-US" altLang="zh-CN" sz="2400" dirty="0"/>
              <a:t>M</a:t>
            </a:r>
            <a:r>
              <a:rPr kumimoji="1" lang="zh-CN" altLang="en-US" sz="2400" dirty="0"/>
              <a:t>个传教士，</a:t>
            </a:r>
            <a:r>
              <a:rPr kumimoji="1" lang="en-US" altLang="zh-CN" sz="2400" dirty="0"/>
              <a:t>C</a:t>
            </a:r>
            <a:r>
              <a:rPr kumimoji="1" lang="zh-CN" altLang="en-US" sz="2400" dirty="0"/>
              <a:t>个野人</a:t>
            </a:r>
            <a:endParaRPr kumimoji="1" lang="en-US" altLang="zh-CN" sz="2400" dirty="0"/>
          </a:p>
          <a:p>
            <a:r>
              <a:rPr kumimoji="1" lang="zh-CN" altLang="en-US" sz="2400" dirty="0"/>
              <a:t>从左岸到右岸船一次最多坐</a:t>
            </a:r>
            <a:r>
              <a:rPr kumimoji="1" lang="en-US" altLang="zh-CN" sz="2400" dirty="0"/>
              <a:t>3</a:t>
            </a:r>
            <a:r>
              <a:rPr kumimoji="1" lang="zh-CN" altLang="en-US" sz="2400" dirty="0"/>
              <a:t>个人</a:t>
            </a:r>
            <a:endParaRPr kumimoji="1" lang="en-US" altLang="zh-CN" sz="2400" dirty="0"/>
          </a:p>
          <a:p>
            <a:r>
              <a:rPr kumimoji="1" lang="zh-CN" altLang="en-US" sz="2400" dirty="0"/>
              <a:t>在任何一个时刻，如果有出现野人数量多于传教士，野人就会吃掉传教士</a:t>
            </a:r>
            <a:endParaRPr kumimoji="1" lang="en-US" altLang="zh-CN" sz="2400" dirty="0"/>
          </a:p>
          <a:p>
            <a:r>
              <a:rPr kumimoji="1" lang="zh-CN" altLang="en-US" sz="2400" dirty="0"/>
              <a:t>如何让大家安全渡河？</a:t>
            </a:r>
            <a:endParaRPr kumimoji="1"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以传教士与野人问题为例探索</a:t>
            </a:r>
            <a:r>
              <a:rPr lang="en-US" altLang="zh-CN" dirty="0"/>
              <a:t>h</a:t>
            </a:r>
            <a:r>
              <a:rPr lang="zh-CN" altLang="en-US" dirty="0"/>
              <a:t>函数</a:t>
            </a:r>
            <a:endParaRPr lang="zh-CN" altLang="en-US" dirty="0"/>
          </a:p>
        </p:txBody>
      </p:sp>
      <p:sp>
        <p:nvSpPr>
          <p:cNvPr id="17412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200" b="1" dirty="0"/>
              <a:t>思路：放宽约束条件，在宽约束条件下得到一个估计值。</a:t>
            </a:r>
            <a:endParaRPr lang="en-US" altLang="zh-CN" sz="3200" b="1" dirty="0"/>
          </a:p>
          <a:p>
            <a:r>
              <a:rPr lang="zh-CN" altLang="en-US" sz="3200" b="1" dirty="0"/>
              <a:t>假设只有乘船人数的约束没有其他约束</a:t>
            </a:r>
            <a:endParaRPr lang="en-US" altLang="zh-CN" sz="3200" b="1" dirty="0"/>
          </a:p>
          <a:p>
            <a:r>
              <a:rPr lang="zh-CN" altLang="en-US" sz="3200" b="1" dirty="0"/>
              <a:t>从左岸到右岸至少需要的摆渡次数：</a:t>
            </a:r>
            <a:endParaRPr lang="zh-CN" altLang="en-US" sz="3200" b="1" dirty="0"/>
          </a:p>
        </p:txBody>
      </p:sp>
      <p:sp>
        <p:nvSpPr>
          <p:cNvPr id="1741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72425FB-73BB-4EAA-B82E-79694CE9CB95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174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41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7410" name="Object 3"/>
          <p:cNvGraphicFramePr>
            <a:graphicFrameLocks noChangeAspect="1"/>
          </p:cNvGraphicFramePr>
          <p:nvPr/>
        </p:nvGraphicFramePr>
        <p:xfrm>
          <a:off x="1336246" y="3652794"/>
          <a:ext cx="6134100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公式" r:id="rId1" imgW="1993900" imgH="431800" progId="Equation.3">
                  <p:embed/>
                </p:oleObj>
              </mc:Choice>
              <mc:Fallback>
                <p:oleObj name="公式" r:id="rId1" imgW="1993900" imgH="431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6246" y="3652794"/>
                        <a:ext cx="6134100" cy="1320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200" b="1" dirty="0"/>
              <a:t>从右岸到左岸至少需要的摆渡次数：</a:t>
            </a:r>
            <a:endParaRPr lang="zh-CN" altLang="en-US" sz="3200" b="1" dirty="0"/>
          </a:p>
          <a:p>
            <a:pPr marL="0" indent="0">
              <a:buNone/>
            </a:pPr>
            <a:r>
              <a:rPr lang="en-US" altLang="zh-CN" sz="3200" b="1" dirty="0"/>
              <a:t>     </a:t>
            </a:r>
            <a:endParaRPr lang="en-US" altLang="zh-CN" sz="3200" b="1" dirty="0"/>
          </a:p>
          <a:p>
            <a:endParaRPr lang="en-US" altLang="zh-CN" sz="3200" b="1" dirty="0"/>
          </a:p>
          <a:p>
            <a:r>
              <a:rPr lang="zh-CN" altLang="en-US" sz="3200" b="1" dirty="0"/>
              <a:t>综合在一起，所需的最少摆渡次数：</a:t>
            </a:r>
            <a:endParaRPr lang="en-US" altLang="zh-CN" sz="3200" b="1" dirty="0"/>
          </a:p>
          <a:p>
            <a:pPr marL="0" indent="0">
              <a:buNone/>
            </a:pPr>
            <a:r>
              <a:rPr lang="en-US" altLang="zh-CN" sz="3200" b="1" dirty="0"/>
              <a:t>    </a:t>
            </a:r>
            <a:endParaRPr lang="en-US" altLang="zh-CN" sz="3200" b="1" dirty="0"/>
          </a:p>
          <a:p>
            <a:r>
              <a:rPr lang="en-US" altLang="zh-CN" sz="3200" b="1" dirty="0"/>
              <a:t> </a:t>
            </a:r>
            <a:r>
              <a:rPr lang="zh-CN" altLang="en-US" sz="3200" b="1" dirty="0"/>
              <a:t>以该最小摆渡次数作为启发函数</a:t>
            </a:r>
            <a:r>
              <a:rPr lang="en-US" altLang="zh-CN" sz="3200" b="1" dirty="0"/>
              <a:t>h</a:t>
            </a:r>
            <a:r>
              <a:rPr lang="zh-CN" altLang="en-US" sz="3200" b="1" dirty="0"/>
              <a:t>，从推导可知，该</a:t>
            </a:r>
            <a:r>
              <a:rPr lang="en-US" altLang="zh-CN" sz="3200" b="1" dirty="0"/>
              <a:t>h</a:t>
            </a:r>
            <a:r>
              <a:rPr lang="zh-CN" altLang="en-US" sz="3200" b="1" dirty="0"/>
              <a:t>满足</a:t>
            </a:r>
            <a:r>
              <a:rPr lang="en-US" altLang="zh-CN" sz="3200" b="1" dirty="0"/>
              <a:t>A*</a:t>
            </a:r>
            <a:r>
              <a:rPr lang="zh-CN" altLang="en-US" sz="3200" b="1" dirty="0"/>
              <a:t>条件</a:t>
            </a:r>
            <a:endParaRPr lang="zh-CN" altLang="en-US" sz="3200" b="1" dirty="0"/>
          </a:p>
        </p:txBody>
      </p:sp>
      <p:sp>
        <p:nvSpPr>
          <p:cNvPr id="7373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770F010-1893-486A-902B-A449B087090E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200" b="1" dirty="0"/>
              <a:t>从右岸到左岸至少需要的摆渡次数：</a:t>
            </a:r>
            <a:endParaRPr lang="zh-CN" altLang="en-US" sz="3200" b="1" dirty="0"/>
          </a:p>
          <a:p>
            <a:pPr marL="0" indent="0">
              <a:buNone/>
            </a:pPr>
            <a:r>
              <a:rPr lang="en-US" altLang="zh-CN" sz="3200" b="1" dirty="0"/>
              <a:t>     M+C</a:t>
            </a:r>
            <a:endParaRPr lang="en-US" altLang="zh-CN" sz="3200" b="1" dirty="0"/>
          </a:p>
          <a:p>
            <a:endParaRPr lang="en-US" altLang="zh-CN" sz="3200" b="1" dirty="0"/>
          </a:p>
          <a:p>
            <a:r>
              <a:rPr lang="zh-CN" altLang="en-US" sz="3200" b="1" dirty="0"/>
              <a:t>综合在一起，所需的最少摆渡次数：</a:t>
            </a:r>
            <a:endParaRPr lang="en-US" altLang="zh-CN" sz="3200" b="1" dirty="0"/>
          </a:p>
          <a:p>
            <a:pPr marL="0" indent="0">
              <a:buNone/>
            </a:pPr>
            <a:r>
              <a:rPr lang="en-US" altLang="zh-CN" sz="3200" b="1" dirty="0"/>
              <a:t>    M+C-2B</a:t>
            </a:r>
            <a:endParaRPr lang="en-US" altLang="zh-CN" sz="3200" b="1" dirty="0"/>
          </a:p>
          <a:p>
            <a:r>
              <a:rPr lang="en-US" altLang="zh-CN" sz="3200" b="1" dirty="0"/>
              <a:t> </a:t>
            </a:r>
            <a:r>
              <a:rPr lang="zh-CN" altLang="en-US" sz="3200" b="1" dirty="0"/>
              <a:t>以该最小摆渡次数作为启发函数</a:t>
            </a:r>
            <a:r>
              <a:rPr lang="en-US" altLang="zh-CN" sz="3200" b="1" dirty="0"/>
              <a:t>h</a:t>
            </a:r>
            <a:r>
              <a:rPr lang="zh-CN" altLang="en-US" sz="3200" b="1" dirty="0"/>
              <a:t>，从推导可知，该</a:t>
            </a:r>
            <a:r>
              <a:rPr lang="en-US" altLang="zh-CN" sz="3200" b="1" dirty="0"/>
              <a:t>h</a:t>
            </a:r>
            <a:r>
              <a:rPr lang="zh-CN" altLang="en-US" sz="3200" b="1" dirty="0"/>
              <a:t>满足</a:t>
            </a:r>
            <a:r>
              <a:rPr lang="en-US" altLang="zh-CN" sz="3200" b="1" dirty="0"/>
              <a:t>A*</a:t>
            </a:r>
            <a:r>
              <a:rPr lang="zh-CN" altLang="en-US" sz="3200" b="1" dirty="0"/>
              <a:t>条件</a:t>
            </a:r>
            <a:endParaRPr lang="zh-CN" altLang="en-US" sz="3200" b="1" dirty="0"/>
          </a:p>
        </p:txBody>
      </p:sp>
      <p:sp>
        <p:nvSpPr>
          <p:cNvPr id="7373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770F010-1893-486A-902B-A449B087090E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04934" y="5604301"/>
            <a:ext cx="2929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</a:t>
            </a:r>
            <a:r>
              <a:rPr lang="en-US" altLang="zh-CN" sz="2400" dirty="0"/>
              <a:t>=1</a:t>
            </a:r>
            <a:r>
              <a:rPr lang="zh-CN" altLang="en-US" sz="2400" dirty="0"/>
              <a:t>，船在左岸</a:t>
            </a:r>
            <a:endParaRPr lang="en-US" altLang="zh-CN" sz="2400" dirty="0"/>
          </a:p>
          <a:p>
            <a:r>
              <a:rPr lang="en-US" altLang="zh-CN" sz="2400" dirty="0"/>
              <a:t>B=0</a:t>
            </a:r>
            <a:r>
              <a:rPr lang="zh-CN" altLang="en-US" sz="2400" dirty="0"/>
              <a:t>，船在右岸</a:t>
            </a:r>
            <a:endParaRPr lang="en-US" sz="24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设状态图如图所示，括弧中数字为节点的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h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值，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算法按顺序扩展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后，可得到一条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SAG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的路径，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OPEN=[</a:t>
            </a:r>
            <a:r>
              <a:rPr lang="en-US" altLang="zh-CN" sz="2800" b="1" dirty="0"/>
              <a:t>B(8),C(9),G(14)]</a:t>
            </a:r>
            <a:r>
              <a:rPr lang="zh-CN" altLang="en-US" sz="2800" b="1" dirty="0"/>
              <a:t>，这时：</a:t>
            </a:r>
            <a:endParaRPr lang="en-US" altLang="zh-CN" sz="2800" b="1" dirty="0"/>
          </a:p>
          <a:p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得到了路径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SAG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，结束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828800" y="34718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因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OPEN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中还有节点，未结束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828800" y="4157663"/>
            <a:ext cx="5486823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因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G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的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f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值在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OPEN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中非最小，未结束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828800" y="48434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继续扩展节点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矩形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8503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5361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42219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9077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lang="zh-CN" altLang="en-US" sz="16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6127615" y="2175041"/>
            <a:ext cx="2776608" cy="3890665"/>
            <a:chOff x="5726172" y="1628635"/>
            <a:chExt cx="2776608" cy="3890665"/>
          </a:xfrm>
        </p:grpSpPr>
        <p:sp>
          <p:nvSpPr>
            <p:cNvPr id="41" name="Oval 2"/>
            <p:cNvSpPr>
              <a:spLocks noChangeArrowheads="1"/>
            </p:cNvSpPr>
            <p:nvPr/>
          </p:nvSpPr>
          <p:spPr bwMode="auto">
            <a:xfrm flipH="1">
              <a:off x="6990380" y="1889630"/>
              <a:ext cx="152400" cy="152400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0070C0"/>
              </a:solidFill>
              <a:round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42" name="Oval 3"/>
            <p:cNvSpPr>
              <a:spLocks noChangeArrowheads="1"/>
            </p:cNvSpPr>
            <p:nvPr/>
          </p:nvSpPr>
          <p:spPr bwMode="auto">
            <a:xfrm flipH="1">
              <a:off x="6228380" y="2727830"/>
              <a:ext cx="152400" cy="152400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0070C0"/>
              </a:solidFill>
              <a:round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43" name="Oval 4"/>
            <p:cNvSpPr>
              <a:spLocks noChangeArrowheads="1"/>
            </p:cNvSpPr>
            <p:nvPr/>
          </p:nvSpPr>
          <p:spPr bwMode="auto">
            <a:xfrm flipH="1">
              <a:off x="6914180" y="3185030"/>
              <a:ext cx="152400" cy="152400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0070C0"/>
              </a:solidFill>
              <a:round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44" name="Oval 5"/>
            <p:cNvSpPr>
              <a:spLocks noChangeArrowheads="1"/>
            </p:cNvSpPr>
            <p:nvPr/>
          </p:nvSpPr>
          <p:spPr bwMode="auto">
            <a:xfrm flipH="1">
              <a:off x="7676180" y="3566030"/>
              <a:ext cx="152400" cy="152400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0070C0"/>
              </a:solidFill>
              <a:round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45" name="Oval 6"/>
            <p:cNvSpPr>
              <a:spLocks noChangeArrowheads="1"/>
            </p:cNvSpPr>
            <p:nvPr/>
          </p:nvSpPr>
          <p:spPr bwMode="auto">
            <a:xfrm flipH="1">
              <a:off x="6609380" y="4709030"/>
              <a:ext cx="152400" cy="152400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0070C0"/>
              </a:solidFill>
              <a:round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46" name="Line 7"/>
            <p:cNvSpPr>
              <a:spLocks noChangeShapeType="1"/>
            </p:cNvSpPr>
            <p:nvPr/>
          </p:nvSpPr>
          <p:spPr bwMode="auto">
            <a:xfrm flipH="1">
              <a:off x="6380780" y="2042030"/>
              <a:ext cx="609600" cy="685800"/>
            </a:xfrm>
            <a:prstGeom prst="line">
              <a:avLst/>
            </a:prstGeom>
            <a:noFill/>
            <a:ln w="57150">
              <a:solidFill>
                <a:srgbClr val="0070C0"/>
              </a:solidFill>
              <a:round/>
              <a:tailEnd type="triangle" w="med" len="med"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47" name="Line 8"/>
            <p:cNvSpPr>
              <a:spLocks noChangeShapeType="1"/>
            </p:cNvSpPr>
            <p:nvPr/>
          </p:nvSpPr>
          <p:spPr bwMode="auto">
            <a:xfrm flipH="1">
              <a:off x="6990380" y="2118230"/>
              <a:ext cx="76200" cy="1066800"/>
            </a:xfrm>
            <a:prstGeom prst="line">
              <a:avLst/>
            </a:prstGeom>
            <a:noFill/>
            <a:ln w="57150">
              <a:solidFill>
                <a:srgbClr val="0070C0"/>
              </a:solidFill>
              <a:round/>
              <a:tailEnd type="triangle" w="med" len="med"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48" name="Line 9"/>
            <p:cNvSpPr>
              <a:spLocks noChangeShapeType="1"/>
            </p:cNvSpPr>
            <p:nvPr/>
          </p:nvSpPr>
          <p:spPr bwMode="auto">
            <a:xfrm>
              <a:off x="7142780" y="2042030"/>
              <a:ext cx="609600" cy="1524000"/>
            </a:xfrm>
            <a:prstGeom prst="line">
              <a:avLst/>
            </a:prstGeom>
            <a:noFill/>
            <a:ln w="57150">
              <a:solidFill>
                <a:srgbClr val="0070C0"/>
              </a:solidFill>
              <a:round/>
              <a:tailEnd type="triangle" w="med" len="med"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49" name="Line 10"/>
            <p:cNvSpPr>
              <a:spLocks noChangeShapeType="1"/>
            </p:cNvSpPr>
            <p:nvPr/>
          </p:nvSpPr>
          <p:spPr bwMode="auto">
            <a:xfrm flipH="1">
              <a:off x="6685580" y="3718430"/>
              <a:ext cx="990600" cy="990600"/>
            </a:xfrm>
            <a:prstGeom prst="line">
              <a:avLst/>
            </a:prstGeom>
            <a:noFill/>
            <a:ln w="57150">
              <a:solidFill>
                <a:srgbClr val="0070C0"/>
              </a:solidFill>
              <a:round/>
              <a:tailEnd type="triangle" w="med" len="med"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50" name="Line 11"/>
            <p:cNvSpPr>
              <a:spLocks noChangeShapeType="1"/>
            </p:cNvSpPr>
            <p:nvPr/>
          </p:nvSpPr>
          <p:spPr bwMode="auto">
            <a:xfrm>
              <a:off x="6380780" y="2880230"/>
              <a:ext cx="533400" cy="381000"/>
            </a:xfrm>
            <a:prstGeom prst="line">
              <a:avLst/>
            </a:prstGeom>
            <a:noFill/>
            <a:ln w="57150">
              <a:solidFill>
                <a:srgbClr val="0070C0"/>
              </a:solidFill>
              <a:round/>
              <a:tailEnd type="triangle" w="med" len="med"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51" name="Line 12"/>
            <p:cNvSpPr>
              <a:spLocks noChangeShapeType="1"/>
            </p:cNvSpPr>
            <p:nvPr/>
          </p:nvSpPr>
          <p:spPr bwMode="auto">
            <a:xfrm>
              <a:off x="7066580" y="3337430"/>
              <a:ext cx="609600" cy="304800"/>
            </a:xfrm>
            <a:prstGeom prst="line">
              <a:avLst/>
            </a:prstGeom>
            <a:noFill/>
            <a:ln w="57150">
              <a:solidFill>
                <a:srgbClr val="0070C0"/>
              </a:solidFill>
              <a:round/>
              <a:tailEnd type="triangle" w="med" len="med"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52" name="Text Box 13"/>
            <p:cNvSpPr txBox="1">
              <a:spLocks noChangeArrowheads="1"/>
            </p:cNvSpPr>
            <p:nvPr/>
          </p:nvSpPr>
          <p:spPr bwMode="auto">
            <a:xfrm>
              <a:off x="7093493" y="1628635"/>
              <a:ext cx="803426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70C0"/>
                  </a:solidFill>
                </a:rPr>
                <a:t>s(10)</a:t>
              </a:r>
              <a:endParaRPr lang="en-US" altLang="zh-CN" sz="2400" b="1" dirty="0">
                <a:solidFill>
                  <a:srgbClr val="0070C0"/>
                </a:solidFill>
              </a:endParaRPr>
            </a:p>
          </p:txBody>
        </p:sp>
        <p:sp>
          <p:nvSpPr>
            <p:cNvPr id="53" name="Text Box 14"/>
            <p:cNvSpPr txBox="1">
              <a:spLocks noChangeArrowheads="1"/>
            </p:cNvSpPr>
            <p:nvPr/>
          </p:nvSpPr>
          <p:spPr bwMode="auto">
            <a:xfrm>
              <a:off x="7747444" y="3457435"/>
              <a:ext cx="755336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70C0"/>
                  </a:solidFill>
                </a:rPr>
                <a:t>A(1)</a:t>
              </a:r>
              <a:endParaRPr lang="en-US" altLang="zh-CN" sz="2400" b="1" dirty="0">
                <a:solidFill>
                  <a:srgbClr val="0070C0"/>
                </a:solidFill>
              </a:endParaRPr>
            </a:p>
          </p:txBody>
        </p:sp>
        <p:sp>
          <p:nvSpPr>
            <p:cNvPr id="54" name="Text Box 15"/>
            <p:cNvSpPr txBox="1">
              <a:spLocks noChangeArrowheads="1"/>
            </p:cNvSpPr>
            <p:nvPr/>
          </p:nvSpPr>
          <p:spPr bwMode="auto">
            <a:xfrm>
              <a:off x="6587236" y="3316456"/>
              <a:ext cx="739305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70C0"/>
                  </a:solidFill>
                </a:rPr>
                <a:t>B(5)</a:t>
              </a:r>
              <a:endParaRPr lang="en-US" altLang="zh-CN" sz="2400" b="1" dirty="0">
                <a:solidFill>
                  <a:srgbClr val="0070C0"/>
                </a:solidFill>
              </a:endParaRPr>
            </a:p>
          </p:txBody>
        </p:sp>
        <p:sp>
          <p:nvSpPr>
            <p:cNvPr id="55" name="Text Box 16"/>
            <p:cNvSpPr txBox="1">
              <a:spLocks noChangeArrowheads="1"/>
            </p:cNvSpPr>
            <p:nvPr/>
          </p:nvSpPr>
          <p:spPr bwMode="auto">
            <a:xfrm>
              <a:off x="5726172" y="2314435"/>
              <a:ext cx="739305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400" b="1">
                  <a:solidFill>
                    <a:srgbClr val="0070C0"/>
                  </a:solidFill>
                </a:rPr>
                <a:t>C(8)</a:t>
              </a:r>
              <a:endParaRPr lang="en-US" altLang="zh-CN" sz="2400" b="1">
                <a:solidFill>
                  <a:srgbClr val="0070C0"/>
                </a:solidFill>
              </a:endParaRPr>
            </a:p>
          </p:txBody>
        </p:sp>
        <p:sp>
          <p:nvSpPr>
            <p:cNvPr id="56" name="Text Box 17"/>
            <p:cNvSpPr txBox="1">
              <a:spLocks noChangeArrowheads="1"/>
            </p:cNvSpPr>
            <p:nvPr/>
          </p:nvSpPr>
          <p:spPr bwMode="auto">
            <a:xfrm>
              <a:off x="6175417" y="5057635"/>
              <a:ext cx="1071127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70C0"/>
                  </a:solidFill>
                </a:rPr>
                <a:t>G </a:t>
              </a:r>
              <a:r>
                <a:rPr lang="zh-CN" altLang="en-US" sz="2400" b="1" dirty="0">
                  <a:solidFill>
                    <a:srgbClr val="0070C0"/>
                  </a:solidFill>
                </a:rPr>
                <a:t>目标</a:t>
              </a:r>
              <a:endParaRPr lang="zh-CN" altLang="en-US" sz="2400" b="1" dirty="0">
                <a:solidFill>
                  <a:srgbClr val="0070C0"/>
                </a:solidFill>
              </a:endParaRPr>
            </a:p>
          </p:txBody>
        </p:sp>
        <p:sp>
          <p:nvSpPr>
            <p:cNvPr id="57" name="Text Box 18"/>
            <p:cNvSpPr txBox="1">
              <a:spLocks noChangeArrowheads="1"/>
            </p:cNvSpPr>
            <p:nvPr/>
          </p:nvSpPr>
          <p:spPr bwMode="auto">
            <a:xfrm>
              <a:off x="7523780" y="2543035"/>
              <a:ext cx="325730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400" b="1">
                  <a:solidFill>
                    <a:srgbClr val="0070C0"/>
                  </a:solidFill>
                </a:rPr>
                <a:t>6</a:t>
              </a:r>
              <a:endParaRPr lang="en-US" altLang="zh-CN" sz="2400" b="1">
                <a:solidFill>
                  <a:srgbClr val="0070C0"/>
                </a:solidFill>
              </a:endParaRPr>
            </a:p>
          </p:txBody>
        </p:sp>
        <p:sp>
          <p:nvSpPr>
            <p:cNvPr id="58" name="Text Box 19"/>
            <p:cNvSpPr txBox="1">
              <a:spLocks noChangeArrowheads="1"/>
            </p:cNvSpPr>
            <p:nvPr/>
          </p:nvSpPr>
          <p:spPr bwMode="auto">
            <a:xfrm>
              <a:off x="6761780" y="2390635"/>
              <a:ext cx="325730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400" b="1">
                  <a:solidFill>
                    <a:srgbClr val="0070C0"/>
                  </a:solidFill>
                </a:rPr>
                <a:t>3</a:t>
              </a:r>
              <a:endParaRPr lang="en-US" altLang="zh-CN" sz="2400" b="1">
                <a:solidFill>
                  <a:srgbClr val="0070C0"/>
                </a:solidFill>
              </a:endParaRPr>
            </a:p>
          </p:txBody>
        </p:sp>
        <p:sp>
          <p:nvSpPr>
            <p:cNvPr id="59" name="Text Box 20"/>
            <p:cNvSpPr txBox="1">
              <a:spLocks noChangeArrowheads="1"/>
            </p:cNvSpPr>
            <p:nvPr/>
          </p:nvSpPr>
          <p:spPr bwMode="auto">
            <a:xfrm>
              <a:off x="6533180" y="1933435"/>
              <a:ext cx="325730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400" b="1">
                  <a:solidFill>
                    <a:srgbClr val="0070C0"/>
                  </a:solidFill>
                </a:rPr>
                <a:t>1</a:t>
              </a:r>
              <a:endParaRPr lang="en-US" altLang="zh-CN" sz="2400" b="1">
                <a:solidFill>
                  <a:srgbClr val="0070C0"/>
                </a:solidFill>
              </a:endParaRPr>
            </a:p>
          </p:txBody>
        </p:sp>
        <p:sp>
          <p:nvSpPr>
            <p:cNvPr id="60" name="Text Box 21"/>
            <p:cNvSpPr txBox="1">
              <a:spLocks noChangeArrowheads="1"/>
            </p:cNvSpPr>
            <p:nvPr/>
          </p:nvSpPr>
          <p:spPr bwMode="auto">
            <a:xfrm>
              <a:off x="6380780" y="2978627"/>
              <a:ext cx="325730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400" b="1" dirty="0">
                  <a:solidFill>
                    <a:srgbClr val="0070C0"/>
                  </a:solidFill>
                </a:rPr>
                <a:t>1</a:t>
              </a:r>
              <a:endParaRPr lang="en-US" altLang="zh-CN" sz="2400" b="1" dirty="0">
                <a:solidFill>
                  <a:srgbClr val="0070C0"/>
                </a:solidFill>
              </a:endParaRPr>
            </a:p>
          </p:txBody>
        </p:sp>
        <p:sp>
          <p:nvSpPr>
            <p:cNvPr id="61" name="Text Box 22"/>
            <p:cNvSpPr txBox="1">
              <a:spLocks noChangeArrowheads="1"/>
            </p:cNvSpPr>
            <p:nvPr/>
          </p:nvSpPr>
          <p:spPr bwMode="auto">
            <a:xfrm>
              <a:off x="7218980" y="3076435"/>
              <a:ext cx="325730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400" b="1" dirty="0">
                  <a:solidFill>
                    <a:srgbClr val="0070C0"/>
                  </a:solidFill>
                </a:rPr>
                <a:t>1</a:t>
              </a:r>
              <a:endParaRPr lang="en-US" altLang="zh-CN" sz="2400" b="1" dirty="0">
                <a:solidFill>
                  <a:srgbClr val="0070C0"/>
                </a:solidFill>
              </a:endParaRPr>
            </a:p>
          </p:txBody>
        </p:sp>
        <p:sp>
          <p:nvSpPr>
            <p:cNvPr id="62" name="Text Box 23"/>
            <p:cNvSpPr txBox="1">
              <a:spLocks noChangeArrowheads="1"/>
            </p:cNvSpPr>
            <p:nvPr/>
          </p:nvSpPr>
          <p:spPr bwMode="auto">
            <a:xfrm>
              <a:off x="6914180" y="3914635"/>
              <a:ext cx="325730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400" b="1">
                  <a:solidFill>
                    <a:srgbClr val="0070C0"/>
                  </a:solidFill>
                </a:rPr>
                <a:t>8</a:t>
              </a:r>
              <a:endParaRPr lang="en-US" altLang="zh-CN" sz="2400" b="1">
                <a:solidFill>
                  <a:srgbClr val="0070C0"/>
                </a:solidFill>
              </a:endParaRPr>
            </a:p>
          </p:txBody>
        </p:sp>
      </p:grpSp>
      <p:sp>
        <p:nvSpPr>
          <p:cNvPr id="64" name="文本框 63"/>
          <p:cNvSpPr txBox="1"/>
          <p:nvPr>
            <p:custDataLst>
              <p:tags r:id="rId11"/>
            </p:custDataLst>
          </p:nvPr>
        </p:nvSpPr>
        <p:spPr>
          <a:xfrm>
            <a:off x="1828800" y="5529263"/>
            <a:ext cx="3189249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继续扩展节点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5" name="矩形 64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114425" y="55935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3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多选题</a:t>
              </a:r>
              <a:endPara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20"/>
    </p:custData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40B4BAC-A7A9-4F31-B62E-7B269910F2E9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思考题</a:t>
            </a:r>
            <a:endParaRPr lang="zh-CN" altLang="en-US" dirty="0"/>
          </a:p>
        </p:txBody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65026"/>
            <a:ext cx="7772400" cy="4354773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zh-CN" altLang="en-US" sz="3200" b="1" dirty="0"/>
              <a:t>定理（简写）：如果</a:t>
            </a:r>
            <a:r>
              <a:rPr lang="en-US" altLang="zh-CN" sz="3200" b="1" dirty="0"/>
              <a:t>h</a:t>
            </a:r>
            <a:r>
              <a:rPr lang="en-US" altLang="zh-CN" sz="3200" b="1" baseline="-25000" dirty="0"/>
              <a:t>2</a:t>
            </a:r>
            <a:r>
              <a:rPr lang="en-US" altLang="zh-CN" sz="3200" b="1" dirty="0"/>
              <a:t>(n) </a:t>
            </a:r>
            <a:r>
              <a:rPr lang="en-US" altLang="zh-CN" sz="3200" b="1" dirty="0">
                <a:solidFill>
                  <a:schemeClr val="tx2"/>
                </a:solidFill>
              </a:rPr>
              <a:t>&gt; </a:t>
            </a:r>
            <a:r>
              <a:rPr lang="en-US" altLang="zh-CN" sz="3200" b="1" dirty="0"/>
              <a:t>h</a:t>
            </a:r>
            <a:r>
              <a:rPr lang="en-US" altLang="zh-CN" sz="3200" b="1" baseline="-25000" dirty="0"/>
              <a:t>1</a:t>
            </a:r>
            <a:r>
              <a:rPr lang="en-US" altLang="zh-CN" sz="3200" b="1" dirty="0"/>
              <a:t>(n) (</a:t>
            </a:r>
            <a:r>
              <a:rPr lang="zh-CN" altLang="en-US" sz="3200" b="1" dirty="0"/>
              <a:t>目标节点除外</a:t>
            </a:r>
            <a:r>
              <a:rPr lang="en-US" altLang="zh-CN" sz="3200" b="1" dirty="0"/>
              <a:t>)</a:t>
            </a:r>
            <a:r>
              <a:rPr lang="zh-CN" altLang="en-US" sz="3200" b="1" dirty="0"/>
              <a:t>，则</a:t>
            </a:r>
            <a:r>
              <a:rPr lang="en-US" altLang="zh-CN" sz="3200" b="1" dirty="0"/>
              <a:t>A</a:t>
            </a:r>
            <a:r>
              <a:rPr lang="en-US" altLang="zh-CN" sz="3200" b="1" baseline="-25000" dirty="0"/>
              <a:t>1</a:t>
            </a:r>
            <a:r>
              <a:rPr lang="zh-CN" altLang="en-US" sz="3200" b="1" dirty="0"/>
              <a:t>扩展的节点数</a:t>
            </a:r>
            <a:r>
              <a:rPr lang="zh-CN" altLang="en-US" sz="3200" b="1" dirty="0">
                <a:solidFill>
                  <a:schemeClr val="tx2"/>
                </a:solidFill>
              </a:rPr>
              <a:t>≥</a:t>
            </a:r>
            <a:r>
              <a:rPr lang="en-US" altLang="zh-CN" sz="3200" b="1" dirty="0"/>
              <a:t>A</a:t>
            </a:r>
            <a:r>
              <a:rPr lang="en-US" altLang="zh-CN" sz="3200" b="1" baseline="-25000" dirty="0"/>
              <a:t>2</a:t>
            </a:r>
            <a:r>
              <a:rPr lang="zh-CN" altLang="zh-CN" sz="3200" b="1" dirty="0"/>
              <a:t>扩展的节点数</a:t>
            </a:r>
            <a:endParaRPr lang="zh-CN" altLang="en-US" sz="3200" b="1" dirty="0"/>
          </a:p>
          <a:p>
            <a:pPr lvl="1">
              <a:lnSpc>
                <a:spcPct val="90000"/>
              </a:lnSpc>
            </a:pPr>
            <a:r>
              <a:rPr lang="zh-CN" altLang="en-US" sz="2800" b="1" dirty="0"/>
              <a:t>为什么条件不能是</a:t>
            </a:r>
            <a:r>
              <a:rPr lang="en-US" altLang="zh-CN" sz="2800" b="1" dirty="0"/>
              <a:t>h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(n) </a:t>
            </a:r>
            <a:r>
              <a:rPr lang="en-US" altLang="zh-CN" sz="2800" b="1" dirty="0">
                <a:solidFill>
                  <a:schemeClr val="tx2"/>
                </a:solidFill>
              </a:rPr>
              <a:t>≥ </a:t>
            </a:r>
            <a:r>
              <a:rPr lang="en-US" altLang="zh-CN" sz="2800" b="1" dirty="0"/>
              <a:t>h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(n) </a:t>
            </a:r>
            <a:r>
              <a:rPr lang="zh-CN" altLang="en-US" sz="2800" b="1" dirty="0"/>
              <a:t>？什么情况下会出现问题？能否给定理再增加条件，使得定理在</a:t>
            </a:r>
            <a:r>
              <a:rPr lang="en-US" altLang="zh-CN" sz="2800" b="1" dirty="0"/>
              <a:t>h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(n) </a:t>
            </a:r>
            <a:r>
              <a:rPr lang="en-US" altLang="zh-CN" sz="2800" b="1" dirty="0">
                <a:solidFill>
                  <a:schemeClr val="tx2"/>
                </a:solidFill>
              </a:rPr>
              <a:t>≥ </a:t>
            </a:r>
            <a:r>
              <a:rPr lang="en-US" altLang="zh-CN" sz="2800" b="1" dirty="0"/>
              <a:t>h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(n) </a:t>
            </a:r>
            <a:r>
              <a:rPr lang="zh-CN" altLang="en-US" sz="2800" b="1" dirty="0"/>
              <a:t>条件下也成立？</a:t>
            </a:r>
            <a:endParaRPr lang="en-US" altLang="zh-CN" sz="2800" b="1" dirty="0"/>
          </a:p>
          <a:p>
            <a:pPr lvl="1">
              <a:lnSpc>
                <a:spcPct val="90000"/>
              </a:lnSpc>
            </a:pPr>
            <a:endParaRPr lang="en-US" altLang="zh-CN" sz="2800" b="1" dirty="0"/>
          </a:p>
          <a:p>
            <a:pPr lvl="1">
              <a:lnSpc>
                <a:spcPct val="900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提示：</a:t>
            </a:r>
            <a:r>
              <a:rPr lang="zh-CN" altLang="en-US" sz="2800" b="1" dirty="0"/>
              <a:t>考虑那些</a:t>
            </a:r>
            <a:r>
              <a:rPr lang="en-US" altLang="zh-CN" sz="2800" b="1" dirty="0"/>
              <a:t>f(n)=f*(t)</a:t>
            </a:r>
            <a:r>
              <a:rPr lang="zh-CN" altLang="en-US" sz="2800" b="1" dirty="0"/>
              <a:t>的节点，</a:t>
            </a:r>
            <a:r>
              <a:rPr lang="en-US" altLang="zh-CN" sz="2800" b="1" dirty="0"/>
              <a:t>t</a:t>
            </a:r>
            <a:r>
              <a:rPr lang="zh-CN" altLang="en-US" sz="2800" b="1" dirty="0"/>
              <a:t>为目标节点。如果不考虑这样的节点，等号可以加上。</a:t>
            </a:r>
            <a:endParaRPr lang="zh-CN" altLang="en-US" sz="2800" b="1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3C1AC7A-E699-442B-9BA1-047945E77060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810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对</a:t>
            </a:r>
            <a:r>
              <a:rPr lang="en-US" altLang="zh-CN"/>
              <a:t>h</a:t>
            </a:r>
            <a:r>
              <a:rPr lang="zh-CN" altLang="en-US"/>
              <a:t>的评价方法</a:t>
            </a:r>
            <a:endParaRPr lang="zh-CN" altLang="en-US"/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8700" y="1885950"/>
            <a:ext cx="7772400" cy="421005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zh-CN" altLang="en-US" sz="3200" b="1" dirty="0"/>
              <a:t>平均分叉数</a:t>
            </a:r>
            <a:endParaRPr lang="zh-CN" altLang="en-US" sz="3200" b="1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200" b="1" dirty="0"/>
              <a:t>	设共扩展了</a:t>
            </a:r>
            <a:r>
              <a:rPr lang="en-US" altLang="zh-CN" sz="3200" b="1" dirty="0"/>
              <a:t>d</a:t>
            </a:r>
            <a:r>
              <a:rPr lang="zh-CN" altLang="en-US" sz="3200" b="1" dirty="0"/>
              <a:t>层节点，共搜索了</a:t>
            </a:r>
            <a:r>
              <a:rPr lang="en-US" altLang="zh-CN" sz="3200" b="1" dirty="0"/>
              <a:t>N</a:t>
            </a:r>
            <a:r>
              <a:rPr lang="zh-CN" altLang="en-US" sz="3200" b="1" dirty="0"/>
              <a:t>个节点，则</a:t>
            </a:r>
            <a:r>
              <a:rPr lang="en-US" altLang="zh-CN" sz="3200" b="1" dirty="0"/>
              <a:t>:</a:t>
            </a:r>
            <a:endParaRPr lang="en-US" altLang="zh-CN" sz="3200" b="1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200" b="1" dirty="0"/>
              <a:t>		</a:t>
            </a:r>
            <a:endParaRPr lang="en-US" altLang="zh-CN" sz="3200" b="1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200" b="1" dirty="0"/>
              <a:t>	</a:t>
            </a:r>
            <a:r>
              <a:rPr lang="zh-CN" altLang="en-US" sz="3200" b="1" dirty="0"/>
              <a:t>其中，</a:t>
            </a:r>
            <a:r>
              <a:rPr lang="en-US" altLang="zh-CN" sz="3200" b="1" dirty="0"/>
              <a:t>b*</a:t>
            </a:r>
            <a:r>
              <a:rPr lang="zh-CN" altLang="en-US" sz="3200" b="1" dirty="0"/>
              <a:t>称为平均分叉数。</a:t>
            </a:r>
            <a:endParaRPr lang="zh-CN" altLang="en-US" sz="3200" b="1" dirty="0"/>
          </a:p>
          <a:p>
            <a:pPr eaLnBrk="1" hangingPunct="1">
              <a:lnSpc>
                <a:spcPct val="90000"/>
              </a:lnSpc>
            </a:pPr>
            <a:r>
              <a:rPr lang="en-US" altLang="zh-CN" sz="3200" b="1" dirty="0"/>
              <a:t>b*</a:t>
            </a:r>
            <a:r>
              <a:rPr lang="zh-CN" altLang="en-US" sz="3200" b="1" dirty="0"/>
              <a:t>越小，说明</a:t>
            </a:r>
            <a:r>
              <a:rPr lang="en-US" altLang="zh-CN" sz="3200" b="1" dirty="0"/>
              <a:t>h</a:t>
            </a:r>
            <a:r>
              <a:rPr lang="zh-CN" altLang="en-US" sz="3200" b="1" dirty="0"/>
              <a:t>效果越好。</a:t>
            </a:r>
            <a:endParaRPr lang="zh-CN" altLang="en-US" sz="3200" b="1" dirty="0"/>
          </a:p>
          <a:p>
            <a:pPr eaLnBrk="1" hangingPunct="1">
              <a:lnSpc>
                <a:spcPct val="90000"/>
              </a:lnSpc>
            </a:pPr>
            <a:r>
              <a:rPr lang="zh-CN" altLang="en-US" sz="3200" b="1" dirty="0"/>
              <a:t>实验表明，</a:t>
            </a:r>
            <a:r>
              <a:rPr lang="en-US" altLang="zh-CN" sz="3200" b="1" dirty="0"/>
              <a:t>b*</a:t>
            </a:r>
            <a:r>
              <a:rPr lang="zh-CN" altLang="en-US" sz="3200" b="1" dirty="0"/>
              <a:t>是一个比较稳定的常数，同一问题基本不随问题规模变化。</a:t>
            </a:r>
            <a:endParaRPr lang="zh-CN" altLang="en-US" sz="3200" b="1" dirty="0"/>
          </a:p>
        </p:txBody>
      </p:sp>
      <p:graphicFrame>
        <p:nvGraphicFramePr>
          <p:cNvPr id="18434" name="Object 6"/>
          <p:cNvGraphicFramePr>
            <a:graphicFrameLocks noChangeAspect="1"/>
          </p:cNvGraphicFramePr>
          <p:nvPr/>
        </p:nvGraphicFramePr>
        <p:xfrm>
          <a:off x="2660887" y="3085525"/>
          <a:ext cx="3313113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公式" r:id="rId1" imgW="44297600" imgH="8534400" progId="Equation.3">
                  <p:embed/>
                </p:oleObj>
              </mc:Choice>
              <mc:Fallback>
                <p:oleObj name="公式" r:id="rId1" imgW="44297600" imgH="8534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0887" y="3085525"/>
                        <a:ext cx="3313113" cy="552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24D92D9-4B35-4799-8E47-F994212DB81D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66700"/>
            <a:ext cx="7772400" cy="8572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对</a:t>
            </a:r>
            <a:r>
              <a:rPr lang="en-US" altLang="zh-CN"/>
              <a:t>h</a:t>
            </a:r>
            <a:r>
              <a:rPr lang="zh-CN" altLang="en-US"/>
              <a:t>的评价举例</a:t>
            </a:r>
            <a:endParaRPr lang="zh-CN" altLang="en-US"/>
          </a:p>
        </p:txBody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81100"/>
            <a:ext cx="7772400" cy="49149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200" b="1" dirty="0"/>
              <a:t>例：</a:t>
            </a:r>
            <a:r>
              <a:rPr lang="en-US" altLang="zh-CN" sz="3200" b="1" dirty="0"/>
              <a:t>8</a:t>
            </a:r>
            <a:r>
              <a:rPr lang="zh-CN" altLang="en-US" sz="3200" b="1" dirty="0"/>
              <a:t>数码问题，随机产生若干初始状态。</a:t>
            </a:r>
            <a:endParaRPr lang="zh-CN" altLang="en-US" sz="3200" b="1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3200" b="1" dirty="0"/>
          </a:p>
          <a:p>
            <a:pPr eaLnBrk="1" hangingPunct="1"/>
            <a:r>
              <a:rPr lang="zh-CN" altLang="en-US" sz="3200" b="1" dirty="0"/>
              <a:t>使用</a:t>
            </a:r>
            <a:r>
              <a:rPr lang="en-US" altLang="zh-CN" sz="3200" b="1" dirty="0"/>
              <a:t>h</a:t>
            </a:r>
            <a:r>
              <a:rPr lang="en-US" altLang="zh-CN" sz="3200" b="1" baseline="-25000" dirty="0"/>
              <a:t>1</a:t>
            </a:r>
            <a:r>
              <a:rPr lang="zh-CN" altLang="en-US" sz="3200" b="1" dirty="0"/>
              <a:t>：</a:t>
            </a:r>
            <a:endParaRPr lang="zh-CN" altLang="en-US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200" b="1" dirty="0"/>
              <a:t>	</a:t>
            </a:r>
            <a:r>
              <a:rPr lang="en-US" altLang="zh-CN" sz="3200" b="1" dirty="0"/>
              <a:t>d=14,   N=539,	          b*=1.44;</a:t>
            </a:r>
            <a:endParaRPr lang="en-US" altLang="zh-CN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   d=20,   N=7276</a:t>
            </a:r>
            <a:r>
              <a:rPr lang="zh-CN" altLang="en-US" sz="3200" b="1" dirty="0"/>
              <a:t>，   	</a:t>
            </a:r>
            <a:r>
              <a:rPr lang="en-US" altLang="zh-CN" sz="3200" b="1" dirty="0"/>
              <a:t>b*=1.47</a:t>
            </a:r>
            <a:r>
              <a:rPr lang="zh-CN" altLang="en-US" sz="3200" b="1" dirty="0"/>
              <a:t>；</a:t>
            </a:r>
            <a:endParaRPr lang="zh-CN" altLang="en-US" sz="3200" b="1" dirty="0"/>
          </a:p>
          <a:p>
            <a:pPr eaLnBrk="1" hangingPunct="1"/>
            <a:r>
              <a:rPr lang="zh-CN" altLang="en-US" sz="3200" b="1" dirty="0"/>
              <a:t>使用</a:t>
            </a:r>
            <a:r>
              <a:rPr lang="en-US" altLang="zh-CN" sz="3200" b="1" dirty="0"/>
              <a:t>h</a:t>
            </a:r>
            <a:r>
              <a:rPr lang="en-US" altLang="zh-CN" sz="3200" b="1" baseline="-25000" dirty="0"/>
              <a:t>2</a:t>
            </a:r>
            <a:r>
              <a:rPr lang="zh-CN" altLang="en-US" sz="3200" b="1" dirty="0"/>
              <a:t>：</a:t>
            </a:r>
            <a:endParaRPr lang="zh-CN" altLang="en-US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200" b="1" dirty="0"/>
              <a:t>	</a:t>
            </a:r>
            <a:r>
              <a:rPr lang="en-US" altLang="zh-CN" sz="3200" b="1" dirty="0"/>
              <a:t>d=14,   N=113, 	b*=1.23;</a:t>
            </a:r>
            <a:endParaRPr lang="en-US" altLang="zh-CN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	d=20,   N=676,	          b*=1.27</a:t>
            </a:r>
            <a:endParaRPr lang="en-US" altLang="zh-CN" sz="3200" b="1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dirty="0"/>
          </a:p>
        </p:txBody>
      </p:sp>
      <p:sp>
        <p:nvSpPr>
          <p:cNvPr id="3" name="TextBox 2"/>
          <p:cNvSpPr txBox="1"/>
          <p:nvPr/>
        </p:nvSpPr>
        <p:spPr>
          <a:xfrm>
            <a:off x="4402666" y="1954368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1" hangingPunct="1"/>
            <a:r>
              <a:rPr lang="en-US" altLang="zh-CN" sz="1800" b="1" dirty="0"/>
              <a:t>h</a:t>
            </a:r>
            <a:r>
              <a:rPr lang="en-US" altLang="zh-CN" sz="1800" b="1" baseline="-25000" dirty="0"/>
              <a:t>1</a:t>
            </a:r>
            <a:r>
              <a:rPr lang="en-US" altLang="zh-CN" sz="1800" b="1" dirty="0"/>
              <a:t>(n) = “</a:t>
            </a:r>
            <a:r>
              <a:rPr lang="zh-CN" altLang="en-US" sz="1800" b="1" dirty="0"/>
              <a:t>不在位”的将牌数</a:t>
            </a:r>
            <a:endParaRPr lang="zh-CN" altLang="en-US" sz="1800" b="1" dirty="0"/>
          </a:p>
          <a:p>
            <a:pPr lvl="1" eaLnBrk="1" hangingPunct="1"/>
            <a:r>
              <a:rPr lang="en-US" altLang="zh-CN" sz="1800" b="1" dirty="0"/>
              <a:t>h</a:t>
            </a:r>
            <a:r>
              <a:rPr lang="en-US" altLang="zh-CN" sz="1800" b="1" baseline="-25000" dirty="0"/>
              <a:t>2</a:t>
            </a:r>
            <a:r>
              <a:rPr lang="en-US" altLang="zh-CN" sz="1800" b="1" dirty="0"/>
              <a:t>(n) = </a:t>
            </a:r>
            <a:r>
              <a:rPr lang="zh-CN" altLang="zh-CN" sz="1800" b="1" dirty="0"/>
              <a:t>将牌“不在位”的距离和</a:t>
            </a:r>
            <a:endParaRPr lang="zh-CN" altLang="en-US" sz="1800" b="1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sz="3200" dirty="0"/>
              <a:t>对于</a:t>
            </a:r>
            <a:r>
              <a:rPr lang="en-US" altLang="zh-CN" sz="3200" dirty="0"/>
              <a:t>8</a:t>
            </a:r>
            <a:r>
              <a:rPr lang="zh-CN" altLang="en-US" sz="3200" dirty="0"/>
              <a:t>数码问题，假设移动一个将牌的耗散值为将牌号码，请使用</a:t>
            </a:r>
            <a:r>
              <a:rPr lang="en-US" altLang="zh-CN" sz="3200" dirty="0"/>
              <a:t>A</a:t>
            </a:r>
            <a:r>
              <a:rPr lang="zh-CN" altLang="en-US" sz="3200" dirty="0"/>
              <a:t>*算法求解该问题。（手工演算、编程实现）</a:t>
            </a:r>
            <a:endParaRPr lang="zh-CN" altLang="en-US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前面例子中，假设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h(s)=8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扩展后，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OPEN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为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[</a:t>
            </a:r>
            <a:r>
              <a:rPr lang="en-US" altLang="zh-CN" sz="2800" dirty="0"/>
              <a:t>A(6+1), B(3+5), C(1+8)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]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，对于改进的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*，应该选择哪个节点扩展？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节点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828800" y="3747855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节点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节点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8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lang="zh-CN" altLang="en-US" sz="16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6127615" y="2175041"/>
            <a:ext cx="2776608" cy="3890665"/>
            <a:chOff x="5726172" y="1628635"/>
            <a:chExt cx="2776608" cy="3890665"/>
          </a:xfrm>
        </p:grpSpPr>
        <p:sp>
          <p:nvSpPr>
            <p:cNvPr id="22" name="Oval 2"/>
            <p:cNvSpPr>
              <a:spLocks noChangeArrowheads="1"/>
            </p:cNvSpPr>
            <p:nvPr/>
          </p:nvSpPr>
          <p:spPr bwMode="auto">
            <a:xfrm flipH="1">
              <a:off x="6990380" y="1889630"/>
              <a:ext cx="152400" cy="152400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0070C0"/>
              </a:solidFill>
              <a:round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23" name="Oval 3"/>
            <p:cNvSpPr>
              <a:spLocks noChangeArrowheads="1"/>
            </p:cNvSpPr>
            <p:nvPr/>
          </p:nvSpPr>
          <p:spPr bwMode="auto">
            <a:xfrm flipH="1">
              <a:off x="6228380" y="2727830"/>
              <a:ext cx="152400" cy="152400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0070C0"/>
              </a:solidFill>
              <a:round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24" name="Oval 4"/>
            <p:cNvSpPr>
              <a:spLocks noChangeArrowheads="1"/>
            </p:cNvSpPr>
            <p:nvPr/>
          </p:nvSpPr>
          <p:spPr bwMode="auto">
            <a:xfrm flipH="1">
              <a:off x="6914180" y="3185030"/>
              <a:ext cx="152400" cy="152400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0070C0"/>
              </a:solidFill>
              <a:round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25" name="Oval 5"/>
            <p:cNvSpPr>
              <a:spLocks noChangeArrowheads="1"/>
            </p:cNvSpPr>
            <p:nvPr/>
          </p:nvSpPr>
          <p:spPr bwMode="auto">
            <a:xfrm flipH="1">
              <a:off x="7676180" y="3566030"/>
              <a:ext cx="152400" cy="152400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0070C0"/>
              </a:solidFill>
              <a:round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26" name="Oval 6"/>
            <p:cNvSpPr>
              <a:spLocks noChangeArrowheads="1"/>
            </p:cNvSpPr>
            <p:nvPr/>
          </p:nvSpPr>
          <p:spPr bwMode="auto">
            <a:xfrm flipH="1">
              <a:off x="6609380" y="4709030"/>
              <a:ext cx="152400" cy="152400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0070C0"/>
              </a:solidFill>
              <a:round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27" name="Line 7"/>
            <p:cNvSpPr>
              <a:spLocks noChangeShapeType="1"/>
            </p:cNvSpPr>
            <p:nvPr/>
          </p:nvSpPr>
          <p:spPr bwMode="auto">
            <a:xfrm flipH="1">
              <a:off x="6380780" y="2042030"/>
              <a:ext cx="609600" cy="685800"/>
            </a:xfrm>
            <a:prstGeom prst="line">
              <a:avLst/>
            </a:prstGeom>
            <a:noFill/>
            <a:ln w="57150">
              <a:solidFill>
                <a:srgbClr val="0070C0"/>
              </a:solidFill>
              <a:round/>
              <a:tailEnd type="triangle" w="med" len="med"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28" name="Line 8"/>
            <p:cNvSpPr>
              <a:spLocks noChangeShapeType="1"/>
            </p:cNvSpPr>
            <p:nvPr/>
          </p:nvSpPr>
          <p:spPr bwMode="auto">
            <a:xfrm flipH="1">
              <a:off x="6990380" y="2118230"/>
              <a:ext cx="76200" cy="1066800"/>
            </a:xfrm>
            <a:prstGeom prst="line">
              <a:avLst/>
            </a:prstGeom>
            <a:noFill/>
            <a:ln w="57150">
              <a:solidFill>
                <a:srgbClr val="0070C0"/>
              </a:solidFill>
              <a:round/>
              <a:tailEnd type="triangle" w="med" len="med"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29" name="Line 9"/>
            <p:cNvSpPr>
              <a:spLocks noChangeShapeType="1"/>
            </p:cNvSpPr>
            <p:nvPr/>
          </p:nvSpPr>
          <p:spPr bwMode="auto">
            <a:xfrm>
              <a:off x="7142780" y="2042030"/>
              <a:ext cx="609600" cy="1524000"/>
            </a:xfrm>
            <a:prstGeom prst="line">
              <a:avLst/>
            </a:prstGeom>
            <a:noFill/>
            <a:ln w="57150">
              <a:solidFill>
                <a:srgbClr val="0070C0"/>
              </a:solidFill>
              <a:round/>
              <a:tailEnd type="triangle" w="med" len="med"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30" name="Line 10"/>
            <p:cNvSpPr>
              <a:spLocks noChangeShapeType="1"/>
            </p:cNvSpPr>
            <p:nvPr/>
          </p:nvSpPr>
          <p:spPr bwMode="auto">
            <a:xfrm flipH="1">
              <a:off x="6685580" y="3718430"/>
              <a:ext cx="990600" cy="990600"/>
            </a:xfrm>
            <a:prstGeom prst="line">
              <a:avLst/>
            </a:prstGeom>
            <a:noFill/>
            <a:ln w="57150">
              <a:solidFill>
                <a:srgbClr val="0070C0"/>
              </a:solidFill>
              <a:round/>
              <a:tailEnd type="triangle" w="med" len="med"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31" name="Line 11"/>
            <p:cNvSpPr>
              <a:spLocks noChangeShapeType="1"/>
            </p:cNvSpPr>
            <p:nvPr/>
          </p:nvSpPr>
          <p:spPr bwMode="auto">
            <a:xfrm>
              <a:off x="6380780" y="2880230"/>
              <a:ext cx="533400" cy="381000"/>
            </a:xfrm>
            <a:prstGeom prst="line">
              <a:avLst/>
            </a:prstGeom>
            <a:noFill/>
            <a:ln w="57150">
              <a:solidFill>
                <a:srgbClr val="0070C0"/>
              </a:solidFill>
              <a:round/>
              <a:tailEnd type="triangle" w="med" len="med"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32" name="Line 12"/>
            <p:cNvSpPr>
              <a:spLocks noChangeShapeType="1"/>
            </p:cNvSpPr>
            <p:nvPr/>
          </p:nvSpPr>
          <p:spPr bwMode="auto">
            <a:xfrm>
              <a:off x="7066580" y="3337430"/>
              <a:ext cx="609600" cy="304800"/>
            </a:xfrm>
            <a:prstGeom prst="line">
              <a:avLst/>
            </a:prstGeom>
            <a:noFill/>
            <a:ln w="57150">
              <a:solidFill>
                <a:srgbClr val="0070C0"/>
              </a:solidFill>
              <a:round/>
              <a:tailEnd type="triangle" w="med" len="med"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33" name="Text Box 13"/>
            <p:cNvSpPr txBox="1">
              <a:spLocks noChangeArrowheads="1"/>
            </p:cNvSpPr>
            <p:nvPr/>
          </p:nvSpPr>
          <p:spPr bwMode="auto">
            <a:xfrm>
              <a:off x="7164025" y="1628635"/>
              <a:ext cx="662361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FF0000"/>
                  </a:solidFill>
                </a:rPr>
                <a:t>s(8)</a:t>
              </a:r>
              <a:endParaRPr lang="en-US" altLang="zh-CN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34" name="Text Box 14"/>
            <p:cNvSpPr txBox="1">
              <a:spLocks noChangeArrowheads="1"/>
            </p:cNvSpPr>
            <p:nvPr/>
          </p:nvSpPr>
          <p:spPr bwMode="auto">
            <a:xfrm>
              <a:off x="7747444" y="3457435"/>
              <a:ext cx="755336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70C0"/>
                  </a:solidFill>
                </a:rPr>
                <a:t>A(1)</a:t>
              </a:r>
              <a:endParaRPr lang="en-US" altLang="zh-CN" sz="2400" b="1" dirty="0">
                <a:solidFill>
                  <a:srgbClr val="0070C0"/>
                </a:solidFill>
              </a:endParaRPr>
            </a:p>
          </p:txBody>
        </p:sp>
        <p:sp>
          <p:nvSpPr>
            <p:cNvPr id="35" name="Text Box 15"/>
            <p:cNvSpPr txBox="1">
              <a:spLocks noChangeArrowheads="1"/>
            </p:cNvSpPr>
            <p:nvPr/>
          </p:nvSpPr>
          <p:spPr bwMode="auto">
            <a:xfrm>
              <a:off x="6587236" y="3316456"/>
              <a:ext cx="739305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70C0"/>
                  </a:solidFill>
                </a:rPr>
                <a:t>B(5)</a:t>
              </a:r>
              <a:endParaRPr lang="en-US" altLang="zh-CN" sz="2400" b="1" dirty="0">
                <a:solidFill>
                  <a:srgbClr val="0070C0"/>
                </a:solidFill>
              </a:endParaRPr>
            </a:p>
          </p:txBody>
        </p:sp>
        <p:sp>
          <p:nvSpPr>
            <p:cNvPr id="36" name="Text Box 16"/>
            <p:cNvSpPr txBox="1">
              <a:spLocks noChangeArrowheads="1"/>
            </p:cNvSpPr>
            <p:nvPr/>
          </p:nvSpPr>
          <p:spPr bwMode="auto">
            <a:xfrm>
              <a:off x="5726172" y="2314435"/>
              <a:ext cx="739305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400" b="1">
                  <a:solidFill>
                    <a:srgbClr val="0070C0"/>
                  </a:solidFill>
                </a:rPr>
                <a:t>C(8)</a:t>
              </a:r>
              <a:endParaRPr lang="en-US" altLang="zh-CN" sz="2400" b="1">
                <a:solidFill>
                  <a:srgbClr val="0070C0"/>
                </a:solidFill>
              </a:endParaRPr>
            </a:p>
          </p:txBody>
        </p:sp>
        <p:sp>
          <p:nvSpPr>
            <p:cNvPr id="37" name="Text Box 17"/>
            <p:cNvSpPr txBox="1">
              <a:spLocks noChangeArrowheads="1"/>
            </p:cNvSpPr>
            <p:nvPr/>
          </p:nvSpPr>
          <p:spPr bwMode="auto">
            <a:xfrm>
              <a:off x="6175417" y="5057635"/>
              <a:ext cx="1071127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70C0"/>
                  </a:solidFill>
                </a:rPr>
                <a:t>G </a:t>
              </a:r>
              <a:r>
                <a:rPr lang="zh-CN" altLang="en-US" sz="2400" b="1" dirty="0">
                  <a:solidFill>
                    <a:srgbClr val="0070C0"/>
                  </a:solidFill>
                </a:rPr>
                <a:t>目标</a:t>
              </a:r>
              <a:endParaRPr lang="zh-CN" altLang="en-US" sz="2400" b="1" dirty="0">
                <a:solidFill>
                  <a:srgbClr val="0070C0"/>
                </a:solidFill>
              </a:endParaRPr>
            </a:p>
          </p:txBody>
        </p:sp>
        <p:sp>
          <p:nvSpPr>
            <p:cNvPr id="38" name="Text Box 18"/>
            <p:cNvSpPr txBox="1">
              <a:spLocks noChangeArrowheads="1"/>
            </p:cNvSpPr>
            <p:nvPr/>
          </p:nvSpPr>
          <p:spPr bwMode="auto">
            <a:xfrm>
              <a:off x="7523780" y="2543035"/>
              <a:ext cx="325730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400" b="1">
                  <a:solidFill>
                    <a:srgbClr val="0070C0"/>
                  </a:solidFill>
                </a:rPr>
                <a:t>6</a:t>
              </a:r>
              <a:endParaRPr lang="en-US" altLang="zh-CN" sz="2400" b="1">
                <a:solidFill>
                  <a:srgbClr val="0070C0"/>
                </a:solidFill>
              </a:endParaRPr>
            </a:p>
          </p:txBody>
        </p:sp>
        <p:sp>
          <p:nvSpPr>
            <p:cNvPr id="39" name="Text Box 19"/>
            <p:cNvSpPr txBox="1">
              <a:spLocks noChangeArrowheads="1"/>
            </p:cNvSpPr>
            <p:nvPr/>
          </p:nvSpPr>
          <p:spPr bwMode="auto">
            <a:xfrm>
              <a:off x="6761780" y="2390635"/>
              <a:ext cx="325730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400" b="1">
                  <a:solidFill>
                    <a:srgbClr val="0070C0"/>
                  </a:solidFill>
                </a:rPr>
                <a:t>3</a:t>
              </a:r>
              <a:endParaRPr lang="en-US" altLang="zh-CN" sz="2400" b="1">
                <a:solidFill>
                  <a:srgbClr val="0070C0"/>
                </a:solidFill>
              </a:endParaRPr>
            </a:p>
          </p:txBody>
        </p:sp>
        <p:sp>
          <p:nvSpPr>
            <p:cNvPr id="40" name="Text Box 20"/>
            <p:cNvSpPr txBox="1">
              <a:spLocks noChangeArrowheads="1"/>
            </p:cNvSpPr>
            <p:nvPr/>
          </p:nvSpPr>
          <p:spPr bwMode="auto">
            <a:xfrm>
              <a:off x="6533180" y="1933435"/>
              <a:ext cx="325730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400" b="1">
                  <a:solidFill>
                    <a:srgbClr val="0070C0"/>
                  </a:solidFill>
                </a:rPr>
                <a:t>1</a:t>
              </a:r>
              <a:endParaRPr lang="en-US" altLang="zh-CN" sz="2400" b="1">
                <a:solidFill>
                  <a:srgbClr val="0070C0"/>
                </a:solidFill>
              </a:endParaRPr>
            </a:p>
          </p:txBody>
        </p:sp>
        <p:sp>
          <p:nvSpPr>
            <p:cNvPr id="41" name="Text Box 21"/>
            <p:cNvSpPr txBox="1">
              <a:spLocks noChangeArrowheads="1"/>
            </p:cNvSpPr>
            <p:nvPr/>
          </p:nvSpPr>
          <p:spPr bwMode="auto">
            <a:xfrm>
              <a:off x="6380780" y="2978627"/>
              <a:ext cx="325730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400" b="1" dirty="0">
                  <a:solidFill>
                    <a:srgbClr val="0070C0"/>
                  </a:solidFill>
                </a:rPr>
                <a:t>1</a:t>
              </a:r>
              <a:endParaRPr lang="en-US" altLang="zh-CN" sz="2400" b="1" dirty="0">
                <a:solidFill>
                  <a:srgbClr val="0070C0"/>
                </a:solidFill>
              </a:endParaRPr>
            </a:p>
          </p:txBody>
        </p:sp>
        <p:sp>
          <p:nvSpPr>
            <p:cNvPr id="42" name="Text Box 22"/>
            <p:cNvSpPr txBox="1">
              <a:spLocks noChangeArrowheads="1"/>
            </p:cNvSpPr>
            <p:nvPr/>
          </p:nvSpPr>
          <p:spPr bwMode="auto">
            <a:xfrm>
              <a:off x="7218980" y="3076435"/>
              <a:ext cx="325730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400" b="1" dirty="0">
                  <a:solidFill>
                    <a:srgbClr val="0070C0"/>
                  </a:solidFill>
                </a:rPr>
                <a:t>1</a:t>
              </a:r>
              <a:endParaRPr lang="en-US" altLang="zh-CN" sz="2400" b="1" dirty="0">
                <a:solidFill>
                  <a:srgbClr val="0070C0"/>
                </a:solidFill>
              </a:endParaRPr>
            </a:p>
          </p:txBody>
        </p:sp>
        <p:sp>
          <p:nvSpPr>
            <p:cNvPr id="43" name="Text Box 23"/>
            <p:cNvSpPr txBox="1">
              <a:spLocks noChangeArrowheads="1"/>
            </p:cNvSpPr>
            <p:nvPr/>
          </p:nvSpPr>
          <p:spPr bwMode="auto">
            <a:xfrm>
              <a:off x="6914180" y="3914635"/>
              <a:ext cx="325730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400" b="1">
                  <a:solidFill>
                    <a:srgbClr val="0070C0"/>
                  </a:solidFill>
                </a:rPr>
                <a:t>8</a:t>
              </a:r>
              <a:endParaRPr lang="en-US" altLang="zh-CN" sz="2400" b="1">
                <a:solidFill>
                  <a:srgbClr val="0070C0"/>
                </a:solidFill>
              </a:endParaRPr>
            </a:p>
          </p:txBody>
        </p:sp>
      </p:grpSp>
      <p:grpSp>
        <p:nvGrpSpPr>
          <p:cNvPr id="19" name="组合 18"/>
          <p:cNvGrpSpPr/>
          <p:nvPr>
            <p:custDataLst>
              <p:tags r:id="rId9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4" name="图片 3"/>
          <p:cNvPicPr/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6"/>
    </p:custData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3200" b="1" dirty="0"/>
              <a:t>汉字识别后处理</a:t>
            </a:r>
            <a:endParaRPr lang="zh-CN" altLang="en-US" dirty="0"/>
          </a:p>
        </p:txBody>
      </p:sp>
      <p:sp>
        <p:nvSpPr>
          <p:cNvPr id="99331" name="内容占位符 2"/>
          <p:cNvSpPr>
            <a:spLocks noGrp="1"/>
          </p:cNvSpPr>
          <p:nvPr>
            <p:ph idx="1"/>
          </p:nvPr>
        </p:nvSpPr>
        <p:spPr>
          <a:xfrm>
            <a:off x="914400" y="1630712"/>
            <a:ext cx="7772400" cy="4572000"/>
          </a:xfrm>
        </p:spPr>
        <p:txBody>
          <a:bodyPr/>
          <a:lstStyle/>
          <a:p>
            <a:pPr marL="0" indent="0">
              <a:buNone/>
            </a:pPr>
            <a:endParaRPr lang="zh-CN" altLang="en-US" sz="3200" b="1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9933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EE5BC71-4935-4300-90E6-95E0A720811B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154626" name="Picture 2" descr="F:\人工智能导论\2015本科\杜甫能动.jpg"/>
          <p:cNvPicPr>
            <a:picLocks noChangeAspect="1" noChangeArrowheads="1"/>
          </p:cNvPicPr>
          <p:nvPr/>
        </p:nvPicPr>
        <p:blipFill rotWithShape="1">
          <a:blip r:embed="rId1" cstate="print"/>
          <a:srcRect t="10308" b="8229"/>
          <a:stretch>
            <a:fillRect/>
          </a:stretch>
        </p:blipFill>
        <p:spPr bwMode="auto">
          <a:xfrm>
            <a:off x="1625600" y="2448732"/>
            <a:ext cx="5397500" cy="2929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4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4FA8FA6-509D-45C8-9810-3EE1AA7F8844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汉字识别后处理</a:t>
            </a:r>
            <a:endParaRPr lang="zh-CN" altLang="en-US" dirty="0"/>
          </a:p>
        </p:txBody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zh-CN" altLang="en-US" sz="3200" b="1" dirty="0"/>
              <a:t>一个例子</a:t>
            </a:r>
            <a:endParaRPr lang="zh-CN" altLang="en-US" sz="3200" b="1" dirty="0"/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我钱线载哦栽哉裁劣绥	</a:t>
            </a:r>
            <a:endParaRPr lang="zh-CN" altLang="en-US" sz="2800" b="1" dirty="0"/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优仍们仿伦奶砧犯扔妨</a:t>
            </a:r>
            <a:endParaRPr lang="zh-CN" altLang="en-US" sz="2800" dirty="0"/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要耍密穷安壁驻努窑垂	</a:t>
            </a:r>
            <a:endParaRPr lang="zh-CN" altLang="en-US" sz="2800" b="1" dirty="0"/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扳报叔嵌奴振技寂叙蔽	</a:t>
            </a:r>
            <a:endParaRPr lang="zh-CN" altLang="en-US" sz="2800" b="1" dirty="0"/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奋夯杏蚕香脊秀吞吝番	</a:t>
            </a:r>
            <a:endParaRPr lang="zh-CN" altLang="en-US" sz="2800" b="1" dirty="0"/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精猜指洁括治捐活冶桔	</a:t>
            </a:r>
            <a:endParaRPr lang="zh-CN" altLang="en-US" sz="2800" b="1" dirty="0"/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种神衬祥科钟拌样拎补 	</a:t>
            </a:r>
            <a:endParaRPr lang="zh-CN" altLang="en-US" sz="2800" b="1" dirty="0"/>
          </a:p>
          <a:p>
            <a:pPr eaLnBrk="1" hangingPunct="1">
              <a:lnSpc>
                <a:spcPct val="90000"/>
              </a:lnSpc>
            </a:pPr>
            <a:endParaRPr lang="en-US" altLang="zh-CN" dirty="0"/>
          </a:p>
        </p:txBody>
      </p:sp>
      <p:grpSp>
        <p:nvGrpSpPr>
          <p:cNvPr id="2" name="Group 4"/>
          <p:cNvGrpSpPr/>
          <p:nvPr/>
        </p:nvGrpSpPr>
        <p:grpSpPr bwMode="auto">
          <a:xfrm>
            <a:off x="1347416" y="2763092"/>
            <a:ext cx="2152650" cy="2571750"/>
            <a:chOff x="780" y="2208"/>
            <a:chExt cx="1356" cy="1620"/>
          </a:xfrm>
        </p:grpSpPr>
        <p:sp>
          <p:nvSpPr>
            <p:cNvPr id="100358" name="Line 5"/>
            <p:cNvSpPr>
              <a:spLocks noChangeShapeType="1"/>
            </p:cNvSpPr>
            <p:nvPr/>
          </p:nvSpPr>
          <p:spPr bwMode="auto">
            <a:xfrm flipV="1">
              <a:off x="792" y="2208"/>
              <a:ext cx="228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359" name="Line 6"/>
            <p:cNvSpPr>
              <a:spLocks noChangeShapeType="1"/>
            </p:cNvSpPr>
            <p:nvPr/>
          </p:nvSpPr>
          <p:spPr bwMode="auto">
            <a:xfrm>
              <a:off x="1224" y="2484"/>
              <a:ext cx="216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360" name="Line 7"/>
            <p:cNvSpPr>
              <a:spLocks noChangeShapeType="1"/>
            </p:cNvSpPr>
            <p:nvPr/>
          </p:nvSpPr>
          <p:spPr bwMode="auto">
            <a:xfrm>
              <a:off x="816" y="2746"/>
              <a:ext cx="204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361" name="Line 8"/>
            <p:cNvSpPr>
              <a:spLocks noChangeShapeType="1"/>
            </p:cNvSpPr>
            <p:nvPr/>
          </p:nvSpPr>
          <p:spPr bwMode="auto">
            <a:xfrm>
              <a:off x="1908" y="3012"/>
              <a:ext cx="228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362" name="Line 9"/>
            <p:cNvSpPr>
              <a:spLocks noChangeShapeType="1"/>
            </p:cNvSpPr>
            <p:nvPr/>
          </p:nvSpPr>
          <p:spPr bwMode="auto">
            <a:xfrm flipV="1">
              <a:off x="792" y="3300"/>
              <a:ext cx="240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363" name="Line 10"/>
            <p:cNvSpPr>
              <a:spLocks noChangeShapeType="1"/>
            </p:cNvSpPr>
            <p:nvPr/>
          </p:nvSpPr>
          <p:spPr bwMode="auto">
            <a:xfrm flipV="1">
              <a:off x="780" y="3552"/>
              <a:ext cx="252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364" name="Line 11"/>
            <p:cNvSpPr>
              <a:spLocks noChangeShapeType="1"/>
            </p:cNvSpPr>
            <p:nvPr/>
          </p:nvSpPr>
          <p:spPr bwMode="auto">
            <a:xfrm>
              <a:off x="1008" y="3828"/>
              <a:ext cx="192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" name="右大括号 2"/>
          <p:cNvSpPr/>
          <p:nvPr/>
        </p:nvSpPr>
        <p:spPr>
          <a:xfrm>
            <a:off x="5058267" y="2497970"/>
            <a:ext cx="660099" cy="2571749"/>
          </a:xfrm>
          <a:prstGeom prst="rightBrace">
            <a:avLst>
              <a:gd name="adj1" fmla="val 37785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5641199" y="3522234"/>
                <a:ext cx="298879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zh-CN" altLang="en-US" sz="28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个</m:t>
                    </m:r>
                    <m:r>
                      <a:rPr lang="zh-CN" alt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可能的</m:t>
                    </m:r>
                  </m:oMath>
                </a14:m>
                <a:r>
                  <a:rPr lang="zh-CN" altLang="en-US" sz="2800" dirty="0">
                    <a:solidFill>
                      <a:srgbClr val="FF0000"/>
                    </a:solidFill>
                  </a:rPr>
                  <a:t>句子</a:t>
                </a:r>
                <a:endParaRPr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1199" y="3522234"/>
                <a:ext cx="2988791" cy="523220"/>
              </a:xfrm>
              <a:prstGeom prst="rect">
                <a:avLst/>
              </a:prstGeom>
              <a:blipFill rotWithShape="1">
                <a:blip r:embed="rId1"/>
                <a:stretch>
                  <a:fillRect l="-17" t="-100" r="11" b="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5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E86A172-C417-4AF1-8C42-E35D285F4AE9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2119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47650"/>
            <a:ext cx="7772400" cy="5715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zh-CN" altLang="en-US"/>
              <a:t>汉字识别后处理</a:t>
            </a:r>
            <a:endParaRPr lang="zh-CN" altLang="en-US"/>
          </a:p>
        </p:txBody>
      </p:sp>
      <p:graphicFrame>
        <p:nvGraphicFramePr>
          <p:cNvPr id="211972" name="Object 4"/>
          <p:cNvGraphicFramePr>
            <a:graphicFrameLocks noChangeAspect="1"/>
          </p:cNvGraphicFramePr>
          <p:nvPr/>
        </p:nvGraphicFramePr>
        <p:xfrm>
          <a:off x="1339850" y="1670050"/>
          <a:ext cx="4751388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公式" r:id="rId1" imgW="86156800" imgH="21132800" progId="Equation.3">
                  <p:embed/>
                </p:oleObj>
              </mc:Choice>
              <mc:Fallback>
                <p:oleObj name="公式" r:id="rId1" imgW="86156800" imgH="21132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9850" y="1670050"/>
                        <a:ext cx="4751388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973" name="Object 5"/>
          <p:cNvGraphicFramePr>
            <a:graphicFrameLocks noChangeAspect="1"/>
          </p:cNvGraphicFramePr>
          <p:nvPr/>
        </p:nvGraphicFramePr>
        <p:xfrm>
          <a:off x="1290638" y="1069975"/>
          <a:ext cx="553720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3" imgW="100380800" imgH="10160000" progId="Equation.3">
                  <p:embed/>
                </p:oleObj>
              </mc:Choice>
              <mc:Fallback>
                <p:oleObj name="公式" r:id="rId3" imgW="100380800" imgH="10160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0638" y="1069975"/>
                        <a:ext cx="5537200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6"/>
          <p:cNvGrpSpPr/>
          <p:nvPr/>
        </p:nvGrpSpPr>
        <p:grpSpPr bwMode="auto">
          <a:xfrm>
            <a:off x="1279525" y="2736850"/>
            <a:ext cx="6126163" cy="1136650"/>
            <a:chOff x="806" y="1724"/>
            <a:chExt cx="3859" cy="716"/>
          </a:xfrm>
        </p:grpSpPr>
        <p:sp>
          <p:nvSpPr>
            <p:cNvPr id="20499" name="Text Box 7"/>
            <p:cNvSpPr txBox="1">
              <a:spLocks noChangeArrowheads="1"/>
            </p:cNvSpPr>
            <p:nvPr/>
          </p:nvSpPr>
          <p:spPr bwMode="auto">
            <a:xfrm>
              <a:off x="806" y="1942"/>
              <a:ext cx="1321" cy="3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800" b="1" dirty="0"/>
                <a:t>二元语法时：</a:t>
              </a:r>
              <a:endParaRPr lang="zh-CN" altLang="en-US" sz="2400" b="1" dirty="0"/>
            </a:p>
          </p:txBody>
        </p:sp>
        <p:graphicFrame>
          <p:nvGraphicFramePr>
            <p:cNvPr id="20487" name="Object 8"/>
            <p:cNvGraphicFramePr>
              <a:graphicFrameLocks noChangeAspect="1"/>
            </p:cNvGraphicFramePr>
            <p:nvPr/>
          </p:nvGraphicFramePr>
          <p:xfrm>
            <a:off x="2152" y="1724"/>
            <a:ext cx="2513" cy="7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公式" r:id="rId5" imgW="72339200" imgH="21132800" progId="Equation.3">
                    <p:embed/>
                  </p:oleObj>
                </mc:Choice>
                <mc:Fallback>
                  <p:oleObj name="公式" r:id="rId5" imgW="72339200" imgH="211328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2" y="1724"/>
                          <a:ext cx="2513" cy="7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9"/>
          <p:cNvGrpSpPr/>
          <p:nvPr/>
        </p:nvGrpSpPr>
        <p:grpSpPr bwMode="auto">
          <a:xfrm>
            <a:off x="1363663" y="3913191"/>
            <a:ext cx="2155824" cy="547688"/>
            <a:chOff x="859" y="2465"/>
            <a:chExt cx="1358" cy="345"/>
          </a:xfrm>
        </p:grpSpPr>
        <p:graphicFrame>
          <p:nvGraphicFramePr>
            <p:cNvPr id="20486" name="Object 10"/>
            <p:cNvGraphicFramePr>
              <a:graphicFrameLocks noChangeAspect="1"/>
            </p:cNvGraphicFramePr>
            <p:nvPr/>
          </p:nvGraphicFramePr>
          <p:xfrm>
            <a:off x="859" y="2481"/>
            <a:ext cx="636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公式" r:id="rId7" imgW="18288000" imgH="9753600" progId="Equation.3">
                    <p:embed/>
                  </p:oleObj>
                </mc:Choice>
                <mc:Fallback>
                  <p:oleObj name="公式" r:id="rId7" imgW="18288000" imgH="97536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9" y="2481"/>
                          <a:ext cx="636" cy="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8" name="Text Box 11"/>
            <p:cNvSpPr txBox="1">
              <a:spLocks noChangeArrowheads="1"/>
            </p:cNvSpPr>
            <p:nvPr/>
          </p:nvSpPr>
          <p:spPr bwMode="auto">
            <a:xfrm>
              <a:off x="1516" y="2465"/>
              <a:ext cx="701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1" dirty="0"/>
                <a:t>为常量</a:t>
              </a:r>
              <a:endParaRPr lang="zh-CN" altLang="en-US" sz="2400" b="1" dirty="0"/>
            </a:p>
          </p:txBody>
        </p:sp>
      </p:grpSp>
      <p:grpSp>
        <p:nvGrpSpPr>
          <p:cNvPr id="7" name="Group 12"/>
          <p:cNvGrpSpPr/>
          <p:nvPr/>
        </p:nvGrpSpPr>
        <p:grpSpPr bwMode="auto">
          <a:xfrm>
            <a:off x="1436688" y="4586288"/>
            <a:ext cx="4268789" cy="522287"/>
            <a:chOff x="905" y="2889"/>
            <a:chExt cx="2689" cy="329"/>
          </a:xfrm>
        </p:grpSpPr>
        <p:graphicFrame>
          <p:nvGraphicFramePr>
            <p:cNvPr id="20485" name="Object 13"/>
            <p:cNvGraphicFramePr>
              <a:graphicFrameLocks noChangeAspect="1"/>
            </p:cNvGraphicFramePr>
            <p:nvPr/>
          </p:nvGraphicFramePr>
          <p:xfrm>
            <a:off x="905" y="2889"/>
            <a:ext cx="975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公式" r:id="rId9" imgW="28041600" imgH="9753600" progId="Equation.3">
                    <p:embed/>
                  </p:oleObj>
                </mc:Choice>
                <mc:Fallback>
                  <p:oleObj name="公式" r:id="rId9" imgW="28041600" imgH="97536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5" y="2889"/>
                          <a:ext cx="975" cy="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7" name="Text Box 14"/>
            <p:cNvSpPr txBox="1">
              <a:spLocks noChangeArrowheads="1"/>
            </p:cNvSpPr>
            <p:nvPr/>
          </p:nvSpPr>
          <p:spPr bwMode="auto">
            <a:xfrm>
              <a:off x="1880" y="2918"/>
              <a:ext cx="1714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1" dirty="0"/>
                <a:t>用识别信度</a:t>
              </a:r>
              <a:r>
                <a:rPr lang="en-US" altLang="zh-CN" sz="2400" b="1" dirty="0"/>
                <a:t>CF</a:t>
              </a:r>
              <a:r>
                <a:rPr lang="zh-CN" altLang="en-US" sz="2400" b="1" dirty="0"/>
                <a:t>代替</a:t>
              </a:r>
              <a:endParaRPr lang="zh-CN" altLang="en-US" sz="2400" b="1" dirty="0"/>
            </a:p>
          </p:txBody>
        </p:sp>
      </p:grpSp>
      <p:grpSp>
        <p:nvGrpSpPr>
          <p:cNvPr id="9" name="Group 15"/>
          <p:cNvGrpSpPr/>
          <p:nvPr/>
        </p:nvGrpSpPr>
        <p:grpSpPr bwMode="auto">
          <a:xfrm>
            <a:off x="1122364" y="5080000"/>
            <a:ext cx="7042152" cy="1136650"/>
            <a:chOff x="707" y="3200"/>
            <a:chExt cx="4436" cy="716"/>
          </a:xfrm>
        </p:grpSpPr>
        <p:sp>
          <p:nvSpPr>
            <p:cNvPr id="20495" name="Text Box 16"/>
            <p:cNvSpPr txBox="1">
              <a:spLocks noChangeArrowheads="1"/>
            </p:cNvSpPr>
            <p:nvPr/>
          </p:nvSpPr>
          <p:spPr bwMode="auto">
            <a:xfrm>
              <a:off x="707" y="3399"/>
              <a:ext cx="1252" cy="3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800" b="1" dirty="0"/>
                <a:t>问题变为求</a:t>
              </a:r>
              <a:endParaRPr lang="zh-CN" altLang="en-US" sz="2800" b="1" dirty="0"/>
            </a:p>
          </p:txBody>
        </p:sp>
        <p:graphicFrame>
          <p:nvGraphicFramePr>
            <p:cNvPr id="20484" name="Object 17"/>
            <p:cNvGraphicFramePr>
              <a:graphicFrameLocks noChangeAspect="1"/>
            </p:cNvGraphicFramePr>
            <p:nvPr/>
          </p:nvGraphicFramePr>
          <p:xfrm>
            <a:off x="2025" y="3200"/>
            <a:ext cx="2527" cy="7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" name="公式" r:id="rId11" imgW="72745600" imgH="21132800" progId="Equation.3">
                    <p:embed/>
                  </p:oleObj>
                </mc:Choice>
                <mc:Fallback>
                  <p:oleObj name="公式" r:id="rId11" imgW="72745600" imgH="2113280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25" y="3200"/>
                          <a:ext cx="2527" cy="7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6" name="Text Box 18"/>
            <p:cNvSpPr txBox="1">
              <a:spLocks noChangeArrowheads="1"/>
            </p:cNvSpPr>
            <p:nvPr/>
          </p:nvSpPr>
          <p:spPr bwMode="auto">
            <a:xfrm>
              <a:off x="4637" y="3389"/>
              <a:ext cx="506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1"/>
                <a:t>最大</a:t>
              </a:r>
              <a:endParaRPr lang="zh-CN" altLang="en-US" sz="2400" b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Item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Item"/>
</p:tagLst>
</file>

<file path=ppt/tags/tag5.xml><?xml version="1.0" encoding="utf-8"?>
<p:tagLst xmlns:p="http://schemas.openxmlformats.org/presentationml/2006/main">
  <p:tag name="RAINPROBLEM" val="ProblemItem"/>
</p:tagLst>
</file>

<file path=ppt/tags/tag6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7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8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9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10.xml><?xml version="1.0" encoding="utf-8"?>
<p:tagLst xmlns:p="http://schemas.openxmlformats.org/presentationml/2006/main">
  <p:tag name="RAINPROBLEM" val="ProblemSubmit"/>
  <p:tag name="RAINPROBLEMTYPE" val="MultipleChoiceMA"/>
</p:tagLst>
</file>

<file path=ppt/tags/tag11.xml><?xml version="1.0" encoding="utf-8"?>
<p:tagLst xmlns:p="http://schemas.openxmlformats.org/presentationml/2006/main">
  <p:tag name="RAINPROBLEM" val="ProblemItem"/>
</p:tagLst>
</file>

<file path=ppt/tags/tag12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</p:tagLst>
</file>

<file path=ppt/tags/tag16.xml><?xml version="1.0" encoding="utf-8"?>
<p:tagLst xmlns:p="http://schemas.openxmlformats.org/presentationml/2006/main">
  <p:tag name="RAINPROBLEMTYPE" val="ProblemTypeMarker"/>
</p:tagLst>
</file>

<file path=ppt/tags/tag17.xml><?xml version="1.0" encoding="utf-8"?>
<p:tagLst xmlns:p="http://schemas.openxmlformats.org/presentationml/2006/main">
  <p:tag name="RAINPROBLEMTYPE" val="ProblemTypeMarker"/>
</p:tagLst>
</file>

<file path=ppt/tags/tag18.xml><?xml version="1.0" encoding="utf-8"?>
<p:tagLst xmlns:p="http://schemas.openxmlformats.org/presentationml/2006/main">
  <p:tag name="RAINPROBLEM" val="ProblemSetting"/>
  <p:tag name="RAINPROBLEMTYPE" val="MultipleChoiceMA"/>
</p:tagLst>
</file>

<file path=ppt/tags/tag19.xml><?xml version="1.0" encoding="utf-8"?>
<p:tagLst xmlns:p="http://schemas.openxmlformats.org/presentationml/2006/main">
  <p:tag name="RAINPROBLEM" val="MultipleChoiceMA"/>
  <p:tag name="PROBLEMSCORE" val="1.0"/>
  <p:tag name="PROBLEMSCORE_HALF" val="0.0"/>
</p:tagLst>
</file>

<file path=ppt/tags/tag20.xml><?xml version="1.0" encoding="utf-8"?>
<p:tagLst xmlns:p="http://schemas.openxmlformats.org/presentationml/2006/main">
  <p:tag name="RAINPROBLEM" val="ProblemBody"/>
</p:tagLst>
</file>

<file path=ppt/tags/tag21.xml><?xml version="1.0" encoding="utf-8"?>
<p:tagLst xmlns:p="http://schemas.openxmlformats.org/presentationml/2006/main">
  <p:tag name="RAINPROBLEM" val="ProblemItem"/>
</p:tagLst>
</file>

<file path=ppt/tags/tag22.xml><?xml version="1.0" encoding="utf-8"?>
<p:tagLst xmlns:p="http://schemas.openxmlformats.org/presentationml/2006/main">
  <p:tag name="RAINPROBLEM" val="ProblemItem"/>
</p:tagLst>
</file>

<file path=ppt/tags/tag23.xml><?xml version="1.0" encoding="utf-8"?>
<p:tagLst xmlns:p="http://schemas.openxmlformats.org/presentationml/2006/main">
  <p:tag name="RAINPROBLEM" val="ProblemItem"/>
</p:tagLst>
</file>

<file path=ppt/tags/tag2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p="http://schemas.openxmlformats.org/presentationml/2006/main">
  <p:tag name="RAINPROBLEM" val="ProblemSubmit"/>
  <p:tag name="RAINPROBLEMTYPE" val="MultipleChoice"/>
</p:tagLst>
</file>

<file path=ppt/tags/tag28.xml><?xml version="1.0" encoding="utf-8"?>
<p:tagLst xmlns:p="http://schemas.openxmlformats.org/presentationml/2006/main">
  <p:tag name="RAINPROBLEMTYPE" val="ProblemTypeMarker"/>
</p:tagLst>
</file>

<file path=ppt/tags/tag29.xml><?xml version="1.0" encoding="utf-8"?>
<p:tagLst xmlns:p="http://schemas.openxmlformats.org/presentationml/2006/main">
  <p:tag name="RAINPROBLEMTYPE" val="ProblemTypeMarker"/>
</p:tagLst>
</file>

<file path=ppt/tags/tag30.xml><?xml version="1.0" encoding="utf-8"?>
<p:tagLst xmlns:p="http://schemas.openxmlformats.org/presentationml/2006/main">
  <p:tag name="RAINPROBLEMTYPE" val="ProblemTypeMarker"/>
</p:tagLst>
</file>

<file path=ppt/tags/tag31.xml><?xml version="1.0" encoding="utf-8"?>
<p:tagLst xmlns:p="http://schemas.openxmlformats.org/presentationml/2006/main">
  <p:tag name="RAINPROBLEMTYPE" val="ProblemTypeMarker"/>
</p:tagLst>
</file>

<file path=ppt/tags/tag32.xml><?xml version="1.0" encoding="utf-8"?>
<p:tagLst xmlns:p="http://schemas.openxmlformats.org/presentationml/2006/main">
  <p:tag name="RAINPROBLEMTYPE" val="ProblemTypeMarker"/>
</p:tagLst>
</file>

<file path=ppt/tags/tag33.xml><?xml version="1.0" encoding="utf-8"?>
<p:tagLst xmlns:p="http://schemas.openxmlformats.org/presentationml/2006/main">
  <p:tag name="RAINPROBLEM" val="ProblemSetting"/>
  <p:tag name="RAINPROBLEMTYPE" val="MultipleChoice"/>
</p:tagLst>
</file>

<file path=ppt/tags/tag34.xml><?xml version="1.0" encoding="utf-8"?>
<p:tagLst xmlns:p="http://schemas.openxmlformats.org/presentationml/2006/main">
  <p:tag name="RAINPROBLEM" val="MultipleChoice"/>
  <p:tag name="PROBLEMSCORE" val="1.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0</TotalTime>
  <Words>10392</Words>
  <Application>WPS 演示</Application>
  <PresentationFormat>On-screen Show (4:3)</PresentationFormat>
  <Paragraphs>2098</Paragraphs>
  <Slides>98</Slides>
  <Notes>68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29</vt:i4>
      </vt:variant>
      <vt:variant>
        <vt:lpstr>幻灯片标题</vt:lpstr>
      </vt:variant>
      <vt:variant>
        <vt:i4>98</vt:i4>
      </vt:variant>
    </vt:vector>
  </HeadingPairs>
  <TitlesOfParts>
    <vt:vector size="146" baseType="lpstr">
      <vt:lpstr>Arial</vt:lpstr>
      <vt:lpstr>宋体</vt:lpstr>
      <vt:lpstr>Wingdings</vt:lpstr>
      <vt:lpstr>Wingdings 2</vt:lpstr>
      <vt:lpstr>Times New Roman</vt:lpstr>
      <vt:lpstr>黑体</vt:lpstr>
      <vt:lpstr>Arial Black</vt:lpstr>
      <vt:lpstr>Perpetua</vt:lpstr>
      <vt:lpstr>幼圆</vt:lpstr>
      <vt:lpstr>微软雅黑</vt:lpstr>
      <vt:lpstr>Arial Unicode MS</vt:lpstr>
      <vt:lpstr>Franklin Gothic Book</vt:lpstr>
      <vt:lpstr>Calibri</vt:lpstr>
      <vt:lpstr>等线</vt:lpstr>
      <vt:lpstr>Symbol</vt:lpstr>
      <vt:lpstr>Cambria Math</vt:lpstr>
      <vt:lpstr>HGｺﾞｼｯｸM</vt:lpstr>
      <vt:lpstr>Segoe Print</vt:lpstr>
      <vt:lpstr>Equity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Word.Document.8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第一章 搜索问题</vt:lpstr>
      <vt:lpstr>搜索问题</vt:lpstr>
      <vt:lpstr>搜索问题</vt:lpstr>
      <vt:lpstr>蛮力搜索与启发式搜索</vt:lpstr>
      <vt:lpstr>搜索</vt:lpstr>
      <vt:lpstr>1.1 深度优先搜索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深度优先搜索的性质</vt:lpstr>
      <vt:lpstr>练习题</vt:lpstr>
      <vt:lpstr>1.2 宽度优先搜索</vt:lpstr>
      <vt:lpstr>PowerPoint 演示文稿</vt:lpstr>
      <vt:lpstr>宽度优先搜索的性质</vt:lpstr>
      <vt:lpstr>1.3 迪杰斯特拉（Dijkstra）算法</vt:lpstr>
      <vt:lpstr>PowerPoint 演示文稿</vt:lpstr>
      <vt:lpstr>迪杰斯特拉（Dijkstra）算法</vt:lpstr>
      <vt:lpstr>迪杰斯特拉（Dijkstra）算法</vt:lpstr>
      <vt:lpstr>1.4 启发式图搜索</vt:lpstr>
      <vt:lpstr>1.4 启发式图搜索</vt:lpstr>
      <vt:lpstr>1.4.1 启发式搜索算法A（A算法）</vt:lpstr>
      <vt:lpstr>符号的意义</vt:lpstr>
      <vt:lpstr>举例</vt:lpstr>
      <vt:lpstr>PowerPoint 演示文稿</vt:lpstr>
      <vt:lpstr>PowerPoint 演示文稿</vt:lpstr>
      <vt:lpstr>A算法</vt:lpstr>
      <vt:lpstr>PowerPoint 演示文稿</vt:lpstr>
      <vt:lpstr>如何得到解路径？</vt:lpstr>
      <vt:lpstr>前情回顾：蛮力搜索与启发式搜索</vt:lpstr>
      <vt:lpstr>前情回顾：A算法</vt:lpstr>
      <vt:lpstr>前情回顾：A算法</vt:lpstr>
      <vt:lpstr>一个A算法的例子：八数码问题</vt:lpstr>
      <vt:lpstr>h计算举例</vt:lpstr>
      <vt:lpstr>PowerPoint 演示文稿</vt:lpstr>
      <vt:lpstr>1.4.2 最佳图搜索算法A*（A*算法）</vt:lpstr>
      <vt:lpstr>A*条件举例</vt:lpstr>
      <vt:lpstr>定义h函数的一般原则</vt:lpstr>
      <vt:lpstr>A*算法的主要结论</vt:lpstr>
      <vt:lpstr>PowerPoint 演示文稿</vt:lpstr>
      <vt:lpstr>PowerPoint 演示文稿</vt:lpstr>
      <vt:lpstr>PowerPoint 演示文稿</vt:lpstr>
      <vt:lpstr>1.4.3 A*算法的改进</vt:lpstr>
      <vt:lpstr>解决的途径</vt:lpstr>
      <vt:lpstr>改进应满足的条件</vt:lpstr>
      <vt:lpstr>合理的h函数应该满足的条件</vt:lpstr>
      <vt:lpstr>对h加以限制</vt:lpstr>
      <vt:lpstr>h单调的性质</vt:lpstr>
      <vt:lpstr>PowerPoint 演示文稿</vt:lpstr>
      <vt:lpstr>PowerPoint 演示文稿</vt:lpstr>
      <vt:lpstr>h单调的例子</vt:lpstr>
      <vt:lpstr>对算法加以改进</vt:lpstr>
      <vt:lpstr>改进的出发点</vt:lpstr>
      <vt:lpstr>修正的A*算法</vt:lpstr>
      <vt:lpstr>PowerPoint 演示文稿</vt:lpstr>
      <vt:lpstr>PowerPoint 演示文稿</vt:lpstr>
      <vt:lpstr>PowerPoint 演示文稿</vt:lpstr>
      <vt:lpstr>思考题</vt:lpstr>
      <vt:lpstr>1.5 其他的搜索算法</vt:lpstr>
      <vt:lpstr>其他的搜索算法</vt:lpstr>
      <vt:lpstr>动态规划：viterbi算法</vt:lpstr>
      <vt:lpstr>PowerPoint 演示文稿</vt:lpstr>
      <vt:lpstr>1.6 搜索算法实用举例拼音输入法</vt:lpstr>
      <vt:lpstr>拼音输入法</vt:lpstr>
      <vt:lpstr>拼音输入法</vt:lpstr>
      <vt:lpstr>拼音输入法</vt:lpstr>
      <vt:lpstr>拼音输入法</vt:lpstr>
      <vt:lpstr>拼音输入法</vt:lpstr>
      <vt:lpstr>拼音输入法</vt:lpstr>
      <vt:lpstr>拼音输入法</vt:lpstr>
      <vt:lpstr>PowerPoint 演示文稿</vt:lpstr>
      <vt:lpstr>PowerPoint 演示文稿</vt:lpstr>
      <vt:lpstr>编程作业1</vt:lpstr>
      <vt:lpstr>小结</vt:lpstr>
      <vt:lpstr>搜索问题</vt:lpstr>
      <vt:lpstr>搜索问题</vt:lpstr>
      <vt:lpstr>以传教士与野人问题为例探索h函数</vt:lpstr>
      <vt:lpstr>以传教士与野人问题为例探索h函数</vt:lpstr>
      <vt:lpstr>PowerPoint 演示文稿</vt:lpstr>
      <vt:lpstr>PowerPoint 演示文稿</vt:lpstr>
      <vt:lpstr>PowerPoint 演示文稿</vt:lpstr>
      <vt:lpstr>思考题</vt:lpstr>
      <vt:lpstr>对h的评价方法</vt:lpstr>
      <vt:lpstr>对h的评价举例</vt:lpstr>
      <vt:lpstr>练习题</vt:lpstr>
      <vt:lpstr>PowerPoint 演示文稿</vt:lpstr>
      <vt:lpstr>汉字识别后处理</vt:lpstr>
      <vt:lpstr>汉字识别后处理</vt:lpstr>
      <vt:lpstr>汉字识别后处理</vt:lpstr>
    </vt:vector>
  </TitlesOfParts>
  <Company>Carnegie Mellon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Infinite SVM: a DP Mixture of Large-margin Kernel Machines</dc:title>
  <dc:creator>SCS</dc:creator>
  <cp:lastModifiedBy>张芝源(2024010701)</cp:lastModifiedBy>
  <cp:revision>7126</cp:revision>
  <cp:lastPrinted>2024-10-08T06:37:00Z</cp:lastPrinted>
  <dcterms:created xsi:type="dcterms:W3CDTF">2011-04-24T18:48:00Z</dcterms:created>
  <dcterms:modified xsi:type="dcterms:W3CDTF">2026-06-17T14:18:54Z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E6D3D936191E4CA1AF410710AFB7E98B_12</vt:lpwstr>
  </property>
  <property fmtid="{D5CDD505-2E9C-101B-9397-08002B2CF9AE}" pid="3" name="KSOProductBuildVer">
    <vt:lpwstr>2052-12.1.0.26375</vt:lpwstr>
  </property>
</Properties>
</file>