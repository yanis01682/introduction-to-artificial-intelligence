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gif" ContentType="image/gif"/>
  <Default Extension="wmf" ContentType="image/x-wmf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661" r:id="rId3"/>
    <p:sldId id="662" r:id="rId5"/>
    <p:sldId id="663" r:id="rId6"/>
    <p:sldId id="664" r:id="rId7"/>
    <p:sldId id="665" r:id="rId8"/>
    <p:sldId id="666" r:id="rId9"/>
    <p:sldId id="667" r:id="rId10"/>
    <p:sldId id="668" r:id="rId11"/>
    <p:sldId id="669" r:id="rId12"/>
    <p:sldId id="670" r:id="rId13"/>
    <p:sldId id="671" r:id="rId14"/>
    <p:sldId id="672" r:id="rId15"/>
    <p:sldId id="673" r:id="rId16"/>
    <p:sldId id="674" r:id="rId17"/>
    <p:sldId id="675" r:id="rId18"/>
    <p:sldId id="676" r:id="rId19"/>
    <p:sldId id="677" r:id="rId20"/>
    <p:sldId id="678" r:id="rId21"/>
    <p:sldId id="679" r:id="rId22"/>
    <p:sldId id="680" r:id="rId23"/>
    <p:sldId id="681" r:id="rId24"/>
    <p:sldId id="682" r:id="rId25"/>
    <p:sldId id="683" r:id="rId26"/>
    <p:sldId id="684" r:id="rId27"/>
    <p:sldId id="685" r:id="rId28"/>
    <p:sldId id="686" r:id="rId29"/>
    <p:sldId id="687" r:id="rId30"/>
    <p:sldId id="688" r:id="rId31"/>
    <p:sldId id="689" r:id="rId32"/>
    <p:sldId id="690" r:id="rId33"/>
    <p:sldId id="691" r:id="rId34"/>
    <p:sldId id="692" r:id="rId35"/>
    <p:sldId id="693" r:id="rId36"/>
    <p:sldId id="705" r:id="rId37"/>
    <p:sldId id="694" r:id="rId38"/>
    <p:sldId id="704" r:id="rId39"/>
    <p:sldId id="707" r:id="rId40"/>
    <p:sldId id="706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13堂课第二节" id="{FEF1696F-C3DB-BB43-ACD1-96DAA1ECC93C}">
          <p14:sldIdLst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</p14:sldIdLst>
        </p14:section>
        <p14:section name="第14堂课第一节" id="{9A86DB1B-5F12-AA48-9589-BF677DDCA11F}">
          <p14:sldIdLst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</p14:sldIdLst>
        </p14:section>
        <p14:section name="第14堂课第二节 （半）" id="{366D48A5-0A3B-1645-AA2E-1291E3B5C801}">
          <p14:sldIdLst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705"/>
            <p14:sldId id="694"/>
            <p14:sldId id="704"/>
            <p14:sldId id="707"/>
            <p14:sldId id="7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39B"/>
    <a:srgbClr val="E6AF00"/>
    <a:srgbClr val="FFC000"/>
    <a:srgbClr val="FEC200"/>
    <a:srgbClr val="0000FF"/>
    <a:srgbClr val="2B11EF"/>
    <a:srgbClr val="EFF343"/>
    <a:srgbClr val="86F260"/>
    <a:srgbClr val="ECF127"/>
    <a:srgbClr val="FB8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246" autoAdjust="0"/>
    <p:restoredTop sz="96921" autoAdjust="0"/>
  </p:normalViewPr>
  <p:slideViewPr>
    <p:cSldViewPr snapToGrid="0" showGuides="1">
      <p:cViewPr varScale="1">
        <p:scale>
          <a:sx n="151" d="100"/>
          <a:sy n="151" d="100"/>
        </p:scale>
        <p:origin x="51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A66E1-596A-496E-B96E-FE454130F1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3B57A-208D-4E21-8008-BCE8E94FCB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2705F-8347-41A8-82E6-B2920132BF3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真的么？不见得哦，苏格兰帅哥也可以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决策主要看的是概率，不是单个</a:t>
            </a:r>
            <a:r>
              <a:rPr kumimoji="1" lang="en-US" altLang="zh-CN" dirty="0"/>
              <a:t>case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决策树的构建方式不唯一，那哪一种更好呢？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66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>
                <a:ea typeface="黑体" panose="02010609060101010101" pitchFamily="49" charset="-122"/>
              </a:rPr>
              <a:t>完全无矛盾的决策树可能不存在，或者过拟合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566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EB5AB2-98D0-4612-B044-9EA5A3373FA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X</a:t>
            </a:r>
            <a:r>
              <a:rPr kumimoji="1" lang="zh-CN" altLang="en-US" dirty="0"/>
              <a:t>是一个变量（特征），</a:t>
            </a:r>
            <a:r>
              <a:rPr kumimoji="1" lang="en-US" altLang="zh-CN" dirty="0" err="1"/>
              <a:t>x_i</a:t>
            </a:r>
            <a:r>
              <a:rPr kumimoji="1" lang="zh-CN" altLang="en-US" dirty="0"/>
              <a:t>表示</a:t>
            </a:r>
            <a:r>
              <a:rPr kumimoji="1" lang="en-US" altLang="zh-CN" dirty="0"/>
              <a:t>X</a:t>
            </a:r>
            <a:r>
              <a:rPr kumimoji="1" lang="zh-CN" altLang="en-US" dirty="0"/>
              <a:t>的可能取值，总共有</a:t>
            </a:r>
            <a:r>
              <a:rPr kumimoji="1" lang="en-US" altLang="zh-CN" dirty="0"/>
              <a:t>n</a:t>
            </a:r>
            <a:r>
              <a:rPr kumimoji="1" lang="zh-CN" altLang="en-US" dirty="0"/>
              <a:t>个可能取值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76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第</a:t>
            </a:r>
            <a:r>
              <a:rPr lang="en-US" altLang="zh-CN" dirty="0">
                <a:ea typeface="黑体" panose="02010609060101010101" pitchFamily="49" charset="-122"/>
              </a:rPr>
              <a:t>13</a:t>
            </a:r>
            <a:r>
              <a:rPr lang="zh-CN" altLang="en-US" dirty="0">
                <a:ea typeface="黑体" panose="02010609060101010101" pitchFamily="49" charset="-122"/>
              </a:rPr>
              <a:t>堂课</a:t>
            </a:r>
            <a:r>
              <a:rPr lang="zh-CN" altLang="en-US">
                <a:ea typeface="黑体" panose="02010609060101010101" pitchFamily="49" charset="-122"/>
              </a:rPr>
              <a:t>第二节结束</a:t>
            </a: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577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0A8296-C142-422E-B29E-D1BC0446F02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87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587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C58FBF-F393-47C8-9376-7570EF7E418B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详细的讲解计算过程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20220530 </a:t>
            </a:r>
            <a:r>
              <a:rPr lang="zh-CN" altLang="en-US"/>
              <a:t>导论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97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</a:rPr>
              <a:t>一个属性有很多取值，划分成很多不同的子集，就说明该属性的熵大。除以</a:t>
            </a:r>
            <a:r>
              <a:rPr lang="en-US" altLang="zh-CN" dirty="0">
                <a:ea typeface="黑体" panose="02010609060101010101" pitchFamily="49" charset="-122"/>
              </a:rPr>
              <a:t>HA(D)</a:t>
            </a:r>
            <a:r>
              <a:rPr lang="zh-CN" altLang="en-US" dirty="0">
                <a:ea typeface="黑体" panose="02010609060101010101" pitchFamily="49" charset="-122"/>
              </a:rPr>
              <a:t>以避免划分太细的特征。</a:t>
            </a:r>
            <a:endParaRPr lang="en-US" altLang="zh-CN" dirty="0">
              <a:ea typeface="黑体" panose="02010609060101010101" pitchFamily="49" charset="-122"/>
            </a:endParaRPr>
          </a:p>
          <a:p>
            <a:endParaRPr lang="en-US" altLang="zh-CN" dirty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平均分两类： </a:t>
            </a:r>
            <a:r>
              <a:rPr lang="en-US" altLang="zh-CN" dirty="0">
                <a:ea typeface="黑体" panose="02010609060101010101" pitchFamily="49" charset="-122"/>
              </a:rPr>
              <a:t>-log(1/2)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log(2)</a:t>
            </a:r>
            <a:endParaRPr lang="en-US" altLang="zh-CN" dirty="0">
              <a:ea typeface="黑体" panose="02010609060101010101" pitchFamily="49" charset="-122"/>
            </a:endParaRPr>
          </a:p>
          <a:p>
            <a:r>
              <a:rPr lang="zh-CN" altLang="en-US" dirty="0">
                <a:ea typeface="黑体" panose="02010609060101010101" pitchFamily="49" charset="-122"/>
              </a:rPr>
              <a:t>平均分</a:t>
            </a:r>
            <a:r>
              <a:rPr lang="en-US" altLang="zh-CN" dirty="0">
                <a:ea typeface="黑体" panose="02010609060101010101" pitchFamily="49" charset="-122"/>
              </a:rPr>
              <a:t>n</a:t>
            </a:r>
            <a:r>
              <a:rPr lang="zh-CN" altLang="en-US" dirty="0">
                <a:ea typeface="黑体" panose="02010609060101010101" pitchFamily="49" charset="-122"/>
              </a:rPr>
              <a:t>类：</a:t>
            </a:r>
            <a:r>
              <a:rPr lang="en-US" altLang="zh-CN" dirty="0">
                <a:ea typeface="黑体" panose="02010609060101010101" pitchFamily="49" charset="-122"/>
              </a:rPr>
              <a:t>-log(1/n)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=</a:t>
            </a:r>
            <a:r>
              <a:rPr lang="zh-CN" altLang="en-US" dirty="0">
                <a:ea typeface="黑体" panose="02010609060101010101" pitchFamily="49" charset="-122"/>
              </a:rPr>
              <a:t> </a:t>
            </a:r>
            <a:r>
              <a:rPr lang="en-US" altLang="zh-CN" dirty="0">
                <a:ea typeface="黑体" panose="02010609060101010101" pitchFamily="49" charset="-122"/>
              </a:rPr>
              <a:t>log(n)</a:t>
            </a:r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597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53F01C-8DE6-4205-9166-4DFB58485CAE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14</a:t>
            </a:r>
            <a:r>
              <a:rPr kumimoji="1" lang="zh-CN" altLang="en-US" dirty="0"/>
              <a:t>堂课第一节结束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只离散化成两部分，（如果要要是三部分呢？）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极端情况的二分类，全放到一个类里，信息熵是</a:t>
            </a:r>
            <a:r>
              <a:rPr kumimoji="1" lang="en-US" altLang="zh-CN" dirty="0"/>
              <a:t>0</a:t>
            </a:r>
            <a:r>
              <a:rPr kumimoji="1" lang="zh-CN" altLang="en-US" dirty="0"/>
              <a:t>，增益比是无穷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横坐标是树的规模</a:t>
            </a:r>
            <a:endParaRPr lang="en-US" altLang="zh-CN" dirty="0"/>
          </a:p>
          <a:p>
            <a:r>
              <a:rPr lang="zh-CN" altLang="en-US" dirty="0"/>
              <a:t>怎么解决这个问题？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903F7A-011F-4D8E-96A3-93FAAA071DB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有足够多的数据时可以把数据分成好多份，训练多个树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样本不够多时，随机采样同一个数据集构建多个数据组，也可以对特征进行采样构造数据组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有放回的采样，就是采完了放回去，这样从</a:t>
            </a:r>
            <a:r>
              <a:rPr lang="en-US" altLang="zh-CN" dirty="0"/>
              <a:t>N</a:t>
            </a:r>
            <a:r>
              <a:rPr lang="zh-CN" altLang="en-US" dirty="0"/>
              <a:t>个数据构成的数据集采样</a:t>
            </a:r>
            <a:r>
              <a:rPr lang="en-US" altLang="zh-CN" dirty="0"/>
              <a:t>N</a:t>
            </a:r>
            <a:r>
              <a:rPr lang="zh-CN" altLang="en-US" dirty="0"/>
              <a:t>次，获得的数据大概有</a:t>
            </a:r>
            <a:r>
              <a:rPr lang="en-US" altLang="zh-CN" dirty="0"/>
              <a:t>1/e</a:t>
            </a:r>
            <a:r>
              <a:rPr lang="zh-CN" altLang="en-US" dirty="0"/>
              <a:t>的数据采样不到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14</a:t>
            </a:r>
            <a:r>
              <a:rPr kumimoji="1" lang="zh-CN" altLang="en-US" dirty="0"/>
              <a:t>堂课第二节一半结束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B:</a:t>
            </a:r>
            <a:r>
              <a:rPr kumimoji="1" lang="zh-CN" altLang="en-US" dirty="0"/>
              <a:t> 比如信息增益不到</a:t>
            </a:r>
            <a:r>
              <a:rPr kumimoji="1" lang="en-US" altLang="zh-CN" dirty="0"/>
              <a:t>epsilon</a:t>
            </a:r>
            <a:r>
              <a:rPr kumimoji="1" lang="zh-CN" altLang="en-US" dirty="0"/>
              <a:t>的时候</a:t>
            </a:r>
            <a:endParaRPr kumimoji="1" lang="en-US" altLang="zh-CN" dirty="0"/>
          </a:p>
          <a:p>
            <a:r>
              <a:rPr kumimoji="1" lang="en-US" altLang="zh-CN" dirty="0"/>
              <a:t>C:</a:t>
            </a:r>
            <a:r>
              <a:rPr kumimoji="1" lang="zh-CN" altLang="en-US" dirty="0"/>
              <a:t> 在同一个祖先中，一个特征只能用到一个节点上，但是兄弟中可能会重复使用一个特征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01B3-0010-49BE-8236-66B90211FF04}" type="datetime1">
              <a:rPr lang="en-US" altLang="zh-CN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4328-A6FB-477A-B9C5-7FEFDBDE1042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buFontTx/>
              <a:buBlip>
                <a:blip r:embed="rId2"/>
              </a:buBlip>
              <a:defRPr/>
            </a:lvl1pPr>
            <a:lvl2pPr>
              <a:buClr>
                <a:srgbClr val="503DDB"/>
              </a:buClr>
              <a:buSzPct val="45000"/>
              <a:buFont typeface="Wingdings" panose="05000000000000000000" pitchFamily="2" charset="2"/>
              <a:buChar char="q"/>
              <a:defRPr/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  <a:endParaRPr lang="en-US" dirty="0"/>
          </a:p>
          <a:p>
            <a:pPr lvl="1" eaLnBrk="1" latinLnBrk="0" hangingPunct="1"/>
            <a:r>
              <a:rPr lang="en-US" dirty="0"/>
              <a:t>Second level</a:t>
            </a:r>
            <a:endParaRPr lang="en-US" dirty="0"/>
          </a:p>
          <a:p>
            <a:pPr lvl="2" eaLnBrk="1" latinLnBrk="0" hangingPunct="1"/>
            <a:r>
              <a:rPr lang="en-US" dirty="0"/>
              <a:t>Third level</a:t>
            </a:r>
            <a:endParaRPr lang="en-US" dirty="0"/>
          </a:p>
          <a:p>
            <a:pPr lvl="3" eaLnBrk="1" latinLnBrk="0" hangingPunct="1"/>
            <a:r>
              <a:rPr lang="en-US" dirty="0"/>
              <a:t>Fourth level</a:t>
            </a:r>
            <a:endParaRPr lang="en-US" dirty="0"/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02081" name="Picture 1" descr="E:\resume\logo-tsinghua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1560" y="90151"/>
            <a:ext cx="2045531" cy="6438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9C65-C267-4342-9116-A00B6E7C55AD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BA6D-2268-450C-9E6F-6553A2809D14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173-FFAF-40B2-BD71-0C474124F5CA}" type="datetime1">
              <a:rPr lang="en-US" altLang="zh-C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AC5F-3C7D-47E2-8137-0D0E13270C17}" type="datetime1">
              <a:rPr lang="en-US" altLang="zh-C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4C75-2845-4A49-8407-B10E57DDCB66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93C6-C0E5-4C94-83B0-EBE524181AA9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6CFF-7119-486E-A242-14937EB72380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D574-52BE-4187-8AF7-E201A70CB6DC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6442-F0BB-4DBA-B030-4A0192701801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17F057F-A64E-4BDF-9C5A-7B9C1755BBD0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501D8D0-7646-4D22-887C-459A4F2FEB6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8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8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7.xml"/><Relationship Id="rId17" Type="http://schemas.openxmlformats.org/officeDocument/2006/relationships/image" Target="../media/image17.png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4.xml"/><Relationship Id="rId17" Type="http://schemas.openxmlformats.org/officeDocument/2006/relationships/image" Target="../media/image17.png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4.2 </a:t>
            </a:r>
            <a:r>
              <a:rPr lang="zh-CN" altLang="en-US" dirty="0"/>
              <a:t>决策树</a:t>
            </a:r>
            <a:endParaRPr lang="zh-CN" altLang="en-US" dirty="0"/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>
          <a:xfrm>
            <a:off x="914400" y="1797268"/>
            <a:ext cx="7772400" cy="422253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决策树模型是一种描述对实例进行分类的树形结构，由节点和有向边组成</a:t>
            </a:r>
            <a:endParaRPr lang="en-US" altLang="zh-CN" sz="3200" b="1" dirty="0"/>
          </a:p>
          <a:p>
            <a:r>
              <a:rPr lang="zh-CN" altLang="en-US" sz="3200" b="1" dirty="0"/>
              <a:t>节点有两种类型：内部节点和叶节点</a:t>
            </a:r>
            <a:endParaRPr lang="en-US" altLang="zh-CN" sz="3200" b="1" dirty="0"/>
          </a:p>
          <a:p>
            <a:r>
              <a:rPr lang="zh-CN" altLang="en-US" sz="3200" b="1" dirty="0"/>
              <a:t>内部节点表示一个特征或者属性</a:t>
            </a:r>
            <a:endParaRPr lang="en-US" altLang="zh-CN" sz="3200" b="1" dirty="0"/>
          </a:p>
          <a:p>
            <a:r>
              <a:rPr lang="zh-CN" altLang="en-US" sz="3200" b="1" dirty="0"/>
              <a:t>叶节点表示一个类</a:t>
            </a:r>
            <a:endParaRPr lang="zh-CN" altLang="en-US" sz="3200" b="1" dirty="0"/>
          </a:p>
        </p:txBody>
      </p:sp>
      <p:sp>
        <p:nvSpPr>
          <p:cNvPr id="1065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C3CAA2-8BFB-449C-B9D3-E2697E966C8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ED0645-2AF3-4687-AB1B-B0C5E471764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7523" name="灯片编号占位符 3"/>
          <p:cNvSpPr txBox="1"/>
          <p:nvPr/>
        </p:nvSpPr>
        <p:spPr bwMode="auto">
          <a:xfrm>
            <a:off x="7916863" y="607377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48E91961-2126-4518-8720-CB4563ED5E8E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07532" name="TextBox 16"/>
          <p:cNvSpPr txBox="1">
            <a:spLocks noChangeArrowheads="1"/>
          </p:cNvSpPr>
          <p:nvPr/>
        </p:nvSpPr>
        <p:spPr bwMode="auto">
          <a:xfrm>
            <a:off x="658813" y="3740150"/>
            <a:ext cx="1968500" cy="26161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可用的特征：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身高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体重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鞋的式样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头发长度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衣服颜色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……</a:t>
            </a:r>
            <a:endParaRPr lang="zh-CN" altLang="en-US" sz="2000" b="1" dirty="0"/>
          </a:p>
        </p:txBody>
      </p:sp>
      <p:grpSp>
        <p:nvGrpSpPr>
          <p:cNvPr id="2" name="Group 1"/>
          <p:cNvGrpSpPr/>
          <p:nvPr/>
        </p:nvGrpSpPr>
        <p:grpSpPr>
          <a:xfrm>
            <a:off x="1427162" y="874713"/>
            <a:ext cx="7005638" cy="4297422"/>
            <a:chOff x="1427162" y="874713"/>
            <a:chExt cx="7005638" cy="4297422"/>
          </a:xfrm>
        </p:grpSpPr>
        <p:sp>
          <p:nvSpPr>
            <p:cNvPr id="107524" name="椭圆 5"/>
            <p:cNvSpPr>
              <a:spLocks noChangeArrowheads="1"/>
            </p:cNvSpPr>
            <p:nvPr/>
          </p:nvSpPr>
          <p:spPr bwMode="auto">
            <a:xfrm>
              <a:off x="3370263" y="98425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525" name="TextBox 6"/>
            <p:cNvSpPr txBox="1">
              <a:spLocks noChangeArrowheads="1"/>
            </p:cNvSpPr>
            <p:nvPr/>
          </p:nvSpPr>
          <p:spPr bwMode="auto">
            <a:xfrm>
              <a:off x="3895725" y="874713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/>
                <a:t>穿高跟鞋？</a:t>
              </a:r>
              <a:endParaRPr lang="zh-CN" altLang="en-US" sz="2000" b="1" dirty="0"/>
            </a:p>
          </p:txBody>
        </p:sp>
        <p:sp>
          <p:nvSpPr>
            <p:cNvPr id="107526" name="椭圆 7"/>
            <p:cNvSpPr>
              <a:spLocks noChangeArrowheads="1"/>
            </p:cNvSpPr>
            <p:nvPr/>
          </p:nvSpPr>
          <p:spPr bwMode="auto">
            <a:xfrm>
              <a:off x="5192713" y="2244725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07527" name="直接箭头连接符 8"/>
            <p:cNvCxnSpPr>
              <a:cxnSpLocks noChangeShapeType="1"/>
              <a:stCxn id="107524" idx="4"/>
              <a:endCxn id="107526" idx="1"/>
            </p:cNvCxnSpPr>
            <p:nvPr/>
          </p:nvCxnSpPr>
          <p:spPr bwMode="auto">
            <a:xfrm>
              <a:off x="3560763" y="1365250"/>
              <a:ext cx="1689100" cy="935038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07528" name="TextBox 9"/>
            <p:cNvSpPr txBox="1">
              <a:spLocks noChangeArrowheads="1"/>
            </p:cNvSpPr>
            <p:nvPr/>
          </p:nvSpPr>
          <p:spPr bwMode="auto">
            <a:xfrm>
              <a:off x="5710238" y="2768600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/>
                <a:t>no</a:t>
              </a:r>
              <a:endParaRPr lang="zh-CN" altLang="en-US" sz="2000" b="1"/>
            </a:p>
          </p:txBody>
        </p:sp>
        <p:sp>
          <p:nvSpPr>
            <p:cNvPr id="107529" name="TextBox 10"/>
            <p:cNvSpPr txBox="1">
              <a:spLocks noChangeArrowheads="1"/>
            </p:cNvSpPr>
            <p:nvPr/>
          </p:nvSpPr>
          <p:spPr bwMode="auto">
            <a:xfrm>
              <a:off x="5707063" y="2187575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长发？</a:t>
              </a:r>
              <a:endParaRPr lang="zh-CN" altLang="en-US" sz="2000" b="1"/>
            </a:p>
          </p:txBody>
        </p:sp>
        <p:cxnSp>
          <p:nvCxnSpPr>
            <p:cNvPr id="107530" name="直接箭头连接符 12"/>
            <p:cNvCxnSpPr>
              <a:cxnSpLocks noChangeShapeType="1"/>
              <a:stCxn id="107524" idx="4"/>
            </p:cNvCxnSpPr>
            <p:nvPr/>
          </p:nvCxnSpPr>
          <p:spPr bwMode="auto">
            <a:xfrm flipH="1">
              <a:off x="2273300" y="1365250"/>
              <a:ext cx="1287463" cy="109696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07531" name="TextBox 13"/>
            <p:cNvSpPr txBox="1">
              <a:spLocks noChangeArrowheads="1"/>
            </p:cNvSpPr>
            <p:nvPr/>
          </p:nvSpPr>
          <p:spPr bwMode="auto">
            <a:xfrm>
              <a:off x="2357438" y="1520825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/>
                <a:t>yes</a:t>
              </a:r>
              <a:endParaRPr lang="zh-CN" altLang="en-US" sz="2000" b="1"/>
            </a:p>
          </p:txBody>
        </p:sp>
        <p:sp>
          <p:nvSpPr>
            <p:cNvPr id="107533" name="椭圆 18"/>
            <p:cNvSpPr>
              <a:spLocks noChangeArrowheads="1"/>
            </p:cNvSpPr>
            <p:nvPr/>
          </p:nvSpPr>
          <p:spPr bwMode="auto">
            <a:xfrm>
              <a:off x="6043613" y="3467100"/>
              <a:ext cx="363537" cy="40481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534" name="TextBox 19"/>
            <p:cNvSpPr txBox="1">
              <a:spLocks noChangeArrowheads="1"/>
            </p:cNvSpPr>
            <p:nvPr/>
          </p:nvSpPr>
          <p:spPr bwMode="auto">
            <a:xfrm>
              <a:off x="6589713" y="3402013"/>
              <a:ext cx="1616075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衣服颜色</a:t>
              </a:r>
              <a:endParaRPr lang="zh-CN" altLang="en-US" sz="2000" b="1"/>
            </a:p>
          </p:txBody>
        </p:sp>
        <p:cxnSp>
          <p:nvCxnSpPr>
            <p:cNvPr id="107535" name="直接箭头连接符 20"/>
            <p:cNvCxnSpPr>
              <a:cxnSpLocks noChangeShapeType="1"/>
              <a:stCxn id="107526" idx="4"/>
              <a:endCxn id="107533" idx="1"/>
            </p:cNvCxnSpPr>
            <p:nvPr/>
          </p:nvCxnSpPr>
          <p:spPr bwMode="auto">
            <a:xfrm>
              <a:off x="5383213" y="2625725"/>
              <a:ext cx="714375" cy="900113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07536" name="TextBox 22"/>
            <p:cNvSpPr txBox="1">
              <a:spLocks noChangeArrowheads="1"/>
            </p:cNvSpPr>
            <p:nvPr/>
          </p:nvSpPr>
          <p:spPr bwMode="auto">
            <a:xfrm>
              <a:off x="6624638" y="4075113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素色</a:t>
              </a:r>
              <a:endParaRPr lang="zh-CN" altLang="en-US" sz="2000" b="1"/>
            </a:p>
          </p:txBody>
        </p:sp>
        <p:sp>
          <p:nvSpPr>
            <p:cNvPr id="107537" name="矩形 23"/>
            <p:cNvSpPr>
              <a:spLocks noChangeArrowheads="1"/>
            </p:cNvSpPr>
            <p:nvPr/>
          </p:nvSpPr>
          <p:spPr bwMode="auto">
            <a:xfrm>
              <a:off x="5341938" y="4789488"/>
              <a:ext cx="434975" cy="33337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07538" name="直接箭头连接符 24"/>
            <p:cNvCxnSpPr>
              <a:cxnSpLocks noChangeShapeType="1"/>
              <a:endCxn id="107537" idx="0"/>
            </p:cNvCxnSpPr>
            <p:nvPr/>
          </p:nvCxnSpPr>
          <p:spPr bwMode="auto">
            <a:xfrm flipH="1">
              <a:off x="5559425" y="3932238"/>
              <a:ext cx="681038" cy="85725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07539" name="直接箭头连接符 27"/>
            <p:cNvCxnSpPr>
              <a:cxnSpLocks noChangeShapeType="1"/>
            </p:cNvCxnSpPr>
            <p:nvPr/>
          </p:nvCxnSpPr>
          <p:spPr bwMode="auto">
            <a:xfrm>
              <a:off x="6240463" y="3932238"/>
              <a:ext cx="712787" cy="900112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07540" name="TextBox 28"/>
            <p:cNvSpPr txBox="1">
              <a:spLocks noChangeArrowheads="1"/>
            </p:cNvSpPr>
            <p:nvPr/>
          </p:nvSpPr>
          <p:spPr bwMode="auto">
            <a:xfrm>
              <a:off x="5100638" y="3987800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花色</a:t>
              </a:r>
              <a:endParaRPr lang="zh-CN" altLang="en-US" sz="2000" b="1"/>
            </a:p>
          </p:txBody>
        </p:sp>
        <p:sp>
          <p:nvSpPr>
            <p:cNvPr id="107541" name="TextBox 29"/>
            <p:cNvSpPr txBox="1">
              <a:spLocks noChangeArrowheads="1"/>
            </p:cNvSpPr>
            <p:nvPr/>
          </p:nvSpPr>
          <p:spPr bwMode="auto">
            <a:xfrm>
              <a:off x="4548188" y="4727575"/>
              <a:ext cx="909637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女生</a:t>
              </a:r>
              <a:endParaRPr lang="zh-CN" altLang="en-US" sz="2000" b="1"/>
            </a:p>
          </p:txBody>
        </p:sp>
        <p:sp>
          <p:nvSpPr>
            <p:cNvPr id="107542" name="矩形 31"/>
            <p:cNvSpPr>
              <a:spLocks noChangeArrowheads="1"/>
            </p:cNvSpPr>
            <p:nvPr/>
          </p:nvSpPr>
          <p:spPr bwMode="auto">
            <a:xfrm>
              <a:off x="6734175" y="4833938"/>
              <a:ext cx="436563" cy="33337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543" name="TextBox 35"/>
            <p:cNvSpPr txBox="1">
              <a:spLocks noChangeArrowheads="1"/>
            </p:cNvSpPr>
            <p:nvPr/>
          </p:nvSpPr>
          <p:spPr bwMode="auto">
            <a:xfrm>
              <a:off x="7204075" y="4772025"/>
              <a:ext cx="1228725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/>
                <a:t>男生</a:t>
              </a:r>
              <a:endParaRPr lang="zh-CN" altLang="en-US" sz="2000" b="1"/>
            </a:p>
          </p:txBody>
        </p:sp>
        <p:sp>
          <p:nvSpPr>
            <p:cNvPr id="107544" name="TextBox 38"/>
            <p:cNvSpPr txBox="1">
              <a:spLocks noChangeArrowheads="1"/>
            </p:cNvSpPr>
            <p:nvPr/>
          </p:nvSpPr>
          <p:spPr bwMode="auto">
            <a:xfrm>
              <a:off x="4302125" y="1433513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/>
                <a:t>no</a:t>
              </a:r>
              <a:endParaRPr lang="zh-CN" altLang="en-US" sz="2000" b="1"/>
            </a:p>
          </p:txBody>
        </p:sp>
        <p:sp>
          <p:nvSpPr>
            <p:cNvPr id="107545" name="矩形 42"/>
            <p:cNvSpPr>
              <a:spLocks noChangeArrowheads="1"/>
            </p:cNvSpPr>
            <p:nvPr/>
          </p:nvSpPr>
          <p:spPr bwMode="auto">
            <a:xfrm>
              <a:off x="2119313" y="2466975"/>
              <a:ext cx="434975" cy="334963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546" name="矩形 60"/>
            <p:cNvSpPr>
              <a:spLocks noChangeArrowheads="1"/>
            </p:cNvSpPr>
            <p:nvPr/>
          </p:nvSpPr>
          <p:spPr bwMode="auto">
            <a:xfrm>
              <a:off x="4368800" y="3395663"/>
              <a:ext cx="434975" cy="3349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7547" name="TextBox 61"/>
            <p:cNvSpPr txBox="1">
              <a:spLocks noChangeArrowheads="1"/>
            </p:cNvSpPr>
            <p:nvPr/>
          </p:nvSpPr>
          <p:spPr bwMode="auto">
            <a:xfrm>
              <a:off x="3575050" y="3319463"/>
              <a:ext cx="909638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/>
                <a:t>女生</a:t>
              </a:r>
              <a:endParaRPr lang="zh-CN" altLang="en-US" sz="2000" b="1" dirty="0"/>
            </a:p>
          </p:txBody>
        </p:sp>
        <p:cxnSp>
          <p:nvCxnSpPr>
            <p:cNvPr id="107548" name="直接箭头连接符 63"/>
            <p:cNvCxnSpPr>
              <a:cxnSpLocks noChangeShapeType="1"/>
              <a:stCxn id="107526" idx="4"/>
              <a:endCxn id="107546" idx="0"/>
            </p:cNvCxnSpPr>
            <p:nvPr/>
          </p:nvCxnSpPr>
          <p:spPr bwMode="auto">
            <a:xfrm flipH="1">
              <a:off x="4586288" y="2625725"/>
              <a:ext cx="796925" cy="769938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07549" name="TextBox 64"/>
            <p:cNvSpPr txBox="1">
              <a:spLocks noChangeArrowheads="1"/>
            </p:cNvSpPr>
            <p:nvPr/>
          </p:nvSpPr>
          <p:spPr bwMode="auto">
            <a:xfrm>
              <a:off x="4403725" y="2638425"/>
              <a:ext cx="1695450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000" b="1"/>
                <a:t>yes</a:t>
              </a:r>
              <a:endParaRPr lang="zh-CN" altLang="en-US" sz="2000" b="1"/>
            </a:p>
          </p:txBody>
        </p:sp>
        <p:sp>
          <p:nvSpPr>
            <p:cNvPr id="30" name="TextBox 61"/>
            <p:cNvSpPr txBox="1">
              <a:spLocks noChangeArrowheads="1"/>
            </p:cNvSpPr>
            <p:nvPr/>
          </p:nvSpPr>
          <p:spPr bwMode="auto">
            <a:xfrm>
              <a:off x="1427162" y="2870934"/>
              <a:ext cx="909638" cy="4001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000" b="1" dirty="0"/>
                <a:t>女生</a:t>
              </a:r>
              <a:endParaRPr lang="zh-CN" altLang="en-US" sz="2000" b="1" dirty="0"/>
            </a:p>
          </p:txBody>
        </p:sp>
      </p:grpSp>
      <p:pic>
        <p:nvPicPr>
          <p:cNvPr id="1026" name="Picture 2" descr="2024这位在爱丁堡博物馆门前广场吹风笛的苏格兰帅哥几乎每天都会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007" y="3919904"/>
            <a:ext cx="1820455" cy="273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04B2A6-9F8F-4481-8956-BEDAD428E0D6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08547" name="灯片编号占位符 3"/>
          <p:cNvSpPr txBox="1"/>
          <p:nvPr/>
        </p:nvSpPr>
        <p:spPr bwMode="auto">
          <a:xfrm>
            <a:off x="7916863" y="6073775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 anchor="ctr"/>
          <a:lstStyle/>
          <a:p>
            <a:pPr algn="r"/>
            <a:fld id="{ADC283FF-B84B-434D-95EF-B321842869C2}" type="slidenum">
              <a:rPr kumimoji="0" lang="en-US" altLang="zh-CN" sz="1400"/>
            </a:fld>
            <a:endParaRPr kumimoji="0" lang="en-US" altLang="zh-CN" sz="1400"/>
          </a:p>
        </p:txBody>
      </p:sp>
      <p:sp>
        <p:nvSpPr>
          <p:cNvPr id="108548" name="椭圆 5"/>
          <p:cNvSpPr>
            <a:spLocks noChangeArrowheads="1"/>
          </p:cNvSpPr>
          <p:nvPr/>
        </p:nvSpPr>
        <p:spPr bwMode="auto">
          <a:xfrm>
            <a:off x="3370263" y="98425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49" name="TextBox 6"/>
          <p:cNvSpPr txBox="1">
            <a:spLocks noChangeArrowheads="1"/>
          </p:cNvSpPr>
          <p:nvPr/>
        </p:nvSpPr>
        <p:spPr bwMode="auto">
          <a:xfrm>
            <a:off x="3895725" y="874713"/>
            <a:ext cx="1695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身高？</a:t>
            </a:r>
            <a:endParaRPr lang="zh-CN" altLang="en-US" sz="2000" b="1"/>
          </a:p>
        </p:txBody>
      </p:sp>
      <p:sp>
        <p:nvSpPr>
          <p:cNvPr id="108550" name="椭圆 7"/>
          <p:cNvSpPr>
            <a:spLocks noChangeArrowheads="1"/>
          </p:cNvSpPr>
          <p:nvPr/>
        </p:nvSpPr>
        <p:spPr bwMode="auto">
          <a:xfrm>
            <a:off x="5192713" y="2244725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08551" name="直接箭头连接符 8"/>
          <p:cNvCxnSpPr>
            <a:cxnSpLocks noChangeShapeType="1"/>
            <a:stCxn id="108548" idx="4"/>
            <a:endCxn id="108550" idx="1"/>
          </p:cNvCxnSpPr>
          <p:nvPr/>
        </p:nvCxnSpPr>
        <p:spPr bwMode="auto">
          <a:xfrm>
            <a:off x="3560763" y="1365250"/>
            <a:ext cx="1689100" cy="9350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08552" name="TextBox 10"/>
          <p:cNvSpPr txBox="1">
            <a:spLocks noChangeArrowheads="1"/>
          </p:cNvSpPr>
          <p:nvPr/>
        </p:nvSpPr>
        <p:spPr bwMode="auto">
          <a:xfrm>
            <a:off x="5707063" y="2187575"/>
            <a:ext cx="1695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体重？</a:t>
            </a:r>
            <a:endParaRPr lang="zh-CN" altLang="en-US" sz="2000" b="1"/>
          </a:p>
        </p:txBody>
      </p:sp>
      <p:cxnSp>
        <p:nvCxnSpPr>
          <p:cNvPr id="108553" name="直接箭头连接符 12"/>
          <p:cNvCxnSpPr>
            <a:cxnSpLocks noChangeShapeType="1"/>
            <a:stCxn id="108548" idx="4"/>
          </p:cNvCxnSpPr>
          <p:nvPr/>
        </p:nvCxnSpPr>
        <p:spPr bwMode="auto">
          <a:xfrm flipH="1">
            <a:off x="2273300" y="1365250"/>
            <a:ext cx="1287463" cy="109696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08554" name="TextBox 13"/>
          <p:cNvSpPr txBox="1">
            <a:spLocks noChangeArrowheads="1"/>
          </p:cNvSpPr>
          <p:nvPr/>
        </p:nvSpPr>
        <p:spPr bwMode="auto">
          <a:xfrm>
            <a:off x="2357438" y="1520825"/>
            <a:ext cx="1695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 dirty="0"/>
              <a:t>高</a:t>
            </a:r>
            <a:endParaRPr lang="zh-CN" altLang="en-US" sz="2000" b="1" dirty="0"/>
          </a:p>
        </p:txBody>
      </p:sp>
      <p:sp>
        <p:nvSpPr>
          <p:cNvPr id="108555" name="TextBox 16"/>
          <p:cNvSpPr txBox="1">
            <a:spLocks noChangeArrowheads="1"/>
          </p:cNvSpPr>
          <p:nvPr/>
        </p:nvSpPr>
        <p:spPr bwMode="auto">
          <a:xfrm>
            <a:off x="658813" y="4030663"/>
            <a:ext cx="1968500" cy="26161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400" b="1" dirty="0"/>
              <a:t>可用的特征：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身高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体重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鞋的式样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头发长度</a:t>
            </a:r>
            <a:endParaRPr lang="en-US" altLang="zh-CN" sz="2400" b="1" dirty="0"/>
          </a:p>
          <a:p>
            <a:pPr lvl="1"/>
            <a:r>
              <a:rPr lang="zh-CN" altLang="en-US" sz="2400" b="1" dirty="0"/>
              <a:t>衣服颜色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……</a:t>
            </a:r>
            <a:endParaRPr lang="zh-CN" altLang="en-US" sz="2000" b="1" dirty="0"/>
          </a:p>
        </p:txBody>
      </p:sp>
      <p:sp>
        <p:nvSpPr>
          <p:cNvPr id="108556" name="椭圆 18"/>
          <p:cNvSpPr>
            <a:spLocks noChangeArrowheads="1"/>
          </p:cNvSpPr>
          <p:nvPr/>
        </p:nvSpPr>
        <p:spPr bwMode="auto">
          <a:xfrm>
            <a:off x="6043613" y="3467100"/>
            <a:ext cx="363537" cy="404813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08557" name="TextBox 19"/>
          <p:cNvSpPr txBox="1">
            <a:spLocks noChangeArrowheads="1"/>
          </p:cNvSpPr>
          <p:nvPr/>
        </p:nvSpPr>
        <p:spPr bwMode="auto">
          <a:xfrm>
            <a:off x="6589713" y="3402013"/>
            <a:ext cx="16160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衣服颜色？</a:t>
            </a:r>
            <a:endParaRPr lang="zh-CN" altLang="en-US" sz="2000" b="1"/>
          </a:p>
        </p:txBody>
      </p:sp>
      <p:cxnSp>
        <p:nvCxnSpPr>
          <p:cNvPr id="108558" name="直接箭头连接符 20"/>
          <p:cNvCxnSpPr>
            <a:cxnSpLocks noChangeShapeType="1"/>
            <a:stCxn id="108550" idx="4"/>
            <a:endCxn id="108556" idx="1"/>
          </p:cNvCxnSpPr>
          <p:nvPr/>
        </p:nvCxnSpPr>
        <p:spPr bwMode="auto">
          <a:xfrm>
            <a:off x="5383213" y="2625725"/>
            <a:ext cx="714375" cy="90011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08559" name="直接箭头连接符 24"/>
          <p:cNvCxnSpPr>
            <a:cxnSpLocks noChangeShapeType="1"/>
            <a:stCxn id="108556" idx="4"/>
          </p:cNvCxnSpPr>
          <p:nvPr/>
        </p:nvCxnSpPr>
        <p:spPr bwMode="auto">
          <a:xfrm flipH="1">
            <a:off x="5559425" y="3871913"/>
            <a:ext cx="666750" cy="1614487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08560" name="直接箭头连接符 27"/>
          <p:cNvCxnSpPr>
            <a:cxnSpLocks noChangeShapeType="1"/>
          </p:cNvCxnSpPr>
          <p:nvPr/>
        </p:nvCxnSpPr>
        <p:spPr bwMode="auto">
          <a:xfrm>
            <a:off x="6240463" y="3932238"/>
            <a:ext cx="712787" cy="159861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08561" name="TextBox 38"/>
          <p:cNvSpPr txBox="1">
            <a:spLocks noChangeArrowheads="1"/>
          </p:cNvSpPr>
          <p:nvPr/>
        </p:nvSpPr>
        <p:spPr bwMode="auto">
          <a:xfrm>
            <a:off x="4302125" y="1433513"/>
            <a:ext cx="1695450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矮</a:t>
            </a:r>
            <a:endParaRPr lang="zh-CN" altLang="en-US" sz="2000" b="1"/>
          </a:p>
        </p:txBody>
      </p:sp>
      <p:cxnSp>
        <p:nvCxnSpPr>
          <p:cNvPr id="108562" name="直接箭头连接符 63"/>
          <p:cNvCxnSpPr>
            <a:cxnSpLocks noChangeShapeType="1"/>
            <a:stCxn id="108550" idx="4"/>
          </p:cNvCxnSpPr>
          <p:nvPr/>
        </p:nvCxnSpPr>
        <p:spPr bwMode="auto">
          <a:xfrm flipH="1">
            <a:off x="4586288" y="2625725"/>
            <a:ext cx="796925" cy="76993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08563" name="TextBox 64"/>
          <p:cNvSpPr txBox="1">
            <a:spLocks noChangeArrowheads="1"/>
          </p:cNvSpPr>
          <p:nvPr/>
        </p:nvSpPr>
        <p:spPr bwMode="auto">
          <a:xfrm>
            <a:off x="4403725" y="2638425"/>
            <a:ext cx="5746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重</a:t>
            </a:r>
            <a:endParaRPr lang="zh-CN" altLang="en-US" sz="2000" b="1"/>
          </a:p>
        </p:txBody>
      </p:sp>
      <p:sp>
        <p:nvSpPr>
          <p:cNvPr id="108564" name="椭圆 7"/>
          <p:cNvSpPr>
            <a:spLocks noChangeArrowheads="1"/>
          </p:cNvSpPr>
          <p:nvPr/>
        </p:nvSpPr>
        <p:spPr bwMode="auto">
          <a:xfrm>
            <a:off x="2108200" y="2470150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08565" name="直接箭头连接符 24"/>
          <p:cNvCxnSpPr>
            <a:cxnSpLocks noChangeShapeType="1"/>
          </p:cNvCxnSpPr>
          <p:nvPr/>
        </p:nvCxnSpPr>
        <p:spPr bwMode="auto">
          <a:xfrm flipH="1">
            <a:off x="1619250" y="2879725"/>
            <a:ext cx="681038" cy="8572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08566" name="直接箭头连接符 27"/>
          <p:cNvCxnSpPr>
            <a:cxnSpLocks noChangeShapeType="1"/>
          </p:cNvCxnSpPr>
          <p:nvPr/>
        </p:nvCxnSpPr>
        <p:spPr bwMode="auto">
          <a:xfrm>
            <a:off x="2300288" y="2879725"/>
            <a:ext cx="712787" cy="900113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08567" name="TextBox 64"/>
          <p:cNvSpPr txBox="1">
            <a:spLocks noChangeArrowheads="1"/>
          </p:cNvSpPr>
          <p:nvPr/>
        </p:nvSpPr>
        <p:spPr bwMode="auto">
          <a:xfrm>
            <a:off x="5913438" y="2697163"/>
            <a:ext cx="5746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轻</a:t>
            </a:r>
            <a:endParaRPr lang="zh-CN" altLang="en-US" sz="2000" b="1"/>
          </a:p>
        </p:txBody>
      </p:sp>
      <p:sp>
        <p:nvSpPr>
          <p:cNvPr id="108568" name="椭圆 7"/>
          <p:cNvSpPr>
            <a:spLocks noChangeArrowheads="1"/>
          </p:cNvSpPr>
          <p:nvPr/>
        </p:nvSpPr>
        <p:spPr bwMode="auto">
          <a:xfrm>
            <a:off x="4402138" y="3398838"/>
            <a:ext cx="381000" cy="381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08569" name="直接箭头连接符 24"/>
          <p:cNvCxnSpPr>
            <a:cxnSpLocks noChangeShapeType="1"/>
          </p:cNvCxnSpPr>
          <p:nvPr/>
        </p:nvCxnSpPr>
        <p:spPr bwMode="auto">
          <a:xfrm flipH="1">
            <a:off x="3911600" y="3808413"/>
            <a:ext cx="681038" cy="8572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08570" name="直接箭头连接符 27"/>
          <p:cNvCxnSpPr>
            <a:cxnSpLocks noChangeShapeType="1"/>
          </p:cNvCxnSpPr>
          <p:nvPr/>
        </p:nvCxnSpPr>
        <p:spPr bwMode="auto">
          <a:xfrm>
            <a:off x="4592638" y="3808413"/>
            <a:ext cx="712787" cy="900112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tailEnd type="arrow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决策树学习</a:t>
            </a:r>
            <a:endParaRPr lang="zh-CN" altLang="en-US" dirty="0"/>
          </a:p>
        </p:txBody>
      </p:sp>
      <p:sp>
        <p:nvSpPr>
          <p:cNvPr id="59396" name="内容占位符 2"/>
          <p:cNvSpPr>
            <a:spLocks noGrp="1"/>
          </p:cNvSpPr>
          <p:nvPr>
            <p:ph idx="1"/>
          </p:nvPr>
        </p:nvSpPr>
        <p:spPr>
          <a:xfrm>
            <a:off x="685800" y="4325938"/>
            <a:ext cx="7772400" cy="1770062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决策树学习就是从训练集中归纳出一组分类规则，得到一个与训练集矛盾最小的决策树</a:t>
            </a:r>
            <a:endParaRPr lang="zh-CN" altLang="en-US" sz="3200" b="1" dirty="0"/>
          </a:p>
        </p:txBody>
      </p:sp>
      <p:sp>
        <p:nvSpPr>
          <p:cNvPr id="5939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7C28B4-5570-4B56-9B93-CDB7E17D69B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59394" name="Object 1" descr="羊皮纸"/>
          <p:cNvGraphicFramePr>
            <a:graphicFrameLocks noChangeAspect="1"/>
          </p:cNvGraphicFramePr>
          <p:nvPr/>
        </p:nvGraphicFramePr>
        <p:xfrm>
          <a:off x="1103313" y="1766888"/>
          <a:ext cx="71882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3136900" imgH="965200" progId="Equation.3">
                  <p:embed/>
                </p:oleObj>
              </mc:Choice>
              <mc:Fallback>
                <p:oleObj name="公式" r:id="rId1" imgW="3136900" imgH="965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313" y="1766888"/>
                        <a:ext cx="7188200" cy="2311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957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从所有决策树中选取最优决策树是一个</a:t>
            </a:r>
            <a:r>
              <a:rPr lang="en-US" altLang="zh-CN" sz="3200" b="1" dirty="0"/>
              <a:t>NPC</a:t>
            </a:r>
            <a:r>
              <a:rPr lang="zh-CN" altLang="en-US" sz="3200" b="1" dirty="0"/>
              <a:t>问题，所以一般采用启发式方法，得到一个近似解</a:t>
            </a:r>
            <a:endParaRPr lang="en-US" altLang="zh-CN" sz="3200" b="1" dirty="0"/>
          </a:p>
          <a:p>
            <a:r>
              <a:rPr lang="zh-CN" altLang="en-US" sz="3200" b="1" dirty="0"/>
              <a:t>对于给定的训练集，可以构造出多个决策树，一般以损失函数最小化作为优化目标</a:t>
            </a:r>
            <a:endParaRPr lang="en-US" altLang="zh-CN" sz="3200" b="1" dirty="0"/>
          </a:p>
        </p:txBody>
      </p:sp>
      <p:sp>
        <p:nvSpPr>
          <p:cNvPr id="10957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C7F1B9E-B2BA-43B7-946D-43BBFD68D286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059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决策树学习包括</a:t>
            </a:r>
            <a:endParaRPr lang="en-US" altLang="zh-CN" sz="3200" b="1" dirty="0"/>
          </a:p>
          <a:p>
            <a:endParaRPr lang="en-US" altLang="zh-CN" sz="2800" b="1" dirty="0"/>
          </a:p>
          <a:p>
            <a:pPr lvl="1"/>
            <a:r>
              <a:rPr lang="zh-CN" altLang="en-US" sz="2800" b="1" dirty="0"/>
              <a:t>特征选择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决策树生成</a:t>
            </a:r>
            <a:endParaRPr lang="en-US" altLang="zh-CN" sz="2800" b="1" dirty="0"/>
          </a:p>
          <a:p>
            <a:pPr lvl="1"/>
            <a:r>
              <a:rPr lang="zh-CN" altLang="en-US" sz="2800" b="1" dirty="0"/>
              <a:t>决策树剪枝</a:t>
            </a:r>
            <a:endParaRPr lang="zh-CN" altLang="en-US" sz="2800" b="1" dirty="0"/>
          </a:p>
        </p:txBody>
      </p:sp>
      <p:sp>
        <p:nvSpPr>
          <p:cNvPr id="11059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3C77C8-B71B-4878-825B-19E67CD8FF0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特征选择</a:t>
            </a:r>
            <a:endParaRPr lang="zh-CN" altLang="en-US" dirty="0"/>
          </a:p>
        </p:txBody>
      </p:sp>
      <p:sp>
        <p:nvSpPr>
          <p:cNvPr id="1116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b="1" dirty="0"/>
              <a:t>一个问题中可能有不同的特征，不同的特征具有不同的分类能力，特征选择就是如何选取出那些分类能力强的特征。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决策树中一般按照</a:t>
            </a:r>
            <a:r>
              <a:rPr lang="zh-CN" altLang="en-US" sz="3200" b="1" dirty="0">
                <a:solidFill>
                  <a:srgbClr val="FF0000"/>
                </a:solidFill>
              </a:rPr>
              <a:t>信息增益</a:t>
            </a:r>
            <a:r>
              <a:rPr lang="zh-CN" altLang="en-US" sz="3200" b="1" dirty="0"/>
              <a:t>选择特征</a:t>
            </a:r>
            <a:endParaRPr lang="en-US" altLang="zh-CN" sz="3200" b="1" dirty="0"/>
          </a:p>
          <a:p>
            <a:pPr lvl="1"/>
            <a:r>
              <a:rPr lang="zh-CN" altLang="en-US" sz="3000" b="1" dirty="0"/>
              <a:t>所谓的信息增益就是某个特征</a:t>
            </a:r>
            <a:r>
              <a:rPr lang="en-US" altLang="zh-CN" sz="3000" b="1" dirty="0"/>
              <a:t>A</a:t>
            </a:r>
            <a:r>
              <a:rPr lang="zh-CN" altLang="en-US" sz="3000" b="1" dirty="0"/>
              <a:t>对数据集</a:t>
            </a:r>
            <a:r>
              <a:rPr lang="en-US" altLang="zh-CN" sz="3000" b="1" dirty="0"/>
              <a:t>D</a:t>
            </a:r>
            <a:r>
              <a:rPr lang="zh-CN" altLang="en-US" sz="3000" b="1" dirty="0"/>
              <a:t>进行分类的不确定性减少的程度</a:t>
            </a:r>
            <a:endParaRPr lang="en-US" altLang="zh-CN" sz="3000" b="1" dirty="0"/>
          </a:p>
          <a:p>
            <a:endParaRPr lang="zh-CN" altLang="en-US" dirty="0"/>
          </a:p>
        </p:txBody>
      </p:sp>
      <p:sp>
        <p:nvSpPr>
          <p:cNvPr id="11162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6DBFE2-34C4-4054-8E55-E4C35D50AD3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信息增益</a:t>
            </a:r>
            <a:endParaRPr lang="zh-CN" altLang="en-US" dirty="0"/>
          </a:p>
        </p:txBody>
      </p:sp>
      <p:sp>
        <p:nvSpPr>
          <p:cNvPr id="6042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0A0C364-3ED6-4D15-80D5-9337AB6C604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0418" name="Object 1" descr="羊皮纸"/>
          <p:cNvGraphicFramePr>
            <a:graphicFrameLocks noChangeAspect="1"/>
          </p:cNvGraphicFramePr>
          <p:nvPr/>
        </p:nvGraphicFramePr>
        <p:xfrm>
          <a:off x="914400" y="1911441"/>
          <a:ext cx="7515835" cy="3566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3733800" imgH="1803400" progId="Equation.3">
                  <p:embed/>
                </p:oleObj>
              </mc:Choice>
              <mc:Fallback>
                <p:oleObj name="公式" r:id="rId1" imgW="3733800" imgH="1803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11441"/>
                        <a:ext cx="7515835" cy="35662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1444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特征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对数据集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的信息增益定义为：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表示特征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对数据集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的分类的不确定性减少的程度</a:t>
            </a:r>
            <a:endParaRPr lang="en-US" altLang="zh-CN" sz="3200" b="1" dirty="0"/>
          </a:p>
          <a:p>
            <a:r>
              <a:rPr lang="zh-CN" altLang="en-US" sz="3200" b="1" dirty="0"/>
              <a:t>信息增益大的特征具有更强的分类能力</a:t>
            </a:r>
            <a:endParaRPr lang="zh-CN" altLang="en-US" sz="3200" b="1" dirty="0"/>
          </a:p>
        </p:txBody>
      </p:sp>
      <p:sp>
        <p:nvSpPr>
          <p:cNvPr id="6144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0002FE3-1E90-423F-8827-2C69B9D72F8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1442" name="Object 1" descr="羊皮纸"/>
          <p:cNvGraphicFramePr>
            <a:graphicFrameLocks noChangeAspect="1"/>
          </p:cNvGraphicFramePr>
          <p:nvPr/>
        </p:nvGraphicFramePr>
        <p:xfrm>
          <a:off x="1924050" y="2267372"/>
          <a:ext cx="39878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1726565" imgH="203200" progId="Equation.3">
                  <p:embed/>
                </p:oleObj>
              </mc:Choice>
              <mc:Fallback>
                <p:oleObj name="公式" r:id="rId1" imgW="1726565" imgH="203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4050" y="2267372"/>
                        <a:ext cx="3987800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685800" y="851338"/>
            <a:ext cx="7772400" cy="5244662"/>
          </a:xfrm>
        </p:spPr>
        <p:txBody>
          <a:bodyPr/>
          <a:lstStyle/>
          <a:p>
            <a:r>
              <a:rPr lang="zh-CN" altLang="en-US" sz="3200" b="1" dirty="0"/>
              <a:t>设训练集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K</a:t>
            </a:r>
            <a:r>
              <a:rPr lang="zh-CN" altLang="en-US" sz="3200" b="1" dirty="0"/>
              <a:t>个类</a:t>
            </a:r>
            <a:r>
              <a:rPr lang="en-US" altLang="zh-CN" sz="3200" b="1" dirty="0"/>
              <a:t>C</a:t>
            </a:r>
            <a:r>
              <a:rPr lang="en-US" altLang="zh-CN" sz="3200" b="1" baseline="-25000" dirty="0"/>
              <a:t>k</a:t>
            </a:r>
            <a:r>
              <a:rPr lang="zh-CN" altLang="en-US" sz="3200" b="1" dirty="0"/>
              <a:t>，特征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有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个不同的取值</a:t>
            </a:r>
            <a:r>
              <a:rPr lang="en-US" altLang="zh-CN" sz="3200" b="1" dirty="0"/>
              <a:t>{</a:t>
            </a:r>
            <a:r>
              <a:rPr lang="en-US" altLang="zh-CN" sz="3200" b="1" dirty="0" err="1"/>
              <a:t>a</a:t>
            </a:r>
            <a:r>
              <a:rPr lang="en-US" altLang="zh-CN" sz="3200" b="1" baseline="-25000" dirty="0" err="1"/>
              <a:t>i</a:t>
            </a:r>
            <a:r>
              <a:rPr lang="en-US" altLang="zh-CN" sz="3200" b="1" dirty="0"/>
              <a:t>,…,a</a:t>
            </a:r>
            <a:r>
              <a:rPr lang="en-US" altLang="zh-CN" sz="3200" b="1" baseline="-25000" dirty="0"/>
              <a:t>n</a:t>
            </a:r>
            <a:r>
              <a:rPr lang="en-US" altLang="zh-CN" sz="3200" b="1" dirty="0"/>
              <a:t>}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的不同取值将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划分为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个子集</a:t>
            </a:r>
            <a:r>
              <a:rPr lang="en-US" altLang="zh-CN" sz="3200" b="1" dirty="0"/>
              <a:t>D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…</a:t>
            </a:r>
            <a:r>
              <a:rPr lang="en-US" altLang="zh-CN" sz="3200" b="1" dirty="0" err="1"/>
              <a:t>D</a:t>
            </a:r>
            <a:r>
              <a:rPr lang="en-US" altLang="zh-CN" sz="3200" b="1" baseline="-25000" dirty="0" err="1"/>
              <a:t>n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D</a:t>
            </a:r>
            <a:r>
              <a:rPr lang="en-US" altLang="zh-CN" sz="3200" b="1" baseline="-25000" dirty="0"/>
              <a:t>i</a:t>
            </a:r>
            <a:r>
              <a:rPr lang="zh-CN" altLang="en-US" sz="3200" b="1" dirty="0"/>
              <a:t>中属于类</a:t>
            </a:r>
            <a:r>
              <a:rPr lang="en-US" altLang="zh-CN" sz="3200" b="1" dirty="0"/>
              <a:t>C</a:t>
            </a:r>
            <a:r>
              <a:rPr lang="en-US" altLang="zh-CN" sz="3200" b="1" baseline="-25000" dirty="0"/>
              <a:t>k</a:t>
            </a:r>
            <a:r>
              <a:rPr lang="zh-CN" altLang="en-US" sz="3200" b="1" dirty="0"/>
              <a:t>的样本的集合为</a:t>
            </a:r>
            <a:r>
              <a:rPr lang="en-US" altLang="zh-CN" sz="3200" b="1" dirty="0" err="1"/>
              <a:t>D</a:t>
            </a:r>
            <a:r>
              <a:rPr lang="en-US" altLang="zh-CN" sz="3200" b="1" baseline="-25000" dirty="0" err="1"/>
              <a:t>ik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|·|</a:t>
            </a:r>
            <a:r>
              <a:rPr lang="zh-CN" altLang="en-US" sz="3200" b="1" dirty="0"/>
              <a:t>表示样本个数。</a:t>
            </a:r>
            <a:endParaRPr lang="en-US" altLang="zh-CN" sz="2000" b="1" dirty="0"/>
          </a:p>
          <a:p>
            <a:r>
              <a:rPr lang="zh-CN" altLang="en-US" sz="3200" b="1" dirty="0"/>
              <a:t>信息增益计算如下：</a:t>
            </a:r>
            <a:endParaRPr lang="en-US" altLang="zh-CN" sz="3200" b="1" dirty="0"/>
          </a:p>
          <a:p>
            <a:endParaRPr lang="zh-CN" altLang="en-US" baseline="-25000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D470D1-C934-42CE-B780-58F000CDCE6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2466" name="Object 1" descr="羊皮纸"/>
          <p:cNvGraphicFramePr>
            <a:graphicFrameLocks noChangeAspect="1"/>
          </p:cNvGraphicFramePr>
          <p:nvPr/>
        </p:nvGraphicFramePr>
        <p:xfrm>
          <a:off x="892175" y="3474867"/>
          <a:ext cx="7535863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263900" imgH="1193800" progId="Equation.3">
                  <p:embed/>
                </p:oleObj>
              </mc:Choice>
              <mc:Fallback>
                <p:oleObj name="公式" r:id="rId1" imgW="3263900" imgH="1193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474867"/>
                        <a:ext cx="7535863" cy="2714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决策树的生成</a:t>
            </a:r>
            <a:endParaRPr lang="zh-CN" altLang="en-US" dirty="0"/>
          </a:p>
        </p:txBody>
      </p:sp>
      <p:sp>
        <p:nvSpPr>
          <p:cNvPr id="112643" name="内容占位符 2"/>
          <p:cNvSpPr>
            <a:spLocks noGrp="1"/>
          </p:cNvSpPr>
          <p:nvPr>
            <p:ph idx="1"/>
          </p:nvPr>
        </p:nvSpPr>
        <p:spPr>
          <a:xfrm>
            <a:off x="914400" y="1828800"/>
            <a:ext cx="7772400" cy="41910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两个常用的算法</a:t>
            </a:r>
            <a:endParaRPr lang="en-US" altLang="zh-CN" sz="3200" b="1" dirty="0"/>
          </a:p>
          <a:p>
            <a:endParaRPr lang="en-US" altLang="zh-CN" sz="2800" b="1" dirty="0"/>
          </a:p>
          <a:p>
            <a:r>
              <a:rPr lang="en-US" altLang="zh-CN" sz="3200" b="1" dirty="0"/>
              <a:t>ID3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(Iterative </a:t>
            </a:r>
            <a:r>
              <a:rPr lang="en-US" altLang="zh-CN" sz="3200" b="1" dirty="0" err="1"/>
              <a:t>Dichotomiser</a:t>
            </a:r>
            <a:r>
              <a:rPr lang="en-US" altLang="zh-CN" sz="3200" b="1" dirty="0"/>
              <a:t> 3)</a:t>
            </a:r>
            <a:r>
              <a:rPr lang="zh-CN" altLang="en-US" sz="3200" b="1" dirty="0"/>
              <a:t> 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一个基本的决策树生成算法</a:t>
            </a:r>
            <a:endParaRPr lang="en-US" altLang="zh-CN" sz="2800" b="1" dirty="0"/>
          </a:p>
          <a:p>
            <a:r>
              <a:rPr lang="en-US" altLang="zh-CN" sz="3200" b="1" dirty="0"/>
              <a:t>C4.5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对</a:t>
            </a:r>
            <a:r>
              <a:rPr lang="en-US" altLang="zh-CN" sz="2800" b="1" dirty="0"/>
              <a:t>ID3</a:t>
            </a:r>
            <a:r>
              <a:rPr lang="zh-CN" altLang="en-US" sz="2800" b="1" dirty="0"/>
              <a:t>的改进</a:t>
            </a:r>
            <a:endParaRPr lang="en-US" altLang="zh-CN" sz="2800" b="1" dirty="0"/>
          </a:p>
        </p:txBody>
      </p:sp>
      <p:sp>
        <p:nvSpPr>
          <p:cNvPr id="11264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2BC4AD-D109-4007-9CC8-5CD9999DF32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870383" y="2310064"/>
            <a:ext cx="2377440" cy="683393"/>
            <a:chOff x="4870383" y="2310064"/>
            <a:chExt cx="2377440" cy="683393"/>
          </a:xfrm>
        </p:grpSpPr>
        <p:sp>
          <p:nvSpPr>
            <p:cNvPr id="3" name="TextBox 2"/>
            <p:cNvSpPr txBox="1"/>
            <p:nvPr/>
          </p:nvSpPr>
          <p:spPr>
            <a:xfrm>
              <a:off x="5573028" y="2310064"/>
              <a:ext cx="16747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一分为二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>
            <a:xfrm flipH="1">
              <a:off x="4870383" y="2483318"/>
              <a:ext cx="644893" cy="51013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ID3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667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85799" y="1655379"/>
                <a:ext cx="8269015" cy="4440621"/>
              </a:xfrm>
            </p:spPr>
            <p:txBody>
              <a:bodyPr>
                <a:noAutofit/>
              </a:bodyPr>
              <a:lstStyle/>
              <a:p>
                <a:r>
                  <a:rPr lang="zh-CN" altLang="en-US" b="1" dirty="0"/>
                  <a:t>输入：训练集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，特征集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，阈值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b="1" dirty="0"/>
              </a:p>
              <a:p>
                <a:r>
                  <a:rPr lang="zh-CN" altLang="en-US" b="1" dirty="0"/>
                  <a:t>输出：决策树</a:t>
                </a:r>
                <a:r>
                  <a:rPr lang="en-US" altLang="zh-CN" b="1" dirty="0"/>
                  <a:t>T</a:t>
                </a:r>
                <a:endParaRPr lang="en-US" altLang="zh-CN" b="1" dirty="0"/>
              </a:p>
              <a:p>
                <a:r>
                  <a:rPr lang="en-US" altLang="zh-CN" b="1" dirty="0"/>
                  <a:t>1</a:t>
                </a:r>
                <a:r>
                  <a:rPr lang="zh-CN" altLang="en-US" b="1" dirty="0"/>
                  <a:t>，若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中所有实例属于同一类</a:t>
                </a:r>
                <a:r>
                  <a:rPr lang="en-US" altLang="zh-CN" b="1" dirty="0"/>
                  <a:t>C</a:t>
                </a:r>
                <a:r>
                  <a:rPr lang="en-US" altLang="zh-CN" b="1" baseline="-25000" dirty="0"/>
                  <a:t>k</a:t>
                </a:r>
                <a:r>
                  <a:rPr lang="zh-CN" altLang="en-US" b="1" dirty="0"/>
                  <a:t>，则</a:t>
                </a:r>
                <a:r>
                  <a:rPr lang="en-US" altLang="zh-CN" b="1" dirty="0"/>
                  <a:t>T</a:t>
                </a:r>
                <a:r>
                  <a:rPr lang="zh-CN" altLang="en-US" b="1" dirty="0"/>
                  <a:t>为单节点树，将</a:t>
                </a:r>
                <a:r>
                  <a:rPr lang="en-US" altLang="zh-CN" b="1" dirty="0"/>
                  <a:t>C</a:t>
                </a:r>
                <a:r>
                  <a:rPr lang="en-US" altLang="zh-CN" b="1" baseline="-25000" dirty="0"/>
                  <a:t>k</a:t>
                </a:r>
                <a:r>
                  <a:rPr lang="zh-CN" altLang="en-US" b="1" dirty="0"/>
                  <a:t>作为该节点的类标记，返回</a:t>
                </a:r>
                <a:r>
                  <a:rPr lang="en-US" altLang="zh-CN" b="1" dirty="0"/>
                  <a:t>T</a:t>
                </a:r>
                <a:endParaRPr lang="en-US" altLang="zh-CN" b="1" dirty="0"/>
              </a:p>
              <a:p>
                <a:r>
                  <a:rPr lang="en-US" altLang="zh-CN" b="1" dirty="0"/>
                  <a:t>2</a:t>
                </a:r>
                <a:r>
                  <a:rPr lang="zh-CN" altLang="en-US" b="1" dirty="0"/>
                  <a:t>，若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为空，则</a:t>
                </a:r>
                <a:r>
                  <a:rPr lang="en-US" altLang="zh-CN" b="1" dirty="0"/>
                  <a:t>T</a:t>
                </a:r>
                <a:r>
                  <a:rPr lang="zh-CN" altLang="en-US" b="1" dirty="0"/>
                  <a:t>为单节点树，将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中实例数最多的类</a:t>
                </a:r>
                <a:r>
                  <a:rPr lang="en-US" altLang="zh-CN" b="1" dirty="0"/>
                  <a:t>C</a:t>
                </a:r>
                <a:r>
                  <a:rPr lang="en-US" altLang="zh-CN" b="1" baseline="-25000" dirty="0"/>
                  <a:t>k</a:t>
                </a:r>
                <a:r>
                  <a:rPr lang="zh-CN" altLang="en-US" b="1" dirty="0"/>
                  <a:t>作为该节点的类标记，返回</a:t>
                </a:r>
                <a:r>
                  <a:rPr lang="en-US" altLang="zh-CN" b="1" dirty="0"/>
                  <a:t>T</a:t>
                </a:r>
                <a:endParaRPr lang="en-US" altLang="zh-CN" b="1" dirty="0"/>
              </a:p>
              <a:p>
                <a:r>
                  <a:rPr lang="en-US" altLang="zh-CN" b="1" dirty="0"/>
                  <a:t>3</a:t>
                </a:r>
                <a:r>
                  <a:rPr lang="zh-CN" altLang="en-US" b="1" dirty="0"/>
                  <a:t>，否则计算</a:t>
                </a:r>
                <a:r>
                  <a:rPr lang="en-US" altLang="zh-CN" b="1" dirty="0"/>
                  <a:t>A</a:t>
                </a:r>
                <a:r>
                  <a:rPr lang="zh-CN" altLang="en-US" b="1" dirty="0"/>
                  <a:t>中各特征对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的信息增益，选择信增益息最大的特征</a:t>
                </a:r>
                <a:r>
                  <a:rPr lang="en-US" altLang="zh-CN" b="1" dirty="0"/>
                  <a:t>A</a:t>
                </a:r>
                <a:r>
                  <a:rPr lang="en-US" altLang="zh-CN" b="1" baseline="-25000" dirty="0"/>
                  <a:t>g</a:t>
                </a:r>
                <a:endParaRPr lang="en-US" altLang="zh-CN" b="1" baseline="-25000" dirty="0"/>
              </a:p>
              <a:p>
                <a:r>
                  <a:rPr lang="en-US" altLang="zh-CN" b="1" dirty="0"/>
                  <a:t>4</a:t>
                </a:r>
                <a:r>
                  <a:rPr lang="zh-CN" altLang="en-US" b="1" dirty="0"/>
                  <a:t>，如果</a:t>
                </a:r>
                <a:r>
                  <a:rPr lang="en-US" altLang="zh-CN" b="1" dirty="0"/>
                  <a:t>A</a:t>
                </a:r>
                <a:r>
                  <a:rPr lang="en-US" altLang="zh-CN" b="1" baseline="-25000" dirty="0"/>
                  <a:t>g</a:t>
                </a:r>
                <a:r>
                  <a:rPr lang="zh-CN" altLang="en-US" b="1" dirty="0"/>
                  <a:t>的信息增益小于阈值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b="1" dirty="0"/>
                  <a:t>，则置</a:t>
                </a:r>
                <a:r>
                  <a:rPr lang="en-US" altLang="zh-CN" b="1" dirty="0"/>
                  <a:t>T</a:t>
                </a:r>
                <a:r>
                  <a:rPr lang="zh-CN" altLang="en-US" b="1" dirty="0"/>
                  <a:t>为单节点树，将</a:t>
                </a:r>
                <a:r>
                  <a:rPr lang="en-US" altLang="zh-CN" b="1" dirty="0"/>
                  <a:t>D</a:t>
                </a:r>
                <a:r>
                  <a:rPr lang="zh-CN" altLang="en-US" b="1" dirty="0"/>
                  <a:t>中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实例数最大的类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CN" b="1" baseline="-25000" dirty="0">
                    <a:solidFill>
                      <a:srgbClr val="FF0000"/>
                    </a:solidFill>
                  </a:rPr>
                  <a:t>k</a:t>
                </a:r>
                <a:r>
                  <a:rPr lang="zh-CN" altLang="en-US" b="1" dirty="0"/>
                  <a:t>作为该节点的类标记，返回</a:t>
                </a:r>
                <a:r>
                  <a:rPr lang="en-US" altLang="zh-CN" b="1" dirty="0"/>
                  <a:t>T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113667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799" y="1655379"/>
                <a:ext cx="8269015" cy="4440621"/>
              </a:xfrm>
              <a:blipFill rotWithShape="1">
                <a:blip r:embed="rId1"/>
                <a:stretch>
                  <a:fillRect l="-8" t="-13" r="1" b="-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6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3868FD-877C-4777-A301-AF2354B4D15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5</a:t>
            </a:r>
            <a:r>
              <a:rPr lang="zh-CN" altLang="en-US" b="1" dirty="0"/>
              <a:t>，否则对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g</a:t>
            </a:r>
            <a:r>
              <a:rPr lang="zh-CN" altLang="en-US" b="1" dirty="0"/>
              <a:t>的每一可能值</a:t>
            </a:r>
            <a:r>
              <a:rPr lang="en-US" altLang="zh-CN" b="1" dirty="0" err="1"/>
              <a:t>a</a:t>
            </a:r>
            <a:r>
              <a:rPr lang="en-US" altLang="zh-CN" b="1" baseline="-25000" dirty="0" err="1"/>
              <a:t>i</a:t>
            </a:r>
            <a:r>
              <a:rPr lang="zh-CN" altLang="en-US" b="1" dirty="0"/>
              <a:t>，依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g</a:t>
            </a:r>
            <a:r>
              <a:rPr lang="en-US" altLang="zh-CN" b="1" dirty="0"/>
              <a:t>=</a:t>
            </a:r>
            <a:r>
              <a:rPr lang="en-US" altLang="zh-CN" b="1" dirty="0" err="1"/>
              <a:t>a</a:t>
            </a:r>
            <a:r>
              <a:rPr lang="en-US" altLang="zh-CN" b="1" baseline="-25000" dirty="0" err="1"/>
              <a:t>i</a:t>
            </a:r>
            <a:r>
              <a:rPr lang="zh-CN" altLang="en-US" b="1" dirty="0"/>
              <a:t>将</a:t>
            </a:r>
            <a:r>
              <a:rPr lang="en-US" altLang="zh-CN" b="1" dirty="0"/>
              <a:t>D</a:t>
            </a:r>
            <a:r>
              <a:rPr lang="zh-CN" altLang="en-US" b="1" dirty="0"/>
              <a:t>分割为若干子集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i</a:t>
            </a:r>
            <a:r>
              <a:rPr lang="zh-CN" altLang="en-US" b="1" dirty="0"/>
              <a:t>，作为</a:t>
            </a:r>
            <a:r>
              <a:rPr lang="en-US" altLang="zh-CN" b="1" dirty="0"/>
              <a:t>D</a:t>
            </a:r>
            <a:r>
              <a:rPr lang="zh-CN" altLang="en-US" b="1" dirty="0"/>
              <a:t>的子节点</a:t>
            </a:r>
            <a:endParaRPr lang="en-US" altLang="zh-CN" b="1" dirty="0"/>
          </a:p>
          <a:p>
            <a:r>
              <a:rPr lang="en-US" altLang="zh-CN" b="1" dirty="0"/>
              <a:t>6</a:t>
            </a:r>
            <a:r>
              <a:rPr lang="zh-CN" altLang="en-US" b="1" dirty="0"/>
              <a:t>，对于</a:t>
            </a:r>
            <a:r>
              <a:rPr lang="en-US" altLang="zh-CN" b="1" dirty="0"/>
              <a:t>D</a:t>
            </a:r>
            <a:r>
              <a:rPr lang="zh-CN" altLang="en-US" b="1" dirty="0"/>
              <a:t>的每个子节点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i</a:t>
            </a:r>
            <a:r>
              <a:rPr lang="zh-CN" altLang="en-US" b="1" dirty="0"/>
              <a:t>，如果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i</a:t>
            </a:r>
            <a:r>
              <a:rPr lang="zh-CN" altLang="en-US" b="1" dirty="0"/>
              <a:t>为空，则将</a:t>
            </a:r>
            <a:r>
              <a:rPr lang="en-US" altLang="zh-CN" b="1" dirty="0"/>
              <a:t>D</a:t>
            </a:r>
            <a:r>
              <a:rPr lang="zh-CN" altLang="en-US" b="1" dirty="0"/>
              <a:t>中实例最多的类作为标记，构建子节点</a:t>
            </a:r>
            <a:endParaRPr lang="en-US" altLang="zh-CN" b="1" dirty="0"/>
          </a:p>
          <a:p>
            <a:r>
              <a:rPr lang="en-US" altLang="zh-CN" b="1" dirty="0"/>
              <a:t>7</a:t>
            </a:r>
            <a:r>
              <a:rPr lang="zh-CN" altLang="en-US" b="1" dirty="0"/>
              <a:t>，否则以</a:t>
            </a:r>
            <a:r>
              <a:rPr lang="en-US" altLang="zh-CN" b="1" dirty="0"/>
              <a:t>D</a:t>
            </a:r>
            <a:r>
              <a:rPr lang="en-US" altLang="zh-CN" b="1" baseline="-25000" dirty="0"/>
              <a:t>i</a:t>
            </a:r>
            <a:r>
              <a:rPr lang="zh-CN" altLang="en-US" b="1" dirty="0"/>
              <a:t>为训练集，以</a:t>
            </a:r>
            <a:r>
              <a:rPr lang="en-US" altLang="zh-CN" b="1" dirty="0"/>
              <a:t>A-{A</a:t>
            </a:r>
            <a:r>
              <a:rPr lang="en-US" altLang="zh-CN" b="1" baseline="-25000" dirty="0"/>
              <a:t>g</a:t>
            </a:r>
            <a:r>
              <a:rPr lang="en-US" altLang="zh-CN" b="1" dirty="0"/>
              <a:t>}</a:t>
            </a:r>
            <a:r>
              <a:rPr lang="zh-CN" altLang="en-US" b="1" dirty="0"/>
              <a:t>为特征集，递归地调用步</a:t>
            </a:r>
            <a:r>
              <a:rPr lang="en-US" altLang="zh-CN" b="1" dirty="0"/>
              <a:t>1~</a:t>
            </a:r>
            <a:r>
              <a:rPr lang="zh-CN" altLang="en-US" b="1" dirty="0"/>
              <a:t>步</a:t>
            </a:r>
            <a:r>
              <a:rPr lang="en-US" altLang="zh-CN" b="1" dirty="0"/>
              <a:t>6</a:t>
            </a:r>
            <a:r>
              <a:rPr lang="zh-CN" altLang="en-US" b="1" dirty="0"/>
              <a:t>，得到子树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i</a:t>
            </a:r>
            <a:r>
              <a:rPr lang="zh-CN" altLang="en-US" b="1" dirty="0"/>
              <a:t>，返回</a:t>
            </a:r>
            <a:r>
              <a:rPr lang="en-US" altLang="zh-CN" b="1" dirty="0"/>
              <a:t>T</a:t>
            </a:r>
            <a:r>
              <a:rPr lang="en-US" altLang="zh-CN" b="1" baseline="-25000" dirty="0"/>
              <a:t>i</a:t>
            </a:r>
            <a:endParaRPr lang="en-US" altLang="zh-CN" b="1" dirty="0"/>
          </a:p>
          <a:p>
            <a:endParaRPr lang="zh-CN" altLang="en-US" b="1" baseline="-25000" dirty="0"/>
          </a:p>
        </p:txBody>
      </p:sp>
      <p:sp>
        <p:nvSpPr>
          <p:cNvPr id="11469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F6AC9C6-7B64-4707-B9DC-D41948C49379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例：贷款申请样本如下表所示，试用</a:t>
            </a:r>
            <a:r>
              <a:rPr lang="en-US" altLang="zh-CN" sz="3200" b="1" dirty="0"/>
              <a:t>ID3</a:t>
            </a:r>
            <a:r>
              <a:rPr lang="zh-CN" altLang="en-US" sz="3200" b="1" dirty="0"/>
              <a:t>算法构建决策树。</a:t>
            </a:r>
            <a:endParaRPr lang="zh-CN" altLang="en-US" sz="3200" b="1" dirty="0"/>
          </a:p>
        </p:txBody>
      </p:sp>
      <p:sp>
        <p:nvSpPr>
          <p:cNvPr id="1157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67FA86-DFAD-470F-A47C-CD09FA3364E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18FCF74-8801-41CA-81AB-CC28E42ABA61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47663" y="373063"/>
          <a:ext cx="8244114" cy="59962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74019"/>
                <a:gridCol w="1374019"/>
                <a:gridCol w="1374019"/>
                <a:gridCol w="1374019"/>
                <a:gridCol w="1529518"/>
                <a:gridCol w="1218520"/>
              </a:tblGrid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年龄</a:t>
                      </a:r>
                      <a:r>
                        <a:rPr lang="en-US" altLang="zh-CN" baseline="0" dirty="0"/>
                        <a:t> A1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有工作 </a:t>
                      </a:r>
                      <a:r>
                        <a:rPr lang="en-US" altLang="zh-CN" dirty="0"/>
                        <a:t>A2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有房子 </a:t>
                      </a:r>
                      <a:r>
                        <a:rPr lang="en-US" altLang="zh-CN" dirty="0"/>
                        <a:t>A3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信贷情况 </a:t>
                      </a:r>
                      <a:r>
                        <a:rPr lang="en-US" altLang="zh-CN" dirty="0"/>
                        <a:t>A4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类别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青年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青年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青年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青年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青年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454028"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老年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老年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老年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老年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非常好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是</a:t>
                      </a:r>
                      <a:endParaRPr lang="zh-CN" altLang="en-US" dirty="0"/>
                    </a:p>
                  </a:txBody>
                  <a:tcPr/>
                </a:tc>
              </a:tr>
              <a:tr h="369479">
                <a:tc>
                  <a:txBody>
                    <a:bodyPr/>
                    <a:lstStyle/>
                    <a:p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老年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一般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否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E44D6F-7EF7-4C92-84D8-7B4EEBBD177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3490" name="Object 1" descr="羊皮纸"/>
          <p:cNvGraphicFramePr>
            <a:graphicFrameLocks noChangeAspect="1"/>
          </p:cNvGraphicFramePr>
          <p:nvPr/>
        </p:nvGraphicFramePr>
        <p:xfrm>
          <a:off x="290513" y="760413"/>
          <a:ext cx="8621712" cy="551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873500" imgH="2514600" progId="Equation.3">
                  <p:embed/>
                </p:oleObj>
              </mc:Choice>
              <mc:Fallback>
                <p:oleObj name="公式" r:id="rId1" imgW="3873500" imgH="2514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760413"/>
                        <a:ext cx="8621712" cy="551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EA2FFF9-AD9E-4CB7-978C-79E8B69B5642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4514" name="Object 1" descr="羊皮纸"/>
          <p:cNvGraphicFramePr>
            <a:graphicFrameLocks noChangeAspect="1"/>
          </p:cNvGraphicFramePr>
          <p:nvPr/>
        </p:nvGraphicFramePr>
        <p:xfrm>
          <a:off x="431800" y="957263"/>
          <a:ext cx="8339138" cy="5119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746500" imgH="2336800" progId="Equation.3">
                  <p:embed/>
                </p:oleObj>
              </mc:Choice>
              <mc:Fallback>
                <p:oleObj name="公式" r:id="rId1" imgW="3746500" imgH="2336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957263"/>
                        <a:ext cx="8339138" cy="5119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内容占位符 2"/>
          <p:cNvSpPr>
            <a:spLocks noGrp="1"/>
          </p:cNvSpPr>
          <p:nvPr>
            <p:ph idx="1"/>
          </p:nvPr>
        </p:nvSpPr>
        <p:spPr>
          <a:xfrm>
            <a:off x="685800" y="623888"/>
            <a:ext cx="7772400" cy="58928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生成的决策树如下：</a:t>
            </a:r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endParaRPr lang="en-US" altLang="zh-CN" sz="3200" b="1" dirty="0"/>
          </a:p>
          <a:p>
            <a:pPr marL="0" indent="0">
              <a:buNone/>
            </a:pPr>
            <a:endParaRPr lang="en-US" altLang="zh-CN" sz="3200" b="1" dirty="0"/>
          </a:p>
        </p:txBody>
      </p:sp>
      <p:sp>
        <p:nvSpPr>
          <p:cNvPr id="11776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202069-0C41-41AE-91E5-9584B255B04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sp>
        <p:nvSpPr>
          <p:cNvPr id="117764" name="椭圆 6"/>
          <p:cNvSpPr>
            <a:spLocks noChangeArrowheads="1"/>
          </p:cNvSpPr>
          <p:nvPr/>
        </p:nvSpPr>
        <p:spPr bwMode="auto">
          <a:xfrm>
            <a:off x="4078288" y="1944688"/>
            <a:ext cx="261937" cy="24765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5" name="椭圆 7"/>
          <p:cNvSpPr>
            <a:spLocks noChangeArrowheads="1"/>
          </p:cNvSpPr>
          <p:nvPr/>
        </p:nvSpPr>
        <p:spPr bwMode="auto">
          <a:xfrm>
            <a:off x="5384800" y="3236913"/>
            <a:ext cx="261938" cy="246062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6" name="矩形 8"/>
          <p:cNvSpPr>
            <a:spLocks noChangeArrowheads="1"/>
          </p:cNvSpPr>
          <p:nvPr/>
        </p:nvSpPr>
        <p:spPr bwMode="auto">
          <a:xfrm>
            <a:off x="2830513" y="3352800"/>
            <a:ext cx="434975" cy="26193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7" name="矩形 9"/>
          <p:cNvSpPr>
            <a:spLocks noChangeArrowheads="1"/>
          </p:cNvSpPr>
          <p:nvPr/>
        </p:nvSpPr>
        <p:spPr bwMode="auto">
          <a:xfrm>
            <a:off x="4238625" y="4687888"/>
            <a:ext cx="434975" cy="261937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7768" name="矩形 10"/>
          <p:cNvSpPr>
            <a:spLocks noChangeArrowheads="1"/>
          </p:cNvSpPr>
          <p:nvPr/>
        </p:nvSpPr>
        <p:spPr bwMode="auto">
          <a:xfrm>
            <a:off x="6691313" y="4732338"/>
            <a:ext cx="434975" cy="26035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tailEnd type="triangle" w="med" len="med"/>
          </a:ln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17769" name="直接箭头连接符 12"/>
          <p:cNvCxnSpPr>
            <a:cxnSpLocks noChangeShapeType="1"/>
            <a:stCxn id="117764" idx="4"/>
            <a:endCxn id="117766" idx="0"/>
          </p:cNvCxnSpPr>
          <p:nvPr/>
        </p:nvCxnSpPr>
        <p:spPr bwMode="auto">
          <a:xfrm flipH="1">
            <a:off x="3048000" y="2192338"/>
            <a:ext cx="1160463" cy="1160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17770" name="直接箭头连接符 16"/>
          <p:cNvCxnSpPr>
            <a:cxnSpLocks noChangeShapeType="1"/>
            <a:stCxn id="117764" idx="4"/>
            <a:endCxn id="117765" idx="1"/>
          </p:cNvCxnSpPr>
          <p:nvPr/>
        </p:nvCxnSpPr>
        <p:spPr bwMode="auto">
          <a:xfrm>
            <a:off x="4208463" y="2192338"/>
            <a:ext cx="1214437" cy="10810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17771" name="直接箭头连接符 18"/>
          <p:cNvCxnSpPr>
            <a:cxnSpLocks noChangeShapeType="1"/>
            <a:stCxn id="117765" idx="4"/>
            <a:endCxn id="117767" idx="0"/>
          </p:cNvCxnSpPr>
          <p:nvPr/>
        </p:nvCxnSpPr>
        <p:spPr bwMode="auto">
          <a:xfrm flipH="1">
            <a:off x="4456113" y="3482975"/>
            <a:ext cx="1058862" cy="120491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arrow" w="med" len="med"/>
          </a:ln>
        </p:spPr>
      </p:cxnSp>
      <p:cxnSp>
        <p:nvCxnSpPr>
          <p:cNvPr id="117772" name="直接箭头连接符 20"/>
          <p:cNvCxnSpPr>
            <a:cxnSpLocks noChangeShapeType="1"/>
            <a:stCxn id="117765" idx="4"/>
            <a:endCxn id="117768" idx="0"/>
          </p:cNvCxnSpPr>
          <p:nvPr/>
        </p:nvCxnSpPr>
        <p:spPr bwMode="auto">
          <a:xfrm>
            <a:off x="5514975" y="3482975"/>
            <a:ext cx="1393825" cy="12493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117773" name="TextBox 21"/>
          <p:cNvSpPr txBox="1">
            <a:spLocks noChangeArrowheads="1"/>
          </p:cNvSpPr>
          <p:nvPr/>
        </p:nvSpPr>
        <p:spPr bwMode="auto">
          <a:xfrm>
            <a:off x="4498975" y="3744913"/>
            <a:ext cx="74136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是</a:t>
            </a:r>
            <a:endParaRPr lang="zh-CN" altLang="en-US" sz="2000" b="1"/>
          </a:p>
        </p:txBody>
      </p:sp>
      <p:sp>
        <p:nvSpPr>
          <p:cNvPr id="117774" name="TextBox 22"/>
          <p:cNvSpPr txBox="1">
            <a:spLocks noChangeArrowheads="1"/>
          </p:cNvSpPr>
          <p:nvPr/>
        </p:nvSpPr>
        <p:spPr bwMode="auto">
          <a:xfrm>
            <a:off x="3076575" y="2511425"/>
            <a:ext cx="74136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是</a:t>
            </a:r>
            <a:endParaRPr lang="zh-CN" altLang="en-US" sz="2000" b="1"/>
          </a:p>
        </p:txBody>
      </p:sp>
      <p:sp>
        <p:nvSpPr>
          <p:cNvPr id="117775" name="TextBox 23"/>
          <p:cNvSpPr txBox="1">
            <a:spLocks noChangeArrowheads="1"/>
          </p:cNvSpPr>
          <p:nvPr/>
        </p:nvSpPr>
        <p:spPr bwMode="auto">
          <a:xfrm>
            <a:off x="2641600" y="3759200"/>
            <a:ext cx="7397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是</a:t>
            </a:r>
            <a:endParaRPr lang="zh-CN" altLang="en-US" sz="2000" b="1"/>
          </a:p>
        </p:txBody>
      </p:sp>
      <p:sp>
        <p:nvSpPr>
          <p:cNvPr id="117776" name="TextBox 24"/>
          <p:cNvSpPr txBox="1">
            <a:spLocks noChangeArrowheads="1"/>
          </p:cNvSpPr>
          <p:nvPr/>
        </p:nvSpPr>
        <p:spPr bwMode="auto">
          <a:xfrm>
            <a:off x="4064000" y="5080000"/>
            <a:ext cx="7397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是</a:t>
            </a:r>
            <a:endParaRPr lang="zh-CN" altLang="en-US" sz="2000" b="1"/>
          </a:p>
        </p:txBody>
      </p:sp>
      <p:sp>
        <p:nvSpPr>
          <p:cNvPr id="117777" name="TextBox 25"/>
          <p:cNvSpPr txBox="1">
            <a:spLocks noChangeArrowheads="1"/>
          </p:cNvSpPr>
          <p:nvPr/>
        </p:nvSpPr>
        <p:spPr bwMode="auto">
          <a:xfrm>
            <a:off x="4716463" y="2308225"/>
            <a:ext cx="74136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否</a:t>
            </a:r>
            <a:endParaRPr lang="zh-CN" altLang="en-US" sz="2000" b="1"/>
          </a:p>
        </p:txBody>
      </p:sp>
      <p:sp>
        <p:nvSpPr>
          <p:cNvPr id="117778" name="TextBox 26"/>
          <p:cNvSpPr txBox="1">
            <a:spLocks noChangeArrowheads="1"/>
          </p:cNvSpPr>
          <p:nvPr/>
        </p:nvSpPr>
        <p:spPr bwMode="auto">
          <a:xfrm>
            <a:off x="6053138" y="3598863"/>
            <a:ext cx="7397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否</a:t>
            </a:r>
            <a:endParaRPr lang="zh-CN" altLang="en-US" sz="2000" b="1"/>
          </a:p>
        </p:txBody>
      </p:sp>
      <p:sp>
        <p:nvSpPr>
          <p:cNvPr id="117779" name="TextBox 27"/>
          <p:cNvSpPr txBox="1">
            <a:spLocks noChangeArrowheads="1"/>
          </p:cNvSpPr>
          <p:nvPr/>
        </p:nvSpPr>
        <p:spPr bwMode="auto">
          <a:xfrm>
            <a:off x="6561138" y="5065713"/>
            <a:ext cx="739775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否</a:t>
            </a:r>
            <a:endParaRPr lang="zh-CN" altLang="en-US" sz="2000" b="1"/>
          </a:p>
        </p:txBody>
      </p:sp>
      <p:sp>
        <p:nvSpPr>
          <p:cNvPr id="117780" name="TextBox 28"/>
          <p:cNvSpPr txBox="1">
            <a:spLocks noChangeArrowheads="1"/>
          </p:cNvSpPr>
          <p:nvPr/>
        </p:nvSpPr>
        <p:spPr bwMode="auto">
          <a:xfrm>
            <a:off x="3629025" y="1393825"/>
            <a:ext cx="1814513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有房子</a:t>
            </a:r>
            <a:endParaRPr lang="zh-CN" altLang="en-US" sz="2000" b="1"/>
          </a:p>
        </p:txBody>
      </p:sp>
      <p:sp>
        <p:nvSpPr>
          <p:cNvPr id="117781" name="TextBox 29"/>
          <p:cNvSpPr txBox="1">
            <a:spLocks noChangeArrowheads="1"/>
          </p:cNvSpPr>
          <p:nvPr/>
        </p:nvSpPr>
        <p:spPr bwMode="auto">
          <a:xfrm>
            <a:off x="5732463" y="3005138"/>
            <a:ext cx="1814512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000" b="1"/>
              <a:t>有工作</a:t>
            </a:r>
            <a:endParaRPr lang="zh-CN" altLang="en-US" sz="20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ID3</a:t>
            </a:r>
            <a:r>
              <a:rPr lang="zh-CN" altLang="en-US" dirty="0"/>
              <a:t>存在的问题</a:t>
            </a:r>
            <a:endParaRPr lang="zh-CN" altLang="en-US" dirty="0"/>
          </a:p>
        </p:txBody>
      </p:sp>
      <p:sp>
        <p:nvSpPr>
          <p:cNvPr id="118787" name="内容占位符 2"/>
          <p:cNvSpPr>
            <a:spLocks noGrp="1"/>
          </p:cNvSpPr>
          <p:nvPr>
            <p:ph idx="1"/>
          </p:nvPr>
        </p:nvSpPr>
        <p:spPr>
          <a:xfrm>
            <a:off x="914400" y="1671144"/>
            <a:ext cx="7772400" cy="4348655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信息增益倾向于选择分枝比较多的属性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比如前面贷款的例子中，如果用</a:t>
            </a:r>
            <a:r>
              <a:rPr lang="en-US" altLang="zh-CN" sz="3200" b="1" dirty="0"/>
              <a:t>ID</a:t>
            </a:r>
            <a:r>
              <a:rPr lang="zh-CN" altLang="en-US" sz="3200" b="1" dirty="0"/>
              <a:t>做属性，将获得最大的信息增益值</a:t>
            </a:r>
            <a:endParaRPr lang="zh-CN" altLang="en-US" sz="3200" b="1" dirty="0"/>
          </a:p>
        </p:txBody>
      </p:sp>
      <p:sp>
        <p:nvSpPr>
          <p:cNvPr id="11878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4D9FF24-7B55-4602-916B-195D43A09ED4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信息增益比</a:t>
            </a:r>
            <a:endParaRPr lang="zh-CN" altLang="en-US" dirty="0"/>
          </a:p>
        </p:txBody>
      </p:sp>
      <p:sp>
        <p:nvSpPr>
          <p:cNvPr id="65540" name="内容占位符 2"/>
          <p:cNvSpPr>
            <a:spLocks noGrp="1"/>
          </p:cNvSpPr>
          <p:nvPr>
            <p:ph idx="1"/>
          </p:nvPr>
        </p:nvSpPr>
        <p:spPr>
          <a:xfrm>
            <a:off x="627063" y="1749425"/>
            <a:ext cx="7772400" cy="4114800"/>
          </a:xfrm>
        </p:spPr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3200" b="1" dirty="0"/>
              <a:t>其中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为属性，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的不同取值将</a:t>
            </a:r>
            <a:r>
              <a:rPr lang="en-US" altLang="zh-CN" sz="3200" b="1" dirty="0"/>
              <a:t>D</a:t>
            </a:r>
            <a:r>
              <a:rPr lang="zh-CN" altLang="en-US" sz="3200" b="1" dirty="0"/>
              <a:t>划分为</a:t>
            </a:r>
            <a:r>
              <a:rPr lang="en-US" altLang="zh-CN" sz="3200" b="1" dirty="0"/>
              <a:t>n</a:t>
            </a:r>
            <a:r>
              <a:rPr lang="zh-CN" altLang="en-US" sz="3200" b="1" dirty="0"/>
              <a:t>个子集</a:t>
            </a:r>
            <a:r>
              <a:rPr lang="en-US" altLang="zh-CN" sz="3200" b="1" dirty="0"/>
              <a:t>D</a:t>
            </a:r>
            <a:r>
              <a:rPr lang="en-US" altLang="zh-CN" sz="3200" b="1" baseline="-25000" dirty="0"/>
              <a:t>1</a:t>
            </a:r>
            <a:r>
              <a:rPr lang="en-US" altLang="zh-CN" sz="3200" b="1" dirty="0"/>
              <a:t>…</a:t>
            </a:r>
            <a:r>
              <a:rPr lang="en-US" altLang="zh-CN" sz="3200" b="1" dirty="0" err="1"/>
              <a:t>D</a:t>
            </a:r>
            <a:r>
              <a:rPr lang="en-US" altLang="zh-CN" sz="3200" b="1" baseline="-25000" dirty="0" err="1"/>
              <a:t>n</a:t>
            </a:r>
            <a:endParaRPr lang="zh-CN" altLang="en-US" sz="3200" b="1" dirty="0"/>
          </a:p>
        </p:txBody>
      </p:sp>
      <p:sp>
        <p:nvSpPr>
          <p:cNvPr id="65541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A57C96-8621-47B5-B042-B216CA180E27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5538" name="Object 1" descr="羊皮纸"/>
          <p:cNvGraphicFramePr>
            <a:graphicFrameLocks noChangeAspect="1"/>
          </p:cNvGraphicFramePr>
          <p:nvPr/>
        </p:nvGraphicFramePr>
        <p:xfrm>
          <a:off x="1455301" y="1432357"/>
          <a:ext cx="5811837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" imgW="1689100" imgH="914400" progId="Equation.3">
                  <p:embed/>
                </p:oleObj>
              </mc:Choice>
              <mc:Fallback>
                <p:oleObj name="公式" r:id="rId1" imgW="1689100" imgH="9144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301" y="1432357"/>
                        <a:ext cx="5811837" cy="309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C4.5</a:t>
            </a:r>
            <a:r>
              <a:rPr lang="zh-CN" altLang="en-US" dirty="0"/>
              <a:t>的生成算法</a:t>
            </a:r>
            <a:endParaRPr lang="zh-CN" altLang="en-US" dirty="0"/>
          </a:p>
        </p:txBody>
      </p:sp>
      <p:sp>
        <p:nvSpPr>
          <p:cNvPr id="119811" name="内容占位符 2"/>
          <p:cNvSpPr>
            <a:spLocks noGrp="1"/>
          </p:cNvSpPr>
          <p:nvPr>
            <p:ph idx="1"/>
          </p:nvPr>
        </p:nvSpPr>
        <p:spPr>
          <a:xfrm>
            <a:off x="914400" y="1797268"/>
            <a:ext cx="7772400" cy="4222531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除了根据信息增益比选择特征外，</a:t>
            </a:r>
            <a:r>
              <a:rPr lang="en-US" altLang="zh-CN" sz="3200" b="1" dirty="0"/>
              <a:t>C4.5</a:t>
            </a:r>
            <a:r>
              <a:rPr lang="zh-CN" altLang="en-US" sz="3200" b="1" dirty="0"/>
              <a:t>算法与</a:t>
            </a:r>
            <a:r>
              <a:rPr lang="en-US" altLang="zh-CN" sz="3200" b="1" dirty="0"/>
              <a:t>ID3</a:t>
            </a:r>
            <a:r>
              <a:rPr lang="zh-CN" altLang="en-US" sz="3200" b="1" dirty="0"/>
              <a:t>基本一样。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同时</a:t>
            </a:r>
            <a:r>
              <a:rPr lang="en-US" altLang="zh-CN" sz="3200" b="1" dirty="0"/>
              <a:t>C4.5</a:t>
            </a:r>
            <a:r>
              <a:rPr lang="zh-CN" altLang="en-US" sz="3200" b="1" dirty="0"/>
              <a:t>增加了对连续值属性的处理，对于连续值属性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，找到一个属性值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0</a:t>
            </a:r>
            <a:r>
              <a:rPr lang="zh-CN" altLang="en-US" sz="3200" b="1" dirty="0"/>
              <a:t>，将≤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0</a:t>
            </a:r>
            <a:r>
              <a:rPr lang="zh-CN" altLang="en-US" sz="3200" b="1" dirty="0"/>
              <a:t>的划分到左子树，＞</a:t>
            </a:r>
            <a:r>
              <a:rPr lang="en-US" altLang="zh-CN" sz="3200" b="1" dirty="0"/>
              <a:t>a</a:t>
            </a:r>
            <a:r>
              <a:rPr lang="en-US" altLang="zh-CN" sz="3200" b="1" baseline="-25000" dirty="0"/>
              <a:t>0</a:t>
            </a:r>
            <a:r>
              <a:rPr lang="zh-CN" altLang="en-US" sz="3200" b="1" dirty="0"/>
              <a:t>的划分到右子树</a:t>
            </a:r>
            <a:endParaRPr lang="zh-CN" altLang="en-US" sz="3200" b="1" dirty="0"/>
          </a:p>
        </p:txBody>
      </p:sp>
      <p:sp>
        <p:nvSpPr>
          <p:cNvPr id="11981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4C0309-7E31-40E8-AA49-7EBA662F259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494997" y="5285472"/>
            <a:ext cx="2933566" cy="998621"/>
            <a:chOff x="4494997" y="5285472"/>
            <a:chExt cx="2933566" cy="998621"/>
          </a:xfrm>
        </p:grpSpPr>
        <p:sp>
          <p:nvSpPr>
            <p:cNvPr id="3" name="TextBox 2"/>
            <p:cNvSpPr txBox="1"/>
            <p:nvPr/>
          </p:nvSpPr>
          <p:spPr>
            <a:xfrm>
              <a:off x="4494997" y="5419023"/>
              <a:ext cx="2849078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FF0000"/>
                  </a:solidFill>
                </a:rPr>
                <a:t>如何获得</a:t>
              </a:r>
              <a:r>
                <a:rPr lang="en-US" altLang="zh-CN" sz="1800" b="1" dirty="0">
                  <a:solidFill>
                    <a:srgbClr val="FF0000"/>
                  </a:solidFill>
                </a:rPr>
                <a:t> a</a:t>
              </a:r>
              <a:r>
                <a:rPr lang="en-US" altLang="zh-CN" sz="1800" b="1" baseline="-25000" dirty="0">
                  <a:solidFill>
                    <a:srgbClr val="FF0000"/>
                  </a:solidFill>
                </a:rPr>
                <a:t>0</a:t>
              </a:r>
              <a:r>
                <a:rPr lang="zh-CN" altLang="en-US" sz="1800" b="1" dirty="0">
                  <a:solidFill>
                    <a:srgbClr val="FF0000"/>
                  </a:solidFill>
                </a:rPr>
                <a:t>？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pic>
          <p:nvPicPr>
            <p:cNvPr id="1026" name="Picture 2" descr="Question Baby Images – Browse 12,543 Stock Photos, Vectors, and Video |  Adobe Stock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9536" y="5285472"/>
              <a:ext cx="1509027" cy="998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12083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信息增益比的问题：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倾向于选择分割不均匀的特征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3200" b="1" dirty="0"/>
              <a:t>解决办法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先选择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个信息增益大的特征，再从这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个特征中选择信息增益比最大的特征</a:t>
            </a:r>
            <a:endParaRPr lang="en-US" altLang="zh-CN" sz="2800" b="1" dirty="0"/>
          </a:p>
        </p:txBody>
      </p:sp>
      <p:sp>
        <p:nvSpPr>
          <p:cNvPr id="12083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C54635-238B-4D90-BE7F-5522484D7A66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verfitting with a Decision Tree – Entrepreneurial Geekines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257" y="1196257"/>
            <a:ext cx="7052343" cy="531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过拟合问题</a:t>
            </a:r>
            <a:endParaRPr lang="zh-CN" altLang="en-US" dirty="0"/>
          </a:p>
        </p:txBody>
      </p:sp>
      <p:sp>
        <p:nvSpPr>
          <p:cNvPr id="12186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F3A44B-A945-460F-91AA-9EB17D7646E3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决策树的剪枝</a:t>
            </a:r>
            <a:endParaRPr lang="zh-CN" altLang="en-US" dirty="0"/>
          </a:p>
        </p:txBody>
      </p:sp>
      <p:sp>
        <p:nvSpPr>
          <p:cNvPr id="122883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8269288" cy="41148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为了防止出现过拟合，对生成的决策树进行简化的过程称为</a:t>
            </a:r>
            <a:r>
              <a:rPr lang="zh-CN" altLang="en-US" sz="3200" b="1" dirty="0">
                <a:solidFill>
                  <a:srgbClr val="FF0000"/>
                </a:solidFill>
              </a:rPr>
              <a:t>剪枝</a:t>
            </a:r>
            <a:r>
              <a:rPr lang="zh-CN" altLang="en-US" sz="3200" b="1" dirty="0"/>
              <a:t>。也就是从已经生成的树上裁掉一些子树或者叶节点，将其父节点作为新的叶节点，用其实例数最大的类别作为标记。</a:t>
            </a:r>
            <a:endParaRPr lang="en-US" altLang="zh-CN" sz="3200" b="1" dirty="0"/>
          </a:p>
          <a:p>
            <a:endParaRPr lang="en-US" altLang="zh-CN" sz="3200" b="1" dirty="0"/>
          </a:p>
          <a:p>
            <a:r>
              <a:rPr lang="zh-CN" altLang="en-US" sz="3200" b="1" dirty="0"/>
              <a:t>这种先生成树再剪枝的方法称为后剪枝。</a:t>
            </a:r>
            <a:endParaRPr lang="zh-CN" altLang="en-US" sz="3200" b="1" dirty="0"/>
          </a:p>
        </p:txBody>
      </p:sp>
      <p:sp>
        <p:nvSpPr>
          <p:cNvPr id="12288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FAFB68-36B6-43C4-99CA-64F0174B1EDF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361ABA-3864-4621-BD5E-50BA28C0E078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2" name="组合 40"/>
          <p:cNvGrpSpPr/>
          <p:nvPr/>
        </p:nvGrpSpPr>
        <p:grpSpPr bwMode="auto">
          <a:xfrm>
            <a:off x="1481138" y="2003425"/>
            <a:ext cx="6138862" cy="3916358"/>
            <a:chOff x="1480457" y="2002716"/>
            <a:chExt cx="6139314" cy="3916315"/>
          </a:xfrm>
        </p:grpSpPr>
        <p:sp>
          <p:nvSpPr>
            <p:cNvPr id="123909" name="椭圆 6"/>
            <p:cNvSpPr>
              <a:spLocks noChangeArrowheads="1"/>
            </p:cNvSpPr>
            <p:nvPr/>
          </p:nvSpPr>
          <p:spPr bwMode="auto">
            <a:xfrm>
              <a:off x="4426629" y="2002716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910" name="矩形 8"/>
            <p:cNvSpPr>
              <a:spLocks noChangeArrowheads="1"/>
            </p:cNvSpPr>
            <p:nvPr/>
          </p:nvSpPr>
          <p:spPr bwMode="auto">
            <a:xfrm>
              <a:off x="3933595" y="4920312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23911" name="直接箭头连接符 12"/>
            <p:cNvCxnSpPr>
              <a:cxnSpLocks noChangeShapeType="1"/>
              <a:stCxn id="123909" idx="4"/>
              <a:endCxn id="123913" idx="0"/>
            </p:cNvCxnSpPr>
            <p:nvPr/>
          </p:nvCxnSpPr>
          <p:spPr bwMode="auto">
            <a:xfrm flipH="1">
              <a:off x="3265830" y="2250366"/>
              <a:ext cx="1291768" cy="118926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23912" name="椭圆 6"/>
            <p:cNvSpPr>
              <a:spLocks noChangeArrowheads="1"/>
            </p:cNvSpPr>
            <p:nvPr/>
          </p:nvSpPr>
          <p:spPr bwMode="auto">
            <a:xfrm>
              <a:off x="6110286" y="3352545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913" name="椭圆 6"/>
            <p:cNvSpPr>
              <a:spLocks noChangeArrowheads="1"/>
            </p:cNvSpPr>
            <p:nvPr/>
          </p:nvSpPr>
          <p:spPr bwMode="auto">
            <a:xfrm>
              <a:off x="3134861" y="3439630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914" name="矩形 8"/>
            <p:cNvSpPr>
              <a:spLocks noChangeArrowheads="1"/>
            </p:cNvSpPr>
            <p:nvPr/>
          </p:nvSpPr>
          <p:spPr bwMode="auto">
            <a:xfrm>
              <a:off x="5167310" y="4934828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915" name="矩形 8"/>
            <p:cNvSpPr>
              <a:spLocks noChangeArrowheads="1"/>
            </p:cNvSpPr>
            <p:nvPr/>
          </p:nvSpPr>
          <p:spPr bwMode="auto">
            <a:xfrm>
              <a:off x="7184796" y="486225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3916" name="矩形 8"/>
            <p:cNvSpPr>
              <a:spLocks noChangeArrowheads="1"/>
            </p:cNvSpPr>
            <p:nvPr/>
          </p:nvSpPr>
          <p:spPr bwMode="auto">
            <a:xfrm>
              <a:off x="1582281" y="497836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23917" name="直接箭头连接符 12"/>
            <p:cNvCxnSpPr>
              <a:cxnSpLocks noChangeShapeType="1"/>
              <a:stCxn id="123909" idx="5"/>
              <a:endCxn id="123912" idx="1"/>
            </p:cNvCxnSpPr>
            <p:nvPr/>
          </p:nvCxnSpPr>
          <p:spPr bwMode="auto">
            <a:xfrm>
              <a:off x="4650206" y="2214099"/>
              <a:ext cx="1498440" cy="117471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3918" name="直接箭头连接符 12"/>
            <p:cNvCxnSpPr>
              <a:cxnSpLocks noChangeShapeType="1"/>
              <a:stCxn id="123913" idx="4"/>
              <a:endCxn id="123916" idx="0"/>
            </p:cNvCxnSpPr>
            <p:nvPr/>
          </p:nvCxnSpPr>
          <p:spPr bwMode="auto">
            <a:xfrm flipH="1">
              <a:off x="1799769" y="3687280"/>
              <a:ext cx="1466061" cy="129108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3919" name="直接箭头连接符 12"/>
            <p:cNvCxnSpPr>
              <a:cxnSpLocks noChangeShapeType="1"/>
              <a:stCxn id="123913" idx="4"/>
              <a:endCxn id="123910" idx="0"/>
            </p:cNvCxnSpPr>
            <p:nvPr/>
          </p:nvCxnSpPr>
          <p:spPr bwMode="auto">
            <a:xfrm>
              <a:off x="3265830" y="3687280"/>
              <a:ext cx="885253" cy="123303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3920" name="直接箭头连接符 12"/>
            <p:cNvCxnSpPr>
              <a:cxnSpLocks noChangeShapeType="1"/>
              <a:stCxn id="123912" idx="5"/>
              <a:endCxn id="123915" idx="0"/>
            </p:cNvCxnSpPr>
            <p:nvPr/>
          </p:nvCxnSpPr>
          <p:spPr bwMode="auto">
            <a:xfrm>
              <a:off x="6333863" y="3563928"/>
              <a:ext cx="1068421" cy="1298329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3921" name="直接箭头连接符 12"/>
            <p:cNvCxnSpPr>
              <a:cxnSpLocks noChangeShapeType="1"/>
              <a:stCxn id="123912" idx="4"/>
              <a:endCxn id="123914" idx="0"/>
            </p:cNvCxnSpPr>
            <p:nvPr/>
          </p:nvCxnSpPr>
          <p:spPr bwMode="auto">
            <a:xfrm flipH="1">
              <a:off x="5384798" y="3600195"/>
              <a:ext cx="856457" cy="133463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23922" name="TextBox 38"/>
            <p:cNvSpPr txBox="1">
              <a:spLocks noChangeArrowheads="1"/>
            </p:cNvSpPr>
            <p:nvPr/>
          </p:nvSpPr>
          <p:spPr bwMode="auto">
            <a:xfrm>
              <a:off x="1480457" y="5457371"/>
              <a:ext cx="1436914" cy="4616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/>
                <a:t>a </a:t>
              </a:r>
              <a:r>
                <a:rPr lang="en-US" altLang="zh-CN" sz="2400" b="1" dirty="0" err="1"/>
                <a:t>a</a:t>
              </a:r>
              <a:r>
                <a:rPr lang="en-US" altLang="zh-CN" sz="2400" b="1" dirty="0"/>
                <a:t> </a:t>
              </a:r>
              <a:r>
                <a:rPr lang="en-US" altLang="zh-CN" sz="2400" b="1" dirty="0" err="1"/>
                <a:t>a</a:t>
              </a:r>
              <a:endParaRPr lang="zh-CN" altLang="en-US" sz="2400" b="1" dirty="0"/>
            </a:p>
          </p:txBody>
        </p:sp>
        <p:sp>
          <p:nvSpPr>
            <p:cNvPr id="123923" name="TextBox 39"/>
            <p:cNvSpPr txBox="1">
              <a:spLocks noChangeArrowheads="1"/>
            </p:cNvSpPr>
            <p:nvPr/>
          </p:nvSpPr>
          <p:spPr bwMode="auto">
            <a:xfrm>
              <a:off x="3875309" y="5413829"/>
              <a:ext cx="1436914" cy="46166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/>
                <a:t>b b</a:t>
              </a:r>
              <a:endParaRPr lang="zh-CN" altLang="en-US" sz="2400" b="1"/>
            </a:p>
          </p:txBody>
        </p:sp>
      </p:grpSp>
      <p:sp>
        <p:nvSpPr>
          <p:cNvPr id="7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后剪枝方法示意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47BEBAF-63E3-449C-9CF4-5AAE841587AD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2" name="组合 46"/>
          <p:cNvGrpSpPr/>
          <p:nvPr/>
        </p:nvGrpSpPr>
        <p:grpSpPr bwMode="auto">
          <a:xfrm>
            <a:off x="1089025" y="2003425"/>
            <a:ext cx="6530975" cy="4205432"/>
            <a:chOff x="1088579" y="2002716"/>
            <a:chExt cx="6531192" cy="4206744"/>
          </a:xfrm>
        </p:grpSpPr>
        <p:sp>
          <p:nvSpPr>
            <p:cNvPr id="124933" name="椭圆 6"/>
            <p:cNvSpPr>
              <a:spLocks noChangeArrowheads="1"/>
            </p:cNvSpPr>
            <p:nvPr/>
          </p:nvSpPr>
          <p:spPr bwMode="auto">
            <a:xfrm>
              <a:off x="4426629" y="2002716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4" name="矩形 8"/>
            <p:cNvSpPr>
              <a:spLocks noChangeArrowheads="1"/>
            </p:cNvSpPr>
            <p:nvPr/>
          </p:nvSpPr>
          <p:spPr bwMode="auto">
            <a:xfrm>
              <a:off x="3541717" y="5210592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5" name="椭圆 6"/>
            <p:cNvSpPr>
              <a:spLocks noChangeArrowheads="1"/>
            </p:cNvSpPr>
            <p:nvPr/>
          </p:nvSpPr>
          <p:spPr bwMode="auto">
            <a:xfrm>
              <a:off x="6110286" y="3352545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6" name="椭圆 6"/>
            <p:cNvSpPr>
              <a:spLocks noChangeArrowheads="1"/>
            </p:cNvSpPr>
            <p:nvPr/>
          </p:nvSpPr>
          <p:spPr bwMode="auto">
            <a:xfrm>
              <a:off x="2742983" y="3729910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7" name="矩形 8"/>
            <p:cNvSpPr>
              <a:spLocks noChangeArrowheads="1"/>
            </p:cNvSpPr>
            <p:nvPr/>
          </p:nvSpPr>
          <p:spPr bwMode="auto">
            <a:xfrm>
              <a:off x="5167310" y="4934828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8" name="矩形 8"/>
            <p:cNvSpPr>
              <a:spLocks noChangeArrowheads="1"/>
            </p:cNvSpPr>
            <p:nvPr/>
          </p:nvSpPr>
          <p:spPr bwMode="auto">
            <a:xfrm>
              <a:off x="7184796" y="486225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4939" name="矩形 8"/>
            <p:cNvSpPr>
              <a:spLocks noChangeArrowheads="1"/>
            </p:cNvSpPr>
            <p:nvPr/>
          </p:nvSpPr>
          <p:spPr bwMode="auto">
            <a:xfrm>
              <a:off x="1190403" y="526864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24940" name="直接箭头连接符 12"/>
            <p:cNvCxnSpPr>
              <a:cxnSpLocks noChangeShapeType="1"/>
              <a:stCxn id="124933" idx="5"/>
              <a:endCxn id="124935" idx="1"/>
            </p:cNvCxnSpPr>
            <p:nvPr/>
          </p:nvCxnSpPr>
          <p:spPr bwMode="auto">
            <a:xfrm>
              <a:off x="4650206" y="2214099"/>
              <a:ext cx="1498440" cy="117471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4941" name="直接箭头连接符 12"/>
            <p:cNvCxnSpPr>
              <a:cxnSpLocks noChangeShapeType="1"/>
              <a:stCxn id="124936" idx="4"/>
              <a:endCxn id="124939" idx="0"/>
            </p:cNvCxnSpPr>
            <p:nvPr/>
          </p:nvCxnSpPr>
          <p:spPr bwMode="auto">
            <a:xfrm flipH="1">
              <a:off x="1407891" y="3977560"/>
              <a:ext cx="1466061" cy="129108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4942" name="直接箭头连接符 12"/>
            <p:cNvCxnSpPr>
              <a:cxnSpLocks noChangeShapeType="1"/>
              <a:stCxn id="124936" idx="4"/>
              <a:endCxn id="124934" idx="0"/>
            </p:cNvCxnSpPr>
            <p:nvPr/>
          </p:nvCxnSpPr>
          <p:spPr bwMode="auto">
            <a:xfrm>
              <a:off x="2873952" y="3977560"/>
              <a:ext cx="885253" cy="123303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4943" name="直接箭头连接符 12"/>
            <p:cNvCxnSpPr>
              <a:cxnSpLocks noChangeShapeType="1"/>
              <a:stCxn id="124935" idx="5"/>
              <a:endCxn id="124938" idx="0"/>
            </p:cNvCxnSpPr>
            <p:nvPr/>
          </p:nvCxnSpPr>
          <p:spPr bwMode="auto">
            <a:xfrm>
              <a:off x="6333863" y="3563928"/>
              <a:ext cx="1068421" cy="1298329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4944" name="直接箭头连接符 12"/>
            <p:cNvCxnSpPr>
              <a:cxnSpLocks noChangeShapeType="1"/>
              <a:stCxn id="124935" idx="4"/>
              <a:endCxn id="124937" idx="0"/>
            </p:cNvCxnSpPr>
            <p:nvPr/>
          </p:nvCxnSpPr>
          <p:spPr bwMode="auto">
            <a:xfrm flipH="1">
              <a:off x="5384798" y="3600195"/>
              <a:ext cx="856457" cy="133463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24945" name="TextBox 33"/>
            <p:cNvSpPr txBox="1">
              <a:spLocks noChangeArrowheads="1"/>
            </p:cNvSpPr>
            <p:nvPr/>
          </p:nvSpPr>
          <p:spPr bwMode="auto">
            <a:xfrm>
              <a:off x="1088579" y="5747651"/>
              <a:ext cx="1436914" cy="4618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/>
                <a:t>a </a:t>
              </a:r>
              <a:r>
                <a:rPr lang="en-US" altLang="zh-CN" sz="2400" b="1" dirty="0" err="1"/>
                <a:t>a</a:t>
              </a:r>
              <a:r>
                <a:rPr lang="en-US" altLang="zh-CN" sz="2400" b="1" dirty="0"/>
                <a:t> </a:t>
              </a:r>
              <a:r>
                <a:rPr lang="en-US" altLang="zh-CN" sz="2400" b="1" dirty="0" err="1"/>
                <a:t>a</a:t>
              </a:r>
              <a:endParaRPr lang="zh-CN" altLang="en-US" sz="2400" b="1" dirty="0"/>
            </a:p>
          </p:txBody>
        </p:sp>
        <p:sp>
          <p:nvSpPr>
            <p:cNvPr id="124946" name="TextBox 34"/>
            <p:cNvSpPr txBox="1">
              <a:spLocks noChangeArrowheads="1"/>
            </p:cNvSpPr>
            <p:nvPr/>
          </p:nvSpPr>
          <p:spPr bwMode="auto">
            <a:xfrm>
              <a:off x="3483431" y="5704108"/>
              <a:ext cx="1436914" cy="46180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/>
                <a:t>b b</a:t>
              </a:r>
              <a:endParaRPr lang="zh-CN" altLang="en-US" sz="2400" b="1"/>
            </a:p>
          </p:txBody>
        </p:sp>
        <p:cxnSp>
          <p:nvCxnSpPr>
            <p:cNvPr id="124947" name="直接箭头连接符 12"/>
            <p:cNvCxnSpPr>
              <a:cxnSpLocks noChangeShapeType="1"/>
            </p:cNvCxnSpPr>
            <p:nvPr/>
          </p:nvCxnSpPr>
          <p:spPr bwMode="auto">
            <a:xfrm flipH="1">
              <a:off x="3265830" y="2250366"/>
              <a:ext cx="1291768" cy="118926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4948" name="直接连接符 42"/>
            <p:cNvCxnSpPr>
              <a:cxnSpLocks noChangeShapeType="1"/>
            </p:cNvCxnSpPr>
            <p:nvPr/>
          </p:nvCxnSpPr>
          <p:spPr bwMode="auto">
            <a:xfrm flipH="1">
              <a:off x="2960916" y="3338284"/>
              <a:ext cx="420914" cy="493486"/>
            </a:xfrm>
            <a:prstGeom prst="line">
              <a:avLst/>
            </a:prstGeom>
            <a:noFill/>
            <a:ln w="76200" algn="ctr">
              <a:solidFill>
                <a:srgbClr val="FF0000"/>
              </a:solidFill>
              <a:round/>
            </a:ln>
          </p:spPr>
        </p:cxnSp>
        <p:cxnSp>
          <p:nvCxnSpPr>
            <p:cNvPr id="124949" name="直接连接符 44"/>
            <p:cNvCxnSpPr>
              <a:cxnSpLocks noChangeShapeType="1"/>
            </p:cNvCxnSpPr>
            <p:nvPr/>
          </p:nvCxnSpPr>
          <p:spPr bwMode="auto">
            <a:xfrm flipH="1" flipV="1">
              <a:off x="2946402" y="3338285"/>
              <a:ext cx="507999" cy="464457"/>
            </a:xfrm>
            <a:prstGeom prst="line">
              <a:avLst/>
            </a:prstGeom>
            <a:noFill/>
            <a:ln w="76200" algn="ctr">
              <a:solidFill>
                <a:srgbClr val="FF0000"/>
              </a:solidFill>
              <a:round/>
            </a:ln>
          </p:spPr>
        </p:cxnSp>
      </p:grpSp>
      <p:sp>
        <p:nvSpPr>
          <p:cNvPr id="4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后剪枝方法示意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CDC6C7-ABB1-416F-B2AB-3306656E956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2" name="组合 16"/>
          <p:cNvGrpSpPr/>
          <p:nvPr/>
        </p:nvGrpSpPr>
        <p:grpSpPr bwMode="auto">
          <a:xfrm>
            <a:off x="2598738" y="2003425"/>
            <a:ext cx="5021262" cy="3194050"/>
            <a:chOff x="2598065" y="2002716"/>
            <a:chExt cx="5021706" cy="3194050"/>
          </a:xfrm>
        </p:grpSpPr>
        <p:sp>
          <p:nvSpPr>
            <p:cNvPr id="125957" name="椭圆 6"/>
            <p:cNvSpPr>
              <a:spLocks noChangeArrowheads="1"/>
            </p:cNvSpPr>
            <p:nvPr/>
          </p:nvSpPr>
          <p:spPr bwMode="auto">
            <a:xfrm>
              <a:off x="4426629" y="2002716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58" name="椭圆 6"/>
            <p:cNvSpPr>
              <a:spLocks noChangeArrowheads="1"/>
            </p:cNvSpPr>
            <p:nvPr/>
          </p:nvSpPr>
          <p:spPr bwMode="auto">
            <a:xfrm>
              <a:off x="6110286" y="3352545"/>
              <a:ext cx="261937" cy="24765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59" name="矩形 8"/>
            <p:cNvSpPr>
              <a:spLocks noChangeArrowheads="1"/>
            </p:cNvSpPr>
            <p:nvPr/>
          </p:nvSpPr>
          <p:spPr bwMode="auto">
            <a:xfrm>
              <a:off x="5167310" y="4934828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60" name="矩形 8"/>
            <p:cNvSpPr>
              <a:spLocks noChangeArrowheads="1"/>
            </p:cNvSpPr>
            <p:nvPr/>
          </p:nvSpPr>
          <p:spPr bwMode="auto">
            <a:xfrm>
              <a:off x="7184796" y="486225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25961" name="直接箭头连接符 12"/>
            <p:cNvCxnSpPr>
              <a:cxnSpLocks noChangeShapeType="1"/>
              <a:stCxn id="125957" idx="5"/>
              <a:endCxn id="125958" idx="1"/>
            </p:cNvCxnSpPr>
            <p:nvPr/>
          </p:nvCxnSpPr>
          <p:spPr bwMode="auto">
            <a:xfrm>
              <a:off x="4650206" y="2214099"/>
              <a:ext cx="1498440" cy="117471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5962" name="直接箭头连接符 12"/>
            <p:cNvCxnSpPr>
              <a:cxnSpLocks noChangeShapeType="1"/>
              <a:stCxn id="125958" idx="5"/>
              <a:endCxn id="125960" idx="0"/>
            </p:cNvCxnSpPr>
            <p:nvPr/>
          </p:nvCxnSpPr>
          <p:spPr bwMode="auto">
            <a:xfrm>
              <a:off x="6333863" y="3563928"/>
              <a:ext cx="1068421" cy="1298329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5963" name="直接箭头连接符 12"/>
            <p:cNvCxnSpPr>
              <a:cxnSpLocks noChangeShapeType="1"/>
              <a:stCxn id="125958" idx="4"/>
              <a:endCxn id="125959" idx="0"/>
            </p:cNvCxnSpPr>
            <p:nvPr/>
          </p:nvCxnSpPr>
          <p:spPr bwMode="auto">
            <a:xfrm flipH="1">
              <a:off x="5384798" y="3600195"/>
              <a:ext cx="856457" cy="1334633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cxnSp>
          <p:nvCxnSpPr>
            <p:cNvPr id="125964" name="直接箭头连接符 12"/>
            <p:cNvCxnSpPr>
              <a:cxnSpLocks noChangeShapeType="1"/>
            </p:cNvCxnSpPr>
            <p:nvPr/>
          </p:nvCxnSpPr>
          <p:spPr bwMode="auto">
            <a:xfrm flipH="1">
              <a:off x="3265830" y="2250366"/>
              <a:ext cx="1291768" cy="118926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</p:spPr>
        </p:cxnSp>
        <p:sp>
          <p:nvSpPr>
            <p:cNvPr id="125965" name="矩形 8"/>
            <p:cNvSpPr>
              <a:spLocks noChangeArrowheads="1"/>
            </p:cNvSpPr>
            <p:nvPr/>
          </p:nvSpPr>
          <p:spPr bwMode="auto">
            <a:xfrm>
              <a:off x="3077253" y="3439857"/>
              <a:ext cx="434975" cy="261938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66" name="TextBox 14"/>
            <p:cNvSpPr txBox="1">
              <a:spLocks noChangeArrowheads="1"/>
            </p:cNvSpPr>
            <p:nvPr/>
          </p:nvSpPr>
          <p:spPr bwMode="auto">
            <a:xfrm>
              <a:off x="2612579" y="3817252"/>
              <a:ext cx="14369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400" b="1" dirty="0"/>
                <a:t>a </a:t>
              </a:r>
              <a:r>
                <a:rPr lang="en-US" altLang="zh-CN" sz="2400" b="1" dirty="0" err="1"/>
                <a:t>a</a:t>
              </a:r>
              <a:r>
                <a:rPr lang="en-US" altLang="zh-CN" sz="2400" b="1" dirty="0"/>
                <a:t> </a:t>
              </a:r>
              <a:r>
                <a:rPr lang="en-US" altLang="zh-CN" sz="2400" b="1" dirty="0" err="1"/>
                <a:t>a</a:t>
              </a:r>
              <a:r>
                <a:rPr lang="en-US" altLang="zh-CN" sz="2400" b="1" dirty="0"/>
                <a:t> b </a:t>
              </a:r>
              <a:r>
                <a:rPr lang="en-US" altLang="zh-CN" sz="2400" b="1" dirty="0" err="1"/>
                <a:t>b</a:t>
              </a:r>
              <a:endParaRPr lang="zh-CN" altLang="en-US" sz="2400" b="1" dirty="0"/>
            </a:p>
          </p:txBody>
        </p:sp>
        <p:sp>
          <p:nvSpPr>
            <p:cNvPr id="125967" name="TextBox 15"/>
            <p:cNvSpPr txBox="1">
              <a:spLocks noChangeArrowheads="1"/>
            </p:cNvSpPr>
            <p:nvPr/>
          </p:nvSpPr>
          <p:spPr bwMode="auto">
            <a:xfrm>
              <a:off x="2598065" y="4571999"/>
              <a:ext cx="1436914" cy="4616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 sz="2400" b="1"/>
                <a:t>标记为</a:t>
              </a:r>
              <a:r>
                <a:rPr lang="en-US" altLang="zh-CN" sz="2400" b="1"/>
                <a:t>a</a:t>
              </a:r>
              <a:endParaRPr lang="zh-CN" altLang="en-US" sz="2400" b="1"/>
            </a:p>
          </p:txBody>
        </p:sp>
      </p:grpSp>
      <p:sp>
        <p:nvSpPr>
          <p:cNvPr id="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后剪枝方法示意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决策树的剪枝</a:t>
            </a:r>
            <a:endParaRPr lang="zh-CN" altLang="en-US" dirty="0"/>
          </a:p>
        </p:txBody>
      </p:sp>
      <p:sp>
        <p:nvSpPr>
          <p:cNvPr id="126979" name="内容占位符 2"/>
          <p:cNvSpPr>
            <a:spLocks noGrp="1"/>
          </p:cNvSpPr>
          <p:nvPr>
            <p:ph idx="1"/>
          </p:nvPr>
        </p:nvSpPr>
        <p:spPr>
          <a:xfrm>
            <a:off x="914400" y="1608082"/>
            <a:ext cx="7772400" cy="441171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当数据量大时：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将数据划分为训练集、验证集和测试集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r>
              <a:rPr lang="zh-CN" altLang="en-US" sz="3200" b="1" dirty="0"/>
              <a:t>用训练集训练得到决策树</a:t>
            </a:r>
            <a:endParaRPr lang="en-US" altLang="zh-CN" sz="3200" b="1" dirty="0"/>
          </a:p>
          <a:p>
            <a:r>
              <a:rPr lang="zh-CN" altLang="en-US" sz="3200" b="1" dirty="0"/>
              <a:t>从下向上逐步剪枝</a:t>
            </a:r>
            <a:endParaRPr lang="en-US" altLang="zh-CN" sz="3200" b="1" dirty="0"/>
          </a:p>
          <a:p>
            <a:r>
              <a:rPr lang="zh-CN" altLang="en-US" sz="3200" b="1" dirty="0"/>
              <a:t>在验证集上测试性能，直到性能下降为止</a:t>
            </a:r>
            <a:endParaRPr lang="en-US" altLang="zh-CN" sz="3200" b="1" dirty="0"/>
          </a:p>
          <a:p>
            <a:r>
              <a:rPr lang="zh-CN" altLang="en-US" sz="3200" b="1" dirty="0"/>
              <a:t>最后在测试集上的性能作为系统的性能</a:t>
            </a:r>
            <a:endParaRPr lang="zh-CN" altLang="en-US" sz="3200" b="1" dirty="0"/>
          </a:p>
        </p:txBody>
      </p:sp>
      <p:sp>
        <p:nvSpPr>
          <p:cNvPr id="12698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01201A-7956-4336-9DE6-5B5330C5D9DF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剪枝的效果</a:t>
            </a:r>
            <a:endParaRPr lang="zh-CN" altLang="en-US" dirty="0"/>
          </a:p>
        </p:txBody>
      </p:sp>
      <p:sp>
        <p:nvSpPr>
          <p:cNvPr id="128003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DE51629-A8D5-4A21-8E8A-D5E20E3819D5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pSp>
        <p:nvGrpSpPr>
          <p:cNvPr id="3" name="组合 12"/>
          <p:cNvGrpSpPr/>
          <p:nvPr/>
        </p:nvGrpSpPr>
        <p:grpSpPr bwMode="auto">
          <a:xfrm>
            <a:off x="1001713" y="1712913"/>
            <a:ext cx="7546975" cy="4794250"/>
            <a:chOff x="-1533525" y="-200025"/>
            <a:chExt cx="12211050" cy="7258050"/>
          </a:xfrm>
        </p:grpSpPr>
        <p:pic>
          <p:nvPicPr>
            <p:cNvPr id="128005" name="Picture 2" descr="F:\人工智能导论\2016本科生\img-160304144917-002.jpg"/>
            <p:cNvPicPr>
              <a:picLocks noChangeAspect="1" noChangeArrowheads="1"/>
            </p:cNvPicPr>
            <p:nvPr/>
          </p:nvPicPr>
          <p:blipFill>
            <a:blip r:embed="rId1" cstate="print"/>
            <a:srcRect/>
            <a:stretch>
              <a:fillRect/>
            </a:stretch>
          </p:blipFill>
          <p:spPr bwMode="auto">
            <a:xfrm>
              <a:off x="-1533525" y="-200025"/>
              <a:ext cx="12211050" cy="7258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8006" name="任意多边形 5"/>
            <p:cNvSpPr/>
            <p:nvPr/>
          </p:nvSpPr>
          <p:spPr bwMode="auto">
            <a:xfrm>
              <a:off x="232229" y="856343"/>
              <a:ext cx="8665028" cy="2917371"/>
            </a:xfrm>
            <a:custGeom>
              <a:avLst/>
              <a:gdLst>
                <a:gd name="T0" fmla="*/ 0 w 8665028"/>
                <a:gd name="T1" fmla="*/ 2917371 h 2917371"/>
                <a:gd name="T2" fmla="*/ 653142 w 8665028"/>
                <a:gd name="T3" fmla="*/ 1219212 h 2917371"/>
                <a:gd name="T4" fmla="*/ 1770754 w 8665028"/>
                <a:gd name="T5" fmla="*/ 1190183 h 2917371"/>
                <a:gd name="T6" fmla="*/ 2148115 w 8665028"/>
                <a:gd name="T7" fmla="*/ 841828 h 2917371"/>
                <a:gd name="T8" fmla="*/ 2873829 w 8665028"/>
                <a:gd name="T9" fmla="*/ 812800 h 2917371"/>
                <a:gd name="T10" fmla="*/ 3468915 w 8665028"/>
                <a:gd name="T11" fmla="*/ 624114 h 2917371"/>
                <a:gd name="T12" fmla="*/ 4034971 w 8665028"/>
                <a:gd name="T13" fmla="*/ 595086 h 2917371"/>
                <a:gd name="T14" fmla="*/ 5529942 w 8665028"/>
                <a:gd name="T15" fmla="*/ 391886 h 2917371"/>
                <a:gd name="T16" fmla="*/ 6255658 w 8665028"/>
                <a:gd name="T17" fmla="*/ 217714 h 2917371"/>
                <a:gd name="T18" fmla="*/ 7779658 w 8665028"/>
                <a:gd name="T19" fmla="*/ 116114 h 2917371"/>
                <a:gd name="T20" fmla="*/ 8011886 w 8665028"/>
                <a:gd name="T21" fmla="*/ 29028 h 2917371"/>
                <a:gd name="T22" fmla="*/ 8665028 w 8665028"/>
                <a:gd name="T23" fmla="*/ 0 h 291737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665028"/>
                <a:gd name="T37" fmla="*/ 0 h 2917371"/>
                <a:gd name="T38" fmla="*/ 8665028 w 8665028"/>
                <a:gd name="T39" fmla="*/ 2917371 h 291737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665028" h="2917371">
                  <a:moveTo>
                    <a:pt x="0" y="2917371"/>
                  </a:moveTo>
                  <a:lnTo>
                    <a:pt x="653142" y="1219200"/>
                  </a:lnTo>
                  <a:lnTo>
                    <a:pt x="1770742" y="1190171"/>
                  </a:lnTo>
                  <a:lnTo>
                    <a:pt x="2148114" y="841828"/>
                  </a:lnTo>
                  <a:lnTo>
                    <a:pt x="2873828" y="812800"/>
                  </a:lnTo>
                  <a:lnTo>
                    <a:pt x="3468914" y="624114"/>
                  </a:lnTo>
                  <a:lnTo>
                    <a:pt x="4034971" y="595086"/>
                  </a:lnTo>
                  <a:lnTo>
                    <a:pt x="5529942" y="391886"/>
                  </a:lnTo>
                  <a:lnTo>
                    <a:pt x="6255657" y="217714"/>
                  </a:lnTo>
                  <a:lnTo>
                    <a:pt x="7779657" y="116114"/>
                  </a:lnTo>
                  <a:lnTo>
                    <a:pt x="8011885" y="29028"/>
                  </a:lnTo>
                  <a:lnTo>
                    <a:pt x="8665028" y="0"/>
                  </a:lnTo>
                </a:path>
              </a:pathLst>
            </a:custGeom>
            <a:noFill/>
            <a:ln w="5715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8007" name="任意多边形 6"/>
            <p:cNvSpPr/>
            <p:nvPr/>
          </p:nvSpPr>
          <p:spPr bwMode="auto">
            <a:xfrm>
              <a:off x="246743" y="2394857"/>
              <a:ext cx="8606971" cy="1378857"/>
            </a:xfrm>
            <a:custGeom>
              <a:avLst/>
              <a:gdLst>
                <a:gd name="T0" fmla="*/ 0 w 8606971"/>
                <a:gd name="T1" fmla="*/ 1378857 h 1378857"/>
                <a:gd name="T2" fmla="*/ 304800 w 8606971"/>
                <a:gd name="T3" fmla="*/ 217714 h 1378857"/>
                <a:gd name="T4" fmla="*/ 449943 w 8606971"/>
                <a:gd name="T5" fmla="*/ 130629 h 1378857"/>
                <a:gd name="T6" fmla="*/ 711200 w 8606971"/>
                <a:gd name="T7" fmla="*/ 0 h 1378857"/>
                <a:gd name="T8" fmla="*/ 1756228 w 8606971"/>
                <a:gd name="T9" fmla="*/ 14514 h 1378857"/>
                <a:gd name="T10" fmla="*/ 2133601 w 8606971"/>
                <a:gd name="T11" fmla="*/ 232229 h 1378857"/>
                <a:gd name="T12" fmla="*/ 3715657 w 8606971"/>
                <a:gd name="T13" fmla="*/ 203200 h 1378857"/>
                <a:gd name="T14" fmla="*/ 4310741 w 8606971"/>
                <a:gd name="T15" fmla="*/ 290286 h 1378857"/>
                <a:gd name="T16" fmla="*/ 4702629 w 8606971"/>
                <a:gd name="T17" fmla="*/ 812800 h 1378857"/>
                <a:gd name="T18" fmla="*/ 5341257 w 8606971"/>
                <a:gd name="T19" fmla="*/ 812800 h 1378857"/>
                <a:gd name="T20" fmla="*/ 5849257 w 8606971"/>
                <a:gd name="T21" fmla="*/ 957943 h 1378857"/>
                <a:gd name="T22" fmla="*/ 6763657 w 8606971"/>
                <a:gd name="T23" fmla="*/ 957943 h 1378857"/>
                <a:gd name="T24" fmla="*/ 7620001 w 8606971"/>
                <a:gd name="T25" fmla="*/ 943429 h 1378857"/>
                <a:gd name="T26" fmla="*/ 8026401 w 8606971"/>
                <a:gd name="T27" fmla="*/ 870857 h 1378857"/>
                <a:gd name="T28" fmla="*/ 8606971 w 8606971"/>
                <a:gd name="T29" fmla="*/ 885372 h 137885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606971"/>
                <a:gd name="T46" fmla="*/ 0 h 1378857"/>
                <a:gd name="T47" fmla="*/ 8606971 w 8606971"/>
                <a:gd name="T48" fmla="*/ 1378857 h 1378857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606971" h="1378857">
                  <a:moveTo>
                    <a:pt x="0" y="1378857"/>
                  </a:moveTo>
                  <a:lnTo>
                    <a:pt x="304800" y="217714"/>
                  </a:lnTo>
                  <a:lnTo>
                    <a:pt x="449943" y="130629"/>
                  </a:lnTo>
                  <a:lnTo>
                    <a:pt x="711200" y="0"/>
                  </a:lnTo>
                  <a:lnTo>
                    <a:pt x="1756228" y="14514"/>
                  </a:lnTo>
                  <a:lnTo>
                    <a:pt x="2133600" y="232229"/>
                  </a:lnTo>
                  <a:lnTo>
                    <a:pt x="3715657" y="203200"/>
                  </a:lnTo>
                  <a:lnTo>
                    <a:pt x="4310743" y="290286"/>
                  </a:lnTo>
                  <a:lnTo>
                    <a:pt x="4702628" y="812800"/>
                  </a:lnTo>
                  <a:lnTo>
                    <a:pt x="5341257" y="812800"/>
                  </a:lnTo>
                  <a:lnTo>
                    <a:pt x="5849257" y="957943"/>
                  </a:lnTo>
                  <a:lnTo>
                    <a:pt x="6763657" y="957943"/>
                  </a:lnTo>
                  <a:lnTo>
                    <a:pt x="7620000" y="943429"/>
                  </a:lnTo>
                  <a:lnTo>
                    <a:pt x="8026400" y="870857"/>
                  </a:lnTo>
                  <a:lnTo>
                    <a:pt x="8606971" y="885372"/>
                  </a:lnTo>
                </a:path>
              </a:pathLst>
            </a:cu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8008" name="任意多边形 7"/>
            <p:cNvSpPr/>
            <p:nvPr/>
          </p:nvSpPr>
          <p:spPr bwMode="auto">
            <a:xfrm>
              <a:off x="232229" y="2336800"/>
              <a:ext cx="8636000" cy="1422400"/>
            </a:xfrm>
            <a:custGeom>
              <a:avLst/>
              <a:gdLst>
                <a:gd name="T0" fmla="*/ 0 w 8636000"/>
                <a:gd name="T1" fmla="*/ 1422400 h 1422400"/>
                <a:gd name="T2" fmla="*/ 348342 w 8636000"/>
                <a:gd name="T3" fmla="*/ 333829 h 1422400"/>
                <a:gd name="T4" fmla="*/ 580571 w 8636000"/>
                <a:gd name="T5" fmla="*/ 116114 h 1422400"/>
                <a:gd name="T6" fmla="*/ 914400 w 8636000"/>
                <a:gd name="T7" fmla="*/ 29029 h 1422400"/>
                <a:gd name="T8" fmla="*/ 1901371 w 8636000"/>
                <a:gd name="T9" fmla="*/ 29029 h 1422400"/>
                <a:gd name="T10" fmla="*/ 2627084 w 8636000"/>
                <a:gd name="T11" fmla="*/ 0 h 1422400"/>
                <a:gd name="T12" fmla="*/ 3904319 w 8636000"/>
                <a:gd name="T13" fmla="*/ 159657 h 1422400"/>
                <a:gd name="T14" fmla="*/ 5109028 w 8636000"/>
                <a:gd name="T15" fmla="*/ 377371 h 1422400"/>
                <a:gd name="T16" fmla="*/ 6531383 w 8636000"/>
                <a:gd name="T17" fmla="*/ 609600 h 1422400"/>
                <a:gd name="T18" fmla="*/ 7808638 w 8636000"/>
                <a:gd name="T19" fmla="*/ 798286 h 1422400"/>
                <a:gd name="T20" fmla="*/ 8636000 w 8636000"/>
                <a:gd name="T21" fmla="*/ 928914 h 14224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8636000"/>
                <a:gd name="T34" fmla="*/ 0 h 1422400"/>
                <a:gd name="T35" fmla="*/ 8636000 w 8636000"/>
                <a:gd name="T36" fmla="*/ 1422400 h 142240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8636000" h="1422400">
                  <a:moveTo>
                    <a:pt x="0" y="1422400"/>
                  </a:moveTo>
                  <a:lnTo>
                    <a:pt x="348342" y="333829"/>
                  </a:lnTo>
                  <a:lnTo>
                    <a:pt x="580571" y="116114"/>
                  </a:lnTo>
                  <a:lnTo>
                    <a:pt x="914400" y="29029"/>
                  </a:lnTo>
                  <a:lnTo>
                    <a:pt x="1901371" y="29029"/>
                  </a:lnTo>
                  <a:lnTo>
                    <a:pt x="2627085" y="0"/>
                  </a:lnTo>
                  <a:lnTo>
                    <a:pt x="3904342" y="159657"/>
                  </a:lnTo>
                  <a:lnTo>
                    <a:pt x="5109028" y="377371"/>
                  </a:lnTo>
                  <a:lnTo>
                    <a:pt x="6531428" y="609600"/>
                  </a:lnTo>
                  <a:lnTo>
                    <a:pt x="7808685" y="798286"/>
                  </a:lnTo>
                  <a:lnTo>
                    <a:pt x="8636000" y="928914"/>
                  </a:lnTo>
                </a:path>
              </a:pathLst>
            </a:custGeom>
            <a:noFill/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cxnSp>
          <p:nvCxnSpPr>
            <p:cNvPr id="128009" name="直接连接符 9"/>
            <p:cNvCxnSpPr>
              <a:cxnSpLocks noChangeShapeType="1"/>
            </p:cNvCxnSpPr>
            <p:nvPr/>
          </p:nvCxnSpPr>
          <p:spPr bwMode="auto">
            <a:xfrm flipV="1">
              <a:off x="7634514" y="4455886"/>
              <a:ext cx="493486" cy="14514"/>
            </a:xfrm>
            <a:prstGeom prst="line">
              <a:avLst/>
            </a:prstGeom>
            <a:noFill/>
            <a:ln w="57150" algn="ctr">
              <a:solidFill>
                <a:srgbClr val="002060"/>
              </a:solidFill>
              <a:round/>
            </a:ln>
          </p:spPr>
        </p:cxnSp>
        <p:cxnSp>
          <p:nvCxnSpPr>
            <p:cNvPr id="128010" name="直接连接符 10"/>
            <p:cNvCxnSpPr>
              <a:cxnSpLocks noChangeShapeType="1"/>
            </p:cNvCxnSpPr>
            <p:nvPr/>
          </p:nvCxnSpPr>
          <p:spPr bwMode="auto">
            <a:xfrm flipV="1">
              <a:off x="7634514" y="4702629"/>
              <a:ext cx="493486" cy="14514"/>
            </a:xfrm>
            <a:prstGeom prst="line">
              <a:avLst/>
            </a:prstGeom>
            <a:noFill/>
            <a:ln w="57150" algn="ctr">
              <a:solidFill>
                <a:srgbClr val="FF0000"/>
              </a:solidFill>
              <a:round/>
            </a:ln>
          </p:spPr>
        </p:cxnSp>
        <p:cxnSp>
          <p:nvCxnSpPr>
            <p:cNvPr id="128011" name="直接连接符 11"/>
            <p:cNvCxnSpPr>
              <a:cxnSpLocks noChangeShapeType="1"/>
            </p:cNvCxnSpPr>
            <p:nvPr/>
          </p:nvCxnSpPr>
          <p:spPr bwMode="auto">
            <a:xfrm flipV="1">
              <a:off x="7634514" y="4992915"/>
              <a:ext cx="493486" cy="14514"/>
            </a:xfrm>
            <a:prstGeom prst="line">
              <a:avLst/>
            </a:prstGeom>
            <a:noFill/>
            <a:ln w="57150" algn="ctr">
              <a:solidFill>
                <a:srgbClr val="00B0F0"/>
              </a:solidFill>
              <a:round/>
            </a:ln>
          </p:spPr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决策树的剪枝</a:t>
            </a:r>
            <a:endParaRPr lang="zh-CN" altLang="en-US" dirty="0"/>
          </a:p>
        </p:txBody>
      </p:sp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685800" y="1981200"/>
            <a:ext cx="8269288" cy="4114800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当数据量小时：</a:t>
            </a:r>
            <a:endParaRPr lang="en-US" altLang="zh-CN" sz="3200" b="1" dirty="0"/>
          </a:p>
          <a:p>
            <a:pPr lvl="1"/>
            <a:r>
              <a:rPr lang="zh-CN" altLang="en-US" sz="2800" b="1" dirty="0"/>
              <a:t>直接利用训练集进行剪枝</a:t>
            </a:r>
            <a:endParaRPr lang="en-US" altLang="zh-CN" sz="2800" b="1" dirty="0"/>
          </a:p>
          <a:p>
            <a:pPr lvl="1"/>
            <a:endParaRPr lang="en-US" altLang="zh-CN" sz="2800" b="1" dirty="0"/>
          </a:p>
          <a:p>
            <a:r>
              <a:rPr lang="zh-CN" altLang="en-US" sz="3200" b="1" dirty="0"/>
              <a:t>树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的叶节点个数为</a:t>
            </a:r>
            <a:r>
              <a:rPr lang="en-US" altLang="zh-CN" sz="3200" b="1" dirty="0"/>
              <a:t>|T|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是树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的叶节点，该节点有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t</a:t>
            </a:r>
            <a:r>
              <a:rPr lang="zh-CN" altLang="en-US" sz="3200" b="1" dirty="0"/>
              <a:t>个样本，其中</a:t>
            </a:r>
            <a:r>
              <a:rPr lang="en-US" altLang="zh-CN" sz="3200" b="1" dirty="0"/>
              <a:t>k</a:t>
            </a:r>
            <a:r>
              <a:rPr lang="zh-CN" altLang="en-US" sz="3200" b="1" dirty="0"/>
              <a:t>类的样本点有</a:t>
            </a:r>
            <a:r>
              <a:rPr lang="en-US" altLang="zh-CN" sz="3200" b="1" dirty="0" err="1"/>
              <a:t>N</a:t>
            </a:r>
            <a:r>
              <a:rPr lang="en-US" altLang="zh-CN" sz="3200" b="1" baseline="-25000" dirty="0" err="1"/>
              <a:t>tk</a:t>
            </a:r>
            <a:r>
              <a:rPr lang="zh-CN" altLang="en-US" sz="3200" b="1" dirty="0"/>
              <a:t>个（</a:t>
            </a:r>
            <a:r>
              <a:rPr lang="en-US" altLang="zh-CN" sz="3200" b="1" dirty="0"/>
              <a:t>k=1,…,K</a:t>
            </a:r>
            <a:r>
              <a:rPr lang="zh-CN" altLang="en-US" sz="3200" b="1" dirty="0"/>
              <a:t>），</a:t>
            </a:r>
            <a:r>
              <a:rPr lang="en-US" altLang="zh-CN" sz="3200" b="1" dirty="0"/>
              <a:t>H</a:t>
            </a:r>
            <a:r>
              <a:rPr lang="en-US" altLang="zh-CN" sz="3200" b="1" baseline="-25000" dirty="0"/>
              <a:t>t</a:t>
            </a:r>
            <a:r>
              <a:rPr lang="en-US" altLang="zh-CN" sz="3200" b="1" dirty="0"/>
              <a:t>(T)</a:t>
            </a:r>
            <a:r>
              <a:rPr lang="zh-CN" altLang="en-US" sz="3200" b="1" dirty="0"/>
              <a:t>为叶节点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上的经验熵，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≥</a:t>
            </a:r>
            <a:r>
              <a:rPr lang="en-US" altLang="zh-CN" sz="3200" b="1" dirty="0"/>
              <a:t>0</a:t>
            </a:r>
            <a:r>
              <a:rPr lang="zh-CN" altLang="en-US" sz="3200" b="1" dirty="0"/>
              <a:t>为参数</a:t>
            </a:r>
            <a:endParaRPr lang="zh-CN" altLang="en-US" sz="3200" b="1" dirty="0"/>
          </a:p>
        </p:txBody>
      </p:sp>
      <p:sp>
        <p:nvSpPr>
          <p:cNvPr id="12902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0B2EDD-97AF-4DB4-9BC6-C506AA4A5090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685800" y="536575"/>
            <a:ext cx="7772400" cy="5559425"/>
          </a:xfrm>
        </p:spPr>
        <p:txBody>
          <a:bodyPr/>
          <a:lstStyle/>
          <a:p>
            <a:r>
              <a:rPr lang="zh-CN" altLang="en-US" sz="3200" b="1" dirty="0"/>
              <a:t>定义损失函数：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6656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5447A6-EA93-4DE9-A841-44D525921AC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66562" name="Object 1" descr="羊皮纸"/>
          <p:cNvGraphicFramePr>
            <a:graphicFrameLocks noChangeAspect="1"/>
          </p:cNvGraphicFramePr>
          <p:nvPr/>
        </p:nvGraphicFramePr>
        <p:xfrm>
          <a:off x="757238" y="1397000"/>
          <a:ext cx="7659687" cy="467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1" imgW="3441700" imgH="2133600" progId="Equation.3">
                  <p:embed/>
                </p:oleObj>
              </mc:Choice>
              <mc:Fallback>
                <p:oleObj name="公式" r:id="rId1" imgW="3441700" imgH="2133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8" y="1397000"/>
                        <a:ext cx="7659687" cy="467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005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剪枝，就是当</a:t>
            </a:r>
            <a:r>
              <a:rPr lang="en-US" altLang="zh-CN" sz="3200" b="1" dirty="0"/>
              <a:t>α</a:t>
            </a:r>
            <a:r>
              <a:rPr lang="zh-CN" altLang="en-US" sz="3200" b="1" dirty="0"/>
              <a:t>确定时，选择损失函数最小的模型。</a:t>
            </a:r>
            <a:endParaRPr lang="zh-CN" altLang="en-US" sz="3200" b="1" dirty="0"/>
          </a:p>
        </p:txBody>
      </p:sp>
      <p:sp>
        <p:nvSpPr>
          <p:cNvPr id="1300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7D4A8A-4314-4943-A8B2-92F136F35859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决策树的剪枝算法</a:t>
            </a:r>
            <a:endParaRPr lang="zh-CN" altLang="en-US" dirty="0"/>
          </a:p>
        </p:txBody>
      </p:sp>
      <p:sp>
        <p:nvSpPr>
          <p:cNvPr id="1310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/>
              <a:t>输入：生成算法产生的整个树</a:t>
            </a:r>
            <a:r>
              <a:rPr lang="en-US" altLang="zh-CN" sz="3200" b="1" dirty="0"/>
              <a:t>T</a:t>
            </a:r>
            <a:r>
              <a:rPr lang="zh-CN" altLang="en-US" sz="3200" b="1" dirty="0"/>
              <a:t>，参数</a:t>
            </a:r>
            <a:r>
              <a:rPr lang="en-US" altLang="zh-CN" sz="3200" b="1" dirty="0"/>
              <a:t>a</a:t>
            </a:r>
            <a:endParaRPr lang="en-US" altLang="zh-CN" sz="3200" b="1" dirty="0"/>
          </a:p>
          <a:p>
            <a:r>
              <a:rPr lang="zh-CN" altLang="en-US" sz="3200" b="1" dirty="0"/>
              <a:t>输出：修剪后的子树</a:t>
            </a:r>
            <a:r>
              <a:rPr lang="en-US" altLang="zh-CN" sz="3200" b="1" dirty="0"/>
              <a:t>T</a:t>
            </a:r>
            <a:r>
              <a:rPr lang="en-US" altLang="zh-CN" sz="3200" b="1" baseline="-25000" dirty="0"/>
              <a:t>a</a:t>
            </a:r>
            <a:endParaRPr lang="en-US" altLang="zh-CN" sz="3200" b="1" baseline="-25000" dirty="0"/>
          </a:p>
          <a:p>
            <a:r>
              <a:rPr lang="en-US" altLang="zh-CN" sz="3200" b="1" dirty="0"/>
              <a:t>(1)</a:t>
            </a:r>
            <a:r>
              <a:rPr lang="zh-CN" altLang="en-US" sz="3200" b="1" dirty="0"/>
              <a:t>计算每个节点的经验熵</a:t>
            </a:r>
            <a:endParaRPr lang="en-US" altLang="zh-CN" sz="3200" b="1" dirty="0"/>
          </a:p>
          <a:p>
            <a:r>
              <a:rPr lang="en-US" altLang="zh-CN" sz="3200" b="1" dirty="0"/>
              <a:t>(2)</a:t>
            </a:r>
            <a:r>
              <a:rPr lang="zh-CN" altLang="en-US" sz="3200" b="1" dirty="0"/>
              <a:t>递归地从树的叶节点向上回缩，如果回缩后的损失函数小于等于回缩前，则剪枝，将父节点变为新的叶节点</a:t>
            </a:r>
            <a:endParaRPr lang="en-US" altLang="zh-CN" sz="3200" b="1" dirty="0"/>
          </a:p>
          <a:p>
            <a:r>
              <a:rPr lang="en-US" altLang="zh-CN" sz="3200" b="1" dirty="0"/>
              <a:t>(3)</a:t>
            </a:r>
            <a:r>
              <a:rPr lang="zh-CN" altLang="en-US" sz="3200" b="1" dirty="0"/>
              <a:t>返回</a:t>
            </a:r>
            <a:r>
              <a:rPr lang="en-US" altLang="zh-CN" sz="3200" b="1" dirty="0"/>
              <a:t>2</a:t>
            </a:r>
            <a:r>
              <a:rPr lang="zh-CN" altLang="en-US" sz="3200" b="1" dirty="0"/>
              <a:t>，直至不能继续为止，得到损失函数最小的子树</a:t>
            </a:r>
            <a:r>
              <a:rPr lang="en-US" altLang="zh-CN" sz="3200" b="1" dirty="0"/>
              <a:t>T</a:t>
            </a:r>
            <a:r>
              <a:rPr lang="en-US" altLang="zh-CN" sz="3200" b="1" baseline="-25000" dirty="0"/>
              <a:t>a</a:t>
            </a:r>
            <a:endParaRPr lang="en-US" altLang="zh-CN" sz="3200" b="1" baseline="-25000" dirty="0"/>
          </a:p>
          <a:p>
            <a:endParaRPr lang="en-US" altLang="zh-CN" sz="3200" b="1" dirty="0"/>
          </a:p>
          <a:p>
            <a:endParaRPr lang="zh-CN" altLang="en-US" sz="3200" b="1" dirty="0"/>
          </a:p>
        </p:txBody>
      </p:sp>
      <p:sp>
        <p:nvSpPr>
          <p:cNvPr id="13107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CB6F63E-BED2-4544-BD2B-6C4C9962E4AC}" type="slidenum">
              <a:rPr lang="en-US" altLang="zh-CN" smtClean="0">
                <a:ea typeface="黑体" panose="02010609060101010101" pitchFamily="49" charset="-122"/>
              </a:rPr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使用工具系统实现基于决策树方法的文本分类，并对</a:t>
            </a:r>
            <a:r>
              <a:rPr lang="en-US" altLang="zh-CN" dirty="0"/>
              <a:t>ID3</a:t>
            </a:r>
            <a:r>
              <a:rPr lang="zh-CN" altLang="en-US" dirty="0"/>
              <a:t>、</a:t>
            </a:r>
            <a:r>
              <a:rPr lang="en-US" altLang="zh-CN" dirty="0"/>
              <a:t>C4.5</a:t>
            </a:r>
            <a:r>
              <a:rPr lang="zh-CN" altLang="en-US" dirty="0"/>
              <a:t>算法进行比较。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随机森林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CN" dirty="0"/>
          </a:p>
          <a:p>
            <a:r>
              <a:rPr lang="zh-CN" altLang="en-US" sz="2800" dirty="0"/>
              <a:t>决策树容易过拟合</a:t>
            </a:r>
            <a:endParaRPr lang="en-US" altLang="zh-CN" sz="2800" dirty="0"/>
          </a:p>
          <a:p>
            <a:r>
              <a:rPr lang="zh-CN" altLang="en-US" sz="2800" dirty="0"/>
              <a:t>随机森林是由多个决策树组成的分类器</a:t>
            </a:r>
            <a:endParaRPr lang="en-US" altLang="zh-CN" sz="2800" dirty="0"/>
          </a:p>
          <a:p>
            <a:r>
              <a:rPr lang="zh-CN" altLang="en-US" sz="2800" dirty="0"/>
              <a:t>通过投票机制改善决策树</a:t>
            </a:r>
            <a:endParaRPr lang="en-US" altLang="zh-CN" sz="2800" dirty="0"/>
          </a:p>
          <a:p>
            <a:pPr lvl="1"/>
            <a:r>
              <a:rPr lang="en-US" altLang="zh-CN" sz="2600" dirty="0"/>
              <a:t>Gradient-boosted</a:t>
            </a:r>
            <a:r>
              <a:rPr lang="zh-CN" altLang="en-US" sz="2600" dirty="0"/>
              <a:t> </a:t>
            </a:r>
            <a:r>
              <a:rPr lang="en-US" altLang="zh-CN" sz="2600" dirty="0"/>
              <a:t>Decision</a:t>
            </a:r>
            <a:r>
              <a:rPr lang="zh-CN" altLang="en-US" sz="2600" dirty="0"/>
              <a:t> </a:t>
            </a:r>
            <a:r>
              <a:rPr lang="en-US" altLang="zh-CN" sz="2600" dirty="0"/>
              <a:t>Trees</a:t>
            </a:r>
            <a:r>
              <a:rPr lang="zh-CN" altLang="en-US" sz="2600" dirty="0"/>
              <a:t> </a:t>
            </a:r>
            <a:r>
              <a:rPr lang="en-US" altLang="zh-CN" sz="2600" dirty="0"/>
              <a:t>–</a:t>
            </a:r>
            <a:r>
              <a:rPr lang="zh-CN" altLang="en-US" sz="2600" dirty="0"/>
              <a:t> </a:t>
            </a:r>
            <a:r>
              <a:rPr lang="en-US" altLang="zh-CN" sz="2600" dirty="0"/>
              <a:t>iteratively</a:t>
            </a:r>
            <a:r>
              <a:rPr lang="zh-CN" altLang="en-US" sz="2600" dirty="0"/>
              <a:t> </a:t>
            </a:r>
            <a:r>
              <a:rPr lang="en-US" altLang="zh-CN" sz="2600" dirty="0"/>
              <a:t>improves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prediction</a:t>
            </a:r>
            <a:r>
              <a:rPr lang="zh-CN" altLang="en-US" sz="2600" dirty="0"/>
              <a:t> </a:t>
            </a:r>
            <a:r>
              <a:rPr lang="en-US" altLang="zh-CN" sz="2600" dirty="0"/>
              <a:t>by</a:t>
            </a:r>
            <a:r>
              <a:rPr lang="zh-CN" altLang="en-US" sz="2600" dirty="0"/>
              <a:t> </a:t>
            </a:r>
            <a:r>
              <a:rPr lang="en-US" altLang="zh-CN" sz="2600" dirty="0"/>
              <a:t>constructing</a:t>
            </a:r>
            <a:r>
              <a:rPr lang="zh-CN" altLang="en-US" sz="2600" dirty="0"/>
              <a:t> </a:t>
            </a:r>
            <a:r>
              <a:rPr lang="en-US" altLang="zh-CN" sz="2600" dirty="0"/>
              <a:t>the</a:t>
            </a:r>
            <a:r>
              <a:rPr lang="zh-CN" altLang="en-US" sz="2600" dirty="0"/>
              <a:t> </a:t>
            </a:r>
            <a:r>
              <a:rPr lang="en-US" altLang="zh-CN" sz="2600" dirty="0"/>
              <a:t>next</a:t>
            </a:r>
            <a:r>
              <a:rPr lang="zh-CN" altLang="en-US" sz="2600" dirty="0"/>
              <a:t> </a:t>
            </a:r>
            <a:r>
              <a:rPr lang="en-US" altLang="zh-CN" sz="2600" dirty="0"/>
              <a:t>tree</a:t>
            </a:r>
            <a:endParaRPr lang="en-US" altLang="zh-CN" sz="2600" dirty="0"/>
          </a:p>
          <a:p>
            <a:r>
              <a:rPr lang="zh-CN" altLang="en-US" sz="2800" dirty="0"/>
              <a:t>单个决策树的生成</a:t>
            </a:r>
            <a:endParaRPr lang="en-US" altLang="zh-CN" sz="2800" dirty="0"/>
          </a:p>
          <a:p>
            <a:pPr lvl="1"/>
            <a:r>
              <a:rPr lang="zh-CN" altLang="en-US" sz="2600" dirty="0"/>
              <a:t>有放回的数据采样</a:t>
            </a:r>
            <a:endParaRPr lang="en-US" altLang="zh-CN" sz="2600" dirty="0"/>
          </a:p>
          <a:p>
            <a:pPr lvl="1"/>
            <a:r>
              <a:rPr lang="zh-CN" altLang="en-US" sz="2600" dirty="0"/>
              <a:t>属性（特征）的采样</a:t>
            </a:r>
            <a:endParaRPr lang="en-US" altLang="zh-CN" sz="2600" dirty="0"/>
          </a:p>
          <a:p>
            <a:r>
              <a:rPr lang="zh-CN" altLang="en-US" sz="2800" dirty="0"/>
              <a:t>集外数据的使用</a:t>
            </a:r>
            <a:endParaRPr lang="en-US" altLang="zh-CN" sz="2800" dirty="0"/>
          </a:p>
          <a:p>
            <a:pPr lvl="1"/>
            <a:r>
              <a:rPr lang="zh-CN" altLang="en-US" sz="2600" dirty="0"/>
              <a:t>单个决策树未用到的数据</a:t>
            </a:r>
            <a:endParaRPr lang="zh-CN" alt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什么是统计机器学习方法？</a:t>
            </a:r>
            <a:endParaRPr lang="en-US" altLang="zh-CN" dirty="0"/>
          </a:p>
          <a:p>
            <a:r>
              <a:rPr lang="zh-CN" altLang="en-US" dirty="0"/>
              <a:t>支持向量机</a:t>
            </a:r>
            <a:endParaRPr lang="en-US" altLang="zh-CN" dirty="0"/>
          </a:p>
          <a:p>
            <a:pPr lvl="1"/>
            <a:r>
              <a:rPr lang="zh-CN" altLang="en-US" dirty="0"/>
              <a:t>线性可分支持向量机</a:t>
            </a:r>
            <a:endParaRPr lang="en-US" altLang="zh-CN" dirty="0"/>
          </a:p>
          <a:p>
            <a:pPr lvl="1"/>
            <a:r>
              <a:rPr lang="zh-CN" altLang="en-US" dirty="0"/>
              <a:t>线性支持向量机</a:t>
            </a:r>
            <a:endParaRPr lang="en-US" altLang="zh-CN" dirty="0"/>
          </a:p>
          <a:p>
            <a:pPr lvl="1"/>
            <a:r>
              <a:rPr lang="zh-CN" altLang="en-US" dirty="0"/>
              <a:t>非线性支持向量机</a:t>
            </a:r>
            <a:endParaRPr lang="en-US" altLang="zh-CN" dirty="0"/>
          </a:p>
          <a:p>
            <a:r>
              <a:rPr lang="zh-CN" altLang="en-US" dirty="0"/>
              <a:t>决策树</a:t>
            </a:r>
            <a:endParaRPr lang="en-US" altLang="zh-CN" dirty="0"/>
          </a:p>
          <a:p>
            <a:pPr lvl="1"/>
            <a:r>
              <a:rPr lang="en-US" altLang="zh-CN" dirty="0"/>
              <a:t>ID3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en-US" altLang="zh-CN" dirty="0"/>
              <a:t>C4.5</a:t>
            </a:r>
            <a:r>
              <a:rPr lang="zh-CN" altLang="en-US" dirty="0"/>
              <a:t>算法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关于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ID3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算法，请选择以下正确的说法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在生成决策树过程中必须使用所有的特征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允许生成的决策树叶节点实例类别不一样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同一个特征只能用在一个节点上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得到的决策树并不能保证最优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请选择以下正确的说法：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剪枝后在训练集上性能提高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通过剪枝可以提高在测试集上的性能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决策树只能处理离散的特征值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决策树在训练集上的性能越高越好</a:t>
            </a:r>
            <a:endParaRPr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p="http://schemas.openxmlformats.org/presentationml/2006/main">
  <p:tag name="RAINPROBLEM" val="MultipleChoiceMA"/>
  <p:tag name="PROBLEMSCORE" val="1.0"/>
  <p:tag name="PROBLEMSCORE_HALF" val="0.0"/>
</p:tagLst>
</file>

<file path=ppt/tags/tag18.xml><?xml version="1.0" encoding="utf-8"?>
<p:tagLst xmlns:p="http://schemas.openxmlformats.org/presentationml/2006/main">
  <p:tag name="RAINPROBLEM" val="ProblemBody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p="http://schemas.openxmlformats.org/presentationml/2006/main">
  <p:tag name="RAINPROBLEM" val="ProblemSubmit"/>
  <p:tag name="RAINPROBLEMTYPE" val="MultipleChoiceMA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" val="ProblemSetting"/>
  <p:tag name="RAINPROBLEMTYPE" val="MultipleChoiceMA"/>
</p:tagLst>
</file>

<file path=ppt/tags/tag34.xml><?xml version="1.0" encoding="utf-8"?>
<p:tagLst xmlns:p="http://schemas.openxmlformats.org/presentationml/2006/main">
  <p:tag name="RAINPROBLEM" val="MultipleChoiceMA"/>
  <p:tag name="PROBLEMSCORE" val="1.0"/>
  <p:tag name="PROBLEMSCORE_HALF" val="0.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2422</Words>
  <Application>WPS 演示</Application>
  <PresentationFormat>On-screen Show (4:3)</PresentationFormat>
  <Paragraphs>578</Paragraphs>
  <Slides>38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38</vt:i4>
      </vt:variant>
    </vt:vector>
  </HeadingPairs>
  <TitlesOfParts>
    <vt:vector size="60" baseType="lpstr">
      <vt:lpstr>Arial</vt:lpstr>
      <vt:lpstr>宋体</vt:lpstr>
      <vt:lpstr>Wingdings</vt:lpstr>
      <vt:lpstr>Wingdings 2</vt:lpstr>
      <vt:lpstr>Times New Roman</vt:lpstr>
      <vt:lpstr>黑体</vt:lpstr>
      <vt:lpstr>Perpetua</vt:lpstr>
      <vt:lpstr>幼圆</vt:lpstr>
      <vt:lpstr>Franklin Gothic Book</vt:lpstr>
      <vt:lpstr>微软雅黑</vt:lpstr>
      <vt:lpstr>Arial Unicode MS</vt:lpstr>
      <vt:lpstr>Calibri</vt:lpstr>
      <vt:lpstr>Cambria Math</vt:lpstr>
      <vt:lpstr>Equity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4.2 决策树</vt:lpstr>
      <vt:lpstr>PowerPoint 演示文稿</vt:lpstr>
      <vt:lpstr>PowerPoint 演示文稿</vt:lpstr>
      <vt:lpstr>决策树学习</vt:lpstr>
      <vt:lpstr>PowerPoint 演示文稿</vt:lpstr>
      <vt:lpstr>PowerPoint 演示文稿</vt:lpstr>
      <vt:lpstr>特征选择</vt:lpstr>
      <vt:lpstr>信息增益</vt:lpstr>
      <vt:lpstr>PowerPoint 演示文稿</vt:lpstr>
      <vt:lpstr>PowerPoint 演示文稿</vt:lpstr>
      <vt:lpstr>决策树的生成</vt:lpstr>
      <vt:lpstr>ID3算法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ID3存在的问题</vt:lpstr>
      <vt:lpstr>信息增益比</vt:lpstr>
      <vt:lpstr>C4.5的生成算法</vt:lpstr>
      <vt:lpstr>PowerPoint 演示文稿</vt:lpstr>
      <vt:lpstr>过拟合问题</vt:lpstr>
      <vt:lpstr>决策树的剪枝</vt:lpstr>
      <vt:lpstr>后剪枝方法示意</vt:lpstr>
      <vt:lpstr>后剪枝方法示意</vt:lpstr>
      <vt:lpstr>后剪枝方法示意</vt:lpstr>
      <vt:lpstr>决策树的剪枝</vt:lpstr>
      <vt:lpstr>剪枝的效果</vt:lpstr>
      <vt:lpstr>决策树的剪枝</vt:lpstr>
      <vt:lpstr>PowerPoint 演示文稿</vt:lpstr>
      <vt:lpstr>PowerPoint 演示文稿</vt:lpstr>
      <vt:lpstr>决策树的剪枝算法</vt:lpstr>
      <vt:lpstr>练习题</vt:lpstr>
      <vt:lpstr>随机森林</vt:lpstr>
      <vt:lpstr>小结</vt:lpstr>
      <vt:lpstr>PowerPoint 演示文稿</vt:lpstr>
      <vt:lpstr>PowerPoint 演示文稿</vt:lpstr>
    </vt:vector>
  </TitlesOfParts>
  <Company>Carnegie Mellon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SVM: a DP Mixture of Large-margin Kernel Machines</dc:title>
  <dc:creator>SCS</dc:creator>
  <cp:lastModifiedBy>张芝源(2024010701)</cp:lastModifiedBy>
  <cp:revision>7141</cp:revision>
  <dcterms:created xsi:type="dcterms:W3CDTF">2011-04-24T18:48:00Z</dcterms:created>
  <dcterms:modified xsi:type="dcterms:W3CDTF">2026-06-01T09:00:50Z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9F2E0B47D9F54CE5975501CDE1B59BC4_12</vt:lpwstr>
  </property>
</Properties>
</file>