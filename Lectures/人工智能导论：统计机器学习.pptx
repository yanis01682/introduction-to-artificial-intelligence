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77"/>
  </p:notesMasterIdLst>
  <p:handoutMasterIdLst>
    <p:handoutMasterId r:id="rId78"/>
  </p:handoutMasterIdLst>
  <p:sldIdLst>
    <p:sldId id="568" r:id="rId2"/>
    <p:sldId id="569" r:id="rId3"/>
    <p:sldId id="570" r:id="rId4"/>
    <p:sldId id="571" r:id="rId5"/>
    <p:sldId id="719" r:id="rId6"/>
    <p:sldId id="572" r:id="rId7"/>
    <p:sldId id="573" r:id="rId8"/>
    <p:sldId id="575" r:id="rId9"/>
    <p:sldId id="592" r:id="rId10"/>
    <p:sldId id="724" r:id="rId11"/>
    <p:sldId id="721" r:id="rId12"/>
    <p:sldId id="593" r:id="rId13"/>
    <p:sldId id="595" r:id="rId14"/>
    <p:sldId id="594" r:id="rId15"/>
    <p:sldId id="714" r:id="rId16"/>
    <p:sldId id="263" r:id="rId17"/>
    <p:sldId id="600" r:id="rId18"/>
    <p:sldId id="601" r:id="rId19"/>
    <p:sldId id="602" r:id="rId20"/>
    <p:sldId id="605" r:id="rId21"/>
    <p:sldId id="710" r:id="rId22"/>
    <p:sldId id="711" r:id="rId23"/>
    <p:sldId id="712" r:id="rId24"/>
    <p:sldId id="725" r:id="rId25"/>
    <p:sldId id="606" r:id="rId26"/>
    <p:sldId id="607" r:id="rId27"/>
    <p:sldId id="713" r:id="rId28"/>
    <p:sldId id="716" r:id="rId29"/>
    <p:sldId id="717" r:id="rId30"/>
    <p:sldId id="610" r:id="rId31"/>
    <p:sldId id="611" r:id="rId32"/>
    <p:sldId id="612" r:id="rId33"/>
    <p:sldId id="613" r:id="rId34"/>
    <p:sldId id="614" r:id="rId35"/>
    <p:sldId id="709" r:id="rId36"/>
    <p:sldId id="718" r:id="rId37"/>
    <p:sldId id="708" r:id="rId38"/>
    <p:sldId id="617" r:id="rId39"/>
    <p:sldId id="618" r:id="rId40"/>
    <p:sldId id="619" r:id="rId41"/>
    <p:sldId id="620" r:id="rId42"/>
    <p:sldId id="621" r:id="rId43"/>
    <p:sldId id="622" r:id="rId44"/>
    <p:sldId id="623" r:id="rId45"/>
    <p:sldId id="624" r:id="rId46"/>
    <p:sldId id="285" r:id="rId47"/>
    <p:sldId id="286" r:id="rId48"/>
    <p:sldId id="628" r:id="rId49"/>
    <p:sldId id="742" r:id="rId50"/>
    <p:sldId id="738" r:id="rId51"/>
    <p:sldId id="740" r:id="rId52"/>
    <p:sldId id="741" r:id="rId53"/>
    <p:sldId id="288" r:id="rId54"/>
    <p:sldId id="629" r:id="rId55"/>
    <p:sldId id="631" r:id="rId56"/>
    <p:sldId id="632" r:id="rId57"/>
    <p:sldId id="633" r:id="rId58"/>
    <p:sldId id="715" r:id="rId59"/>
    <p:sldId id="634" r:id="rId60"/>
    <p:sldId id="635" r:id="rId61"/>
    <p:sldId id="636" r:id="rId62"/>
    <p:sldId id="637" r:id="rId63"/>
    <p:sldId id="651" r:id="rId64"/>
    <p:sldId id="276" r:id="rId65"/>
    <p:sldId id="653" r:id="rId66"/>
    <p:sldId id="654" r:id="rId67"/>
    <p:sldId id="655" r:id="rId68"/>
    <p:sldId id="293" r:id="rId69"/>
    <p:sldId id="296" r:id="rId70"/>
    <p:sldId id="660" r:id="rId71"/>
    <p:sldId id="697" r:id="rId72"/>
    <p:sldId id="630" r:id="rId73"/>
    <p:sldId id="299" r:id="rId74"/>
    <p:sldId id="300" r:id="rId75"/>
    <p:sldId id="298"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12堂课第一节" id="{A5100360-2FD9-BC4D-8300-712F71D8C1CB}">
          <p14:sldIdLst>
            <p14:sldId id="568"/>
            <p14:sldId id="569"/>
            <p14:sldId id="570"/>
            <p14:sldId id="571"/>
            <p14:sldId id="719"/>
            <p14:sldId id="572"/>
            <p14:sldId id="573"/>
            <p14:sldId id="575"/>
            <p14:sldId id="592"/>
            <p14:sldId id="724"/>
            <p14:sldId id="721"/>
            <p14:sldId id="593"/>
            <p14:sldId id="595"/>
            <p14:sldId id="594"/>
            <p14:sldId id="714"/>
            <p14:sldId id="263"/>
            <p14:sldId id="600"/>
            <p14:sldId id="601"/>
            <p14:sldId id="602"/>
            <p14:sldId id="605"/>
          </p14:sldIdLst>
        </p14:section>
        <p14:section name="第12堂课第二节" id="{691018E1-1B8A-6B42-AD30-FD9553874B9D}">
          <p14:sldIdLst>
            <p14:sldId id="710"/>
            <p14:sldId id="711"/>
            <p14:sldId id="712"/>
            <p14:sldId id="725"/>
            <p14:sldId id="606"/>
            <p14:sldId id="607"/>
            <p14:sldId id="713"/>
            <p14:sldId id="716"/>
            <p14:sldId id="717"/>
            <p14:sldId id="610"/>
            <p14:sldId id="611"/>
            <p14:sldId id="612"/>
            <p14:sldId id="613"/>
            <p14:sldId id="614"/>
            <p14:sldId id="709"/>
            <p14:sldId id="718"/>
            <p14:sldId id="708"/>
            <p14:sldId id="617"/>
            <p14:sldId id="618"/>
            <p14:sldId id="619"/>
            <p14:sldId id="620"/>
            <p14:sldId id="621"/>
            <p14:sldId id="622"/>
            <p14:sldId id="623"/>
            <p14:sldId id="624"/>
          </p14:sldIdLst>
        </p14:section>
        <p14:section name="第13堂课第一节" id="{3DC78116-BD22-DD42-BBA7-DBCF0719FBB8}">
          <p14:sldIdLst>
            <p14:sldId id="285"/>
            <p14:sldId id="286"/>
            <p14:sldId id="628"/>
            <p14:sldId id="742"/>
            <p14:sldId id="738"/>
            <p14:sldId id="740"/>
            <p14:sldId id="741"/>
            <p14:sldId id="288"/>
            <p14:sldId id="629"/>
            <p14:sldId id="631"/>
            <p14:sldId id="632"/>
            <p14:sldId id="633"/>
            <p14:sldId id="715"/>
            <p14:sldId id="634"/>
            <p14:sldId id="635"/>
            <p14:sldId id="636"/>
            <p14:sldId id="637"/>
            <p14:sldId id="651"/>
            <p14:sldId id="276"/>
            <p14:sldId id="653"/>
          </p14:sldIdLst>
        </p14:section>
        <p14:section name="第13堂课第二节" id="{FEF1696F-C3DB-BB43-ACD1-96DAA1ECC93C}">
          <p14:sldIdLst>
            <p14:sldId id="654"/>
            <p14:sldId id="655"/>
            <p14:sldId id="293"/>
            <p14:sldId id="296"/>
            <p14:sldId id="660"/>
            <p14:sldId id="697"/>
            <p14:sldId id="630"/>
            <p14:sldId id="299"/>
            <p14:sldId id="300"/>
            <p14:sldId id="29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39B"/>
    <a:srgbClr val="E6AF00"/>
    <a:srgbClr val="FFC000"/>
    <a:srgbClr val="FEC200"/>
    <a:srgbClr val="0000FF"/>
    <a:srgbClr val="2B11EF"/>
    <a:srgbClr val="EFF343"/>
    <a:srgbClr val="86F260"/>
    <a:srgbClr val="ECF127"/>
    <a:srgbClr val="FB81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254" autoAdjust="0"/>
    <p:restoredTop sz="96921" autoAdjust="0"/>
  </p:normalViewPr>
  <p:slideViewPr>
    <p:cSldViewPr snapToGrid="0">
      <p:cViewPr varScale="1">
        <p:scale>
          <a:sx n="123" d="100"/>
          <a:sy n="123" d="100"/>
        </p:scale>
        <p:origin x="776"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88" d="100"/>
          <a:sy n="88" d="100"/>
        </p:scale>
        <p:origin x="-387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05A66E1-596A-496E-B96E-FE454130F19C}" type="datetimeFigureOut">
              <a:rPr lang="zh-CN" altLang="en-US" smtClean="0"/>
              <a:pPr/>
              <a:t>2026/6/1</a:t>
            </a:fld>
            <a:endParaRPr lang="zh-CN"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153B57A-208D-4E21-8008-BCE8E94FCB4F}" type="slidenum">
              <a:rPr lang="zh-CN" altLang="en-US" smtClean="0"/>
              <a:pPr/>
              <a:t>‹#›</a:t>
            </a:fld>
            <a:endParaRPr lang="zh-CN" altLang="en-US"/>
          </a:p>
        </p:txBody>
      </p:sp>
    </p:spTree>
    <p:extLst>
      <p:ext uri="{BB962C8B-B14F-4D97-AF65-F5344CB8AC3E}">
        <p14:creationId xmlns:p14="http://schemas.microsoft.com/office/powerpoint/2010/main" val="23564863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02705F-8347-41A8-82E6-B2920132BF3D}" type="datetimeFigureOut">
              <a:rPr lang="en-US" smtClean="0"/>
              <a:pPr/>
              <a:t>6/1/26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0AF6DD-051E-413B-8808-23D5AB3BD9E4}" type="slidenum">
              <a:rPr lang="en-US" smtClean="0"/>
              <a:pPr/>
              <a:t>‹#›</a:t>
            </a:fld>
            <a:endParaRPr lang="en-US"/>
          </a:p>
        </p:txBody>
      </p:sp>
    </p:spTree>
    <p:extLst>
      <p:ext uri="{BB962C8B-B14F-4D97-AF65-F5344CB8AC3E}">
        <p14:creationId xmlns:p14="http://schemas.microsoft.com/office/powerpoint/2010/main" val="4179078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en.wikipedia.org/wiki/Compact_space"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s://en.wikipedia.org/wiki/Convex_function" TargetMode="External"/><Relationship Id="rId5" Type="http://schemas.openxmlformats.org/officeDocument/2006/relationships/hyperlink" Target="https://en.wikipedia.org/wiki/Concave_function" TargetMode="External"/><Relationship Id="rId4" Type="http://schemas.openxmlformats.org/officeDocument/2006/relationships/hyperlink" Target="https://en.wikipedia.org/wiki/Convex_set"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赫伯特</a:t>
            </a:r>
            <a:r>
              <a:rPr lang="en-US" altLang="zh-CN" sz="1200" b="1" dirty="0"/>
              <a:t>·</a:t>
            </a:r>
            <a:r>
              <a:rPr lang="zh-CN" altLang="en-US" sz="1200" b="1" dirty="0"/>
              <a:t>西蒙的中文名是司马贺</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统计机器学习在</a:t>
            </a:r>
            <a:r>
              <a:rPr lang="en-US" altLang="zh-CN" sz="1200" b="1" dirty="0"/>
              <a:t>90</a:t>
            </a:r>
            <a:r>
              <a:rPr lang="zh-CN" altLang="en-US" sz="1200" b="1" dirty="0"/>
              <a:t>年代把人工智能拉出低潮，串联到了深度学习</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t>90</a:t>
            </a:r>
            <a:r>
              <a:rPr lang="zh-CN" altLang="en-US" sz="1200" b="1" dirty="0"/>
              <a:t>年代计算机的发展，互联网的发展，数据越来越多</a:t>
            </a:r>
            <a:endParaRPr lang="en-US" altLang="zh-CN" sz="1200" b="1" dirty="0"/>
          </a:p>
        </p:txBody>
      </p:sp>
      <p:sp>
        <p:nvSpPr>
          <p:cNvPr id="4" name="灯片编号占位符 3"/>
          <p:cNvSpPr>
            <a:spLocks noGrp="1"/>
          </p:cNvSpPr>
          <p:nvPr>
            <p:ph type="sldNum" sz="quarter" idx="5"/>
          </p:nvPr>
        </p:nvSpPr>
        <p:spPr/>
        <p:txBody>
          <a:bodyPr/>
          <a:lstStyle/>
          <a:p>
            <a:fld id="{D50AF6DD-051E-413B-8808-23D5AB3BD9E4}" type="slidenum">
              <a:rPr lang="en-US" smtClean="0"/>
              <a:pPr/>
              <a:t>1</a:t>
            </a:fld>
            <a:endParaRPr lang="en-US"/>
          </a:p>
        </p:txBody>
      </p:sp>
    </p:spTree>
    <p:extLst>
      <p:ext uri="{BB962C8B-B14F-4D97-AF65-F5344CB8AC3E}">
        <p14:creationId xmlns:p14="http://schemas.microsoft.com/office/powerpoint/2010/main" val="3324534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endParaRPr kumimoji="1" lang="en-US" altLang="zh-CN" dirty="0"/>
          </a:p>
          <a:p>
            <a:r>
              <a:rPr kumimoji="1" lang="zh-CN" altLang="en-US" dirty="0"/>
              <a:t>举例：气温和同学们的学习热情</a:t>
            </a:r>
          </a:p>
        </p:txBody>
      </p:sp>
      <p:sp>
        <p:nvSpPr>
          <p:cNvPr id="4" name="灯片编号占位符 3"/>
          <p:cNvSpPr>
            <a:spLocks noGrp="1"/>
          </p:cNvSpPr>
          <p:nvPr>
            <p:ph type="sldNum" sz="quarter" idx="5"/>
          </p:nvPr>
        </p:nvSpPr>
        <p:spPr/>
        <p:txBody>
          <a:bodyPr/>
          <a:lstStyle/>
          <a:p>
            <a:fld id="{D50AF6DD-051E-413B-8808-23D5AB3BD9E4}" type="slidenum">
              <a:rPr lang="en-US" smtClean="0"/>
              <a:pPr/>
              <a:t>2</a:t>
            </a:fld>
            <a:endParaRPr lang="en-US"/>
          </a:p>
        </p:txBody>
      </p:sp>
    </p:spTree>
    <p:extLst>
      <p:ext uri="{BB962C8B-B14F-4D97-AF65-F5344CB8AC3E}">
        <p14:creationId xmlns:p14="http://schemas.microsoft.com/office/powerpoint/2010/main" val="696224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noFill/>
          <a:ln/>
        </p:spPr>
        <p:txBody>
          <a:bodyPr/>
          <a:lstStyle/>
          <a:p>
            <a:r>
              <a:rPr lang="zh-CN" altLang="en-US" dirty="0">
                <a:ea typeface="黑体" pitchFamily="49" charset="-122"/>
              </a:rPr>
              <a:t>希望 </a:t>
            </a:r>
            <a:r>
              <a:rPr lang="en-US" altLang="zh-CN" dirty="0">
                <a:ea typeface="黑体" pitchFamily="49" charset="-122"/>
              </a:rPr>
              <a:t>g</a:t>
            </a:r>
            <a:r>
              <a:rPr lang="zh-CN" altLang="en-US" dirty="0">
                <a:ea typeface="黑体" pitchFamily="49" charset="-122"/>
              </a:rPr>
              <a:t>≈</a:t>
            </a:r>
            <a:r>
              <a:rPr lang="en-US" altLang="zh-CN" dirty="0">
                <a:ea typeface="黑体" pitchFamily="49" charset="-122"/>
              </a:rPr>
              <a:t>f</a:t>
            </a:r>
          </a:p>
          <a:p>
            <a:endParaRPr lang="en-US" altLang="zh-CN" dirty="0">
              <a:ea typeface="黑体" pitchFamily="49" charset="-122"/>
            </a:endParaRPr>
          </a:p>
          <a:p>
            <a:endParaRPr lang="zh-CN" altLang="en-US" dirty="0">
              <a:ea typeface="黑体" pitchFamily="49" charset="-122"/>
            </a:endParaRPr>
          </a:p>
        </p:txBody>
      </p:sp>
      <p:sp>
        <p:nvSpPr>
          <p:cNvPr id="133124" name="灯片编号占位符 3"/>
          <p:cNvSpPr>
            <a:spLocks noGrp="1"/>
          </p:cNvSpPr>
          <p:nvPr>
            <p:ph type="sldNum" sz="quarter" idx="5"/>
          </p:nvPr>
        </p:nvSpPr>
        <p:spPr>
          <a:noFill/>
        </p:spPr>
        <p:txBody>
          <a:bodyPr/>
          <a:lstStyle/>
          <a:p>
            <a:fld id="{D6FF18AA-9B2D-4EA1-B2C2-CFF91A20757B}" type="slidenum">
              <a:rPr lang="en-US" altLang="zh-CN" smtClean="0">
                <a:ea typeface="黑体" pitchFamily="49" charset="-122"/>
              </a:rPr>
              <a:pPr/>
              <a:t>3</a:t>
            </a:fld>
            <a:endParaRPr lang="en-US" altLang="zh-CN">
              <a:ea typeface="黑体" pitchFamily="49" charset="-122"/>
            </a:endParaRPr>
          </a:p>
        </p:txBody>
      </p:sp>
    </p:spTree>
    <p:extLst>
      <p:ext uri="{BB962C8B-B14F-4D97-AF65-F5344CB8AC3E}">
        <p14:creationId xmlns:p14="http://schemas.microsoft.com/office/powerpoint/2010/main" val="359457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假设空间： 假设数据符合某一种分布</a:t>
            </a:r>
            <a:endParaRPr kumimoji="1" lang="en-US" altLang="zh-CN" dirty="0"/>
          </a:p>
          <a:p>
            <a:endParaRPr kumimoji="1" lang="en-US" altLang="zh-CN" dirty="0"/>
          </a:p>
          <a:p>
            <a:r>
              <a:rPr kumimoji="1" lang="zh-CN" altLang="en-US" dirty="0"/>
              <a:t>气温和同学们的学习热情，假设是线性分布？假设是非线性分布？</a:t>
            </a:r>
            <a:endParaRPr kumimoji="1" lang="en-US" altLang="zh-CN" dirty="0"/>
          </a:p>
          <a:p>
            <a:endParaRPr kumimoji="1" lang="en-US" altLang="zh-CN" dirty="0"/>
          </a:p>
          <a:p>
            <a:r>
              <a:rPr kumimoji="1" lang="zh-CN" altLang="en-US" dirty="0"/>
              <a:t>神经网络和深度学习是统计机器学习框架中的一个特例</a:t>
            </a:r>
          </a:p>
        </p:txBody>
      </p:sp>
      <p:sp>
        <p:nvSpPr>
          <p:cNvPr id="4" name="灯片编号占位符 3"/>
          <p:cNvSpPr>
            <a:spLocks noGrp="1"/>
          </p:cNvSpPr>
          <p:nvPr>
            <p:ph type="sldNum" sz="quarter" idx="5"/>
          </p:nvPr>
        </p:nvSpPr>
        <p:spPr/>
        <p:txBody>
          <a:bodyPr/>
          <a:lstStyle/>
          <a:p>
            <a:fld id="{D50AF6DD-051E-413B-8808-23D5AB3BD9E4}" type="slidenum">
              <a:rPr lang="en-US" smtClean="0"/>
              <a:pPr/>
              <a:t>4</a:t>
            </a:fld>
            <a:endParaRPr lang="en-US"/>
          </a:p>
        </p:txBody>
      </p:sp>
    </p:spTree>
    <p:extLst>
      <p:ext uri="{BB962C8B-B14F-4D97-AF65-F5344CB8AC3E}">
        <p14:creationId xmlns:p14="http://schemas.microsoft.com/office/powerpoint/2010/main" val="3661908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a:ln/>
        </p:spPr>
      </p:sp>
      <p:sp>
        <p:nvSpPr>
          <p:cNvPr id="134147" name="备注占位符 2"/>
          <p:cNvSpPr>
            <a:spLocks noGrp="1"/>
          </p:cNvSpPr>
          <p:nvPr>
            <p:ph type="body" idx="1"/>
          </p:nvPr>
        </p:nvSpPr>
        <p:spPr>
          <a:noFill/>
          <a:ln/>
        </p:spPr>
        <p:txBody>
          <a:bodyPr/>
          <a:lstStyle/>
          <a:p>
            <a:r>
              <a:rPr lang="zh-CN" altLang="en-US" dirty="0">
                <a:ea typeface="黑体" pitchFamily="49" charset="-122"/>
              </a:rPr>
              <a:t>经验风险容易引起过拟合，结构风险是在经验风险的基础上加上体现模型复杂度的正则化项</a:t>
            </a:r>
          </a:p>
        </p:txBody>
      </p:sp>
      <p:sp>
        <p:nvSpPr>
          <p:cNvPr id="134148" name="灯片编号占位符 3"/>
          <p:cNvSpPr>
            <a:spLocks noGrp="1"/>
          </p:cNvSpPr>
          <p:nvPr>
            <p:ph type="sldNum" sz="quarter" idx="5"/>
          </p:nvPr>
        </p:nvSpPr>
        <p:spPr>
          <a:noFill/>
        </p:spPr>
        <p:txBody>
          <a:bodyPr/>
          <a:lstStyle/>
          <a:p>
            <a:fld id="{CD0B859F-82F3-4E63-B8F6-DECE510EBAA9}" type="slidenum">
              <a:rPr lang="en-US" altLang="zh-CN" smtClean="0">
                <a:ea typeface="黑体" pitchFamily="49" charset="-122"/>
              </a:rPr>
              <a:pPr/>
              <a:t>6</a:t>
            </a:fld>
            <a:endParaRPr lang="en-US" altLang="zh-CN">
              <a:ea typeface="黑体" pitchFamily="49" charset="-122"/>
            </a:endParaRPr>
          </a:p>
        </p:txBody>
      </p:sp>
    </p:spTree>
    <p:extLst>
      <p:ext uri="{BB962C8B-B14F-4D97-AF65-F5344CB8AC3E}">
        <p14:creationId xmlns:p14="http://schemas.microsoft.com/office/powerpoint/2010/main" val="3697899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noFill/>
          <a:ln/>
        </p:spPr>
        <p:txBody>
          <a:bodyPr/>
          <a:lstStyle/>
          <a:p>
            <a:r>
              <a:rPr lang="zh-CN" altLang="en-US" dirty="0">
                <a:ea typeface="黑体" pitchFamily="49" charset="-122"/>
              </a:rPr>
              <a:t>强化学习：指的是动作序列的学习</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监督 </a:t>
            </a:r>
            <a:r>
              <a:rPr lang="en-US" altLang="zh-CN" dirty="0">
                <a:ea typeface="黑体" pitchFamily="49" charset="-122"/>
              </a:rPr>
              <a:t>-》</a:t>
            </a:r>
            <a:r>
              <a:rPr lang="zh-CN" altLang="en-US" dirty="0">
                <a:ea typeface="黑体" pitchFamily="49" charset="-122"/>
              </a:rPr>
              <a:t> 强监督</a:t>
            </a:r>
            <a:endParaRPr lang="en-US" altLang="zh-CN" dirty="0">
              <a:ea typeface="黑体" pitchFamily="49" charset="-122"/>
            </a:endParaRPr>
          </a:p>
          <a:p>
            <a:r>
              <a:rPr lang="zh-CN" altLang="en-US" dirty="0">
                <a:ea typeface="黑体" pitchFamily="49" charset="-122"/>
              </a:rPr>
              <a:t>半监督</a:t>
            </a:r>
            <a:r>
              <a:rPr lang="en-US" altLang="zh-CN" dirty="0">
                <a:ea typeface="黑体" pitchFamily="49" charset="-122"/>
              </a:rPr>
              <a:t>-》</a:t>
            </a:r>
            <a:r>
              <a:rPr lang="zh-CN" altLang="en-US" dirty="0">
                <a:ea typeface="黑体" pitchFamily="49" charset="-122"/>
              </a:rPr>
              <a:t>混合监督和非监督数据</a:t>
            </a:r>
            <a:endParaRPr lang="en-US" altLang="zh-CN" dirty="0">
              <a:ea typeface="黑体" pitchFamily="49" charset="-122"/>
            </a:endParaRPr>
          </a:p>
          <a:p>
            <a:r>
              <a:rPr lang="zh-CN" altLang="en-US" dirty="0">
                <a:ea typeface="黑体" pitchFamily="49" charset="-122"/>
              </a:rPr>
              <a:t>弱监督： </a:t>
            </a:r>
            <a:r>
              <a:rPr lang="en-US" altLang="zh-CN" dirty="0">
                <a:ea typeface="黑体" pitchFamily="49" charset="-122"/>
              </a:rPr>
              <a:t>1.</a:t>
            </a:r>
            <a:r>
              <a:rPr lang="zh-CN" altLang="en-US" dirty="0">
                <a:ea typeface="黑体" pitchFamily="49" charset="-122"/>
              </a:rPr>
              <a:t>标注数据少</a:t>
            </a:r>
            <a:endParaRPr lang="en-US" altLang="zh-CN" dirty="0">
              <a:ea typeface="黑体" pitchFamily="49" charset="-122"/>
            </a:endParaRPr>
          </a:p>
          <a:p>
            <a:r>
              <a:rPr lang="en-US" altLang="zh-CN" dirty="0">
                <a:ea typeface="黑体" pitchFamily="49" charset="-122"/>
              </a:rPr>
              <a:t>2.</a:t>
            </a:r>
            <a:r>
              <a:rPr lang="zh-CN" altLang="en-US" dirty="0">
                <a:ea typeface="黑体" pitchFamily="49" charset="-122"/>
              </a:rPr>
              <a:t> 标注数据不直接描述具体行为目标，比如强化学习，比如</a:t>
            </a:r>
            <a:r>
              <a:rPr lang="en-US" altLang="zh-CN" dirty="0">
                <a:ea typeface="黑体" pitchFamily="49" charset="-122"/>
              </a:rPr>
              <a:t>weak</a:t>
            </a:r>
            <a:r>
              <a:rPr lang="zh-CN" altLang="en-US" dirty="0">
                <a:ea typeface="黑体" pitchFamily="49" charset="-122"/>
              </a:rPr>
              <a:t> </a:t>
            </a:r>
            <a:r>
              <a:rPr lang="en-US" altLang="zh-CN" dirty="0">
                <a:ea typeface="黑体" pitchFamily="49" charset="-122"/>
              </a:rPr>
              <a:t>label</a:t>
            </a:r>
          </a:p>
          <a:p>
            <a:r>
              <a:rPr lang="zh-CN" altLang="en-US" dirty="0">
                <a:ea typeface="黑体" pitchFamily="49" charset="-122"/>
              </a:rPr>
              <a:t>这是只猫，这是匹马，“根据身上是否毛绒绒预测标注是不是猫”</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气温和同学们的学习热情</a:t>
            </a:r>
            <a:endParaRPr lang="en-US" altLang="zh-CN" dirty="0">
              <a:ea typeface="黑体" pitchFamily="49" charset="-122"/>
            </a:endParaRPr>
          </a:p>
          <a:p>
            <a:r>
              <a:rPr lang="zh-CN" altLang="en-US" dirty="0">
                <a:ea typeface="黑体" pitchFamily="49" charset="-122"/>
              </a:rPr>
              <a:t>监督：给全班发调查问卷，必须填写</a:t>
            </a:r>
            <a:endParaRPr lang="en-US" altLang="zh-CN" dirty="0">
              <a:ea typeface="黑体" pitchFamily="49" charset="-122"/>
            </a:endParaRPr>
          </a:p>
          <a:p>
            <a:r>
              <a:rPr lang="zh-CN" altLang="en-US" dirty="0">
                <a:ea typeface="黑体" pitchFamily="49" charset="-122"/>
              </a:rPr>
              <a:t>无监督：看今天有几位同学来上课</a:t>
            </a:r>
            <a:endParaRPr lang="en-US" altLang="zh-CN" dirty="0">
              <a:ea typeface="黑体" pitchFamily="49" charset="-122"/>
            </a:endParaRPr>
          </a:p>
          <a:p>
            <a:r>
              <a:rPr lang="zh-CN" altLang="en-US" dirty="0">
                <a:ea typeface="黑体" pitchFamily="49" charset="-122"/>
              </a:rPr>
              <a:t>半监督：给全班发问卷，但不要求填写</a:t>
            </a:r>
            <a:r>
              <a:rPr lang="en-US" altLang="zh-CN" dirty="0">
                <a:ea typeface="黑体" pitchFamily="49" charset="-122"/>
              </a:rPr>
              <a:t>+</a:t>
            </a:r>
            <a:r>
              <a:rPr lang="zh-CN" altLang="en-US" dirty="0">
                <a:ea typeface="黑体" pitchFamily="49" charset="-122"/>
              </a:rPr>
              <a:t>看今天有几个同学来上课</a:t>
            </a:r>
            <a:endParaRPr lang="en-US" altLang="zh-CN" dirty="0">
              <a:ea typeface="黑体" pitchFamily="49" charset="-122"/>
            </a:endParaRPr>
          </a:p>
          <a:p>
            <a:r>
              <a:rPr lang="zh-CN" altLang="en-US" dirty="0">
                <a:ea typeface="黑体" pitchFamily="49" charset="-122"/>
              </a:rPr>
              <a:t>弱监督：强化学习</a:t>
            </a:r>
            <a:r>
              <a:rPr lang="en-US" altLang="zh-CN" dirty="0">
                <a:ea typeface="黑体" pitchFamily="49" charset="-122"/>
              </a:rPr>
              <a:t>-》</a:t>
            </a:r>
            <a:r>
              <a:rPr lang="zh-CN" altLang="en-US" dirty="0">
                <a:ea typeface="黑体" pitchFamily="49" charset="-122"/>
              </a:rPr>
              <a:t>考试成绩，弱信号</a:t>
            </a:r>
            <a:r>
              <a:rPr lang="en-US" altLang="zh-CN" dirty="0">
                <a:ea typeface="黑体" pitchFamily="49" charset="-122"/>
              </a:rPr>
              <a:t>-》</a:t>
            </a:r>
            <a:r>
              <a:rPr lang="zh-CN" altLang="en-US" dirty="0">
                <a:ea typeface="黑体" pitchFamily="49" charset="-122"/>
              </a:rPr>
              <a:t>出门看看路上的自行车多不多</a:t>
            </a:r>
            <a:endParaRPr lang="en-US" altLang="zh-CN" dirty="0">
              <a:ea typeface="黑体" pitchFamily="49" charset="-122"/>
            </a:endParaRPr>
          </a:p>
        </p:txBody>
      </p:sp>
      <p:sp>
        <p:nvSpPr>
          <p:cNvPr id="135172" name="灯片编号占位符 3"/>
          <p:cNvSpPr>
            <a:spLocks noGrp="1"/>
          </p:cNvSpPr>
          <p:nvPr>
            <p:ph type="sldNum" sz="quarter" idx="5"/>
          </p:nvPr>
        </p:nvSpPr>
        <p:spPr>
          <a:noFill/>
        </p:spPr>
        <p:txBody>
          <a:bodyPr/>
          <a:lstStyle/>
          <a:p>
            <a:fld id="{8D616275-BC4F-48F8-BCD9-EEB3052B978E}" type="slidenum">
              <a:rPr lang="en-US" altLang="zh-CN" smtClean="0">
                <a:ea typeface="黑体" pitchFamily="49" charset="-122"/>
              </a:rPr>
              <a:pPr/>
              <a:t>7</a:t>
            </a:fld>
            <a:endParaRPr lang="en-US" altLang="zh-CN">
              <a:ea typeface="黑体" pitchFamily="49" charset="-122"/>
            </a:endParaRPr>
          </a:p>
        </p:txBody>
      </p:sp>
    </p:spTree>
    <p:extLst>
      <p:ext uri="{BB962C8B-B14F-4D97-AF65-F5344CB8AC3E}">
        <p14:creationId xmlns:p14="http://schemas.microsoft.com/office/powerpoint/2010/main" val="1091222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8</a:t>
            </a:fld>
            <a:endParaRPr lang="en-US"/>
          </a:p>
        </p:txBody>
      </p:sp>
    </p:spTree>
    <p:extLst>
      <p:ext uri="{BB962C8B-B14F-4D97-AF65-F5344CB8AC3E}">
        <p14:creationId xmlns:p14="http://schemas.microsoft.com/office/powerpoint/2010/main" val="1395646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多分类问题可以转化为二分类问题</a:t>
            </a:r>
          </a:p>
          <a:p>
            <a:endParaRPr kumimoji="1" lang="en-US" altLang="zh-CN" dirty="0"/>
          </a:p>
          <a:p>
            <a:endParaRPr kumimoji="1" lang="en-US" altLang="zh-CN" dirty="0"/>
          </a:p>
          <a:p>
            <a:r>
              <a:rPr kumimoji="1" lang="zh-CN" altLang="en-US" dirty="0"/>
              <a:t>超平面：三维空间中的平面</a:t>
            </a:r>
            <a:r>
              <a:rPr kumimoji="1" lang="en-US" altLang="zh-CN" dirty="0"/>
              <a:t>-》</a:t>
            </a:r>
            <a:r>
              <a:rPr kumimoji="1" lang="zh-CN" altLang="en-US" dirty="0"/>
              <a:t>二维空间中的线</a:t>
            </a:r>
            <a:endParaRPr kumimoji="1" lang="en-US" altLang="zh-CN" dirty="0"/>
          </a:p>
          <a:p>
            <a:endParaRPr kumimoji="1" lang="en-US" altLang="zh-CN" dirty="0"/>
          </a:p>
          <a:p>
            <a:r>
              <a:rPr kumimoji="1" lang="zh-CN" altLang="en-US" dirty="0"/>
              <a:t>线性可分 </a:t>
            </a:r>
            <a:r>
              <a:rPr kumimoji="1" lang="en-US" altLang="zh-CN" dirty="0"/>
              <a:t>-》</a:t>
            </a:r>
            <a:r>
              <a:rPr kumimoji="1" lang="zh-CN" altLang="en-US" dirty="0"/>
              <a:t> 两类数据，用一个超平面可以完全分开（至少在训练集上可以），训练集正确率</a:t>
            </a:r>
            <a:r>
              <a:rPr kumimoji="1" lang="en-US" altLang="zh-CN" dirty="0"/>
              <a:t>100%</a:t>
            </a:r>
          </a:p>
          <a:p>
            <a:r>
              <a:rPr kumimoji="1" lang="zh-CN" altLang="en-US" dirty="0"/>
              <a:t>线性</a:t>
            </a:r>
            <a:r>
              <a:rPr kumimoji="1" lang="en-US" altLang="zh-CN" dirty="0"/>
              <a:t>-》</a:t>
            </a:r>
            <a:r>
              <a:rPr kumimoji="1" lang="zh-CN" altLang="en-US" dirty="0"/>
              <a:t>两类数据，用一个超平面基本上可以分开，训练集正确率不是</a:t>
            </a:r>
            <a:r>
              <a:rPr kumimoji="1" lang="en-US" altLang="zh-CN" dirty="0"/>
              <a:t>100%</a:t>
            </a:r>
            <a:r>
              <a:rPr kumimoji="1" lang="zh-CN" altLang="en-US" dirty="0"/>
              <a:t>，但还可以</a:t>
            </a:r>
            <a:endParaRPr kumimoji="1" lang="en-US" altLang="zh-CN" dirty="0"/>
          </a:p>
          <a:p>
            <a:r>
              <a:rPr kumimoji="1" lang="zh-CN" altLang="en-US" dirty="0"/>
              <a:t>非线性</a:t>
            </a:r>
            <a:r>
              <a:rPr kumimoji="1" lang="en-US" altLang="zh-CN" dirty="0"/>
              <a:t>-》</a:t>
            </a:r>
            <a:r>
              <a:rPr kumimoji="1" lang="zh-CN" altLang="en-US" dirty="0"/>
              <a:t>两类数据，用一个超平面没法分开，训练集正确率接近</a:t>
            </a:r>
            <a:r>
              <a:rPr kumimoji="1" lang="en-US" altLang="zh-CN" dirty="0"/>
              <a:t>50%</a:t>
            </a:r>
          </a:p>
        </p:txBody>
      </p:sp>
      <p:sp>
        <p:nvSpPr>
          <p:cNvPr id="4" name="灯片编号占位符 3"/>
          <p:cNvSpPr>
            <a:spLocks noGrp="1"/>
          </p:cNvSpPr>
          <p:nvPr>
            <p:ph type="sldNum" sz="quarter" idx="5"/>
          </p:nvPr>
        </p:nvSpPr>
        <p:spPr/>
        <p:txBody>
          <a:bodyPr/>
          <a:lstStyle/>
          <a:p>
            <a:fld id="{D50AF6DD-051E-413B-8808-23D5AB3BD9E4}" type="slidenum">
              <a:rPr lang="en-US" smtClean="0"/>
              <a:pPr/>
              <a:t>9</a:t>
            </a:fld>
            <a:endParaRPr lang="en-US"/>
          </a:p>
        </p:txBody>
      </p:sp>
    </p:spTree>
    <p:extLst>
      <p:ext uri="{BB962C8B-B14F-4D97-AF65-F5344CB8AC3E}">
        <p14:creationId xmlns:p14="http://schemas.microsoft.com/office/powerpoint/2010/main" val="948331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FAA6B-E76E-42D4-E8C0-C0A73C18F6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7DD4F8-EBE2-19E2-647A-28B931CECB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2B07CA4-06CC-287F-376A-F02BC13C9F7D}"/>
              </a:ext>
            </a:extLst>
          </p:cNvPr>
          <p:cNvSpPr>
            <a:spLocks noGrp="1"/>
          </p:cNvSpPr>
          <p:nvPr>
            <p:ph type="body" idx="1"/>
          </p:nvPr>
        </p:nvSpPr>
        <p:spPr/>
        <p:txBody>
          <a:bodyPr/>
          <a:lstStyle/>
          <a:p>
            <a:r>
              <a:rPr kumimoji="1" lang="zh-CN" altLang="en-US" dirty="0"/>
              <a:t>假设空间： 假设数据符合某一种分布</a:t>
            </a:r>
            <a:endParaRPr kumimoji="1" lang="en-US" altLang="zh-CN" dirty="0"/>
          </a:p>
          <a:p>
            <a:endParaRPr kumimoji="1" lang="en-US" altLang="zh-CN" dirty="0"/>
          </a:p>
          <a:p>
            <a:r>
              <a:rPr kumimoji="1" lang="zh-CN" altLang="en-US" dirty="0"/>
              <a:t>气温和同学们的学习热情，假设是线性分布？假设是非线性分布？</a:t>
            </a:r>
            <a:endParaRPr kumimoji="1" lang="en-US" altLang="zh-CN" dirty="0"/>
          </a:p>
          <a:p>
            <a:endParaRPr kumimoji="1" lang="en-US" altLang="zh-CN" dirty="0"/>
          </a:p>
          <a:p>
            <a:r>
              <a:rPr kumimoji="1" lang="zh-CN" altLang="en-US" dirty="0"/>
              <a:t>神经网络和深度学习是统计机器学习框架中的一个特例</a:t>
            </a:r>
          </a:p>
        </p:txBody>
      </p:sp>
      <p:sp>
        <p:nvSpPr>
          <p:cNvPr id="4" name="灯片编号占位符 3">
            <a:extLst>
              <a:ext uri="{FF2B5EF4-FFF2-40B4-BE49-F238E27FC236}">
                <a16:creationId xmlns:a16="http://schemas.microsoft.com/office/drawing/2014/main" id="{FB28F9DD-F477-02B9-3A00-06F790B49AAD}"/>
              </a:ext>
            </a:extLst>
          </p:cNvPr>
          <p:cNvSpPr>
            <a:spLocks noGrp="1"/>
          </p:cNvSpPr>
          <p:nvPr>
            <p:ph type="sldNum" sz="quarter" idx="5"/>
          </p:nvPr>
        </p:nvSpPr>
        <p:spPr/>
        <p:txBody>
          <a:bodyPr/>
          <a:lstStyle/>
          <a:p>
            <a:fld id="{D50AF6DD-051E-413B-8808-23D5AB3BD9E4}" type="slidenum">
              <a:rPr lang="en-US" smtClean="0"/>
              <a:pPr/>
              <a:t>11</a:t>
            </a:fld>
            <a:endParaRPr lang="en-US"/>
          </a:p>
        </p:txBody>
      </p:sp>
    </p:spTree>
    <p:extLst>
      <p:ext uri="{BB962C8B-B14F-4D97-AF65-F5344CB8AC3E}">
        <p14:creationId xmlns:p14="http://schemas.microsoft.com/office/powerpoint/2010/main" val="2346832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大家觉得那条线分割的好？</a:t>
            </a:r>
            <a:endParaRPr kumimoji="1" lang="en-US" altLang="zh-CN" dirty="0"/>
          </a:p>
          <a:p>
            <a:endParaRPr kumimoji="1" lang="en-US" altLang="zh-CN" dirty="0"/>
          </a:p>
          <a:p>
            <a:r>
              <a:rPr kumimoji="1" lang="zh-CN" altLang="en-US" dirty="0"/>
              <a:t>这个线怎么找呢？</a:t>
            </a:r>
            <a:endParaRPr kumimoji="1" lang="en-US" altLang="zh-CN" dirty="0"/>
          </a:p>
          <a:p>
            <a:endParaRPr kumimoji="1" lang="en-US" altLang="zh-CN" dirty="0"/>
          </a:p>
          <a:p>
            <a:r>
              <a:rPr kumimoji="1" lang="en-US" altLang="zh-CN" dirty="0"/>
              <a:t>B</a:t>
            </a:r>
            <a:r>
              <a:rPr kumimoji="1" lang="zh-CN" altLang="en-US" dirty="0"/>
              <a:t>比</a:t>
            </a:r>
            <a:r>
              <a:rPr kumimoji="1" lang="en-US" altLang="zh-CN" dirty="0"/>
              <a:t>A</a:t>
            </a:r>
            <a:r>
              <a:rPr kumimoji="1" lang="zh-CN" altLang="en-US" dirty="0"/>
              <a:t>和</a:t>
            </a:r>
            <a:r>
              <a:rPr kumimoji="1" lang="en-US" altLang="zh-CN" dirty="0"/>
              <a:t>C</a:t>
            </a:r>
            <a:r>
              <a:rPr kumimoji="1" lang="zh-CN" altLang="en-US" dirty="0"/>
              <a:t>好么？</a:t>
            </a:r>
            <a:r>
              <a:rPr kumimoji="1" lang="en-US" altLang="zh-CN" dirty="0"/>
              <a:t>B</a:t>
            </a:r>
            <a:r>
              <a:rPr kumimoji="1" lang="zh-CN" altLang="en-US" dirty="0"/>
              <a:t>在中间位置</a:t>
            </a:r>
            <a:endParaRPr kumimoji="1" lang="en-US" altLang="zh-CN" dirty="0"/>
          </a:p>
          <a:p>
            <a:r>
              <a:rPr kumimoji="1" lang="en-US" altLang="zh-CN" dirty="0"/>
              <a:t>D</a:t>
            </a:r>
            <a:r>
              <a:rPr kumimoji="1" lang="zh-CN" altLang="en-US" dirty="0"/>
              <a:t>也在中间位置，为什么</a:t>
            </a:r>
            <a:r>
              <a:rPr kumimoji="1" lang="en-US" altLang="zh-CN" dirty="0"/>
              <a:t>B</a:t>
            </a:r>
            <a:r>
              <a:rPr kumimoji="1" lang="zh-CN" altLang="en-US" dirty="0"/>
              <a:t>比</a:t>
            </a:r>
            <a:r>
              <a:rPr kumimoji="1" lang="en-US" altLang="zh-CN" dirty="0"/>
              <a:t>D</a:t>
            </a:r>
            <a:r>
              <a:rPr kumimoji="1" lang="zh-CN" altLang="en-US" dirty="0"/>
              <a:t>好？</a:t>
            </a:r>
          </a:p>
        </p:txBody>
      </p:sp>
      <p:sp>
        <p:nvSpPr>
          <p:cNvPr id="4" name="灯片编号占位符 3"/>
          <p:cNvSpPr>
            <a:spLocks noGrp="1"/>
          </p:cNvSpPr>
          <p:nvPr>
            <p:ph type="sldNum" sz="quarter" idx="5"/>
          </p:nvPr>
        </p:nvSpPr>
        <p:spPr/>
        <p:txBody>
          <a:bodyPr/>
          <a:lstStyle/>
          <a:p>
            <a:fld id="{D50AF6DD-051E-413B-8808-23D5AB3BD9E4}" type="slidenum">
              <a:rPr lang="en-US" smtClean="0"/>
              <a:pPr/>
              <a:t>12</a:t>
            </a:fld>
            <a:endParaRPr lang="en-US"/>
          </a:p>
        </p:txBody>
      </p:sp>
    </p:spTree>
    <p:extLst>
      <p:ext uri="{BB962C8B-B14F-4D97-AF65-F5344CB8AC3E}">
        <p14:creationId xmlns:p14="http://schemas.microsoft.com/office/powerpoint/2010/main" val="1577013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注意，这里正类用</a:t>
            </a:r>
            <a:r>
              <a:rPr kumimoji="1" lang="en-US" altLang="zh-CN" dirty="0"/>
              <a:t>+1</a:t>
            </a:r>
            <a:r>
              <a:rPr kumimoji="1" lang="zh-CN" altLang="en-US" dirty="0"/>
              <a:t>表示，负类用</a:t>
            </a:r>
            <a:r>
              <a:rPr kumimoji="1" lang="en-US" altLang="zh-CN" dirty="0"/>
              <a:t>-1</a:t>
            </a:r>
            <a:r>
              <a:rPr kumimoji="1" lang="zh-CN" altLang="en-US" dirty="0"/>
              <a:t>表示</a:t>
            </a:r>
          </a:p>
        </p:txBody>
      </p:sp>
      <p:sp>
        <p:nvSpPr>
          <p:cNvPr id="4" name="灯片编号占位符 3"/>
          <p:cNvSpPr>
            <a:spLocks noGrp="1"/>
          </p:cNvSpPr>
          <p:nvPr>
            <p:ph type="sldNum" sz="quarter" idx="5"/>
          </p:nvPr>
        </p:nvSpPr>
        <p:spPr/>
        <p:txBody>
          <a:bodyPr/>
          <a:lstStyle/>
          <a:p>
            <a:fld id="{D50AF6DD-051E-413B-8808-23D5AB3BD9E4}" type="slidenum">
              <a:rPr lang="en-US" smtClean="0"/>
              <a:pPr/>
              <a:t>13</a:t>
            </a:fld>
            <a:endParaRPr lang="en-US"/>
          </a:p>
        </p:txBody>
      </p:sp>
    </p:spTree>
    <p:extLst>
      <p:ext uri="{BB962C8B-B14F-4D97-AF65-F5344CB8AC3E}">
        <p14:creationId xmlns:p14="http://schemas.microsoft.com/office/powerpoint/2010/main" val="2551984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idx="1"/>
          </p:nvPr>
        </p:nvSpPr>
        <p:spPr>
          <a:noFill/>
          <a:ln/>
        </p:spPr>
        <p:txBody>
          <a:bodyPr/>
          <a:lstStyle/>
          <a:p>
            <a:r>
              <a:rPr lang="zh-CN" altLang="en-US" dirty="0">
                <a:ea typeface="黑体" pitchFamily="49" charset="-122"/>
              </a:rPr>
              <a:t>一旦样本数据确定后，分割超平面之和几个关键点有关，这几个样本支撑了这个分割模型，叫做支持向量。</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超平面方程就是</a:t>
            </a:r>
            <a:r>
              <a:rPr lang="en-US" altLang="zh-CN" dirty="0" err="1">
                <a:ea typeface="黑体" pitchFamily="49" charset="-122"/>
              </a:rPr>
              <a:t>wx+b</a:t>
            </a:r>
            <a:r>
              <a:rPr lang="en-US" altLang="zh-CN" dirty="0">
                <a:ea typeface="黑体" pitchFamily="49" charset="-122"/>
              </a:rPr>
              <a:t>=0</a:t>
            </a:r>
          </a:p>
          <a:p>
            <a:endParaRPr lang="en-US" altLang="zh-CN" dirty="0">
              <a:ea typeface="黑体" pitchFamily="49" charset="-122"/>
            </a:endParaRPr>
          </a:p>
          <a:p>
            <a:r>
              <a:rPr lang="zh-CN" altLang="en-US" dirty="0">
                <a:ea typeface="黑体" pitchFamily="49" charset="-122"/>
              </a:rPr>
              <a:t>间隔是</a:t>
            </a:r>
            <a:r>
              <a:rPr lang="en-US" altLang="zh-CN" dirty="0">
                <a:ea typeface="黑体" pitchFamily="49" charset="-122"/>
              </a:rPr>
              <a:t>2</a:t>
            </a:r>
            <a:r>
              <a:rPr lang="zh-CN" altLang="en-US" dirty="0">
                <a:ea typeface="黑体" pitchFamily="49" charset="-122"/>
              </a:rPr>
              <a:t>除以范数。为什么是这个？其实是数据和模型归一化后的结果，后面会讲</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支持向量机：决定最好的分界线的样本叫做支持向量，支持向量机指用支持向量构建的分类器</a:t>
            </a:r>
            <a:endParaRPr lang="en-US" altLang="zh-CN" dirty="0">
              <a:ea typeface="黑体" pitchFamily="49" charset="-122"/>
            </a:endParaRPr>
          </a:p>
        </p:txBody>
      </p:sp>
      <p:sp>
        <p:nvSpPr>
          <p:cNvPr id="142340" name="灯片编号占位符 3"/>
          <p:cNvSpPr>
            <a:spLocks noGrp="1"/>
          </p:cNvSpPr>
          <p:nvPr>
            <p:ph type="sldNum" sz="quarter" idx="5"/>
          </p:nvPr>
        </p:nvSpPr>
        <p:spPr>
          <a:noFill/>
        </p:spPr>
        <p:txBody>
          <a:bodyPr/>
          <a:lstStyle/>
          <a:p>
            <a:fld id="{52F5BE0E-A075-4D50-BA71-FCEDE201F743}" type="slidenum">
              <a:rPr lang="en-US" altLang="zh-CN" smtClean="0">
                <a:ea typeface="黑体" pitchFamily="49" charset="-122"/>
              </a:rPr>
              <a:pPr/>
              <a:t>14</a:t>
            </a:fld>
            <a:endParaRPr lang="en-US" altLang="zh-CN">
              <a:ea typeface="黑体" pitchFamily="49" charset="-122"/>
            </a:endParaRPr>
          </a:p>
        </p:txBody>
      </p:sp>
    </p:spTree>
    <p:extLst>
      <p:ext uri="{BB962C8B-B14F-4D97-AF65-F5344CB8AC3E}">
        <p14:creationId xmlns:p14="http://schemas.microsoft.com/office/powerpoint/2010/main" val="2545150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idx="1"/>
          </p:nvPr>
        </p:nvSpPr>
        <p:spPr>
          <a:noFill/>
          <a:ln/>
        </p:spPr>
        <p:txBody>
          <a:bodyPr/>
          <a:lstStyle/>
          <a:p>
            <a:r>
              <a:rPr lang="zh-CN" altLang="en-US" dirty="0">
                <a:ea typeface="黑体" pitchFamily="49" charset="-122"/>
              </a:rPr>
              <a:t>下面引出函数间隔，距离分界面有远有近</a:t>
            </a:r>
            <a:endParaRPr lang="en-US" altLang="zh-CN" dirty="0">
              <a:ea typeface="黑体" pitchFamily="49" charset="-122"/>
            </a:endParaRPr>
          </a:p>
          <a:p>
            <a:endParaRPr lang="en-US" altLang="zh-CN" dirty="0">
              <a:ea typeface="黑体" pitchFamily="49" charset="-122"/>
            </a:endParaRPr>
          </a:p>
          <a:p>
            <a:r>
              <a:rPr lang="en-US" altLang="zh-CN" dirty="0" err="1">
                <a:ea typeface="黑体" pitchFamily="49" charset="-122"/>
              </a:rPr>
              <a:t>Wx+b</a:t>
            </a:r>
            <a:r>
              <a:rPr lang="zh-CN" altLang="en-US" dirty="0">
                <a:ea typeface="黑体" pitchFamily="49" charset="-122"/>
              </a:rPr>
              <a:t>的值就是一个点到分界线的距离</a:t>
            </a:r>
            <a:endParaRPr lang="en-US" altLang="zh-CN" dirty="0">
              <a:ea typeface="黑体" pitchFamily="49" charset="-122"/>
            </a:endParaRPr>
          </a:p>
          <a:p>
            <a:r>
              <a:rPr lang="zh-CN" altLang="en-US" dirty="0">
                <a:ea typeface="黑体" pitchFamily="49" charset="-122"/>
              </a:rPr>
              <a:t>图中的“</a:t>
            </a:r>
            <a:r>
              <a:rPr lang="en-US" altLang="zh-CN" dirty="0">
                <a:ea typeface="黑体" pitchFamily="49" charset="-122"/>
              </a:rPr>
              <a:t>-</a:t>
            </a:r>
            <a:r>
              <a:rPr lang="zh-CN" altLang="en-US" dirty="0">
                <a:ea typeface="黑体" pitchFamily="49" charset="-122"/>
              </a:rPr>
              <a:t>（</a:t>
            </a:r>
            <a:r>
              <a:rPr lang="en-US" altLang="zh-CN" dirty="0" err="1">
                <a:ea typeface="黑体" pitchFamily="49" charset="-122"/>
              </a:rPr>
              <a:t>wx+b</a:t>
            </a:r>
            <a:r>
              <a:rPr lang="zh-CN" altLang="en-US" dirty="0">
                <a:ea typeface="黑体" pitchFamily="49" charset="-122"/>
              </a:rPr>
              <a:t>）”是因为距离是正数，</a:t>
            </a:r>
            <a:r>
              <a:rPr lang="en-US" altLang="zh-CN" dirty="0" err="1">
                <a:ea typeface="黑体" pitchFamily="49" charset="-122"/>
              </a:rPr>
              <a:t>wx+b</a:t>
            </a:r>
            <a:r>
              <a:rPr lang="zh-CN" altLang="en-US" dirty="0">
                <a:ea typeface="黑体" pitchFamily="49" charset="-122"/>
              </a:rPr>
              <a:t>小于</a:t>
            </a:r>
            <a:r>
              <a:rPr lang="en-US" altLang="zh-CN" dirty="0">
                <a:ea typeface="黑体" pitchFamily="49" charset="-122"/>
              </a:rPr>
              <a:t>0</a:t>
            </a:r>
            <a:r>
              <a:rPr lang="zh-CN" altLang="en-US" dirty="0">
                <a:ea typeface="黑体" pitchFamily="49" charset="-122"/>
              </a:rPr>
              <a:t>的时候加个符号</a:t>
            </a:r>
          </a:p>
        </p:txBody>
      </p:sp>
      <p:sp>
        <p:nvSpPr>
          <p:cNvPr id="142340" name="灯片编号占位符 3"/>
          <p:cNvSpPr>
            <a:spLocks noGrp="1"/>
          </p:cNvSpPr>
          <p:nvPr>
            <p:ph type="sldNum" sz="quarter" idx="5"/>
          </p:nvPr>
        </p:nvSpPr>
        <p:spPr>
          <a:noFill/>
        </p:spPr>
        <p:txBody>
          <a:bodyPr/>
          <a:lstStyle/>
          <a:p>
            <a:fld id="{52F5BE0E-A075-4D50-BA71-FCEDE201F743}" type="slidenum">
              <a:rPr lang="en-US" altLang="zh-CN" smtClean="0">
                <a:ea typeface="黑体" pitchFamily="49" charset="-122"/>
              </a:rPr>
              <a:pPr/>
              <a:t>15</a:t>
            </a:fld>
            <a:endParaRPr lang="en-US" altLang="zh-CN">
              <a:ea typeface="黑体" pitchFamily="49" charset="-122"/>
            </a:endParaRPr>
          </a:p>
        </p:txBody>
      </p:sp>
    </p:spTree>
    <p:extLst>
      <p:ext uri="{BB962C8B-B14F-4D97-AF65-F5344CB8AC3E}">
        <p14:creationId xmlns:p14="http://schemas.microsoft.com/office/powerpoint/2010/main" val="2939733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最大化几何间隔，</a:t>
            </a:r>
            <a:endParaRPr kumimoji="1" lang="en-US" altLang="zh-CN" dirty="0"/>
          </a:p>
          <a:p>
            <a:endParaRPr kumimoji="1" lang="en-US" altLang="zh-CN" dirty="0"/>
          </a:p>
          <a:p>
            <a:r>
              <a:rPr kumimoji="1" lang="zh-CN" altLang="en-US" dirty="0"/>
              <a:t>那什么叫最大化几何间隔？所有数据点的几何间隔的最小值最大</a:t>
            </a:r>
          </a:p>
        </p:txBody>
      </p:sp>
      <p:sp>
        <p:nvSpPr>
          <p:cNvPr id="4" name="灯片编号占位符 3"/>
          <p:cNvSpPr>
            <a:spLocks noGrp="1"/>
          </p:cNvSpPr>
          <p:nvPr>
            <p:ph type="sldNum" sz="quarter" idx="5"/>
          </p:nvPr>
        </p:nvSpPr>
        <p:spPr/>
        <p:txBody>
          <a:bodyPr/>
          <a:lstStyle/>
          <a:p>
            <a:fld id="{D50AF6DD-051E-413B-8808-23D5AB3BD9E4}" type="slidenum">
              <a:rPr lang="en-US" smtClean="0"/>
              <a:pPr/>
              <a:t>17</a:t>
            </a:fld>
            <a:endParaRPr lang="en-US"/>
          </a:p>
        </p:txBody>
      </p:sp>
    </p:spTree>
    <p:extLst>
      <p:ext uri="{BB962C8B-B14F-4D97-AF65-F5344CB8AC3E}">
        <p14:creationId xmlns:p14="http://schemas.microsoft.com/office/powerpoint/2010/main" val="2262393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kumimoji="1" lang="zh-CN" altLang="en-US" dirty="0"/>
                  <a:t>为啥加</a:t>
                </a:r>
                <a:r>
                  <a:rPr kumimoji="1" lang="en-US" altLang="zh-CN" dirty="0"/>
                  <a:t>1/2?</a:t>
                </a:r>
                <a:r>
                  <a:rPr kumimoji="1" lang="zh-CN" altLang="en-US" dirty="0"/>
                  <a:t>为了后续计算方便</a:t>
                </a:r>
                <a:endParaRPr kumimoji="1" lang="en-US" altLang="zh-CN" dirty="0"/>
              </a:p>
              <a:p>
                <a:endParaRPr kumimoji="1" lang="en-US" altLang="zh-CN" dirty="0"/>
              </a:p>
              <a:p>
                <a:pPr/>
                <a14:m>
                  <m:oMathPara xmlns:m="http://schemas.openxmlformats.org/officeDocument/2006/math">
                    <m:oMathParaPr>
                      <m:jc m:val="left"/>
                    </m:oMathParaPr>
                    <m:oMath xmlns:m="http://schemas.openxmlformats.org/officeDocument/2006/math">
                      <m:sSub>
                        <m:sSubPr>
                          <m:ctrlPr>
                            <a:rPr kumimoji="1" lang="en-US" altLang="zh-CN" sz="1200" b="0" i="1" smtClean="0">
                              <a:latin typeface="Cambria Math" panose="02040503050406030204" pitchFamily="18" charset="0"/>
                            </a:rPr>
                          </m:ctrlPr>
                        </m:sSubPr>
                        <m:e>
                          <m:r>
                            <a:rPr kumimoji="1" lang="en-US" altLang="zh-CN" sz="1200" b="0" i="1" smtClean="0">
                              <a:latin typeface="Cambria Math" panose="02040503050406030204" pitchFamily="18" charset="0"/>
                            </a:rPr>
                            <m:t>𝑦</m:t>
                          </m:r>
                        </m:e>
                        <m:sub>
                          <m:r>
                            <a:rPr kumimoji="1" lang="en-US" altLang="zh-CN" sz="1200" b="0" i="1" smtClean="0">
                              <a:latin typeface="Cambria Math" panose="02040503050406030204" pitchFamily="18" charset="0"/>
                            </a:rPr>
                            <m:t>𝑖</m:t>
                          </m:r>
                        </m:sub>
                      </m:sSub>
                      <m:d>
                        <m:dPr>
                          <m:ctrlPr>
                            <a:rPr kumimoji="1" lang="en-US" altLang="zh-CN" sz="1200" b="0" i="1" smtClean="0">
                              <a:latin typeface="Cambria Math" panose="02040503050406030204" pitchFamily="18" charset="0"/>
                            </a:rPr>
                          </m:ctrlPr>
                        </m:dPr>
                        <m:e>
                          <m:r>
                            <a:rPr kumimoji="1" lang="en-US" altLang="zh-CN" sz="1200" b="0" i="1" smtClean="0">
                              <a:latin typeface="Cambria Math" panose="02040503050406030204" pitchFamily="18" charset="0"/>
                            </a:rPr>
                            <m:t>𝑤</m:t>
                          </m:r>
                          <m:sSub>
                            <m:sSubPr>
                              <m:ctrlPr>
                                <a:rPr kumimoji="1" lang="en-US" altLang="zh-CN" sz="1200" i="1">
                                  <a:latin typeface="Cambria Math" panose="02040503050406030204" pitchFamily="18" charset="0"/>
                                </a:rPr>
                              </m:ctrlPr>
                            </m:sSubPr>
                            <m:e>
                              <m:r>
                                <a:rPr kumimoji="1" lang="en-US" altLang="zh-CN" sz="1200" i="1" smtClean="0">
                                  <a:latin typeface="Cambria Math" panose="02040503050406030204" pitchFamily="18" charset="0"/>
                                  <a:ea typeface="Cambria Math" panose="02040503050406030204" pitchFamily="18" charset="0"/>
                                </a:rPr>
                                <m:t>∙</m:t>
                              </m:r>
                              <m:r>
                                <a:rPr kumimoji="1" lang="en-US" altLang="zh-CN" sz="1200" b="0" i="1" smtClean="0">
                                  <a:latin typeface="Cambria Math" panose="02040503050406030204" pitchFamily="18" charset="0"/>
                                  <a:ea typeface="Cambria Math" panose="02040503050406030204" pitchFamily="18" charset="0"/>
                                </a:rPr>
                                <m:t>𝑥</m:t>
                              </m:r>
                            </m:e>
                            <m:sub>
                              <m:r>
                                <a:rPr kumimoji="1" lang="en-US" altLang="zh-CN" sz="1200" i="1">
                                  <a:latin typeface="Cambria Math" panose="02040503050406030204" pitchFamily="18" charset="0"/>
                                </a:rPr>
                                <m:t>𝑖</m:t>
                              </m:r>
                            </m:sub>
                          </m:sSub>
                          <m:r>
                            <a:rPr kumimoji="1" lang="en-US" altLang="zh-CN" sz="1200" b="0" i="1" smtClean="0">
                              <a:latin typeface="Cambria Math" panose="02040503050406030204" pitchFamily="18" charset="0"/>
                            </a:rPr>
                            <m:t>+</m:t>
                          </m:r>
                          <m:r>
                            <a:rPr kumimoji="1" lang="en-US" altLang="zh-CN" sz="1200" b="0" i="1" smtClean="0">
                              <a:latin typeface="Cambria Math" panose="02040503050406030204" pitchFamily="18" charset="0"/>
                            </a:rPr>
                            <m:t>𝑏</m:t>
                          </m:r>
                        </m:e>
                      </m:d>
                      <m:r>
                        <a:rPr kumimoji="1" lang="en-US" altLang="zh-CN" sz="1200" b="0" i="1" smtClean="0">
                          <a:latin typeface="Cambria Math" panose="02040503050406030204" pitchFamily="18" charset="0"/>
                        </a:rPr>
                        <m:t>=</m:t>
                      </m:r>
                      <m:r>
                        <a:rPr kumimoji="1" lang="en-US" altLang="zh-CN" sz="1200" b="0" i="1" smtClean="0">
                          <a:latin typeface="Cambria Math" panose="02040503050406030204" pitchFamily="18" charset="0"/>
                          <a:ea typeface="Cambria Math" panose="02040503050406030204" pitchFamily="18" charset="0"/>
                        </a:rPr>
                        <m:t>1</m:t>
                      </m:r>
                      <m:r>
                        <a:rPr kumimoji="1" lang="zh-CN" altLang="en-US" sz="1200" b="0" i="1" smtClean="0">
                          <a:latin typeface="Cambria Math" panose="02040503050406030204" pitchFamily="18" charset="0"/>
                          <a:ea typeface="Cambria Math" panose="02040503050406030204" pitchFamily="18" charset="0"/>
                        </a:rPr>
                        <m:t>的地方就是支持向量</m:t>
                      </m:r>
                    </m:oMath>
                  </m:oMathPara>
                </a14:m>
                <a:endParaRPr kumimoji="1" lang="en-US" altLang="zh-CN" dirty="0"/>
              </a:p>
              <a:p>
                <a:endParaRPr kumimoji="1" lang="en-US" altLang="zh-CN" dirty="0"/>
              </a:p>
              <a:p>
                <a:r>
                  <a:rPr kumimoji="1" lang="zh-CN" altLang="en-US" dirty="0"/>
                  <a:t>凸函数和凹函数其实是一会儿事，但在机器学习里一般叫凸函数</a:t>
                </a:r>
              </a:p>
            </p:txBody>
          </p:sp>
        </mc:Choice>
        <mc:Fallback xmlns="">
          <p:sp>
            <p:nvSpPr>
              <p:cNvPr id="3" name="备注占位符 2"/>
              <p:cNvSpPr>
                <a:spLocks noGrp="1"/>
              </p:cNvSpPr>
              <p:nvPr>
                <p:ph type="body" idx="1"/>
              </p:nvPr>
            </p:nvSpPr>
            <p:spPr/>
            <p:txBody>
              <a:bodyPr/>
              <a:lstStyle/>
              <a:p>
                <a:r>
                  <a:rPr kumimoji="1" lang="zh-CN" altLang="en-US" dirty="0"/>
                  <a:t>为啥加</a:t>
                </a:r>
                <a:r>
                  <a:rPr kumimoji="1" lang="en-US" altLang="zh-CN" dirty="0"/>
                  <a:t>1/2?</a:t>
                </a:r>
                <a:r>
                  <a:rPr kumimoji="1" lang="zh-CN" altLang="en-US" dirty="0"/>
                  <a:t>为了后续计算方便</a:t>
                </a:r>
                <a:endParaRPr kumimoji="1" lang="en-US" altLang="zh-CN" dirty="0"/>
              </a:p>
              <a:p>
                <a:endParaRPr kumimoji="1" lang="en-US" altLang="zh-CN" dirty="0"/>
              </a:p>
              <a:p>
                <a:pPr/>
                <a:r>
                  <a:rPr kumimoji="1" lang="en-US" altLang="zh-CN" sz="1200" b="0" i="0">
                    <a:latin typeface="Cambria Math" panose="02040503050406030204" pitchFamily="18" charset="0"/>
                  </a:rPr>
                  <a:t>𝑦_𝑖 (𝑤〖</a:t>
                </a:r>
                <a:r>
                  <a:rPr kumimoji="1" lang="en-US" altLang="zh-CN" sz="1200" i="0">
                    <a:latin typeface="Cambria Math" panose="02040503050406030204" pitchFamily="18" charset="0"/>
                    <a:ea typeface="Cambria Math" panose="02040503050406030204" pitchFamily="18" charset="0"/>
                  </a:rPr>
                  <a:t>∙</a:t>
                </a:r>
                <a:r>
                  <a:rPr kumimoji="1" lang="en-US" altLang="zh-CN" sz="1200" b="0" i="0">
                    <a:latin typeface="Cambria Math" panose="02040503050406030204" pitchFamily="18" charset="0"/>
                    <a:ea typeface="Cambria Math" panose="02040503050406030204" pitchFamily="18" charset="0"/>
                  </a:rPr>
                  <a:t>𝑥〗_</a:t>
                </a:r>
                <a:r>
                  <a:rPr kumimoji="1" lang="en-US" altLang="zh-CN" sz="1200" i="0">
                    <a:latin typeface="Cambria Math" panose="02040503050406030204" pitchFamily="18" charset="0"/>
                  </a:rPr>
                  <a:t>𝑖</a:t>
                </a:r>
                <a:r>
                  <a:rPr kumimoji="1" lang="en-US" altLang="zh-CN" sz="1200" b="0" i="0">
                    <a:latin typeface="Cambria Math" panose="02040503050406030204" pitchFamily="18" charset="0"/>
                  </a:rPr>
                  <a:t>+𝑏)=</a:t>
                </a:r>
                <a:r>
                  <a:rPr kumimoji="1" lang="en-US" altLang="zh-CN" sz="1200" b="0" i="0">
                    <a:latin typeface="Cambria Math" panose="02040503050406030204" pitchFamily="18" charset="0"/>
                    <a:ea typeface="Cambria Math" panose="02040503050406030204" pitchFamily="18" charset="0"/>
                  </a:rPr>
                  <a:t>1</a:t>
                </a:r>
                <a:r>
                  <a:rPr kumimoji="1" lang="zh-CN" altLang="en-US" sz="1200" b="0" i="0">
                    <a:latin typeface="Cambria Math" panose="02040503050406030204" pitchFamily="18" charset="0"/>
                    <a:ea typeface="Cambria Math" panose="02040503050406030204" pitchFamily="18" charset="0"/>
                  </a:rPr>
                  <a:t>的地方就是支持向量</a:t>
                </a:r>
                <a:endParaRPr kumimoji="1" lang="en-US" altLang="zh-CN" dirty="0"/>
              </a:p>
              <a:p>
                <a:pPr/>
                <a:endParaRPr kumimoji="1" lang="en-US" altLang="zh-CN" dirty="0"/>
              </a:p>
              <a:p>
                <a:pPr/>
                <a:r>
                  <a:rPr kumimoji="1" lang="zh-CN" altLang="en-US" dirty="0"/>
                  <a:t>凸函数和凹函数其实是一会儿事，但在机器学习里一般叫凸函数</a:t>
                </a:r>
              </a:p>
            </p:txBody>
          </p:sp>
        </mc:Fallback>
      </mc:AlternateContent>
      <p:sp>
        <p:nvSpPr>
          <p:cNvPr id="4" name="灯片编号占位符 3"/>
          <p:cNvSpPr>
            <a:spLocks noGrp="1"/>
          </p:cNvSpPr>
          <p:nvPr>
            <p:ph type="sldNum" sz="quarter" idx="5"/>
          </p:nvPr>
        </p:nvSpPr>
        <p:spPr/>
        <p:txBody>
          <a:bodyPr/>
          <a:lstStyle/>
          <a:p>
            <a:fld id="{D50AF6DD-051E-413B-8808-23D5AB3BD9E4}" type="slidenum">
              <a:rPr lang="en-US" smtClean="0"/>
              <a:pPr/>
              <a:t>18</a:t>
            </a:fld>
            <a:endParaRPr lang="en-US"/>
          </a:p>
        </p:txBody>
      </p:sp>
    </p:spTree>
    <p:extLst>
      <p:ext uri="{BB962C8B-B14F-4D97-AF65-F5344CB8AC3E}">
        <p14:creationId xmlns:p14="http://schemas.microsoft.com/office/powerpoint/2010/main" val="7493758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19</a:t>
            </a:fld>
            <a:endParaRPr lang="en-US"/>
          </a:p>
        </p:txBody>
      </p:sp>
    </p:spTree>
    <p:extLst>
      <p:ext uri="{BB962C8B-B14F-4D97-AF65-F5344CB8AC3E}">
        <p14:creationId xmlns:p14="http://schemas.microsoft.com/office/powerpoint/2010/main" val="3738397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a:t>
            </a:r>
            <a:r>
              <a:rPr lang="en-US" altLang="zh-CN" dirty="0"/>
              <a:t>12</a:t>
            </a:r>
            <a:r>
              <a:rPr lang="zh-CN" altLang="en-US" dirty="0"/>
              <a:t>堂课第一节结束</a:t>
            </a:r>
          </a:p>
          <a:p>
            <a:endParaRPr lang="en-US" altLang="zh-CN" dirty="0"/>
          </a:p>
          <a:p>
            <a:r>
              <a:rPr lang="en-US" altLang="zh-CN" dirty="0"/>
              <a:t>N</a:t>
            </a:r>
            <a:r>
              <a:rPr lang="zh-CN" altLang="en-US" dirty="0"/>
              <a:t>是样本数</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D50AF6DD-051E-413B-8808-23D5AB3BD9E4}" type="slidenum">
              <a:rPr lang="en-US" smtClean="0"/>
              <a:pPr/>
              <a:t>20</a:t>
            </a:fld>
            <a:endParaRPr lang="en-US"/>
          </a:p>
        </p:txBody>
      </p:sp>
    </p:spTree>
    <p:extLst>
      <p:ext uri="{BB962C8B-B14F-4D97-AF65-F5344CB8AC3E}">
        <p14:creationId xmlns:p14="http://schemas.microsoft.com/office/powerpoint/2010/main" val="32288794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normAutofit/>
              </a:bodyPr>
              <a:lstStyle/>
              <a:p>
                <a:r>
                  <a:rPr lang="en-US" altLang="zh-CN" dirty="0"/>
                  <a:t>L</a:t>
                </a:r>
                <a:r>
                  <a:rPr lang="zh-CN" altLang="en-US" dirty="0"/>
                  <a:t>和原始的式子什么关系呢？</a:t>
                </a:r>
                <a:endParaRPr lang="en-US" altLang="zh-CN" dirty="0"/>
              </a:p>
              <a:p>
                <a:r>
                  <a:rPr lang="zh-CN" altLang="en-US" dirty="0"/>
                  <a:t>当满足约束条件时，红框部分小于</a:t>
                </a:r>
                <a:r>
                  <a:rPr lang="en-US" altLang="zh-CN" dirty="0"/>
                  <a:t>0</a:t>
                </a:r>
                <a:r>
                  <a:rPr lang="zh-CN" altLang="en-US" dirty="0"/>
                  <a:t>，那中</a:t>
                </a:r>
                <a:r>
                  <a:rPr lang="en-US" altLang="zh-CN" dirty="0"/>
                  <a:t>alpha</a:t>
                </a:r>
                <a:r>
                  <a:rPr lang="zh-CN" altLang="en-US" dirty="0"/>
                  <a:t>全是</a:t>
                </a:r>
                <a:r>
                  <a:rPr lang="en-US" altLang="zh-CN" dirty="0"/>
                  <a:t>0</a:t>
                </a:r>
                <a:r>
                  <a:rPr lang="zh-CN" altLang="en-US" dirty="0"/>
                  <a:t>的时候</a:t>
                </a:r>
                <a14:m>
                  <m:oMath xmlns:m="http://schemas.openxmlformats.org/officeDocument/2006/math">
                    <m:func>
                      <m:funcPr>
                        <m:ctrlPr>
                          <a:rPr kumimoji="1" lang="en-US" altLang="zh-CN" sz="1200" i="1" smtClean="0">
                            <a:latin typeface="Cambria Math" panose="02040503050406030204" pitchFamily="18" charset="0"/>
                          </a:rPr>
                        </m:ctrlPr>
                      </m:funcPr>
                      <m:fName>
                        <m:limLow>
                          <m:limLowPr>
                            <m:ctrlPr>
                              <a:rPr kumimoji="1" lang="en-US" altLang="zh-CN" sz="1200" i="1" smtClean="0">
                                <a:latin typeface="Cambria Math" panose="02040503050406030204" pitchFamily="18" charset="0"/>
                              </a:rPr>
                            </m:ctrlPr>
                          </m:limLowPr>
                          <m:e>
                            <m:r>
                              <m:rPr>
                                <m:sty m:val="p"/>
                              </m:rPr>
                              <a:rPr kumimoji="1" lang="en-US" altLang="zh-CN" sz="1200" i="0" smtClean="0">
                                <a:latin typeface="Cambria Math" panose="02040503050406030204" pitchFamily="18" charset="0"/>
                              </a:rPr>
                              <m:t>max</m:t>
                            </m:r>
                          </m:e>
                          <m:lim>
                            <m:r>
                              <a:rPr kumimoji="1" lang="en-US" altLang="zh-CN" sz="1200" i="1">
                                <a:latin typeface="Cambria Math" panose="02040503050406030204" pitchFamily="18" charset="0"/>
                                <a:ea typeface="Cambria Math" panose="02040503050406030204" pitchFamily="18" charset="0"/>
                              </a:rPr>
                              <m:t>𝛼</m:t>
                            </m:r>
                          </m:lim>
                        </m:limLow>
                      </m:fName>
                      <m:e>
                        <m:r>
                          <a:rPr kumimoji="1" lang="en-US" altLang="zh-CN" sz="1200" i="1">
                            <a:latin typeface="Cambria Math" panose="02040503050406030204" pitchFamily="18" charset="0"/>
                          </a:rPr>
                          <m:t>𝐿</m:t>
                        </m:r>
                        <m:d>
                          <m:dPr>
                            <m:ctrlPr>
                              <a:rPr kumimoji="1" lang="en-US" altLang="zh-CN" sz="1200" i="1">
                                <a:latin typeface="Cambria Math" panose="02040503050406030204" pitchFamily="18" charset="0"/>
                              </a:rPr>
                            </m:ctrlPr>
                          </m:dPr>
                          <m:e>
                            <m:r>
                              <a:rPr kumimoji="1" lang="en-US" altLang="zh-CN" sz="1200" i="1">
                                <a:latin typeface="Cambria Math" panose="02040503050406030204" pitchFamily="18" charset="0"/>
                              </a:rPr>
                              <m:t>𝑤</m:t>
                            </m:r>
                            <m:r>
                              <a:rPr kumimoji="1" lang="en-US" altLang="zh-CN" sz="1200" i="1">
                                <a:latin typeface="Cambria Math" panose="02040503050406030204" pitchFamily="18" charset="0"/>
                              </a:rPr>
                              <m:t>,</m:t>
                            </m:r>
                            <m:r>
                              <a:rPr kumimoji="1" lang="en-US" altLang="zh-CN" sz="1200" i="1">
                                <a:latin typeface="Cambria Math" panose="02040503050406030204" pitchFamily="18" charset="0"/>
                              </a:rPr>
                              <m:t>𝑏</m:t>
                            </m:r>
                            <m:r>
                              <a:rPr kumimoji="1" lang="en-US" altLang="zh-CN" sz="1200" i="1">
                                <a:latin typeface="Cambria Math" panose="02040503050406030204" pitchFamily="18" charset="0"/>
                              </a:rPr>
                              <m:t>,</m:t>
                            </m:r>
                            <m:r>
                              <a:rPr kumimoji="1" lang="en-US" altLang="zh-CN" sz="1200" i="1">
                                <a:latin typeface="Cambria Math" panose="02040503050406030204" pitchFamily="18" charset="0"/>
                                <a:ea typeface="Cambria Math" panose="02040503050406030204" pitchFamily="18" charset="0"/>
                              </a:rPr>
                              <m:t>𝛼</m:t>
                            </m:r>
                          </m:e>
                        </m:d>
                      </m:e>
                    </m:func>
                  </m:oMath>
                </a14:m>
                <a:r>
                  <a:rPr lang="zh-CN" altLang="en-US" dirty="0"/>
                  <a:t>最大，正好就是</a:t>
                </a:r>
                <a:r>
                  <a:rPr lang="en-US" altLang="zh-CN" dirty="0"/>
                  <a:t>1/2</a:t>
                </a:r>
                <a:r>
                  <a:rPr lang="zh-CN" altLang="en-US" baseline="0" dirty="0"/>
                  <a:t> </a:t>
                </a:r>
                <a:r>
                  <a:rPr lang="en-US" altLang="zh-CN" baseline="0" dirty="0"/>
                  <a:t>||w||^2</a:t>
                </a:r>
                <a:endParaRPr lang="en-US" altLang="zh-CN" dirty="0"/>
              </a:p>
              <a:p>
                <a:r>
                  <a:rPr lang="zh-CN" altLang="en-US" dirty="0"/>
                  <a:t>当不满足约束时，红框部分大于</a:t>
                </a:r>
                <a:r>
                  <a:rPr lang="en-US" altLang="zh-CN" dirty="0"/>
                  <a:t>0</a:t>
                </a:r>
                <a:r>
                  <a:rPr lang="zh-CN" altLang="en-US" dirty="0"/>
                  <a:t>，那就是</a:t>
                </a:r>
                <a14:m>
                  <m:oMath xmlns:m="http://schemas.openxmlformats.org/officeDocument/2006/math">
                    <m:func>
                      <m:funcPr>
                        <m:ctrlPr>
                          <a:rPr kumimoji="1" lang="en-US" altLang="zh-CN" sz="1200" i="1" smtClean="0">
                            <a:latin typeface="Cambria Math" panose="02040503050406030204" pitchFamily="18" charset="0"/>
                          </a:rPr>
                        </m:ctrlPr>
                      </m:funcPr>
                      <m:fName>
                        <m:limLow>
                          <m:limLowPr>
                            <m:ctrlPr>
                              <a:rPr kumimoji="1" lang="en-US" altLang="zh-CN" sz="1200" i="1" smtClean="0">
                                <a:latin typeface="Cambria Math" panose="02040503050406030204" pitchFamily="18" charset="0"/>
                              </a:rPr>
                            </m:ctrlPr>
                          </m:limLowPr>
                          <m:e>
                            <m:r>
                              <m:rPr>
                                <m:sty m:val="p"/>
                              </m:rPr>
                              <a:rPr kumimoji="1" lang="en-US" altLang="zh-CN" sz="1200" i="0" smtClean="0">
                                <a:latin typeface="Cambria Math" panose="02040503050406030204" pitchFamily="18" charset="0"/>
                              </a:rPr>
                              <m:t>max</m:t>
                            </m:r>
                          </m:e>
                          <m:lim>
                            <m:r>
                              <a:rPr kumimoji="1" lang="en-US" altLang="zh-CN" sz="1200" i="1">
                                <a:latin typeface="Cambria Math" panose="02040503050406030204" pitchFamily="18" charset="0"/>
                                <a:ea typeface="Cambria Math" panose="02040503050406030204" pitchFamily="18" charset="0"/>
                              </a:rPr>
                              <m:t>𝛼</m:t>
                            </m:r>
                          </m:lim>
                        </m:limLow>
                      </m:fName>
                      <m:e>
                        <m:r>
                          <a:rPr kumimoji="1" lang="en-US" altLang="zh-CN" sz="1200" i="1">
                            <a:latin typeface="Cambria Math" panose="02040503050406030204" pitchFamily="18" charset="0"/>
                          </a:rPr>
                          <m:t>𝐿</m:t>
                        </m:r>
                        <m:d>
                          <m:dPr>
                            <m:ctrlPr>
                              <a:rPr kumimoji="1" lang="en-US" altLang="zh-CN" sz="1200" i="1">
                                <a:latin typeface="Cambria Math" panose="02040503050406030204" pitchFamily="18" charset="0"/>
                              </a:rPr>
                            </m:ctrlPr>
                          </m:dPr>
                          <m:e>
                            <m:r>
                              <a:rPr kumimoji="1" lang="en-US" altLang="zh-CN" sz="1200" i="1">
                                <a:latin typeface="Cambria Math" panose="02040503050406030204" pitchFamily="18" charset="0"/>
                              </a:rPr>
                              <m:t>𝑤</m:t>
                            </m:r>
                            <m:r>
                              <a:rPr kumimoji="1" lang="en-US" altLang="zh-CN" sz="1200" i="1">
                                <a:latin typeface="Cambria Math" panose="02040503050406030204" pitchFamily="18" charset="0"/>
                              </a:rPr>
                              <m:t>,</m:t>
                            </m:r>
                            <m:r>
                              <a:rPr kumimoji="1" lang="en-US" altLang="zh-CN" sz="1200" i="1">
                                <a:latin typeface="Cambria Math" panose="02040503050406030204" pitchFamily="18" charset="0"/>
                              </a:rPr>
                              <m:t>𝑏</m:t>
                            </m:r>
                            <m:r>
                              <a:rPr kumimoji="1" lang="en-US" altLang="zh-CN" sz="1200" i="1">
                                <a:latin typeface="Cambria Math" panose="02040503050406030204" pitchFamily="18" charset="0"/>
                              </a:rPr>
                              <m:t>,</m:t>
                            </m:r>
                            <m:r>
                              <a:rPr kumimoji="1" lang="en-US" altLang="zh-CN" sz="1200" i="1">
                                <a:latin typeface="Cambria Math" panose="02040503050406030204" pitchFamily="18" charset="0"/>
                                <a:ea typeface="Cambria Math" panose="02040503050406030204" pitchFamily="18" charset="0"/>
                              </a:rPr>
                              <m:t>𝛼</m:t>
                            </m:r>
                          </m:e>
                        </m:d>
                      </m:e>
                    </m:func>
                  </m:oMath>
                </a14:m>
                <a:r>
                  <a:rPr lang="zh-CN" altLang="en-US" dirty="0"/>
                  <a:t>是无穷了</a:t>
                </a:r>
              </a:p>
            </p:txBody>
          </p:sp>
        </mc:Choice>
        <mc:Fallback xmlns="">
          <p:sp>
            <p:nvSpPr>
              <p:cNvPr id="3" name="备注占位符 2"/>
              <p:cNvSpPr>
                <a:spLocks noGrp="1"/>
              </p:cNvSpPr>
              <p:nvPr>
                <p:ph type="body" idx="1"/>
              </p:nvPr>
            </p:nvSpPr>
            <p:spPr/>
            <p:txBody>
              <a:bodyPr>
                <a:normAutofit/>
              </a:bodyPr>
              <a:lstStyle/>
              <a:p>
                <a:r>
                  <a:rPr lang="en-US" altLang="zh-CN" dirty="0"/>
                  <a:t>L</a:t>
                </a:r>
                <a:r>
                  <a:rPr lang="zh-CN" altLang="en-US" dirty="0"/>
                  <a:t>和原始的式子什么关系呢？</a:t>
                </a:r>
                <a:endParaRPr lang="en-US" altLang="zh-CN" dirty="0"/>
              </a:p>
              <a:p>
                <a:r>
                  <a:rPr lang="zh-CN" altLang="en-US" dirty="0"/>
                  <a:t>当满足约束条件时，红框部分小于</a:t>
                </a:r>
                <a:r>
                  <a:rPr lang="en-US" altLang="zh-CN" dirty="0"/>
                  <a:t>0</a:t>
                </a:r>
                <a:r>
                  <a:rPr lang="zh-CN" altLang="en-US" dirty="0"/>
                  <a:t>，那中</a:t>
                </a:r>
                <a:r>
                  <a:rPr lang="en-US" altLang="zh-CN" dirty="0"/>
                  <a:t>alpha</a:t>
                </a:r>
                <a:r>
                  <a:rPr lang="zh-CN" altLang="en-US" dirty="0"/>
                  <a:t>全是</a:t>
                </a:r>
                <a:r>
                  <a:rPr lang="en-US" altLang="zh-CN" dirty="0"/>
                  <a:t>0</a:t>
                </a:r>
                <a:r>
                  <a:rPr lang="zh-CN" altLang="en-US" dirty="0"/>
                  <a:t>的时候</a:t>
                </a:r>
                <a:r>
                  <a:rPr kumimoji="1" lang="en-US" altLang="zh-CN" sz="1200" i="0">
                    <a:latin typeface="Cambria Math" panose="02040503050406030204" pitchFamily="18" charset="0"/>
                  </a:rPr>
                  <a:t>max┬</a:t>
                </a:r>
                <a:r>
                  <a:rPr kumimoji="1" lang="en-US" altLang="zh-CN" sz="1200" i="0">
                    <a:latin typeface="Cambria Math" panose="02040503050406030204" pitchFamily="18" charset="0"/>
                    <a:ea typeface="Cambria Math" panose="02040503050406030204" pitchFamily="18" charset="0"/>
                  </a:rPr>
                  <a:t>𝛼⁡</a:t>
                </a:r>
                <a:r>
                  <a:rPr kumimoji="1" lang="en-US" altLang="zh-CN" sz="1200" i="0">
                    <a:latin typeface="Cambria Math" panose="02040503050406030204" pitchFamily="18" charset="0"/>
                  </a:rPr>
                  <a:t>𝐿(𝑤,𝑏,</a:t>
                </a:r>
                <a:r>
                  <a:rPr kumimoji="1" lang="en-US" altLang="zh-CN" sz="1200" i="0">
                    <a:latin typeface="Cambria Math" panose="02040503050406030204" pitchFamily="18" charset="0"/>
                    <a:ea typeface="Cambria Math" panose="02040503050406030204" pitchFamily="18" charset="0"/>
                  </a:rPr>
                  <a:t>𝛼)</a:t>
                </a:r>
                <a:r>
                  <a:rPr lang="zh-CN" altLang="en-US" dirty="0"/>
                  <a:t>最大，正好就是</a:t>
                </a:r>
                <a:r>
                  <a:rPr lang="en-US" altLang="zh-CN" dirty="0"/>
                  <a:t>1/2</a:t>
                </a:r>
                <a:r>
                  <a:rPr lang="zh-CN" altLang="en-US" baseline="0" dirty="0"/>
                  <a:t> </a:t>
                </a:r>
                <a:r>
                  <a:rPr lang="en-US" altLang="zh-CN" baseline="0" dirty="0"/>
                  <a:t>||w||^2</a:t>
                </a:r>
                <a:endParaRPr lang="en-US" altLang="zh-CN" dirty="0"/>
              </a:p>
              <a:p>
                <a:r>
                  <a:rPr lang="zh-CN" altLang="en-US" dirty="0"/>
                  <a:t>当不满足约束时，红框部分大于</a:t>
                </a:r>
                <a:r>
                  <a:rPr lang="en-US" altLang="zh-CN" dirty="0"/>
                  <a:t>0</a:t>
                </a:r>
                <a:r>
                  <a:rPr lang="zh-CN" altLang="en-US" dirty="0"/>
                  <a:t>，那就是</a:t>
                </a:r>
                <a:r>
                  <a:rPr kumimoji="1" lang="en-US" altLang="zh-CN" sz="1200" i="0">
                    <a:latin typeface="Cambria Math" panose="02040503050406030204" pitchFamily="18" charset="0"/>
                  </a:rPr>
                  <a:t>max┬</a:t>
                </a:r>
                <a:r>
                  <a:rPr kumimoji="1" lang="en-US" altLang="zh-CN" sz="1200" i="0">
                    <a:latin typeface="Cambria Math" panose="02040503050406030204" pitchFamily="18" charset="0"/>
                    <a:ea typeface="Cambria Math" panose="02040503050406030204" pitchFamily="18" charset="0"/>
                  </a:rPr>
                  <a:t>𝛼⁡</a:t>
                </a:r>
                <a:r>
                  <a:rPr kumimoji="1" lang="en-US" altLang="zh-CN" sz="1200" i="0">
                    <a:latin typeface="Cambria Math" panose="02040503050406030204" pitchFamily="18" charset="0"/>
                  </a:rPr>
                  <a:t>𝐿(𝑤,𝑏,</a:t>
                </a:r>
                <a:r>
                  <a:rPr kumimoji="1" lang="en-US" altLang="zh-CN" sz="1200" i="0">
                    <a:latin typeface="Cambria Math" panose="02040503050406030204" pitchFamily="18" charset="0"/>
                    <a:ea typeface="Cambria Math" panose="02040503050406030204" pitchFamily="18" charset="0"/>
                  </a:rPr>
                  <a:t>𝛼)</a:t>
                </a:r>
                <a:r>
                  <a:rPr lang="zh-CN" altLang="en-US" dirty="0"/>
                  <a:t>是无穷了</a:t>
                </a:r>
              </a:p>
            </p:txBody>
          </p:sp>
        </mc:Fallback>
      </mc:AlternateContent>
      <p:sp>
        <p:nvSpPr>
          <p:cNvPr id="4" name="灯片编号占位符 3"/>
          <p:cNvSpPr>
            <a:spLocks noGrp="1"/>
          </p:cNvSpPr>
          <p:nvPr>
            <p:ph type="sldNum" sz="quarter" idx="10"/>
          </p:nvPr>
        </p:nvSpPr>
        <p:spPr/>
        <p:txBody>
          <a:bodyPr/>
          <a:lstStyle/>
          <a:p>
            <a:fld id="{D50AF6DD-051E-413B-8808-23D5AB3BD9E4}" type="slidenum">
              <a:rPr lang="en-US" smtClean="0"/>
              <a:pPr/>
              <a:t>21</a:t>
            </a:fld>
            <a:endParaRPr lang="en-US"/>
          </a:p>
        </p:txBody>
      </p:sp>
    </p:spTree>
    <p:extLst>
      <p:ext uri="{BB962C8B-B14F-4D97-AF65-F5344CB8AC3E}">
        <p14:creationId xmlns:p14="http://schemas.microsoft.com/office/powerpoint/2010/main" val="2278130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85000" lnSpcReduction="20000"/>
          </a:bodyPr>
          <a:lstStyle/>
          <a:p>
            <a:r>
              <a:rPr lang="zh-CN" altLang="en-US" dirty="0"/>
              <a:t>“最小中的最大”小于等于“最大中的最小”</a:t>
            </a:r>
            <a:endParaRPr lang="en-US" altLang="zh-CN" dirty="0"/>
          </a:p>
          <a:p>
            <a:endParaRPr lang="en-US" altLang="zh-CN" dirty="0"/>
          </a:p>
          <a:p>
            <a:r>
              <a:rPr lang="zh-CN" altLang="en-US" dirty="0"/>
              <a:t>每个班挑出一个同学，</a:t>
            </a:r>
            <a:endParaRPr lang="en-US" altLang="zh-CN" dirty="0"/>
          </a:p>
          <a:p>
            <a:r>
              <a:rPr lang="zh-CN" altLang="en-US" dirty="0"/>
              <a:t>在每个班岁数最大中找一个个子最矮的</a:t>
            </a:r>
            <a:endParaRPr lang="en-US" altLang="zh-CN" dirty="0"/>
          </a:p>
          <a:p>
            <a:r>
              <a:rPr lang="zh-CN" altLang="en-US" dirty="0"/>
              <a:t>在每个班个子最矮中找一个年龄最大的</a:t>
            </a:r>
            <a:endParaRPr lang="en-US" altLang="zh-CN" dirty="0"/>
          </a:p>
          <a:p>
            <a:r>
              <a:rPr lang="zh-CN" altLang="en-US" dirty="0"/>
              <a:t>哪个挑出的同学身高更高？</a:t>
            </a:r>
            <a:endParaRPr lang="en-US" altLang="zh-CN" dirty="0"/>
          </a:p>
          <a:p>
            <a:endParaRPr lang="en-US" altLang="zh-CN" dirty="0"/>
          </a:p>
          <a:p>
            <a:endParaRPr lang="en-US" altLang="zh-CN" dirty="0"/>
          </a:p>
          <a:p>
            <a:r>
              <a:rPr lang="zh-CN" altLang="en-US" dirty="0"/>
              <a:t>最大最小值定理由冯诺依曼提出，他是著名的计算机科学家，这个定理也标志着博弈论的诞生</a:t>
            </a:r>
            <a:endParaRPr lang="en-US" altLang="zh-CN" dirty="0"/>
          </a:p>
          <a:p>
            <a:endParaRPr lang="en-US" altLang="zh-CN" dirty="0"/>
          </a:p>
          <a:p>
            <a:r>
              <a:rPr lang="en-US" altLang="zh-CN" dirty="0"/>
              <a:t>KKT</a:t>
            </a:r>
            <a:r>
              <a:rPr lang="zh-CN" altLang="en-US" dirty="0"/>
              <a:t>是原始论文三个作者的首字母</a:t>
            </a:r>
            <a:endParaRPr lang="en-US" altLang="zh-CN" dirty="0"/>
          </a:p>
          <a:p>
            <a:r>
              <a:rPr lang="en-US" altLang="zh-CN" dirty="0"/>
              <a:t>KKT</a:t>
            </a:r>
            <a:r>
              <a:rPr lang="zh-CN" altLang="en-US" dirty="0"/>
              <a:t>条件：</a:t>
            </a:r>
            <a:endParaRPr lang="en-US" altLang="zh-CN" dirty="0"/>
          </a:p>
          <a:p>
            <a:endParaRPr lang="en-US" altLang="zh-CN" dirty="0"/>
          </a:p>
          <a:p>
            <a:pPr algn="l"/>
            <a:r>
              <a:rPr lang="en-US" altLang="zh-CN" b="0" i="0" u="none" strike="noStrike" dirty="0">
                <a:solidFill>
                  <a:srgbClr val="202122"/>
                </a:solidFill>
                <a:effectLst/>
                <a:latin typeface="Arial" panose="020B0604020202020204" pitchFamily="34" charset="0"/>
              </a:rPr>
              <a:t>Let </a:t>
            </a:r>
            <a:r>
              <a:rPr lang="en-US" altLang="zh-CN" b="0" i="0" u="none" strike="noStrike" dirty="0" err="1">
                <a:solidFill>
                  <a:srgbClr val="202122"/>
                </a:solidFill>
                <a:effectLst/>
                <a:latin typeface="Arial" panose="020B0604020202020204" pitchFamily="34" charset="0"/>
              </a:rPr>
              <a:t>X⊂Rn</a:t>
            </a:r>
            <a:r>
              <a:rPr lang="en-US" altLang="zh-CN" b="0" i="0" u="none" strike="noStrike" dirty="0">
                <a:solidFill>
                  <a:srgbClr val="202122"/>
                </a:solidFill>
                <a:effectLst/>
                <a:latin typeface="Arial" panose="020B0604020202020204" pitchFamily="34" charset="0"/>
              </a:rPr>
              <a:t> and </a:t>
            </a:r>
            <a:r>
              <a:rPr lang="en-US" altLang="zh-CN" b="0" i="0" u="none" strike="noStrike" dirty="0" err="1">
                <a:solidFill>
                  <a:srgbClr val="202122"/>
                </a:solidFill>
                <a:effectLst/>
                <a:latin typeface="Arial" panose="020B0604020202020204" pitchFamily="34" charset="0"/>
              </a:rPr>
              <a:t>Y⊂Rm</a:t>
            </a:r>
            <a:r>
              <a:rPr lang="en-US" altLang="zh-CN" b="0" i="0" u="none" strike="noStrike" dirty="0">
                <a:solidFill>
                  <a:srgbClr val="202122"/>
                </a:solidFill>
                <a:effectLst/>
                <a:latin typeface="Arial" panose="020B0604020202020204" pitchFamily="34" charset="0"/>
              </a:rPr>
              <a:t> be </a:t>
            </a:r>
            <a:r>
              <a:rPr lang="en-US" altLang="zh-CN" b="0" i="0" u="none" strike="noStrike" dirty="0">
                <a:solidFill>
                  <a:srgbClr val="795CB2"/>
                </a:solidFill>
                <a:effectLst/>
                <a:latin typeface="Arial" panose="020B0604020202020204" pitchFamily="34" charset="0"/>
                <a:hlinkClick r:id="rId3" tooltip="Compact space"/>
              </a:rPr>
              <a:t>compact</a:t>
            </a:r>
            <a:r>
              <a:rPr lang="en-US" altLang="zh-CN" b="0" i="0" u="none" strike="noStrike" dirty="0">
                <a:solidFill>
                  <a:srgbClr val="202122"/>
                </a:solidFill>
                <a:effectLst/>
                <a:latin typeface="Arial" panose="020B0604020202020204" pitchFamily="34" charset="0"/>
              </a:rPr>
              <a:t> </a:t>
            </a:r>
            <a:r>
              <a:rPr lang="en-US" altLang="zh-CN" b="0" i="0" u="none" strike="noStrike" dirty="0">
                <a:solidFill>
                  <a:srgbClr val="795CB2"/>
                </a:solidFill>
                <a:effectLst/>
                <a:latin typeface="Arial" panose="020B0604020202020204" pitchFamily="34" charset="0"/>
                <a:hlinkClick r:id="rId4" tooltip="Convex set"/>
              </a:rPr>
              <a:t>convex</a:t>
            </a:r>
            <a:r>
              <a:rPr lang="en-US" altLang="zh-CN" b="0" i="0" u="none" strike="noStrike" dirty="0">
                <a:solidFill>
                  <a:srgbClr val="202122"/>
                </a:solidFill>
                <a:effectLst/>
                <a:latin typeface="Arial" panose="020B0604020202020204" pitchFamily="34" charset="0"/>
              </a:rPr>
              <a:t> sets. If </a:t>
            </a:r>
            <a:r>
              <a:rPr lang="en-US" altLang="zh-CN" b="0" i="0" u="none" strike="noStrike" dirty="0" err="1">
                <a:solidFill>
                  <a:srgbClr val="202122"/>
                </a:solidFill>
                <a:effectLst/>
                <a:latin typeface="Arial" panose="020B0604020202020204" pitchFamily="34" charset="0"/>
              </a:rPr>
              <a:t>f:X×Y→R</a:t>
            </a:r>
            <a:r>
              <a:rPr lang="en-US" altLang="zh-CN" b="0" i="0" u="none" strike="noStrike" dirty="0">
                <a:solidFill>
                  <a:srgbClr val="202122"/>
                </a:solidFill>
                <a:effectLst/>
                <a:latin typeface="Arial" panose="020B0604020202020204" pitchFamily="34" charset="0"/>
              </a:rPr>
              <a:t> is a continuous function that is concave-convex, i.e.</a:t>
            </a:r>
          </a:p>
          <a:p>
            <a:pPr algn="l"/>
            <a:r>
              <a:rPr lang="en-US" altLang="zh-CN" dirty="0">
                <a:effectLst/>
              </a:rPr>
              <a:t>f(⋅,y):X→R</a:t>
            </a:r>
            <a:r>
              <a:rPr lang="en-US" altLang="zh-CN" dirty="0"/>
              <a:t> is </a:t>
            </a:r>
            <a:r>
              <a:rPr lang="en-US" altLang="zh-CN" u="none" strike="noStrike" dirty="0">
                <a:solidFill>
                  <a:srgbClr val="795CB2"/>
                </a:solidFill>
                <a:effectLst/>
                <a:hlinkClick r:id="rId5" tooltip="Concave function"/>
              </a:rPr>
              <a:t>concave</a:t>
            </a:r>
            <a:r>
              <a:rPr lang="en-US" altLang="zh-CN" dirty="0"/>
              <a:t> for fixed </a:t>
            </a:r>
            <a:r>
              <a:rPr lang="en-US" altLang="zh-CN" dirty="0">
                <a:effectLst/>
              </a:rPr>
              <a:t>y</a:t>
            </a:r>
            <a:r>
              <a:rPr lang="en-US" altLang="zh-CN" dirty="0"/>
              <a:t>, </a:t>
            </a:r>
            <a:r>
              <a:rPr lang="en-US" altLang="zh-CN" dirty="0" err="1"/>
              <a:t>and</a:t>
            </a:r>
            <a:r>
              <a:rPr lang="en-US" altLang="zh-CN" dirty="0" err="1">
                <a:effectLst/>
              </a:rPr>
              <a:t>f</a:t>
            </a:r>
            <a:r>
              <a:rPr lang="en-US" altLang="zh-CN" dirty="0">
                <a:effectLst/>
              </a:rPr>
              <a:t>(x,⋅):Y→R</a:t>
            </a:r>
            <a:r>
              <a:rPr lang="en-US" altLang="zh-CN" dirty="0"/>
              <a:t> is </a:t>
            </a:r>
            <a:r>
              <a:rPr lang="en-US" altLang="zh-CN" u="none" strike="noStrike" dirty="0">
                <a:solidFill>
                  <a:srgbClr val="795CB2"/>
                </a:solidFill>
                <a:effectLst/>
                <a:hlinkClick r:id="rId6" tooltip="Convex function"/>
              </a:rPr>
              <a:t>convex</a:t>
            </a:r>
            <a:r>
              <a:rPr lang="en-US" altLang="zh-CN" dirty="0"/>
              <a:t> for fixed </a:t>
            </a:r>
            <a:r>
              <a:rPr lang="en-US" altLang="zh-CN" dirty="0" err="1">
                <a:effectLst/>
              </a:rPr>
              <a:t>x</a:t>
            </a:r>
            <a:r>
              <a:rPr lang="en-US" altLang="zh-CN" dirty="0" err="1"/>
              <a:t>.</a:t>
            </a:r>
            <a:r>
              <a:rPr lang="en-US" altLang="zh-CN" b="0" i="0" u="none" strike="noStrike" dirty="0" err="1">
                <a:solidFill>
                  <a:srgbClr val="202122"/>
                </a:solidFill>
                <a:effectLst/>
                <a:latin typeface="Arial" panose="020B0604020202020204" pitchFamily="34" charset="0"/>
              </a:rPr>
              <a:t>Then</a:t>
            </a:r>
            <a:r>
              <a:rPr lang="en-US" altLang="zh-CN" b="0" i="0" u="none" strike="noStrike" dirty="0">
                <a:solidFill>
                  <a:srgbClr val="202122"/>
                </a:solidFill>
                <a:effectLst/>
                <a:latin typeface="Arial" panose="020B0604020202020204" pitchFamily="34" charset="0"/>
              </a:rPr>
              <a:t> we have that</a:t>
            </a:r>
          </a:p>
          <a:p>
            <a:r>
              <a:rPr lang="en-US" altLang="zh-CN" dirty="0" err="1">
                <a:effectLst/>
              </a:rPr>
              <a:t>maxx∈Xminy∈Yf</a:t>
            </a:r>
            <a:r>
              <a:rPr lang="en-US" altLang="zh-CN" dirty="0">
                <a:effectLst/>
              </a:rPr>
              <a:t>(</a:t>
            </a:r>
            <a:r>
              <a:rPr lang="en-US" altLang="zh-CN" dirty="0" err="1">
                <a:effectLst/>
              </a:rPr>
              <a:t>x,y</a:t>
            </a:r>
            <a:r>
              <a:rPr lang="en-US" altLang="zh-CN" dirty="0">
                <a:effectLst/>
              </a:rPr>
              <a:t>)=</a:t>
            </a:r>
            <a:r>
              <a:rPr lang="en-US" altLang="zh-CN" dirty="0" err="1">
                <a:effectLst/>
              </a:rPr>
              <a:t>miny∈Ymaxx∈Xf</a:t>
            </a:r>
            <a:r>
              <a:rPr lang="en-US" altLang="zh-CN" dirty="0">
                <a:effectLst/>
              </a:rPr>
              <a:t>(</a:t>
            </a:r>
            <a:r>
              <a:rPr lang="en-US" altLang="zh-CN" dirty="0" err="1">
                <a:effectLst/>
              </a:rPr>
              <a:t>x,y</a:t>
            </a:r>
            <a:r>
              <a:rPr lang="en-US" altLang="zh-CN" dirty="0">
                <a:effectLst/>
              </a:rPr>
              <a:t>).</a:t>
            </a:r>
          </a:p>
          <a:p>
            <a:endParaRPr lang="en-US" altLang="zh-CN" dirty="0">
              <a:effectLst/>
            </a:endParaRPr>
          </a:p>
          <a:p>
            <a:pPr algn="l"/>
            <a:r>
              <a:rPr lang="en-US" altLang="zh-CN" b="0" i="0" u="none" strike="noStrike" dirty="0">
                <a:solidFill>
                  <a:srgbClr val="202122"/>
                </a:solidFill>
                <a:effectLst/>
                <a:latin typeface="Arial" panose="020B0604020202020204" pitchFamily="34" charset="0"/>
              </a:rPr>
              <a:t>Define g(z)≜</a:t>
            </a:r>
            <a:r>
              <a:rPr lang="en-US" altLang="zh-CN" b="0" i="0" u="none" strike="noStrike" dirty="0" err="1">
                <a:solidFill>
                  <a:srgbClr val="202122"/>
                </a:solidFill>
                <a:effectLst/>
                <a:latin typeface="Arial" panose="020B0604020202020204" pitchFamily="34" charset="0"/>
              </a:rPr>
              <a:t>infw∈Wf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 . For all </a:t>
            </a:r>
            <a:r>
              <a:rPr lang="en-US" altLang="zh-CN" b="0" i="0" u="none" strike="noStrike" dirty="0" err="1">
                <a:solidFill>
                  <a:srgbClr val="202122"/>
                </a:solidFill>
                <a:effectLst/>
                <a:latin typeface="Arial" panose="020B0604020202020204" pitchFamily="34" charset="0"/>
              </a:rPr>
              <a:t>z∈Z</a:t>
            </a:r>
            <a:r>
              <a:rPr lang="en-US" altLang="zh-CN" b="0" i="0" u="none" strike="noStrike" dirty="0">
                <a:solidFill>
                  <a:srgbClr val="202122"/>
                </a:solidFill>
                <a:effectLst/>
                <a:latin typeface="Arial" panose="020B0604020202020204" pitchFamily="34" charset="0"/>
              </a:rPr>
              <a:t>, we get  g(z)≤f(</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 for all </a:t>
            </a:r>
            <a:r>
              <a:rPr lang="en-US" altLang="zh-CN" b="0" i="0" u="none" strike="noStrike" dirty="0" err="1">
                <a:solidFill>
                  <a:srgbClr val="202122"/>
                </a:solidFill>
                <a:effectLst/>
                <a:latin typeface="Arial" panose="020B0604020202020204" pitchFamily="34" charset="0"/>
              </a:rPr>
              <a:t>w∈W</a:t>
            </a:r>
            <a:r>
              <a:rPr lang="en-US" altLang="zh-CN" b="0" i="0" u="none" strike="noStrike" dirty="0">
                <a:solidFill>
                  <a:srgbClr val="202122"/>
                </a:solidFill>
                <a:effectLst/>
                <a:latin typeface="Arial" panose="020B0604020202020204" pitchFamily="34" charset="0"/>
              </a:rPr>
              <a:t> by definition of the infimum being a lower bound. Next, for all </a:t>
            </a:r>
            <a:r>
              <a:rPr lang="en-US" altLang="zh-CN" b="0" i="0" u="none" strike="noStrike" dirty="0" err="1">
                <a:solidFill>
                  <a:srgbClr val="202122"/>
                </a:solidFill>
                <a:effectLst/>
                <a:latin typeface="Arial" panose="020B0604020202020204" pitchFamily="34" charset="0"/>
              </a:rPr>
              <a:t>w∈W</a:t>
            </a:r>
            <a:r>
              <a:rPr lang="en-US" altLang="zh-CN" b="0" i="0" u="none" strike="noStrike" dirty="0">
                <a:solidFill>
                  <a:srgbClr val="202122"/>
                </a:solidFill>
                <a:effectLst/>
                <a:latin typeface="Arial" panose="020B0604020202020204" pitchFamily="34" charset="0"/>
              </a:rPr>
              <a:t>, f(</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supz∈Zf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 for all </a:t>
            </a:r>
            <a:r>
              <a:rPr lang="en-US" altLang="zh-CN" b="0" i="0" u="none" strike="noStrike" dirty="0" err="1">
                <a:solidFill>
                  <a:srgbClr val="202122"/>
                </a:solidFill>
                <a:effectLst/>
                <a:latin typeface="Arial" panose="020B0604020202020204" pitchFamily="34" charset="0"/>
              </a:rPr>
              <a:t>z∈Z</a:t>
            </a:r>
            <a:r>
              <a:rPr lang="en-US" altLang="zh-CN" b="0" i="0" u="none" strike="noStrike" dirty="0">
                <a:solidFill>
                  <a:srgbClr val="202122"/>
                </a:solidFill>
                <a:effectLst/>
                <a:latin typeface="Arial" panose="020B0604020202020204" pitchFamily="34" charset="0"/>
              </a:rPr>
              <a:t> by definition of the supremum being an upper bound. Thus, for all </a:t>
            </a:r>
            <a:r>
              <a:rPr lang="en-US" altLang="zh-CN" b="0" i="0" u="none" strike="noStrike" dirty="0" err="1">
                <a:solidFill>
                  <a:srgbClr val="202122"/>
                </a:solidFill>
                <a:effectLst/>
                <a:latin typeface="Arial" panose="020B0604020202020204" pitchFamily="34" charset="0"/>
              </a:rPr>
              <a:t>z∈Z</a:t>
            </a:r>
            <a:r>
              <a:rPr lang="en-US" altLang="zh-CN" b="0" i="0" u="none" strike="noStrike" dirty="0">
                <a:solidFill>
                  <a:srgbClr val="202122"/>
                </a:solidFill>
                <a:effectLst/>
                <a:latin typeface="Arial" panose="020B0604020202020204" pitchFamily="34" charset="0"/>
              </a:rPr>
              <a:t> and </a:t>
            </a:r>
            <a:r>
              <a:rPr lang="en-US" altLang="zh-CN" b="0" i="0" u="none" strike="noStrike" dirty="0" err="1">
                <a:solidFill>
                  <a:srgbClr val="202122"/>
                </a:solidFill>
                <a:effectLst/>
                <a:latin typeface="Arial" panose="020B0604020202020204" pitchFamily="34" charset="0"/>
              </a:rPr>
              <a:t>w∈W</a:t>
            </a:r>
            <a:r>
              <a:rPr lang="en-US" altLang="zh-CN" b="0" i="0" u="none" strike="noStrike" dirty="0">
                <a:solidFill>
                  <a:srgbClr val="202122"/>
                </a:solidFill>
                <a:effectLst/>
                <a:latin typeface="Arial" panose="020B0604020202020204" pitchFamily="34" charset="0"/>
              </a:rPr>
              <a:t>, g(z)≤f(</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supz∈Zf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 making h(w)≜</a:t>
            </a:r>
            <a:r>
              <a:rPr lang="en-US" altLang="zh-CN" b="0" i="0" u="none" strike="noStrike" dirty="0" err="1">
                <a:solidFill>
                  <a:srgbClr val="202122"/>
                </a:solidFill>
                <a:effectLst/>
                <a:latin typeface="Arial" panose="020B0604020202020204" pitchFamily="34" charset="0"/>
              </a:rPr>
              <a:t>supz∈Zf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 an upper bound on g(z) for any choice of </a:t>
            </a:r>
            <a:r>
              <a:rPr lang="en-US" altLang="zh-CN" b="0" i="0" u="none" strike="noStrike" dirty="0" err="1">
                <a:solidFill>
                  <a:srgbClr val="202122"/>
                </a:solidFill>
                <a:effectLst/>
                <a:latin typeface="Arial" panose="020B0604020202020204" pitchFamily="34" charset="0"/>
              </a:rPr>
              <a:t>w∈W</a:t>
            </a:r>
            <a:r>
              <a:rPr lang="en-US" altLang="zh-CN" b="0" i="0" u="none" strike="noStrike" dirty="0">
                <a:solidFill>
                  <a:srgbClr val="202122"/>
                </a:solidFill>
                <a:effectLst/>
                <a:latin typeface="Arial" panose="020B0604020202020204" pitchFamily="34" charset="0"/>
              </a:rPr>
              <a:t>. Because the supremum is the least upper bound,  </a:t>
            </a:r>
            <a:r>
              <a:rPr lang="en-US" altLang="zh-CN" b="0" i="0" u="none" strike="noStrike" dirty="0" err="1">
                <a:solidFill>
                  <a:srgbClr val="202122"/>
                </a:solidFill>
                <a:effectLst/>
                <a:latin typeface="Arial" panose="020B0604020202020204" pitchFamily="34" charset="0"/>
              </a:rPr>
              <a:t>supz∈Zg</a:t>
            </a:r>
            <a:r>
              <a:rPr lang="en-US" altLang="zh-CN" b="0" i="0" u="none" strike="noStrike" dirty="0">
                <a:solidFill>
                  <a:srgbClr val="202122"/>
                </a:solidFill>
                <a:effectLst/>
                <a:latin typeface="Arial" panose="020B0604020202020204" pitchFamily="34" charset="0"/>
              </a:rPr>
              <a:t>(z)≤h(w) holds for all </a:t>
            </a:r>
            <a:r>
              <a:rPr lang="en-US" altLang="zh-CN" b="0" i="0" u="none" strike="noStrike" dirty="0" err="1">
                <a:solidFill>
                  <a:srgbClr val="202122"/>
                </a:solidFill>
                <a:effectLst/>
                <a:latin typeface="Arial" panose="020B0604020202020204" pitchFamily="34" charset="0"/>
              </a:rPr>
              <a:t>w∈W</a:t>
            </a:r>
            <a:r>
              <a:rPr lang="en-US" altLang="zh-CN" b="0" i="0" u="none" strike="noStrike" dirty="0">
                <a:solidFill>
                  <a:srgbClr val="202122"/>
                </a:solidFill>
                <a:effectLst/>
                <a:latin typeface="Arial" panose="020B0604020202020204" pitchFamily="34" charset="0"/>
              </a:rPr>
              <a:t>. From this inequality, we also see that </a:t>
            </a:r>
            <a:r>
              <a:rPr lang="en-US" altLang="zh-CN" b="0" i="0" u="none" strike="noStrike" dirty="0" err="1">
                <a:solidFill>
                  <a:srgbClr val="202122"/>
                </a:solidFill>
                <a:effectLst/>
                <a:latin typeface="Arial" panose="020B0604020202020204" pitchFamily="34" charset="0"/>
              </a:rPr>
              <a:t>supz∈Zg</a:t>
            </a:r>
            <a:r>
              <a:rPr lang="en-US" altLang="zh-CN" b="0" i="0" u="none" strike="noStrike" dirty="0">
                <a:solidFill>
                  <a:srgbClr val="202122"/>
                </a:solidFill>
                <a:effectLst/>
                <a:latin typeface="Arial" panose="020B0604020202020204" pitchFamily="34" charset="0"/>
              </a:rPr>
              <a:t>(z) is a lower bound on h(w). By the greatest lower bound property of infimum, </a:t>
            </a:r>
            <a:r>
              <a:rPr lang="en-US" altLang="zh-CN" b="0" i="0" u="none" strike="noStrike" dirty="0" err="1">
                <a:solidFill>
                  <a:srgbClr val="202122"/>
                </a:solidFill>
                <a:effectLst/>
                <a:latin typeface="Arial" panose="020B0604020202020204" pitchFamily="34" charset="0"/>
              </a:rPr>
              <a:t>supz∈Zg</a:t>
            </a:r>
            <a:r>
              <a:rPr lang="en-US" altLang="zh-CN" b="0" i="0" u="none" strike="noStrike" dirty="0">
                <a:solidFill>
                  <a:srgbClr val="202122"/>
                </a:solidFill>
                <a:effectLst/>
                <a:latin typeface="Arial" panose="020B0604020202020204" pitchFamily="34" charset="0"/>
              </a:rPr>
              <a:t>(z)≤</a:t>
            </a:r>
            <a:r>
              <a:rPr lang="en-US" altLang="zh-CN" b="0" i="0" u="none" strike="noStrike" dirty="0" err="1">
                <a:solidFill>
                  <a:srgbClr val="202122"/>
                </a:solidFill>
                <a:effectLst/>
                <a:latin typeface="Arial" panose="020B0604020202020204" pitchFamily="34" charset="0"/>
              </a:rPr>
              <a:t>infw∈Wh</a:t>
            </a:r>
            <a:r>
              <a:rPr lang="en-US" altLang="zh-CN" b="0" i="0" u="none" strike="noStrike" dirty="0">
                <a:solidFill>
                  <a:srgbClr val="202122"/>
                </a:solidFill>
                <a:effectLst/>
                <a:latin typeface="Arial" panose="020B0604020202020204" pitchFamily="34" charset="0"/>
              </a:rPr>
              <a:t>(w). Putting all the pieces together, we get</a:t>
            </a:r>
          </a:p>
          <a:p>
            <a:pPr algn="l"/>
            <a:r>
              <a:rPr lang="en-US" altLang="zh-CN" b="0" i="0" u="none" strike="noStrike" dirty="0" err="1">
                <a:solidFill>
                  <a:srgbClr val="202122"/>
                </a:solidFill>
                <a:effectLst/>
                <a:latin typeface="Arial" panose="020B0604020202020204" pitchFamily="34" charset="0"/>
              </a:rPr>
              <a:t>supz∈Zinfw∈Wf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supz∈Zg</a:t>
            </a:r>
            <a:r>
              <a:rPr lang="en-US" altLang="zh-CN" b="0" i="0" u="none" strike="noStrike" dirty="0">
                <a:solidFill>
                  <a:srgbClr val="202122"/>
                </a:solidFill>
                <a:effectLst/>
                <a:latin typeface="Arial" panose="020B0604020202020204" pitchFamily="34" charset="0"/>
              </a:rPr>
              <a:t>(z)≤</a:t>
            </a:r>
            <a:r>
              <a:rPr lang="en-US" altLang="zh-CN" b="0" i="0" u="none" strike="noStrike" dirty="0" err="1">
                <a:solidFill>
                  <a:srgbClr val="202122"/>
                </a:solidFill>
                <a:effectLst/>
                <a:latin typeface="Arial" panose="020B0604020202020204" pitchFamily="34" charset="0"/>
              </a:rPr>
              <a:t>infw∈Wh</a:t>
            </a:r>
            <a:r>
              <a:rPr lang="en-US" altLang="zh-CN" b="0" i="0" u="none" strike="noStrike" dirty="0">
                <a:solidFill>
                  <a:srgbClr val="202122"/>
                </a:solidFill>
                <a:effectLst/>
                <a:latin typeface="Arial" panose="020B0604020202020204" pitchFamily="34" charset="0"/>
              </a:rPr>
              <a:t>(w)=</a:t>
            </a:r>
            <a:r>
              <a:rPr lang="en-US" altLang="zh-CN" b="0" i="0" u="none" strike="noStrike" dirty="0" err="1">
                <a:solidFill>
                  <a:srgbClr val="202122"/>
                </a:solidFill>
                <a:effectLst/>
                <a:latin typeface="Arial" panose="020B0604020202020204" pitchFamily="34" charset="0"/>
              </a:rPr>
              <a:t>infw∈Wsupz∈Zf</a:t>
            </a:r>
            <a:r>
              <a:rPr lang="en-US" altLang="zh-CN" b="0" i="0" u="none" strike="noStrike" dirty="0">
                <a:solidFill>
                  <a:srgbClr val="202122"/>
                </a:solidFill>
                <a:effectLst/>
                <a:latin typeface="Arial" panose="020B0604020202020204" pitchFamily="34" charset="0"/>
              </a:rPr>
              <a:t>(</a:t>
            </a:r>
            <a:r>
              <a:rPr lang="en-US" altLang="zh-CN" b="0" i="0" u="none" strike="noStrike" dirty="0" err="1">
                <a:solidFill>
                  <a:srgbClr val="202122"/>
                </a:solidFill>
                <a:effectLst/>
                <a:latin typeface="Arial" panose="020B0604020202020204" pitchFamily="34" charset="0"/>
              </a:rPr>
              <a:t>z,w</a:t>
            </a:r>
            <a:r>
              <a:rPr lang="en-US" altLang="zh-CN" b="0" i="0" u="none" strike="noStrike" dirty="0">
                <a:solidFill>
                  <a:srgbClr val="202122"/>
                </a:solidFill>
                <a:effectLst/>
                <a:latin typeface="Arial" panose="020B0604020202020204" pitchFamily="34" charset="0"/>
              </a:rPr>
              <a:t>)</a:t>
            </a:r>
          </a:p>
          <a:p>
            <a:pPr algn="l"/>
            <a:r>
              <a:rPr lang="en-US" altLang="zh-CN" b="0" i="0" u="none" strike="noStrike" dirty="0">
                <a:solidFill>
                  <a:srgbClr val="202122"/>
                </a:solidFill>
                <a:effectLst/>
                <a:latin typeface="Arial" panose="020B0604020202020204" pitchFamily="34" charset="0"/>
              </a:rPr>
              <a:t>which proves the desired inequality. ◼</a:t>
            </a:r>
          </a:p>
          <a:p>
            <a:br>
              <a:rPr lang="en-US" altLang="zh-CN" dirty="0"/>
            </a:br>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22</a:t>
            </a:fld>
            <a:endParaRPr lang="en-US"/>
          </a:p>
        </p:txBody>
      </p:sp>
    </p:spTree>
    <p:extLst>
      <p:ext uri="{BB962C8B-B14F-4D97-AF65-F5344CB8AC3E}">
        <p14:creationId xmlns:p14="http://schemas.microsoft.com/office/powerpoint/2010/main" val="24269083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在</a:t>
                </a:r>
                <a:r>
                  <a:rPr lang="en-US" altLang="zh-CN" dirty="0"/>
                  <a:t>KKT</a:t>
                </a:r>
                <a:r>
                  <a:rPr lang="zh-CN" altLang="en-US" dirty="0"/>
                  <a:t>条件满足时原始问题与对偶问题相等</a:t>
                </a:r>
                <a:endParaRPr lang="en-US" altLang="zh-CN" dirty="0"/>
              </a:p>
              <a:p>
                <a:endParaRPr lang="en-US" altLang="zh-CN" dirty="0"/>
              </a:p>
              <a:p>
                <a:r>
                  <a:rPr lang="en-US" altLang="zh-CN" dirty="0"/>
                  <a:t>KKT</a:t>
                </a:r>
                <a:r>
                  <a:rPr lang="zh-CN" altLang="en-US" dirty="0"/>
                  <a:t>条件要求上面的式子都满足</a:t>
                </a:r>
                <a:endParaRPr lang="en-US" altLang="zh-CN" dirty="0"/>
              </a:p>
              <a:p>
                <a:r>
                  <a:rPr lang="zh-CN" altLang="en-US" dirty="0"/>
                  <a:t>这个是</a:t>
                </a:r>
                <a:r>
                  <a:rPr lang="en-US" altLang="zh-CN" dirty="0"/>
                  <a:t>SVM</a:t>
                </a:r>
                <a:r>
                  <a:rPr lang="zh-CN" altLang="en-US" dirty="0"/>
                  <a:t>问题里简化后的式子，不是原始</a:t>
                </a:r>
                <a:r>
                  <a:rPr lang="en-US" altLang="zh-CN" dirty="0"/>
                  <a:t>KKT</a:t>
                </a:r>
                <a:r>
                  <a:rPr lang="zh-CN" altLang="en-US" dirty="0"/>
                  <a:t>条件</a:t>
                </a:r>
                <a:endParaRPr lang="en-US" altLang="zh-CN" dirty="0"/>
              </a:p>
              <a:p>
                <a:endParaRPr lang="en-US" altLang="zh-CN" dirty="0"/>
              </a:p>
              <a:p>
                <a:r>
                  <a:rPr lang="zh-CN" altLang="en-US" dirty="0"/>
                  <a:t>引申含义：</a:t>
                </a:r>
                <a:r>
                  <a:rPr lang="en-US" altLang="zh-CN" dirty="0"/>
                  <a:t>alpha</a:t>
                </a:r>
                <a:r>
                  <a:rPr lang="zh-CN" altLang="en-US" dirty="0"/>
                  <a:t>不为</a:t>
                </a:r>
                <a:r>
                  <a:rPr lang="en-US" altLang="zh-CN" dirty="0"/>
                  <a:t>0</a:t>
                </a:r>
                <a:r>
                  <a:rPr lang="zh-CN" altLang="en-US" dirty="0"/>
                  <a:t>的地方，</a:t>
                </a:r>
                <a14:m>
                  <m:oMath xmlns:m="http://schemas.openxmlformats.org/officeDocument/2006/math">
                    <m:r>
                      <a:rPr kumimoji="1" lang="en-US" altLang="zh-CN" sz="1200" i="1" smtClean="0">
                        <a:latin typeface="Cambria Math" panose="02040503050406030204" pitchFamily="18" charset="0"/>
                      </a:rPr>
                      <m:t>1−</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rPr>
                          <m:t>𝑦</m:t>
                        </m:r>
                      </m:e>
                      <m:sub>
                        <m:r>
                          <a:rPr kumimoji="1" lang="en-US" altLang="zh-CN" sz="1200" i="1">
                            <a:latin typeface="Cambria Math" panose="02040503050406030204" pitchFamily="18" charset="0"/>
                          </a:rPr>
                          <m:t>𝑖</m:t>
                        </m:r>
                      </m:sub>
                    </m:sSub>
                    <m:d>
                      <m:dPr>
                        <m:ctrlPr>
                          <a:rPr kumimoji="1" lang="en-US" altLang="zh-CN" sz="1200" i="1">
                            <a:latin typeface="Cambria Math" panose="02040503050406030204" pitchFamily="18" charset="0"/>
                          </a:rPr>
                        </m:ctrlPr>
                      </m:dPr>
                      <m:e>
                        <m:r>
                          <a:rPr kumimoji="1" lang="en-US" altLang="zh-CN" sz="1200" i="1">
                            <a:latin typeface="Cambria Math" panose="02040503050406030204" pitchFamily="18" charset="0"/>
                          </a:rPr>
                          <m:t>𝑤</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ea typeface="Cambria Math" panose="02040503050406030204" pitchFamily="18" charset="0"/>
                              </a:rPr>
                              <m:t>∙</m:t>
                            </m:r>
                            <m:r>
                              <a:rPr kumimoji="1" lang="en-US" altLang="zh-CN" sz="1200" i="1">
                                <a:latin typeface="Cambria Math" panose="02040503050406030204" pitchFamily="18" charset="0"/>
                                <a:ea typeface="Cambria Math" panose="02040503050406030204" pitchFamily="18" charset="0"/>
                              </a:rPr>
                              <m:t>𝑥</m:t>
                            </m:r>
                          </m:e>
                          <m:sub>
                            <m:r>
                              <a:rPr kumimoji="1" lang="en-US" altLang="zh-CN" sz="1200" i="1">
                                <a:latin typeface="Cambria Math" panose="02040503050406030204" pitchFamily="18" charset="0"/>
                              </a:rPr>
                              <m:t>𝑖</m:t>
                            </m:r>
                          </m:sub>
                        </m:sSub>
                        <m:r>
                          <a:rPr kumimoji="1" lang="en-US" altLang="zh-CN" sz="1200" i="1">
                            <a:latin typeface="Cambria Math" panose="02040503050406030204" pitchFamily="18" charset="0"/>
                          </a:rPr>
                          <m:t>+</m:t>
                        </m:r>
                        <m:r>
                          <a:rPr kumimoji="1" lang="en-US" altLang="zh-CN" sz="1200" i="1">
                            <a:latin typeface="Cambria Math" panose="02040503050406030204" pitchFamily="18" charset="0"/>
                          </a:rPr>
                          <m:t>𝑏</m:t>
                        </m:r>
                      </m:e>
                    </m:d>
                  </m:oMath>
                </a14:m>
                <a:r>
                  <a:rPr lang="zh-CN" altLang="en-US" dirty="0"/>
                  <a:t>必须是</a:t>
                </a:r>
                <a:r>
                  <a:rPr lang="en-US" altLang="zh-CN" dirty="0"/>
                  <a:t>0</a:t>
                </a:r>
                <a:r>
                  <a:rPr lang="zh-CN" altLang="en-US" dirty="0"/>
                  <a:t>；</a:t>
                </a:r>
                <a14:m>
                  <m:oMath xmlns:m="http://schemas.openxmlformats.org/officeDocument/2006/math">
                    <m:r>
                      <a:rPr kumimoji="1" lang="en-US" altLang="zh-CN" sz="1200" i="1" smtClean="0">
                        <a:latin typeface="Cambria Math" panose="02040503050406030204" pitchFamily="18" charset="0"/>
                      </a:rPr>
                      <m:t>1−</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rPr>
                          <m:t>𝑦</m:t>
                        </m:r>
                      </m:e>
                      <m:sub>
                        <m:r>
                          <a:rPr kumimoji="1" lang="en-US" altLang="zh-CN" sz="1200" i="1">
                            <a:latin typeface="Cambria Math" panose="02040503050406030204" pitchFamily="18" charset="0"/>
                          </a:rPr>
                          <m:t>𝑖</m:t>
                        </m:r>
                      </m:sub>
                    </m:sSub>
                    <m:d>
                      <m:dPr>
                        <m:ctrlPr>
                          <a:rPr kumimoji="1" lang="en-US" altLang="zh-CN" sz="1200" i="1">
                            <a:latin typeface="Cambria Math" panose="02040503050406030204" pitchFamily="18" charset="0"/>
                          </a:rPr>
                        </m:ctrlPr>
                      </m:dPr>
                      <m:e>
                        <m:r>
                          <a:rPr kumimoji="1" lang="en-US" altLang="zh-CN" sz="1200" i="1">
                            <a:latin typeface="Cambria Math" panose="02040503050406030204" pitchFamily="18" charset="0"/>
                          </a:rPr>
                          <m:t>𝑤</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ea typeface="Cambria Math" panose="02040503050406030204" pitchFamily="18" charset="0"/>
                              </a:rPr>
                              <m:t>∙</m:t>
                            </m:r>
                            <m:r>
                              <a:rPr kumimoji="1" lang="en-US" altLang="zh-CN" sz="1200" i="1">
                                <a:latin typeface="Cambria Math" panose="02040503050406030204" pitchFamily="18" charset="0"/>
                                <a:ea typeface="Cambria Math" panose="02040503050406030204" pitchFamily="18" charset="0"/>
                              </a:rPr>
                              <m:t>𝑥</m:t>
                            </m:r>
                          </m:e>
                          <m:sub>
                            <m:r>
                              <a:rPr kumimoji="1" lang="en-US" altLang="zh-CN" sz="1200" i="1">
                                <a:latin typeface="Cambria Math" panose="02040503050406030204" pitchFamily="18" charset="0"/>
                              </a:rPr>
                              <m:t>𝑖</m:t>
                            </m:r>
                          </m:sub>
                        </m:sSub>
                        <m:r>
                          <a:rPr kumimoji="1" lang="en-US" altLang="zh-CN" sz="1200" i="1">
                            <a:latin typeface="Cambria Math" panose="02040503050406030204" pitchFamily="18" charset="0"/>
                          </a:rPr>
                          <m:t>+</m:t>
                        </m:r>
                        <m:r>
                          <a:rPr kumimoji="1" lang="en-US" altLang="zh-CN" sz="1200" i="1">
                            <a:latin typeface="Cambria Math" panose="02040503050406030204" pitchFamily="18" charset="0"/>
                          </a:rPr>
                          <m:t>𝑏</m:t>
                        </m:r>
                      </m:e>
                    </m:d>
                  </m:oMath>
                </a14:m>
                <a:r>
                  <a:rPr lang="zh-CN" altLang="en-US" dirty="0"/>
                  <a:t>不是</a:t>
                </a:r>
                <a:r>
                  <a:rPr lang="en-US" altLang="zh-CN" dirty="0"/>
                  <a:t>0</a:t>
                </a:r>
                <a:r>
                  <a:rPr lang="zh-CN" altLang="en-US" dirty="0"/>
                  <a:t>的地方，</a:t>
                </a:r>
                <a:r>
                  <a:rPr lang="en-US" altLang="zh-CN" dirty="0"/>
                  <a:t>alpha</a:t>
                </a:r>
                <a:r>
                  <a:rPr lang="zh-CN" altLang="en-US" dirty="0"/>
                  <a:t>必须是</a:t>
                </a:r>
                <a:r>
                  <a:rPr lang="en-US" altLang="zh-CN" dirty="0"/>
                  <a:t>0</a:t>
                </a:r>
                <a:endParaRPr lang="zh-CN" altLang="en-US" dirty="0"/>
              </a:p>
            </p:txBody>
          </p:sp>
        </mc:Choice>
        <mc:Fallback xmlns="">
          <p:sp>
            <p:nvSpPr>
              <p:cNvPr id="3" name="备注占位符 2"/>
              <p:cNvSpPr>
                <a:spLocks noGrp="1"/>
              </p:cNvSpPr>
              <p:nvPr>
                <p:ph type="body" idx="1"/>
              </p:nvPr>
            </p:nvSpPr>
            <p:spPr/>
            <p:txBody>
              <a:bodyPr/>
              <a:lstStyle/>
              <a:p>
                <a:r>
                  <a:rPr lang="zh-CN" altLang="en-US" dirty="0"/>
                  <a:t>在</a:t>
                </a:r>
                <a:r>
                  <a:rPr lang="en-US" altLang="zh-CN" dirty="0"/>
                  <a:t>KKT</a:t>
                </a:r>
                <a:r>
                  <a:rPr lang="zh-CN" altLang="en-US" dirty="0"/>
                  <a:t>条件满足时原始问题与对偶问题相等</a:t>
                </a:r>
                <a:endParaRPr lang="en-US" altLang="zh-CN" dirty="0"/>
              </a:p>
              <a:p>
                <a:endParaRPr lang="en-US" altLang="zh-CN" dirty="0"/>
              </a:p>
              <a:p>
                <a:r>
                  <a:rPr lang="en-US" altLang="zh-CN" dirty="0"/>
                  <a:t>KKT</a:t>
                </a:r>
                <a:r>
                  <a:rPr lang="zh-CN" altLang="en-US" dirty="0"/>
                  <a:t>条件要求上面的式子都满足</a:t>
                </a:r>
                <a:endParaRPr lang="en-US" altLang="zh-CN" dirty="0"/>
              </a:p>
              <a:p>
                <a:r>
                  <a:rPr lang="zh-CN" altLang="en-US" dirty="0"/>
                  <a:t>这个是</a:t>
                </a:r>
                <a:r>
                  <a:rPr lang="en-US" altLang="zh-CN" dirty="0"/>
                  <a:t>SVM</a:t>
                </a:r>
                <a:r>
                  <a:rPr lang="zh-CN" altLang="en-US" dirty="0"/>
                  <a:t>问题里简化后的式子，不是原始</a:t>
                </a:r>
                <a:r>
                  <a:rPr lang="en-US" altLang="zh-CN" dirty="0"/>
                  <a:t>KKT</a:t>
                </a:r>
                <a:r>
                  <a:rPr lang="zh-CN" altLang="en-US" dirty="0"/>
                  <a:t>条件</a:t>
                </a:r>
                <a:endParaRPr lang="en-US" altLang="zh-CN" dirty="0"/>
              </a:p>
              <a:p>
                <a:endParaRPr lang="en-US" altLang="zh-CN" dirty="0"/>
              </a:p>
              <a:p>
                <a:r>
                  <a:rPr lang="zh-CN" altLang="en-US" dirty="0"/>
                  <a:t>引申含义：</a:t>
                </a:r>
                <a:r>
                  <a:rPr lang="en-US" altLang="zh-CN" dirty="0"/>
                  <a:t>alpha</a:t>
                </a:r>
                <a:r>
                  <a:rPr lang="zh-CN" altLang="en-US" dirty="0"/>
                  <a:t>不为</a:t>
                </a:r>
                <a:r>
                  <a:rPr lang="en-US" altLang="zh-CN" dirty="0"/>
                  <a:t>0</a:t>
                </a:r>
                <a:r>
                  <a:rPr lang="zh-CN" altLang="en-US" dirty="0"/>
                  <a:t>的地方，</a:t>
                </a:r>
                <a:r>
                  <a:rPr kumimoji="1" lang="en-US" altLang="zh-CN" sz="1200" i="0">
                    <a:latin typeface="Cambria Math" panose="02040503050406030204" pitchFamily="18" charset="0"/>
                  </a:rPr>
                  <a:t>1−𝑦_𝑖 (𝑤〖</a:t>
                </a:r>
                <a:r>
                  <a:rPr kumimoji="1" lang="en-US" altLang="zh-CN" sz="1200" i="0">
                    <a:latin typeface="Cambria Math" panose="02040503050406030204" pitchFamily="18" charset="0"/>
                    <a:ea typeface="Cambria Math" panose="02040503050406030204" pitchFamily="18" charset="0"/>
                  </a:rPr>
                  <a:t>∙𝑥〗_</a:t>
                </a:r>
                <a:r>
                  <a:rPr kumimoji="1" lang="en-US" altLang="zh-CN" sz="1200" i="0">
                    <a:latin typeface="Cambria Math" panose="02040503050406030204" pitchFamily="18" charset="0"/>
                  </a:rPr>
                  <a:t>𝑖+𝑏)</a:t>
                </a:r>
                <a:r>
                  <a:rPr lang="zh-CN" altLang="en-US" dirty="0"/>
                  <a:t>必须是</a:t>
                </a:r>
                <a:r>
                  <a:rPr lang="en-US" altLang="zh-CN" dirty="0"/>
                  <a:t>0</a:t>
                </a:r>
                <a:r>
                  <a:rPr lang="zh-CN" altLang="en-US" dirty="0"/>
                  <a:t>；</a:t>
                </a:r>
                <a:r>
                  <a:rPr kumimoji="1" lang="en-US" altLang="zh-CN" sz="1200" i="0">
                    <a:latin typeface="Cambria Math" panose="02040503050406030204" pitchFamily="18" charset="0"/>
                  </a:rPr>
                  <a:t>1−𝑦_𝑖 (𝑤〖</a:t>
                </a:r>
                <a:r>
                  <a:rPr kumimoji="1" lang="en-US" altLang="zh-CN" sz="1200" i="0">
                    <a:latin typeface="Cambria Math" panose="02040503050406030204" pitchFamily="18" charset="0"/>
                    <a:ea typeface="Cambria Math" panose="02040503050406030204" pitchFamily="18" charset="0"/>
                  </a:rPr>
                  <a:t>∙𝑥〗_</a:t>
                </a:r>
                <a:r>
                  <a:rPr kumimoji="1" lang="en-US" altLang="zh-CN" sz="1200" i="0">
                    <a:latin typeface="Cambria Math" panose="02040503050406030204" pitchFamily="18" charset="0"/>
                  </a:rPr>
                  <a:t>𝑖+𝑏)</a:t>
                </a:r>
                <a:r>
                  <a:rPr lang="zh-CN" altLang="en-US" dirty="0"/>
                  <a:t>不是</a:t>
                </a:r>
                <a:r>
                  <a:rPr lang="en-US" altLang="zh-CN" dirty="0"/>
                  <a:t>0</a:t>
                </a:r>
                <a:r>
                  <a:rPr lang="zh-CN" altLang="en-US" dirty="0"/>
                  <a:t>的地方，</a:t>
                </a:r>
                <a:r>
                  <a:rPr lang="en-US" altLang="zh-CN" dirty="0"/>
                  <a:t>alpha</a:t>
                </a:r>
                <a:r>
                  <a:rPr lang="zh-CN" altLang="en-US" dirty="0"/>
                  <a:t>必须是</a:t>
                </a:r>
                <a:r>
                  <a:rPr lang="en-US" altLang="zh-CN" dirty="0"/>
                  <a:t>0</a:t>
                </a:r>
                <a:endParaRPr lang="zh-CN" altLang="en-US" dirty="0"/>
              </a:p>
            </p:txBody>
          </p:sp>
        </mc:Fallback>
      </mc:AlternateContent>
      <p:sp>
        <p:nvSpPr>
          <p:cNvPr id="4" name="灯片编号占位符 3"/>
          <p:cNvSpPr>
            <a:spLocks noGrp="1"/>
          </p:cNvSpPr>
          <p:nvPr>
            <p:ph type="sldNum" sz="quarter" idx="10"/>
          </p:nvPr>
        </p:nvSpPr>
        <p:spPr/>
        <p:txBody>
          <a:bodyPr/>
          <a:lstStyle/>
          <a:p>
            <a:fld id="{D50AF6DD-051E-413B-8808-23D5AB3BD9E4}" type="slidenum">
              <a:rPr lang="en-US" smtClean="0"/>
              <a:pPr/>
              <a:t>23</a:t>
            </a:fld>
            <a:endParaRPr lang="en-US"/>
          </a:p>
        </p:txBody>
      </p:sp>
    </p:spTree>
    <p:extLst>
      <p:ext uri="{BB962C8B-B14F-4D97-AF65-F5344CB8AC3E}">
        <p14:creationId xmlns:p14="http://schemas.microsoft.com/office/powerpoint/2010/main" val="3615702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D3212-6318-2F6F-53F6-1E5442D7AC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6A79E1-F4A1-F5EE-BBE4-8CD92E9014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F91199-38C9-B2D6-4461-91E71D71C92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4624790-4424-74B2-7475-3E0F2FD6F63F}"/>
              </a:ext>
            </a:extLst>
          </p:cNvPr>
          <p:cNvSpPr>
            <a:spLocks noGrp="1"/>
          </p:cNvSpPr>
          <p:nvPr>
            <p:ph type="sldNum" sz="quarter" idx="5"/>
          </p:nvPr>
        </p:nvSpPr>
        <p:spPr/>
        <p:txBody>
          <a:bodyPr/>
          <a:lstStyle/>
          <a:p>
            <a:fld id="{D50AF6DD-051E-413B-8808-23D5AB3BD9E4}" type="slidenum">
              <a:rPr lang="en-US" smtClean="0"/>
              <a:pPr/>
              <a:t>24</a:t>
            </a:fld>
            <a:endParaRPr lang="en-US"/>
          </a:p>
        </p:txBody>
      </p:sp>
    </p:spTree>
    <p:extLst>
      <p:ext uri="{BB962C8B-B14F-4D97-AF65-F5344CB8AC3E}">
        <p14:creationId xmlns:p14="http://schemas.microsoft.com/office/powerpoint/2010/main" val="1199854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alpha</a:t>
            </a:r>
            <a:r>
              <a:rPr kumimoji="1" lang="zh-CN" altLang="en-US" dirty="0"/>
              <a:t>解法上一般没有解析解</a:t>
            </a:r>
          </a:p>
        </p:txBody>
      </p:sp>
      <p:sp>
        <p:nvSpPr>
          <p:cNvPr id="4" name="灯片编号占位符 3"/>
          <p:cNvSpPr>
            <a:spLocks noGrp="1"/>
          </p:cNvSpPr>
          <p:nvPr>
            <p:ph type="sldNum" sz="quarter" idx="5"/>
          </p:nvPr>
        </p:nvSpPr>
        <p:spPr/>
        <p:txBody>
          <a:bodyPr/>
          <a:lstStyle/>
          <a:p>
            <a:fld id="{D50AF6DD-051E-413B-8808-23D5AB3BD9E4}" type="slidenum">
              <a:rPr lang="en-US" smtClean="0"/>
              <a:pPr/>
              <a:t>26</a:t>
            </a:fld>
            <a:endParaRPr lang="en-US"/>
          </a:p>
        </p:txBody>
      </p:sp>
    </p:spTree>
    <p:extLst>
      <p:ext uri="{BB962C8B-B14F-4D97-AF65-F5344CB8AC3E}">
        <p14:creationId xmlns:p14="http://schemas.microsoft.com/office/powerpoint/2010/main" val="418972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27</a:t>
            </a:fld>
            <a:endParaRPr lang="en-US"/>
          </a:p>
        </p:txBody>
      </p:sp>
    </p:spTree>
    <p:extLst>
      <p:ext uri="{BB962C8B-B14F-4D97-AF65-F5344CB8AC3E}">
        <p14:creationId xmlns:p14="http://schemas.microsoft.com/office/powerpoint/2010/main" val="4222570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二次函数，极值点不满足条件，那符合条件的极值点只能在</a:t>
            </a:r>
            <a:r>
              <a:rPr kumimoji="1" lang="en-US" altLang="zh-CN" dirty="0"/>
              <a:t>alpha_1</a:t>
            </a:r>
            <a:r>
              <a:rPr kumimoji="1" lang="zh-CN" altLang="en-US" dirty="0"/>
              <a:t>或者</a:t>
            </a:r>
            <a:r>
              <a:rPr kumimoji="1" lang="en-US" altLang="zh-CN" dirty="0"/>
              <a:t>alpha_2</a:t>
            </a:r>
            <a:r>
              <a:rPr kumimoji="1" lang="zh-CN" altLang="en-US" dirty="0"/>
              <a:t>为</a:t>
            </a:r>
            <a:r>
              <a:rPr kumimoji="1" lang="en-US" altLang="zh-CN" dirty="0"/>
              <a:t>0</a:t>
            </a:r>
            <a:r>
              <a:rPr kumimoji="1" lang="zh-CN" altLang="en-US" dirty="0"/>
              <a:t>的边界上</a:t>
            </a:r>
            <a:endParaRPr kumimoji="1" lang="en-US" altLang="zh-CN" dirty="0"/>
          </a:p>
          <a:p>
            <a:r>
              <a:rPr kumimoji="1" lang="zh-CN" altLang="en-US" dirty="0"/>
              <a:t>画图描述，比如画个二次函数，极值在</a:t>
            </a:r>
            <a:r>
              <a:rPr kumimoji="1" lang="en-US" altLang="zh-CN" dirty="0"/>
              <a:t>alpha2</a:t>
            </a:r>
            <a:r>
              <a:rPr kumimoji="1" lang="zh-CN" altLang="en-US" dirty="0"/>
              <a:t> </a:t>
            </a:r>
            <a:r>
              <a:rPr kumimoji="1" lang="en-US" altLang="zh-CN" dirty="0"/>
              <a:t>=-1</a:t>
            </a:r>
            <a:r>
              <a:rPr kumimoji="1" lang="zh-CN" altLang="en-US" dirty="0"/>
              <a:t>，不符合要求，那符合条件的应该在边界上</a:t>
            </a:r>
            <a:endParaRPr kumimoji="1" lang="en-US" altLang="zh-CN" dirty="0"/>
          </a:p>
          <a:p>
            <a:endParaRPr kumimoji="1" lang="en-US" altLang="zh-CN" dirty="0"/>
          </a:p>
          <a:p>
            <a:r>
              <a:rPr kumimoji="1" lang="zh-CN" altLang="en-US" dirty="0"/>
              <a:t>但是是</a:t>
            </a:r>
            <a:r>
              <a:rPr kumimoji="1" lang="en-US" altLang="zh-CN" dirty="0"/>
              <a:t>alpha_1</a:t>
            </a:r>
            <a:r>
              <a:rPr kumimoji="1" lang="zh-CN" altLang="en-US" dirty="0"/>
              <a:t>还是</a:t>
            </a:r>
            <a:r>
              <a:rPr kumimoji="1" lang="en-US" altLang="zh-CN" dirty="0"/>
              <a:t>alpha_2</a:t>
            </a:r>
            <a:r>
              <a:rPr kumimoji="1" lang="zh-CN" altLang="en-US" dirty="0"/>
              <a:t>为</a:t>
            </a:r>
            <a:r>
              <a:rPr kumimoji="1" lang="en-US" altLang="zh-CN" dirty="0"/>
              <a:t>0</a:t>
            </a:r>
            <a:r>
              <a:rPr kumimoji="1" lang="zh-CN" altLang="en-US" dirty="0"/>
              <a:t>，我们不知道，只能试试</a:t>
            </a:r>
          </a:p>
        </p:txBody>
      </p:sp>
      <p:sp>
        <p:nvSpPr>
          <p:cNvPr id="4" name="灯片编号占位符 3"/>
          <p:cNvSpPr>
            <a:spLocks noGrp="1"/>
          </p:cNvSpPr>
          <p:nvPr>
            <p:ph type="sldNum" sz="quarter" idx="5"/>
          </p:nvPr>
        </p:nvSpPr>
        <p:spPr/>
        <p:txBody>
          <a:bodyPr/>
          <a:lstStyle/>
          <a:p>
            <a:fld id="{D50AF6DD-051E-413B-8808-23D5AB3BD9E4}" type="slidenum">
              <a:rPr lang="en-US" smtClean="0"/>
              <a:pPr/>
              <a:t>32</a:t>
            </a:fld>
            <a:endParaRPr lang="en-US"/>
          </a:p>
        </p:txBody>
      </p:sp>
    </p:spTree>
    <p:extLst>
      <p:ext uri="{BB962C8B-B14F-4D97-AF65-F5344CB8AC3E}">
        <p14:creationId xmlns:p14="http://schemas.microsoft.com/office/powerpoint/2010/main" val="5310827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34</a:t>
            </a:fld>
            <a:endParaRPr lang="en-US"/>
          </a:p>
        </p:txBody>
      </p:sp>
    </p:spTree>
    <p:extLst>
      <p:ext uri="{BB962C8B-B14F-4D97-AF65-F5344CB8AC3E}">
        <p14:creationId xmlns:p14="http://schemas.microsoft.com/office/powerpoint/2010/main" val="14438451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支持向量是</a:t>
            </a:r>
            <a:r>
              <a:rPr kumimoji="1" lang="en-US" altLang="zh-CN" dirty="0"/>
              <a:t>alpha</a:t>
            </a:r>
            <a:r>
              <a:rPr kumimoji="1" lang="zh-CN" altLang="en-US" dirty="0"/>
              <a:t>不为</a:t>
            </a:r>
            <a:r>
              <a:rPr kumimoji="1" lang="en-US" altLang="zh-CN" dirty="0"/>
              <a:t>0</a:t>
            </a:r>
            <a:r>
              <a:rPr kumimoji="1" lang="zh-CN" altLang="en-US" dirty="0"/>
              <a:t>的点</a:t>
            </a:r>
            <a:endParaRPr kumimoji="1" lang="en-US" altLang="zh-CN" dirty="0"/>
          </a:p>
          <a:p>
            <a:endParaRPr kumimoji="1" lang="en-US" altLang="zh-CN" dirty="0"/>
          </a:p>
          <a:p>
            <a:r>
              <a:rPr kumimoji="1" lang="en-US" altLang="zh-CN" dirty="0"/>
              <a:t>SMO</a:t>
            </a:r>
            <a:r>
              <a:rPr kumimoji="1" lang="zh-CN" altLang="en-US" dirty="0"/>
              <a:t>算法快速求解</a:t>
            </a:r>
            <a:r>
              <a:rPr kumimoji="1" lang="en-US" altLang="zh-CN" dirty="0"/>
              <a:t>SVM</a:t>
            </a:r>
            <a:r>
              <a:rPr kumimoji="1" lang="zh-CN" altLang="en-US" dirty="0"/>
              <a:t>，迭代近似算法</a:t>
            </a:r>
          </a:p>
        </p:txBody>
      </p:sp>
      <p:sp>
        <p:nvSpPr>
          <p:cNvPr id="4" name="灯片编号占位符 3"/>
          <p:cNvSpPr>
            <a:spLocks noGrp="1"/>
          </p:cNvSpPr>
          <p:nvPr>
            <p:ph type="sldNum" sz="quarter" idx="5"/>
          </p:nvPr>
        </p:nvSpPr>
        <p:spPr/>
        <p:txBody>
          <a:bodyPr/>
          <a:lstStyle/>
          <a:p>
            <a:fld id="{D50AF6DD-051E-413B-8808-23D5AB3BD9E4}" type="slidenum">
              <a:rPr lang="en-US" smtClean="0"/>
              <a:pPr/>
              <a:t>35</a:t>
            </a:fld>
            <a:endParaRPr lang="en-US"/>
          </a:p>
        </p:txBody>
      </p:sp>
    </p:spTree>
    <p:extLst>
      <p:ext uri="{BB962C8B-B14F-4D97-AF65-F5344CB8AC3E}">
        <p14:creationId xmlns:p14="http://schemas.microsoft.com/office/powerpoint/2010/main" val="20864304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ln/>
        </p:spPr>
      </p:sp>
      <p:sp>
        <p:nvSpPr>
          <p:cNvPr id="145411" name="备注占位符 2"/>
          <p:cNvSpPr>
            <a:spLocks noGrp="1"/>
          </p:cNvSpPr>
          <p:nvPr>
            <p:ph type="body" idx="1"/>
          </p:nvPr>
        </p:nvSpPr>
        <p:spPr>
          <a:noFill/>
          <a:ln/>
        </p:spPr>
        <p:txBody>
          <a:bodyPr/>
          <a:lstStyle/>
          <a:p>
            <a:r>
              <a:rPr lang="zh-CN" altLang="en-US" dirty="0">
                <a:ea typeface="黑体" pitchFamily="49" charset="-122"/>
              </a:rPr>
              <a:t>怎么划线把数据分开？</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跑三千米，多少分钟及格？</a:t>
            </a:r>
            <a:endParaRPr lang="en-US" altLang="zh-CN" dirty="0">
              <a:ea typeface="黑体" pitchFamily="49" charset="-122"/>
            </a:endParaRPr>
          </a:p>
          <a:p>
            <a:endParaRPr lang="en-US" altLang="zh-CN" dirty="0">
              <a:ea typeface="黑体" pitchFamily="49" charset="-122"/>
            </a:endParaRPr>
          </a:p>
          <a:p>
            <a:r>
              <a:rPr lang="zh-CN" altLang="en-US" dirty="0">
                <a:ea typeface="黑体" pitchFamily="49" charset="-122"/>
              </a:rPr>
              <a:t>对不同身体的同学要求一致肯定不合理，但也不能差的太多</a:t>
            </a:r>
          </a:p>
        </p:txBody>
      </p:sp>
      <p:sp>
        <p:nvSpPr>
          <p:cNvPr id="145412" name="灯片编号占位符 3"/>
          <p:cNvSpPr>
            <a:spLocks noGrp="1"/>
          </p:cNvSpPr>
          <p:nvPr>
            <p:ph type="sldNum" sz="quarter" idx="5"/>
          </p:nvPr>
        </p:nvSpPr>
        <p:spPr>
          <a:noFill/>
        </p:spPr>
        <p:txBody>
          <a:bodyPr/>
          <a:lstStyle/>
          <a:p>
            <a:fld id="{8F65A651-3B8E-4ED7-9EE2-CDF6140B3D7B}" type="slidenum">
              <a:rPr lang="en-US" altLang="zh-CN" smtClean="0">
                <a:ea typeface="黑体" pitchFamily="49" charset="-122"/>
              </a:rPr>
              <a:pPr/>
              <a:t>36</a:t>
            </a:fld>
            <a:endParaRPr lang="en-US" altLang="zh-CN">
              <a:ea typeface="黑体" pitchFamily="49" charset="-122"/>
            </a:endParaRPr>
          </a:p>
        </p:txBody>
      </p:sp>
    </p:spTree>
    <p:extLst>
      <p:ext uri="{BB962C8B-B14F-4D97-AF65-F5344CB8AC3E}">
        <p14:creationId xmlns:p14="http://schemas.microsoft.com/office/powerpoint/2010/main" val="35906338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a:ln/>
        </p:spPr>
      </p:sp>
      <p:sp>
        <p:nvSpPr>
          <p:cNvPr id="145411" name="备注占位符 2"/>
          <p:cNvSpPr>
            <a:spLocks noGrp="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altLang="zh-CN" sz="1200" kern="1200" dirty="0">
                <a:solidFill>
                  <a:schemeClr val="tx1"/>
                </a:solidFill>
                <a:latin typeface="+mn-lt"/>
                <a:ea typeface="+mn-ea"/>
                <a:cs typeface="+mn-cs"/>
              </a:rPr>
              <a:t>ξ </a:t>
            </a:r>
            <a:r>
              <a:rPr lang="en-US" altLang="zh-CN" sz="1200" kern="1200" dirty="0" err="1">
                <a:solidFill>
                  <a:schemeClr val="tx1"/>
                </a:solidFill>
                <a:latin typeface="+mn-lt"/>
                <a:ea typeface="+mn-ea"/>
                <a:cs typeface="+mn-cs"/>
              </a:rPr>
              <a:t>ksi</a:t>
            </a: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科赛</a:t>
            </a:r>
            <a:r>
              <a:rPr lang="en-US" altLang="zh-CN" sz="1200" kern="1200" dirty="0">
                <a:solidFill>
                  <a:schemeClr val="tx1"/>
                </a:solidFill>
                <a:latin typeface="+mn-lt"/>
                <a:ea typeface="+mn-ea"/>
                <a:cs typeface="+mn-cs"/>
              </a:rPr>
              <a:t> </a:t>
            </a:r>
            <a:endParaRPr lang="zh-CN" altLang="en-US" dirty="0"/>
          </a:p>
          <a:p>
            <a:endParaRPr lang="zh-CN" altLang="en-US" dirty="0">
              <a:ea typeface="黑体" pitchFamily="49" charset="-122"/>
            </a:endParaRPr>
          </a:p>
        </p:txBody>
      </p:sp>
      <p:sp>
        <p:nvSpPr>
          <p:cNvPr id="145412" name="灯片编号占位符 3"/>
          <p:cNvSpPr>
            <a:spLocks noGrp="1"/>
          </p:cNvSpPr>
          <p:nvPr>
            <p:ph type="sldNum" sz="quarter" idx="5"/>
          </p:nvPr>
        </p:nvSpPr>
        <p:spPr>
          <a:noFill/>
        </p:spPr>
        <p:txBody>
          <a:bodyPr/>
          <a:lstStyle/>
          <a:p>
            <a:fld id="{8F65A651-3B8E-4ED7-9EE2-CDF6140B3D7B}" type="slidenum">
              <a:rPr lang="en-US" altLang="zh-CN" smtClean="0">
                <a:ea typeface="黑体" pitchFamily="49" charset="-122"/>
              </a:rPr>
              <a:pPr/>
              <a:t>37</a:t>
            </a:fld>
            <a:endParaRPr lang="en-US" altLang="zh-CN">
              <a:ea typeface="黑体" pitchFamily="49" charset="-122"/>
            </a:endParaRPr>
          </a:p>
        </p:txBody>
      </p:sp>
    </p:spTree>
    <p:extLst>
      <p:ext uri="{BB962C8B-B14F-4D97-AF65-F5344CB8AC3E}">
        <p14:creationId xmlns:p14="http://schemas.microsoft.com/office/powerpoint/2010/main" val="17077974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l-GR" altLang="zh-CN" sz="1200" kern="1200" dirty="0">
                <a:solidFill>
                  <a:schemeClr val="tx1"/>
                </a:solidFill>
                <a:latin typeface="+mn-lt"/>
                <a:ea typeface="+mn-ea"/>
                <a:cs typeface="+mn-cs"/>
              </a:rPr>
              <a:t>ξ </a:t>
            </a:r>
            <a:r>
              <a:rPr lang="en-US" altLang="zh-CN" sz="1200" kern="1200" dirty="0" err="1">
                <a:solidFill>
                  <a:schemeClr val="tx1"/>
                </a:solidFill>
                <a:latin typeface="+mn-lt"/>
                <a:ea typeface="+mn-ea"/>
                <a:cs typeface="+mn-cs"/>
              </a:rPr>
              <a:t>ksi</a:t>
            </a: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科赛</a:t>
            </a:r>
            <a:r>
              <a:rPr lang="en-US" altLang="zh-CN" sz="1200" kern="1200" dirty="0">
                <a:solidFill>
                  <a:schemeClr val="tx1"/>
                </a:solidFill>
                <a:latin typeface="+mn-lt"/>
                <a:ea typeface="+mn-ea"/>
                <a:cs typeface="+mn-cs"/>
              </a:rPr>
              <a:t> </a:t>
            </a:r>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38</a:t>
            </a:fld>
            <a:endParaRPr lang="en-US"/>
          </a:p>
        </p:txBody>
      </p:sp>
    </p:spTree>
    <p:extLst>
      <p:ext uri="{BB962C8B-B14F-4D97-AF65-F5344CB8AC3E}">
        <p14:creationId xmlns:p14="http://schemas.microsoft.com/office/powerpoint/2010/main" val="3671741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C</a:t>
            </a:r>
            <a:r>
              <a:rPr kumimoji="1" lang="zh-CN" altLang="en-US" dirty="0"/>
              <a:t>趋近于无穷的时候会怎么样？</a:t>
            </a:r>
          </a:p>
        </p:txBody>
      </p:sp>
      <p:sp>
        <p:nvSpPr>
          <p:cNvPr id="4" name="灯片编号占位符 3"/>
          <p:cNvSpPr>
            <a:spLocks noGrp="1"/>
          </p:cNvSpPr>
          <p:nvPr>
            <p:ph type="sldNum" sz="quarter" idx="5"/>
          </p:nvPr>
        </p:nvSpPr>
        <p:spPr/>
        <p:txBody>
          <a:bodyPr/>
          <a:lstStyle/>
          <a:p>
            <a:fld id="{D50AF6DD-051E-413B-8808-23D5AB3BD9E4}" type="slidenum">
              <a:rPr lang="en-US" smtClean="0"/>
              <a:pPr/>
              <a:t>39</a:t>
            </a:fld>
            <a:endParaRPr lang="en-US"/>
          </a:p>
        </p:txBody>
      </p:sp>
    </p:spTree>
    <p:extLst>
      <p:ext uri="{BB962C8B-B14F-4D97-AF65-F5344CB8AC3E}">
        <p14:creationId xmlns:p14="http://schemas.microsoft.com/office/powerpoint/2010/main" val="7563602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a:ln/>
        </p:spPr>
      </p:sp>
      <p:sp>
        <p:nvSpPr>
          <p:cNvPr id="146435" name="备注占位符 2"/>
          <p:cNvSpPr>
            <a:spLocks noGrp="1"/>
          </p:cNvSpPr>
          <p:nvPr>
            <p:ph type="body" idx="1"/>
          </p:nvPr>
        </p:nvSpPr>
        <p:spPr>
          <a:noFill/>
          <a:ln/>
        </p:spPr>
        <p:txBody>
          <a:bodyPr/>
          <a:lstStyle/>
          <a:p>
            <a:r>
              <a:rPr lang="zh-CN" altLang="en-US" dirty="0">
                <a:ea typeface="黑体" pitchFamily="49" charset="-122"/>
              </a:rPr>
              <a:t>推导出来和线性可分非常像，但有一点点差别，是哪里呢？</a:t>
            </a:r>
            <a:endParaRPr lang="en-US" altLang="zh-CN" dirty="0">
              <a:ea typeface="黑体" pitchFamily="49" charset="-122"/>
            </a:endParaRPr>
          </a:p>
          <a:p>
            <a:endParaRPr lang="en-US" altLang="zh-CN" dirty="0">
              <a:ea typeface="黑体" pitchFamily="49" charset="-122"/>
            </a:endParaRPr>
          </a:p>
          <a:p>
            <a:r>
              <a:rPr lang="en-US" altLang="zh-CN" dirty="0">
                <a:ea typeface="黑体" pitchFamily="49" charset="-122"/>
              </a:rPr>
              <a:t>C</a:t>
            </a:r>
            <a:r>
              <a:rPr lang="zh-CN" altLang="en-US" dirty="0">
                <a:ea typeface="黑体" pitchFamily="49" charset="-122"/>
              </a:rPr>
              <a:t>趋近于无穷就是线性可分，也就是</a:t>
            </a:r>
            <a:r>
              <a:rPr lang="en-US" altLang="zh-CN" dirty="0">
                <a:ea typeface="黑体" pitchFamily="49" charset="-122"/>
              </a:rPr>
              <a:t>alpha</a:t>
            </a:r>
            <a:r>
              <a:rPr lang="zh-CN" altLang="en-US" dirty="0">
                <a:ea typeface="黑体" pitchFamily="49" charset="-122"/>
              </a:rPr>
              <a:t>只需要大于等于</a:t>
            </a:r>
            <a:r>
              <a:rPr lang="en-US" altLang="zh-CN" dirty="0">
                <a:ea typeface="黑体" pitchFamily="49" charset="-122"/>
              </a:rPr>
              <a:t>0</a:t>
            </a:r>
          </a:p>
          <a:p>
            <a:endParaRPr lang="en-US" altLang="zh-CN" dirty="0">
              <a:ea typeface="黑体" pitchFamily="49" charset="-122"/>
            </a:endParaRPr>
          </a:p>
          <a:p>
            <a:r>
              <a:rPr lang="zh-CN" altLang="en-US" dirty="0">
                <a:ea typeface="黑体" pitchFamily="49" charset="-122"/>
              </a:rPr>
              <a:t>注意与线性可分的差别在于</a:t>
            </a:r>
            <a:r>
              <a:rPr lang="en-US" altLang="zh-CN" dirty="0">
                <a:ea typeface="黑体" pitchFamily="49" charset="-122"/>
              </a:rPr>
              <a:t>ai</a:t>
            </a:r>
            <a:r>
              <a:rPr lang="zh-CN" altLang="en-US" dirty="0">
                <a:ea typeface="黑体" pitchFamily="49" charset="-122"/>
              </a:rPr>
              <a:t>的限制</a:t>
            </a:r>
          </a:p>
        </p:txBody>
      </p:sp>
      <p:sp>
        <p:nvSpPr>
          <p:cNvPr id="146436" name="灯片编号占位符 3"/>
          <p:cNvSpPr>
            <a:spLocks noGrp="1"/>
          </p:cNvSpPr>
          <p:nvPr>
            <p:ph type="sldNum" sz="quarter" idx="5"/>
          </p:nvPr>
        </p:nvSpPr>
        <p:spPr>
          <a:noFill/>
        </p:spPr>
        <p:txBody>
          <a:bodyPr/>
          <a:lstStyle/>
          <a:p>
            <a:fld id="{292AD3DD-260E-451C-8D85-9134AAF72DC7}" type="slidenum">
              <a:rPr lang="en-US" altLang="zh-CN" smtClean="0">
                <a:ea typeface="黑体" pitchFamily="49" charset="-122"/>
              </a:rPr>
              <a:pPr/>
              <a:t>41</a:t>
            </a:fld>
            <a:endParaRPr lang="en-US" altLang="zh-CN">
              <a:ea typeface="黑体" pitchFamily="49" charset="-122"/>
            </a:endParaRPr>
          </a:p>
        </p:txBody>
      </p:sp>
    </p:spTree>
    <p:extLst>
      <p:ext uri="{BB962C8B-B14F-4D97-AF65-F5344CB8AC3E}">
        <p14:creationId xmlns:p14="http://schemas.microsoft.com/office/powerpoint/2010/main" val="4785091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a:ln/>
        </p:spPr>
      </p:sp>
      <p:sp>
        <p:nvSpPr>
          <p:cNvPr id="147459" name="备注占位符 2"/>
          <p:cNvSpPr>
            <a:spLocks noGrp="1"/>
          </p:cNvSpPr>
          <p:nvPr>
            <p:ph type="body" idx="1"/>
          </p:nvPr>
        </p:nvSpPr>
        <p:spPr>
          <a:noFill/>
          <a:ln/>
        </p:spPr>
        <p:txBody>
          <a:bodyPr/>
          <a:lstStyle/>
          <a:p>
            <a:r>
              <a:rPr lang="zh-CN" altLang="en-US" dirty="0">
                <a:ea typeface="黑体" pitchFamily="49" charset="-122"/>
              </a:rPr>
              <a:t>注意与线性可分的差别在于</a:t>
            </a:r>
            <a:r>
              <a:rPr lang="en-US" altLang="zh-CN" dirty="0" err="1">
                <a:ea typeface="黑体" pitchFamily="49" charset="-122"/>
              </a:rPr>
              <a:t>ai</a:t>
            </a:r>
            <a:r>
              <a:rPr lang="zh-CN" altLang="en-US" dirty="0">
                <a:ea typeface="黑体" pitchFamily="49" charset="-122"/>
              </a:rPr>
              <a:t>的限制          </a:t>
            </a:r>
          </a:p>
        </p:txBody>
      </p:sp>
      <p:sp>
        <p:nvSpPr>
          <p:cNvPr id="147460" name="灯片编号占位符 3"/>
          <p:cNvSpPr>
            <a:spLocks noGrp="1"/>
          </p:cNvSpPr>
          <p:nvPr>
            <p:ph type="sldNum" sz="quarter" idx="5"/>
          </p:nvPr>
        </p:nvSpPr>
        <p:spPr>
          <a:noFill/>
        </p:spPr>
        <p:txBody>
          <a:bodyPr/>
          <a:lstStyle/>
          <a:p>
            <a:fld id="{14415DBB-E651-4E15-996B-4F8AD7FB75E9}" type="slidenum">
              <a:rPr lang="en-US" altLang="zh-CN" smtClean="0">
                <a:ea typeface="黑体" pitchFamily="49" charset="-122"/>
              </a:rPr>
              <a:pPr/>
              <a:t>42</a:t>
            </a:fld>
            <a:endParaRPr lang="en-US" altLang="zh-CN">
              <a:ea typeface="黑体" pitchFamily="49" charset="-122"/>
            </a:endParaRPr>
          </a:p>
        </p:txBody>
      </p:sp>
    </p:spTree>
    <p:extLst>
      <p:ext uri="{BB962C8B-B14F-4D97-AF65-F5344CB8AC3E}">
        <p14:creationId xmlns:p14="http://schemas.microsoft.com/office/powerpoint/2010/main" val="35383349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a:ln/>
        </p:spPr>
      </p:sp>
      <p:sp>
        <p:nvSpPr>
          <p:cNvPr id="148483" name="备注占位符 2"/>
          <p:cNvSpPr>
            <a:spLocks noGrp="1"/>
          </p:cNvSpPr>
          <p:nvPr>
            <p:ph type="body" idx="1"/>
          </p:nvPr>
        </p:nvSpPr>
        <p:spPr>
          <a:noFill/>
          <a:ln/>
        </p:spPr>
        <p:txBody>
          <a:bodyPr/>
          <a:lstStyle/>
          <a:p>
            <a:endParaRPr lang="zh-CN" altLang="en-US">
              <a:ea typeface="黑体" pitchFamily="49" charset="-122"/>
            </a:endParaRPr>
          </a:p>
        </p:txBody>
      </p:sp>
      <p:sp>
        <p:nvSpPr>
          <p:cNvPr id="148484" name="灯片编号占位符 3"/>
          <p:cNvSpPr>
            <a:spLocks noGrp="1"/>
          </p:cNvSpPr>
          <p:nvPr>
            <p:ph type="sldNum" sz="quarter" idx="5"/>
          </p:nvPr>
        </p:nvSpPr>
        <p:spPr>
          <a:noFill/>
        </p:spPr>
        <p:txBody>
          <a:bodyPr/>
          <a:lstStyle/>
          <a:p>
            <a:fld id="{759BDE37-F490-4D43-84D1-E931DD116FFB}" type="slidenum">
              <a:rPr lang="en-US" altLang="zh-CN" smtClean="0">
                <a:ea typeface="黑体" pitchFamily="49" charset="-122"/>
              </a:rPr>
              <a:pPr/>
              <a:t>44</a:t>
            </a:fld>
            <a:endParaRPr lang="en-US" altLang="zh-CN">
              <a:ea typeface="黑体" pitchFamily="49" charset="-122"/>
            </a:endParaRPr>
          </a:p>
        </p:txBody>
      </p:sp>
    </p:spTree>
    <p:extLst>
      <p:ext uri="{BB962C8B-B14F-4D97-AF65-F5344CB8AC3E}">
        <p14:creationId xmlns:p14="http://schemas.microsoft.com/office/powerpoint/2010/main" val="3552224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idx="1"/>
          </p:nvPr>
        </p:nvSpPr>
        <p:spPr>
          <a:noFill/>
          <a:ln/>
        </p:spPr>
        <p:txBody>
          <a:bodyPr/>
          <a:lstStyle/>
          <a:p>
            <a:r>
              <a:rPr lang="en-US" altLang="zh-CN" dirty="0">
                <a:ea typeface="黑体" pitchFamily="49" charset="-122"/>
              </a:rPr>
              <a:t> </a:t>
            </a:r>
            <a:r>
              <a:rPr lang="zh-CN" altLang="en-US" dirty="0">
                <a:ea typeface="黑体" pitchFamily="49" charset="-122"/>
              </a:rPr>
              <a:t>线性可分时，最大间隔是取函数间隔为</a:t>
            </a:r>
            <a:r>
              <a:rPr lang="en-US" altLang="zh-CN" dirty="0">
                <a:ea typeface="黑体" pitchFamily="49" charset="-122"/>
              </a:rPr>
              <a:t>1</a:t>
            </a:r>
            <a:r>
              <a:rPr lang="zh-CN" altLang="en-US" dirty="0">
                <a:ea typeface="黑体" pitchFamily="49" charset="-122"/>
              </a:rPr>
              <a:t>，软划分时，是</a:t>
            </a:r>
            <a:r>
              <a:rPr lang="en-US" altLang="zh-CN" dirty="0">
                <a:ea typeface="黑体" pitchFamily="49" charset="-122"/>
              </a:rPr>
              <a:t>1-</a:t>
            </a:r>
            <a:r>
              <a:rPr lang="el-GR" altLang="zh-CN" sz="1200" kern="1200" dirty="0">
                <a:solidFill>
                  <a:schemeClr val="tx1"/>
                </a:solidFill>
                <a:latin typeface="+mn-lt"/>
                <a:ea typeface="+mn-ea"/>
                <a:cs typeface="+mn-cs"/>
              </a:rPr>
              <a:t>ξ</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el-GR" sz="1200" kern="1200" dirty="0">
                <a:solidFill>
                  <a:schemeClr val="tx1"/>
                </a:solidFill>
                <a:latin typeface="+mn-lt"/>
                <a:ea typeface="+mn-ea"/>
                <a:cs typeface="+mn-cs"/>
              </a:rPr>
              <a:t>介绍一下</a:t>
            </a:r>
            <a:r>
              <a:rPr lang="zh-CN" altLang="en-US" sz="1200" kern="1200" dirty="0">
                <a:solidFill>
                  <a:schemeClr val="tx1"/>
                </a:solidFill>
                <a:latin typeface="+mn-lt"/>
                <a:ea typeface="+mn-ea"/>
                <a:cs typeface="+mn-cs"/>
              </a:rPr>
              <a:t>哪些是支持向量，介绍一下哪些对应的</a:t>
            </a:r>
            <a:r>
              <a:rPr lang="en-US" altLang="zh-CN" sz="1200" kern="1200" dirty="0" err="1">
                <a:solidFill>
                  <a:schemeClr val="tx1"/>
                </a:solidFill>
                <a:latin typeface="+mn-lt"/>
                <a:ea typeface="+mn-ea"/>
                <a:cs typeface="+mn-cs"/>
              </a:rPr>
              <a:t>ksi</a:t>
            </a:r>
            <a:r>
              <a:rPr lang="zh-CN" altLang="en-US" sz="1200" kern="1200" dirty="0">
                <a:solidFill>
                  <a:schemeClr val="tx1"/>
                </a:solidFill>
                <a:latin typeface="+mn-lt"/>
                <a:ea typeface="+mn-ea"/>
                <a:cs typeface="+mn-cs"/>
              </a:rPr>
              <a:t>是大于</a:t>
            </a:r>
            <a:r>
              <a:rPr lang="en-US" altLang="zh-CN" sz="1200" kern="1200" dirty="0">
                <a:solidFill>
                  <a:schemeClr val="tx1"/>
                </a:solidFill>
                <a:latin typeface="+mn-lt"/>
                <a:ea typeface="+mn-ea"/>
                <a:cs typeface="+mn-cs"/>
              </a:rPr>
              <a:t>0</a:t>
            </a:r>
            <a:r>
              <a:rPr lang="zh-CN" altLang="en-US" sz="1200" kern="1200" dirty="0">
                <a:solidFill>
                  <a:schemeClr val="tx1"/>
                </a:solidFill>
                <a:latin typeface="+mn-lt"/>
                <a:ea typeface="+mn-ea"/>
                <a:cs typeface="+mn-cs"/>
              </a:rPr>
              <a:t>的和大于</a:t>
            </a:r>
            <a:r>
              <a:rPr lang="en-US" altLang="zh-CN" sz="1200" kern="1200" dirty="0">
                <a:solidFill>
                  <a:schemeClr val="tx1"/>
                </a:solidFill>
                <a:latin typeface="+mn-lt"/>
                <a:ea typeface="+mn-ea"/>
                <a:cs typeface="+mn-cs"/>
              </a:rPr>
              <a:t>1</a:t>
            </a:r>
            <a:r>
              <a:rPr lang="zh-CN" altLang="en-US" sz="1200" kern="1200" dirty="0">
                <a:solidFill>
                  <a:schemeClr val="tx1"/>
                </a:solidFill>
                <a:latin typeface="+mn-lt"/>
                <a:ea typeface="+mn-ea"/>
                <a:cs typeface="+mn-cs"/>
              </a:rPr>
              <a:t>的</a:t>
            </a:r>
            <a:endParaRPr lang="zh-CN" altLang="en-US" dirty="0">
              <a:ea typeface="黑体" pitchFamily="49" charset="-122"/>
            </a:endParaRPr>
          </a:p>
        </p:txBody>
      </p:sp>
      <p:sp>
        <p:nvSpPr>
          <p:cNvPr id="149508" name="灯片编号占位符 3"/>
          <p:cNvSpPr>
            <a:spLocks noGrp="1"/>
          </p:cNvSpPr>
          <p:nvPr>
            <p:ph type="sldNum" sz="quarter" idx="5"/>
          </p:nvPr>
        </p:nvSpPr>
        <p:spPr>
          <a:noFill/>
        </p:spPr>
        <p:txBody>
          <a:bodyPr/>
          <a:lstStyle/>
          <a:p>
            <a:fld id="{78C4BEE5-2227-49A3-9A83-51C6F417DF0E}" type="slidenum">
              <a:rPr lang="en-US" altLang="zh-CN" smtClean="0">
                <a:ea typeface="黑体" pitchFamily="49" charset="-122"/>
              </a:rPr>
              <a:pPr/>
              <a:t>45</a:t>
            </a:fld>
            <a:endParaRPr lang="en-US" altLang="zh-CN">
              <a:ea typeface="黑体" pitchFamily="49" charset="-122"/>
            </a:endParaRPr>
          </a:p>
        </p:txBody>
      </p:sp>
    </p:spTree>
    <p:extLst>
      <p:ext uri="{BB962C8B-B14F-4D97-AF65-F5344CB8AC3E}">
        <p14:creationId xmlns:p14="http://schemas.microsoft.com/office/powerpoint/2010/main" val="42341722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6B732-B08C-0601-2BAD-56A374F54A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F74B51-095D-B85C-DF7B-F6ED345510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96CC85-C528-E71B-FF89-7C30FDAE9FE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a:t>
            </a:r>
            <a:r>
              <a:rPr lang="en-US" altLang="zh-CN" dirty="0"/>
              <a:t>12</a:t>
            </a:r>
            <a:r>
              <a:rPr lang="zh-CN" altLang="en-US" dirty="0"/>
              <a:t>堂课第一节结束</a:t>
            </a:r>
          </a:p>
          <a:p>
            <a:endParaRPr lang="en-US" altLang="zh-CN" dirty="0"/>
          </a:p>
          <a:p>
            <a:r>
              <a:rPr lang="en-US" altLang="zh-CN" dirty="0"/>
              <a:t>N</a:t>
            </a:r>
            <a:r>
              <a:rPr lang="zh-CN" altLang="en-US" dirty="0"/>
              <a:t>是样本数</a:t>
            </a:r>
            <a:endParaRPr lang="en-US" altLang="zh-CN" dirty="0"/>
          </a:p>
          <a:p>
            <a:endParaRPr lang="en-US" altLang="zh-CN" dirty="0"/>
          </a:p>
        </p:txBody>
      </p:sp>
      <p:sp>
        <p:nvSpPr>
          <p:cNvPr id="4" name="灯片编号占位符 3">
            <a:extLst>
              <a:ext uri="{FF2B5EF4-FFF2-40B4-BE49-F238E27FC236}">
                <a16:creationId xmlns:a16="http://schemas.microsoft.com/office/drawing/2014/main" id="{0EBB47C0-9FC2-90AB-0D52-67028ED52B44}"/>
              </a:ext>
            </a:extLst>
          </p:cNvPr>
          <p:cNvSpPr>
            <a:spLocks noGrp="1"/>
          </p:cNvSpPr>
          <p:nvPr>
            <p:ph type="sldNum" sz="quarter" idx="10"/>
          </p:nvPr>
        </p:nvSpPr>
        <p:spPr/>
        <p:txBody>
          <a:bodyPr/>
          <a:lstStyle/>
          <a:p>
            <a:fld id="{D50AF6DD-051E-413B-8808-23D5AB3BD9E4}" type="slidenum">
              <a:rPr lang="en-US" smtClean="0"/>
              <a:pPr/>
              <a:t>50</a:t>
            </a:fld>
            <a:endParaRPr lang="en-US"/>
          </a:p>
        </p:txBody>
      </p:sp>
    </p:spTree>
    <p:extLst>
      <p:ext uri="{BB962C8B-B14F-4D97-AF65-F5344CB8AC3E}">
        <p14:creationId xmlns:p14="http://schemas.microsoft.com/office/powerpoint/2010/main" val="21604016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F91A8-4377-5082-A72A-A69DEB400E62}"/>
            </a:ext>
          </a:extLst>
        </p:cNvPr>
        <p:cNvGrpSpPr/>
        <p:nvPr/>
      </p:nvGrpSpPr>
      <p:grpSpPr>
        <a:xfrm>
          <a:off x="0" y="0"/>
          <a:ext cx="0" cy="0"/>
          <a:chOff x="0" y="0"/>
          <a:chExt cx="0" cy="0"/>
        </a:xfrm>
      </p:grpSpPr>
      <p:sp>
        <p:nvSpPr>
          <p:cNvPr id="145410" name="幻灯片图像占位符 1">
            <a:extLst>
              <a:ext uri="{FF2B5EF4-FFF2-40B4-BE49-F238E27FC236}">
                <a16:creationId xmlns:a16="http://schemas.microsoft.com/office/drawing/2014/main" id="{E80A1544-7A2A-DFBF-679A-C5239F248425}"/>
              </a:ext>
            </a:extLst>
          </p:cNvPr>
          <p:cNvSpPr>
            <a:spLocks noGrp="1" noRot="1" noChangeAspect="1" noTextEdit="1"/>
          </p:cNvSpPr>
          <p:nvPr>
            <p:ph type="sldImg"/>
          </p:nvPr>
        </p:nvSpPr>
        <p:spPr>
          <a:ln/>
        </p:spPr>
      </p:sp>
      <p:sp>
        <p:nvSpPr>
          <p:cNvPr id="145411" name="备注占位符 2">
            <a:extLst>
              <a:ext uri="{FF2B5EF4-FFF2-40B4-BE49-F238E27FC236}">
                <a16:creationId xmlns:a16="http://schemas.microsoft.com/office/drawing/2014/main" id="{95E8D905-8F54-F7C4-A906-73268F441BAB}"/>
              </a:ext>
            </a:extLst>
          </p:cNvPr>
          <p:cNvSpPr>
            <a:spLocks noGrp="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altLang="zh-CN" sz="1200" kern="1200" dirty="0">
                <a:solidFill>
                  <a:schemeClr val="tx1"/>
                </a:solidFill>
                <a:latin typeface="+mn-lt"/>
                <a:ea typeface="+mn-ea"/>
                <a:cs typeface="+mn-cs"/>
              </a:rPr>
              <a:t>ξ </a:t>
            </a:r>
            <a:r>
              <a:rPr lang="en-US" altLang="zh-CN" sz="1200" kern="1200" dirty="0" err="1">
                <a:solidFill>
                  <a:schemeClr val="tx1"/>
                </a:solidFill>
                <a:latin typeface="+mn-lt"/>
                <a:ea typeface="+mn-ea"/>
                <a:cs typeface="+mn-cs"/>
              </a:rPr>
              <a:t>ksi</a:t>
            </a: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科赛</a:t>
            </a:r>
            <a:r>
              <a:rPr lang="en-US" altLang="zh-CN" sz="1200" kern="1200" dirty="0">
                <a:solidFill>
                  <a:schemeClr val="tx1"/>
                </a:solidFill>
                <a:latin typeface="+mn-lt"/>
                <a:ea typeface="+mn-ea"/>
                <a:cs typeface="+mn-cs"/>
              </a:rPr>
              <a:t> </a:t>
            </a:r>
            <a:endParaRPr lang="zh-CN" altLang="en-US" dirty="0"/>
          </a:p>
          <a:p>
            <a:endParaRPr lang="zh-CN" altLang="en-US" dirty="0">
              <a:ea typeface="黑体" pitchFamily="49" charset="-122"/>
            </a:endParaRPr>
          </a:p>
        </p:txBody>
      </p:sp>
      <p:sp>
        <p:nvSpPr>
          <p:cNvPr id="145412" name="灯片编号占位符 3">
            <a:extLst>
              <a:ext uri="{FF2B5EF4-FFF2-40B4-BE49-F238E27FC236}">
                <a16:creationId xmlns:a16="http://schemas.microsoft.com/office/drawing/2014/main" id="{23B09776-2927-57D0-4A83-E1B8FFD8D59F}"/>
              </a:ext>
            </a:extLst>
          </p:cNvPr>
          <p:cNvSpPr>
            <a:spLocks noGrp="1"/>
          </p:cNvSpPr>
          <p:nvPr>
            <p:ph type="sldNum" sz="quarter" idx="5"/>
          </p:nvPr>
        </p:nvSpPr>
        <p:spPr>
          <a:noFill/>
        </p:spPr>
        <p:txBody>
          <a:bodyPr/>
          <a:lstStyle/>
          <a:p>
            <a:fld id="{8F65A651-3B8E-4ED7-9EE2-CDF6140B3D7B}" type="slidenum">
              <a:rPr lang="en-US" altLang="zh-CN" smtClean="0">
                <a:ea typeface="黑体" pitchFamily="49" charset="-122"/>
              </a:rPr>
              <a:pPr/>
              <a:t>51</a:t>
            </a:fld>
            <a:endParaRPr lang="en-US" altLang="zh-CN">
              <a:ea typeface="黑体" pitchFamily="49" charset="-122"/>
            </a:endParaRPr>
          </a:p>
        </p:txBody>
      </p:sp>
    </p:spTree>
    <p:extLst>
      <p:ext uri="{BB962C8B-B14F-4D97-AF65-F5344CB8AC3E}">
        <p14:creationId xmlns:p14="http://schemas.microsoft.com/office/powerpoint/2010/main" val="38479850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这个</a:t>
            </a:r>
            <a:r>
              <a:rPr kumimoji="1" lang="en-US" altLang="zh-CN" dirty="0"/>
              <a:t>x</a:t>
            </a:r>
            <a:r>
              <a:rPr kumimoji="1" lang="zh-CN" altLang="en-US" dirty="0"/>
              <a:t>和</a:t>
            </a:r>
            <a:r>
              <a:rPr kumimoji="1" lang="en-US" altLang="zh-CN" dirty="0"/>
              <a:t>z</a:t>
            </a:r>
            <a:r>
              <a:rPr kumimoji="1" lang="zh-CN" altLang="en-US" dirty="0"/>
              <a:t>都是原始空间中的点</a:t>
            </a:r>
            <a:endParaRPr kumimoji="1" lang="en-US" altLang="zh-CN" dirty="0"/>
          </a:p>
          <a:p>
            <a:endParaRPr kumimoji="1" lang="en-US" altLang="zh-CN" dirty="0"/>
          </a:p>
          <a:p>
            <a:r>
              <a:rPr kumimoji="1" lang="zh-CN" altLang="en-US" dirty="0"/>
              <a:t>我们只关心</a:t>
            </a:r>
            <a:r>
              <a:rPr kumimoji="1" lang="en-US" altLang="zh-CN" dirty="0"/>
              <a:t>x</a:t>
            </a:r>
            <a:r>
              <a:rPr kumimoji="1" lang="zh-CN" altLang="en-US" dirty="0"/>
              <a:t>和</a:t>
            </a:r>
            <a:r>
              <a:rPr kumimoji="1" lang="en-US" altLang="zh-CN" dirty="0"/>
              <a:t>z</a:t>
            </a:r>
            <a:r>
              <a:rPr kumimoji="1" lang="zh-CN" altLang="en-US" dirty="0"/>
              <a:t>的点击，不关心具体的</a:t>
            </a:r>
            <a:r>
              <a:rPr kumimoji="1" lang="en-US" altLang="zh-CN" dirty="0"/>
              <a:t>phi</a:t>
            </a:r>
            <a:r>
              <a:rPr kumimoji="1" lang="zh-CN" altLang="en-US" dirty="0"/>
              <a:t>怎么设计</a:t>
            </a:r>
          </a:p>
        </p:txBody>
      </p:sp>
      <p:sp>
        <p:nvSpPr>
          <p:cNvPr id="4" name="灯片编号占位符 3"/>
          <p:cNvSpPr>
            <a:spLocks noGrp="1"/>
          </p:cNvSpPr>
          <p:nvPr>
            <p:ph type="sldNum" sz="quarter" idx="5"/>
          </p:nvPr>
        </p:nvSpPr>
        <p:spPr/>
        <p:txBody>
          <a:bodyPr/>
          <a:lstStyle/>
          <a:p>
            <a:fld id="{D50AF6DD-051E-413B-8808-23D5AB3BD9E4}" type="slidenum">
              <a:rPr lang="en-US" smtClean="0"/>
              <a:pPr/>
              <a:t>55</a:t>
            </a:fld>
            <a:endParaRPr lang="en-US"/>
          </a:p>
        </p:txBody>
      </p:sp>
    </p:spTree>
    <p:extLst>
      <p:ext uri="{BB962C8B-B14F-4D97-AF65-F5344CB8AC3E}">
        <p14:creationId xmlns:p14="http://schemas.microsoft.com/office/powerpoint/2010/main" val="35981041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核函数的维度不一定和原始数据维度一致是么？</a:t>
            </a:r>
            <a:endParaRPr kumimoji="1" lang="en-US" altLang="zh-CN" dirty="0"/>
          </a:p>
          <a:p>
            <a:r>
              <a:rPr kumimoji="1" lang="zh-CN" altLang="en-US" dirty="0"/>
              <a:t>是，也不是</a:t>
            </a:r>
            <a:endParaRPr kumimoji="1" lang="en-US" altLang="zh-CN" dirty="0"/>
          </a:p>
          <a:p>
            <a:r>
              <a:rPr kumimoji="1" lang="zh-CN" altLang="en-US" dirty="0"/>
              <a:t>从形式上的确是，</a:t>
            </a:r>
            <a:endParaRPr kumimoji="1" lang="en-US" altLang="zh-CN" dirty="0"/>
          </a:p>
          <a:p>
            <a:r>
              <a:rPr kumimoji="1" lang="zh-CN" altLang="en-US" dirty="0"/>
              <a:t>从内核上，数据的维度还是没变，因为</a:t>
            </a:r>
            <a:r>
              <a:rPr kumimoji="1" lang="en-US" altLang="zh-CN" dirty="0"/>
              <a:t>phi(x)</a:t>
            </a:r>
            <a:r>
              <a:rPr kumimoji="1" lang="zh-CN" altLang="en-US" dirty="0"/>
              <a:t>是由</a:t>
            </a:r>
            <a:r>
              <a:rPr kumimoji="1" lang="en-US" altLang="zh-CN" dirty="0"/>
              <a:t>x</a:t>
            </a:r>
            <a:r>
              <a:rPr kumimoji="1" lang="zh-CN" altLang="en-US" dirty="0"/>
              <a:t>产生的，维度只能更小，不能更大</a:t>
            </a:r>
          </a:p>
        </p:txBody>
      </p:sp>
      <p:sp>
        <p:nvSpPr>
          <p:cNvPr id="4" name="灯片编号占位符 3"/>
          <p:cNvSpPr>
            <a:spLocks noGrp="1"/>
          </p:cNvSpPr>
          <p:nvPr>
            <p:ph type="sldNum" sz="quarter" idx="5"/>
          </p:nvPr>
        </p:nvSpPr>
        <p:spPr/>
        <p:txBody>
          <a:bodyPr/>
          <a:lstStyle/>
          <a:p>
            <a:fld id="{D50AF6DD-051E-413B-8808-23D5AB3BD9E4}" type="slidenum">
              <a:rPr lang="en-US" smtClean="0"/>
              <a:pPr/>
              <a:t>56</a:t>
            </a:fld>
            <a:endParaRPr lang="en-US"/>
          </a:p>
        </p:txBody>
      </p:sp>
    </p:spTree>
    <p:extLst>
      <p:ext uri="{BB962C8B-B14F-4D97-AF65-F5344CB8AC3E}">
        <p14:creationId xmlns:p14="http://schemas.microsoft.com/office/powerpoint/2010/main" val="32295306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这个</a:t>
            </a:r>
            <a:r>
              <a:rPr kumimoji="1" lang="en-US" altLang="zh-CN" dirty="0"/>
              <a:t>H</a:t>
            </a:r>
            <a:r>
              <a:rPr kumimoji="1" lang="zh-CN" altLang="en-US" dirty="0"/>
              <a:t>空间中的超平面，对应原始空间中的一个超曲面</a:t>
            </a:r>
            <a:endParaRPr kumimoji="1" lang="en-US" altLang="zh-CN" dirty="0"/>
          </a:p>
          <a:p>
            <a:endParaRPr kumimoji="1" lang="en-US" altLang="zh-CN" dirty="0"/>
          </a:p>
          <a:p>
            <a:r>
              <a:rPr kumimoji="1" lang="zh-CN" altLang="en-US" dirty="0"/>
              <a:t>我们真的需要求出</a:t>
            </a:r>
            <a:r>
              <a:rPr kumimoji="1" lang="en-US" altLang="zh-CN" dirty="0"/>
              <a:t>w</a:t>
            </a:r>
            <a:r>
              <a:rPr kumimoji="1" lang="zh-CN" altLang="en-US" dirty="0"/>
              <a:t>*么？如果需要的话怎么求</a:t>
            </a:r>
            <a:r>
              <a:rPr kumimoji="1" lang="en-US" altLang="zh-CN" dirty="0"/>
              <a:t>phi</a:t>
            </a:r>
          </a:p>
          <a:p>
            <a:r>
              <a:rPr kumimoji="1" lang="zh-CN" altLang="en-US" dirty="0"/>
              <a:t>其实</a:t>
            </a:r>
            <a:r>
              <a:rPr kumimoji="1" lang="en-US" altLang="zh-CN" dirty="0"/>
              <a:t>phi</a:t>
            </a:r>
            <a:r>
              <a:rPr kumimoji="1" lang="zh-CN" altLang="en-US" dirty="0"/>
              <a:t>很难求，但好事是我们也不真的需要求出</a:t>
            </a:r>
            <a:r>
              <a:rPr kumimoji="1" lang="en-US" altLang="zh-CN" dirty="0"/>
              <a:t>phi</a:t>
            </a:r>
          </a:p>
          <a:p>
            <a:endParaRPr kumimoji="1" lang="en-US" altLang="zh-CN" dirty="0"/>
          </a:p>
          <a:p>
            <a:r>
              <a:rPr kumimoji="1" lang="zh-CN" altLang="en-US" dirty="0"/>
              <a:t>最终的决策函数中可以不用</a:t>
            </a:r>
            <a:r>
              <a:rPr kumimoji="1" lang="en-US" altLang="zh-CN" dirty="0"/>
              <a:t>phi</a:t>
            </a:r>
          </a:p>
          <a:p>
            <a:endParaRPr kumimoji="1" lang="en-US" altLang="zh-CN" dirty="0"/>
          </a:p>
          <a:p>
            <a:r>
              <a:rPr lang="zh-CN" altLang="en-US" dirty="0"/>
              <a:t>还有什么问题？公式需要记住所有的训练数据？</a:t>
            </a:r>
            <a:endParaRPr lang="en-US" altLang="zh-CN" dirty="0"/>
          </a:p>
          <a:p>
            <a:endParaRPr lang="en-US" altLang="zh-CN" dirty="0"/>
          </a:p>
          <a:p>
            <a:r>
              <a:rPr lang="zh-CN" altLang="en-US" dirty="0"/>
              <a:t>只需要支持向量，但如果支持向量太多，计算复杂度也会增加</a:t>
            </a:r>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58</a:t>
            </a:fld>
            <a:endParaRPr lang="en-US"/>
          </a:p>
        </p:txBody>
      </p:sp>
    </p:spTree>
    <p:extLst>
      <p:ext uri="{BB962C8B-B14F-4D97-AF65-F5344CB8AC3E}">
        <p14:creationId xmlns:p14="http://schemas.microsoft.com/office/powerpoint/2010/main" val="23087987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a:ln/>
        </p:spPr>
      </p:sp>
      <p:sp>
        <p:nvSpPr>
          <p:cNvPr id="150531" name="备注占位符 2"/>
          <p:cNvSpPr>
            <a:spLocks noGrp="1"/>
          </p:cNvSpPr>
          <p:nvPr>
            <p:ph type="body" idx="1"/>
          </p:nvPr>
        </p:nvSpPr>
        <p:spPr>
          <a:noFill/>
          <a:ln/>
        </p:spPr>
        <p:txBody>
          <a:bodyPr/>
          <a:lstStyle/>
          <a:p>
            <a:r>
              <a:rPr lang="en-US" altLang="zh-CN">
                <a:ea typeface="黑体" pitchFamily="49" charset="-122"/>
              </a:rPr>
              <a:t>GRAM</a:t>
            </a:r>
            <a:r>
              <a:rPr lang="zh-CN" altLang="en-US">
                <a:ea typeface="黑体" pitchFamily="49" charset="-122"/>
              </a:rPr>
              <a:t>矩阵：</a:t>
            </a:r>
            <a:r>
              <a:rPr lang="en-US" altLang="zh-CN">
                <a:ea typeface="黑体" pitchFamily="49" charset="-122"/>
              </a:rPr>
              <a:t>{xi}</a:t>
            </a:r>
            <a:r>
              <a:rPr lang="zh-CN" altLang="en-US">
                <a:ea typeface="黑体" pitchFamily="49" charset="-122"/>
              </a:rPr>
              <a:t>为</a:t>
            </a:r>
            <a:r>
              <a:rPr lang="en-US" altLang="zh-CN">
                <a:ea typeface="黑体" pitchFamily="49" charset="-122"/>
              </a:rPr>
              <a:t>N</a:t>
            </a:r>
            <a:r>
              <a:rPr lang="zh-CN" altLang="en-US">
                <a:ea typeface="黑体" pitchFamily="49" charset="-122"/>
              </a:rPr>
              <a:t>个样本，</a:t>
            </a:r>
            <a:r>
              <a:rPr lang="en-US" altLang="zh-CN">
                <a:ea typeface="黑体" pitchFamily="49" charset="-122"/>
              </a:rPr>
              <a:t>[K(xi,xj)]N*N</a:t>
            </a:r>
            <a:r>
              <a:rPr lang="zh-CN" altLang="en-US">
                <a:ea typeface="黑体" pitchFamily="49" charset="-122"/>
              </a:rPr>
              <a:t>，即对所有的样本点用</a:t>
            </a:r>
            <a:r>
              <a:rPr lang="en-US" altLang="zh-CN">
                <a:ea typeface="黑体" pitchFamily="49" charset="-122"/>
              </a:rPr>
              <a:t>fai(xi).fai(xj)</a:t>
            </a:r>
            <a:endParaRPr lang="zh-CN" altLang="en-US">
              <a:ea typeface="黑体" pitchFamily="49" charset="-122"/>
            </a:endParaRPr>
          </a:p>
        </p:txBody>
      </p:sp>
      <p:sp>
        <p:nvSpPr>
          <p:cNvPr id="150532" name="灯片编号占位符 3"/>
          <p:cNvSpPr>
            <a:spLocks noGrp="1"/>
          </p:cNvSpPr>
          <p:nvPr>
            <p:ph type="sldNum" sz="quarter" idx="5"/>
          </p:nvPr>
        </p:nvSpPr>
        <p:spPr>
          <a:noFill/>
        </p:spPr>
        <p:txBody>
          <a:bodyPr/>
          <a:lstStyle/>
          <a:p>
            <a:fld id="{63F10186-1D96-40DF-8E2C-9870E5FAE4C9}" type="slidenum">
              <a:rPr lang="en-US" altLang="zh-CN" smtClean="0">
                <a:ea typeface="黑体" pitchFamily="49" charset="-122"/>
              </a:rPr>
              <a:pPr/>
              <a:t>59</a:t>
            </a:fld>
            <a:endParaRPr lang="en-US" altLang="zh-CN">
              <a:ea typeface="黑体" pitchFamily="49" charset="-122"/>
            </a:endParaRPr>
          </a:p>
        </p:txBody>
      </p:sp>
    </p:spTree>
    <p:extLst>
      <p:ext uri="{BB962C8B-B14F-4D97-AF65-F5344CB8AC3E}">
        <p14:creationId xmlns:p14="http://schemas.microsoft.com/office/powerpoint/2010/main" val="27387814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202122"/>
                </a:solidFill>
                <a:effectLst/>
                <a:latin typeface="Arial" panose="020B0604020202020204" pitchFamily="34" charset="0"/>
              </a:rPr>
              <a:t>迭代算法，取出一个</a:t>
            </a:r>
            <a:r>
              <a:rPr lang="en-US" altLang="zh-CN" b="0" i="0" u="none" strike="noStrike" dirty="0">
                <a:solidFill>
                  <a:srgbClr val="202122"/>
                </a:solidFill>
                <a:effectLst/>
                <a:latin typeface="Arial" panose="020B0604020202020204" pitchFamily="34" charset="0"/>
              </a:rPr>
              <a:t>alpha</a:t>
            </a:r>
            <a:r>
              <a:rPr lang="zh-CN" altLang="en-US" b="0" i="0" u="none" strike="noStrike" dirty="0">
                <a:solidFill>
                  <a:srgbClr val="202122"/>
                </a:solidFill>
                <a:effectLst/>
                <a:latin typeface="Arial" panose="020B0604020202020204" pitchFamily="34" charset="0"/>
              </a:rPr>
              <a:t> </a:t>
            </a:r>
            <a:r>
              <a:rPr lang="en-US" altLang="zh-CN" b="0" i="0" u="none" strike="noStrike" dirty="0">
                <a:solidFill>
                  <a:srgbClr val="202122"/>
                </a:solidFill>
                <a:effectLst/>
                <a:latin typeface="Arial" panose="020B0604020202020204" pitchFamily="34" charset="0"/>
              </a:rPr>
              <a:t>pair</a:t>
            </a:r>
            <a:r>
              <a:rPr lang="zh-CN" altLang="en-US" b="0" i="0" u="none" strike="noStrike" dirty="0">
                <a:solidFill>
                  <a:srgbClr val="202122"/>
                </a:solidFill>
                <a:effectLst/>
                <a:latin typeface="Arial" panose="020B0604020202020204" pitchFamily="34" charset="0"/>
              </a:rPr>
              <a:t> </a:t>
            </a:r>
            <a:r>
              <a:rPr lang="en-US" altLang="zh-CN" b="0" i="0" u="none" strike="noStrike" dirty="0">
                <a:solidFill>
                  <a:srgbClr val="202122"/>
                </a:solidFill>
                <a:effectLst/>
                <a:latin typeface="Arial" panose="020B0604020202020204" pitchFamily="34" charset="0"/>
              </a:rPr>
              <a:t>(</a:t>
            </a:r>
            <a:r>
              <a:rPr lang="zh-CN" altLang="en-US" b="0" i="0" u="none" strike="noStrike" dirty="0">
                <a:solidFill>
                  <a:srgbClr val="202122"/>
                </a:solidFill>
                <a:effectLst/>
                <a:latin typeface="Arial" panose="020B0604020202020204" pitchFamily="34" charset="0"/>
              </a:rPr>
              <a:t>如</a:t>
            </a:r>
            <a:r>
              <a:rPr lang="en-US" altLang="zh-CN" b="0" i="0" u="none" strike="noStrike" dirty="0">
                <a:solidFill>
                  <a:srgbClr val="202122"/>
                </a:solidFill>
                <a:effectLst/>
                <a:latin typeface="Arial" panose="020B0604020202020204" pitchFamily="34" charset="0"/>
              </a:rPr>
              <a:t>alpha1</a:t>
            </a:r>
            <a:r>
              <a:rPr lang="zh-CN" altLang="en-US" b="0" i="0" u="none" strike="noStrike" dirty="0">
                <a:solidFill>
                  <a:srgbClr val="202122"/>
                </a:solidFill>
                <a:effectLst/>
                <a:latin typeface="Arial" panose="020B0604020202020204" pitchFamily="34" charset="0"/>
              </a:rPr>
              <a:t> 和 </a:t>
            </a:r>
            <a:r>
              <a:rPr lang="en-US" altLang="zh-CN" b="0" i="0" u="none" strike="noStrike" dirty="0">
                <a:solidFill>
                  <a:srgbClr val="202122"/>
                </a:solidFill>
                <a:effectLst/>
                <a:latin typeface="Arial" panose="020B0604020202020204" pitchFamily="34" charset="0"/>
              </a:rPr>
              <a:t>alpha2)</a:t>
            </a:r>
            <a:r>
              <a:rPr lang="zh-CN" altLang="en-US" b="0" i="0" u="none" strike="noStrike" dirty="0">
                <a:solidFill>
                  <a:srgbClr val="202122"/>
                </a:solidFill>
                <a:effectLst/>
                <a:latin typeface="Arial" panose="020B0604020202020204" pitchFamily="34" charset="0"/>
              </a:rPr>
              <a:t>，固定其他</a:t>
            </a:r>
            <a:r>
              <a:rPr lang="en-US" altLang="zh-CN" b="0" i="0" u="none" strike="noStrike" dirty="0">
                <a:solidFill>
                  <a:srgbClr val="202122"/>
                </a:solidFill>
                <a:effectLst/>
                <a:latin typeface="Arial" panose="020B0604020202020204" pitchFamily="34" charset="0"/>
              </a:rPr>
              <a:t>alpha</a:t>
            </a:r>
            <a:r>
              <a:rPr lang="zh-CN" altLang="en-US" b="0" i="0" u="none" strike="noStrike" dirty="0">
                <a:solidFill>
                  <a:srgbClr val="202122"/>
                </a:solidFill>
                <a:effectLst/>
                <a:latin typeface="Arial" panose="020B0604020202020204" pitchFamily="34" charset="0"/>
              </a:rPr>
              <a:t>，求出</a:t>
            </a:r>
            <a:r>
              <a:rPr lang="en-US" altLang="zh-CN" b="0" i="0" u="none" strike="noStrike" dirty="0">
                <a:solidFill>
                  <a:srgbClr val="202122"/>
                </a:solidFill>
                <a:effectLst/>
                <a:latin typeface="Arial" panose="020B0604020202020204" pitchFamily="34" charset="0"/>
              </a:rPr>
              <a:t>alpha1</a:t>
            </a:r>
            <a:r>
              <a:rPr lang="zh-CN" altLang="en-US" b="0" i="0" u="none" strike="noStrike" dirty="0">
                <a:solidFill>
                  <a:srgbClr val="202122"/>
                </a:solidFill>
                <a:effectLst/>
                <a:latin typeface="Arial" panose="020B0604020202020204" pitchFamily="34" charset="0"/>
              </a:rPr>
              <a:t>和</a:t>
            </a:r>
            <a:r>
              <a:rPr lang="en-US" altLang="zh-CN" b="0" i="0" u="none" strike="noStrike" dirty="0">
                <a:solidFill>
                  <a:srgbClr val="202122"/>
                </a:solidFill>
                <a:effectLst/>
                <a:latin typeface="Arial" panose="020B0604020202020204" pitchFamily="34" charset="0"/>
              </a:rPr>
              <a:t>2</a:t>
            </a:r>
            <a:r>
              <a:rPr lang="zh-CN" altLang="en-US" b="0" i="0" u="none" strike="noStrike" dirty="0">
                <a:solidFill>
                  <a:srgbClr val="202122"/>
                </a:solidFill>
                <a:effectLst/>
                <a:latin typeface="Arial" panose="020B0604020202020204" pitchFamily="34" charset="0"/>
              </a:rPr>
              <a:t>的最佳值，</a:t>
            </a:r>
            <a:endParaRPr lang="en-US" altLang="zh-CN" b="0" i="0" u="none" strike="noStrike" dirty="0">
              <a:solidFill>
                <a:srgbClr val="202122"/>
              </a:solidFill>
              <a:effectLst/>
              <a:latin typeface="Arial" panose="020B0604020202020204" pitchFamily="34" charset="0"/>
            </a:endParaRPr>
          </a:p>
          <a:p>
            <a:pPr algn="l"/>
            <a:r>
              <a:rPr lang="zh-CN" altLang="en-US" b="0" i="0" u="none" strike="noStrike" dirty="0">
                <a:solidFill>
                  <a:srgbClr val="202122"/>
                </a:solidFill>
                <a:effectLst/>
                <a:latin typeface="Arial" panose="020B0604020202020204" pitchFamily="34" charset="0"/>
              </a:rPr>
              <a:t>重复上述步骤，直到算法收敛</a:t>
            </a:r>
            <a:endParaRPr lang="en-US" altLang="zh-CN" b="0" i="0" u="none" strike="noStrike" dirty="0">
              <a:solidFill>
                <a:srgbClr val="202122"/>
              </a:solidFill>
              <a:effectLst/>
              <a:latin typeface="Arial" panose="020B0604020202020204" pitchFamily="34" charset="0"/>
            </a:endParaRPr>
          </a:p>
          <a:p>
            <a:pPr algn="l"/>
            <a:endParaRPr lang="en-US" altLang="zh-CN" b="0" i="0" u="none" strike="noStrike" dirty="0">
              <a:solidFill>
                <a:srgbClr val="202122"/>
              </a:solidFill>
              <a:effectLst/>
              <a:latin typeface="Arial" panose="020B0604020202020204" pitchFamily="34" charset="0"/>
            </a:endParaRPr>
          </a:p>
          <a:p>
            <a:pPr algn="l"/>
            <a:r>
              <a:rPr lang="en-US" altLang="zh-CN" b="0" i="0" u="none" strike="noStrike" dirty="0">
                <a:solidFill>
                  <a:srgbClr val="202122"/>
                </a:solidFill>
                <a:effectLst/>
                <a:latin typeface="Arial" panose="020B0604020202020204" pitchFamily="34" charset="0"/>
              </a:rPr>
              <a:t>SMO is an iterative algorithm for solving the optimization problem described above. SMO breaks this problem into a series of smallest possible sub-problems, which are then solved analytically. Because of the linear equality constraint involving the Lagrange multipliers </a:t>
            </a:r>
            <a:r>
              <a:rPr lang="el-GR" altLang="zh-CN" b="0" i="0" u="none" strike="noStrike" dirty="0">
                <a:solidFill>
                  <a:srgbClr val="202122"/>
                </a:solidFill>
                <a:effectLst/>
                <a:latin typeface="Arial" panose="020B0604020202020204" pitchFamily="34" charset="0"/>
              </a:rPr>
              <a:t>α</a:t>
            </a:r>
            <a:r>
              <a:rPr lang="en-US" altLang="zh-CN" b="0" i="0" u="none" strike="noStrike" dirty="0" err="1">
                <a:solidFill>
                  <a:srgbClr val="202122"/>
                </a:solidFill>
                <a:effectLst/>
                <a:latin typeface="Arial" panose="020B0604020202020204" pitchFamily="34" charset="0"/>
              </a:rPr>
              <a:t>i</a:t>
            </a:r>
            <a:r>
              <a:rPr lang="en-US" altLang="zh-CN" b="0" i="0" u="none" strike="noStrike" dirty="0">
                <a:solidFill>
                  <a:srgbClr val="202122"/>
                </a:solidFill>
                <a:effectLst/>
                <a:latin typeface="Arial" panose="020B0604020202020204" pitchFamily="34" charset="0"/>
              </a:rPr>
              <a:t>, the smallest possible problem involves two such multipliers. Then, for any two multipliers </a:t>
            </a:r>
            <a:r>
              <a:rPr lang="el-GR" altLang="zh-CN" b="0" i="0" u="none" strike="noStrike" dirty="0">
                <a:solidFill>
                  <a:srgbClr val="202122"/>
                </a:solidFill>
                <a:effectLst/>
                <a:latin typeface="Arial" panose="020B0604020202020204" pitchFamily="34" charset="0"/>
              </a:rPr>
              <a:t>α1 </a:t>
            </a:r>
            <a:r>
              <a:rPr lang="en-US" altLang="zh-CN" b="0" i="0" u="none" strike="noStrike" dirty="0">
                <a:solidFill>
                  <a:srgbClr val="202122"/>
                </a:solidFill>
                <a:effectLst/>
                <a:latin typeface="Arial" panose="020B0604020202020204" pitchFamily="34" charset="0"/>
              </a:rPr>
              <a:t>and </a:t>
            </a:r>
            <a:r>
              <a:rPr lang="el-GR" altLang="zh-CN" b="0" i="0" u="none" strike="noStrike" dirty="0">
                <a:solidFill>
                  <a:srgbClr val="202122"/>
                </a:solidFill>
                <a:effectLst/>
                <a:latin typeface="Arial" panose="020B0604020202020204" pitchFamily="34" charset="0"/>
              </a:rPr>
              <a:t>α2, </a:t>
            </a:r>
            <a:r>
              <a:rPr lang="en-US" altLang="zh-CN" b="0" i="0" u="none" strike="noStrike" dirty="0">
                <a:solidFill>
                  <a:srgbClr val="202122"/>
                </a:solidFill>
                <a:effectLst/>
                <a:latin typeface="Arial" panose="020B0604020202020204" pitchFamily="34" charset="0"/>
              </a:rPr>
              <a:t>the constraints are reduced to:</a:t>
            </a:r>
          </a:p>
          <a:p>
            <a:pPr algn="l"/>
            <a:r>
              <a:rPr lang="en-US" altLang="zh-CN" dirty="0">
                <a:effectLst/>
              </a:rPr>
              <a:t>0≤</a:t>
            </a:r>
            <a:r>
              <a:rPr lang="el-GR" altLang="zh-CN" dirty="0">
                <a:effectLst/>
              </a:rPr>
              <a:t>α1,α2≤</a:t>
            </a:r>
            <a:r>
              <a:rPr lang="en-US" altLang="zh-CN" dirty="0">
                <a:effectLst/>
              </a:rPr>
              <a:t>C,y1</a:t>
            </a:r>
            <a:r>
              <a:rPr lang="el-GR" altLang="zh-CN" dirty="0">
                <a:effectLst/>
              </a:rPr>
              <a:t>α1+</a:t>
            </a:r>
            <a:r>
              <a:rPr lang="en-US" altLang="zh-CN" dirty="0">
                <a:effectLst/>
              </a:rPr>
              <a:t>y2</a:t>
            </a:r>
            <a:r>
              <a:rPr lang="el-GR" altLang="zh-CN" dirty="0">
                <a:effectLst/>
              </a:rPr>
              <a:t>α2=</a:t>
            </a:r>
            <a:r>
              <a:rPr lang="en-US" altLang="zh-CN" dirty="0" err="1">
                <a:effectLst/>
              </a:rPr>
              <a:t>k,</a:t>
            </a:r>
            <a:r>
              <a:rPr lang="en-US" altLang="zh-CN" b="0" i="0" u="none" strike="noStrike" dirty="0" err="1">
                <a:solidFill>
                  <a:srgbClr val="202122"/>
                </a:solidFill>
                <a:effectLst/>
                <a:latin typeface="Arial" panose="020B0604020202020204" pitchFamily="34" charset="0"/>
              </a:rPr>
              <a:t>and</a:t>
            </a:r>
            <a:r>
              <a:rPr lang="en-US" altLang="zh-CN" b="0" i="0" u="none" strike="noStrike" dirty="0">
                <a:solidFill>
                  <a:srgbClr val="202122"/>
                </a:solidFill>
                <a:effectLst/>
                <a:latin typeface="Arial" panose="020B0604020202020204" pitchFamily="34" charset="0"/>
              </a:rPr>
              <a:t> this reduced problem can be solved analytically: one needs to find a minimum of a one-dimensional quadratic function. k is the negative of the sum over the rest of terms in the equality constraint, which is fixed in each iteration.</a:t>
            </a:r>
          </a:p>
          <a:p>
            <a:endParaRPr lang="en-US" altLang="zh-CN" dirty="0"/>
          </a:p>
        </p:txBody>
      </p:sp>
      <p:sp>
        <p:nvSpPr>
          <p:cNvPr id="4" name="灯片编号占位符 3"/>
          <p:cNvSpPr>
            <a:spLocks noGrp="1"/>
          </p:cNvSpPr>
          <p:nvPr>
            <p:ph type="sldNum" sz="quarter" idx="10"/>
          </p:nvPr>
        </p:nvSpPr>
        <p:spPr/>
        <p:txBody>
          <a:bodyPr/>
          <a:lstStyle/>
          <a:p>
            <a:fld id="{D50AF6DD-051E-413B-8808-23D5AB3BD9E4}" type="slidenum">
              <a:rPr lang="en-US" smtClean="0"/>
              <a:pPr/>
              <a:t>62</a:t>
            </a:fld>
            <a:endParaRPr lang="en-US"/>
          </a:p>
        </p:txBody>
      </p:sp>
    </p:spTree>
    <p:extLst>
      <p:ext uri="{BB962C8B-B14F-4D97-AF65-F5344CB8AC3E}">
        <p14:creationId xmlns:p14="http://schemas.microsoft.com/office/powerpoint/2010/main" val="4648398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最大分类函数值是啥？就是在某个分类器里离决策函数的距离</a:t>
            </a:r>
            <a:endParaRPr kumimoji="1" lang="en-US" altLang="zh-CN" dirty="0"/>
          </a:p>
          <a:p>
            <a:endParaRPr kumimoji="1" lang="en-US" altLang="zh-CN" dirty="0"/>
          </a:p>
          <a:p>
            <a:r>
              <a:rPr kumimoji="1" lang="zh-CN" altLang="en-US" dirty="0"/>
              <a:t>一对一的效果最好，但复杂度太高，构造好多个分类器</a:t>
            </a:r>
          </a:p>
        </p:txBody>
      </p:sp>
      <p:sp>
        <p:nvSpPr>
          <p:cNvPr id="4" name="灯片编号占位符 3"/>
          <p:cNvSpPr>
            <a:spLocks noGrp="1"/>
          </p:cNvSpPr>
          <p:nvPr>
            <p:ph type="sldNum" sz="quarter" idx="5"/>
          </p:nvPr>
        </p:nvSpPr>
        <p:spPr/>
        <p:txBody>
          <a:bodyPr/>
          <a:lstStyle/>
          <a:p>
            <a:fld id="{D50AF6DD-051E-413B-8808-23D5AB3BD9E4}" type="slidenum">
              <a:rPr lang="en-US" smtClean="0"/>
              <a:pPr/>
              <a:t>63</a:t>
            </a:fld>
            <a:endParaRPr lang="en-US"/>
          </a:p>
        </p:txBody>
      </p:sp>
    </p:spTree>
    <p:extLst>
      <p:ext uri="{BB962C8B-B14F-4D97-AF65-F5344CB8AC3E}">
        <p14:creationId xmlns:p14="http://schemas.microsoft.com/office/powerpoint/2010/main" val="37054486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第</a:t>
            </a:r>
            <a:r>
              <a:rPr kumimoji="1" lang="en-US" altLang="zh-CN" dirty="0"/>
              <a:t>13</a:t>
            </a:r>
            <a:r>
              <a:rPr kumimoji="1" lang="zh-CN" altLang="en-US" dirty="0"/>
              <a:t>堂课第一节结束</a:t>
            </a:r>
          </a:p>
          <a:p>
            <a:endParaRPr kumimoji="1"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65</a:t>
            </a:fld>
            <a:endParaRPr lang="en-US"/>
          </a:p>
        </p:txBody>
      </p:sp>
    </p:spTree>
    <p:extLst>
      <p:ext uri="{BB962C8B-B14F-4D97-AF65-F5344CB8AC3E}">
        <p14:creationId xmlns:p14="http://schemas.microsoft.com/office/powerpoint/2010/main" val="18398635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为啥加</a:t>
            </a:r>
            <a:r>
              <a:rPr kumimoji="1" lang="en-US" altLang="zh-CN" dirty="0"/>
              <a:t>log</a:t>
            </a:r>
            <a:r>
              <a:rPr kumimoji="1" lang="zh-CN" altLang="en-US" dirty="0"/>
              <a:t>？</a:t>
            </a:r>
          </a:p>
        </p:txBody>
      </p:sp>
      <p:sp>
        <p:nvSpPr>
          <p:cNvPr id="4" name="灯片编号占位符 3"/>
          <p:cNvSpPr>
            <a:spLocks noGrp="1"/>
          </p:cNvSpPr>
          <p:nvPr>
            <p:ph type="sldNum" sz="quarter" idx="5"/>
          </p:nvPr>
        </p:nvSpPr>
        <p:spPr/>
        <p:txBody>
          <a:bodyPr/>
          <a:lstStyle/>
          <a:p>
            <a:fld id="{D50AF6DD-051E-413B-8808-23D5AB3BD9E4}" type="slidenum">
              <a:rPr lang="en-US" smtClean="0"/>
              <a:pPr/>
              <a:t>67</a:t>
            </a:fld>
            <a:endParaRPr lang="en-US"/>
          </a:p>
        </p:txBody>
      </p:sp>
    </p:spTree>
    <p:extLst>
      <p:ext uri="{BB962C8B-B14F-4D97-AF65-F5344CB8AC3E}">
        <p14:creationId xmlns:p14="http://schemas.microsoft.com/office/powerpoint/2010/main" val="1296565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TextEdit="1"/>
          </p:cNvSpPr>
          <p:nvPr>
            <p:ph type="sldImg"/>
          </p:nvPr>
        </p:nvSpPr>
        <p:spPr>
          <a:ln/>
        </p:spPr>
      </p:sp>
      <p:sp>
        <p:nvSpPr>
          <p:cNvPr id="155651" name="备注占位符 2"/>
          <p:cNvSpPr>
            <a:spLocks noGrp="1"/>
          </p:cNvSpPr>
          <p:nvPr>
            <p:ph type="body" idx="1"/>
          </p:nvPr>
        </p:nvSpPr>
        <p:spPr>
          <a:noFill/>
          <a:ln/>
        </p:spPr>
        <p:txBody>
          <a:bodyPr/>
          <a:lstStyle/>
          <a:p>
            <a:r>
              <a:rPr lang="zh-CN" altLang="en-US" dirty="0">
                <a:ea typeface="黑体" pitchFamily="49" charset="-122"/>
              </a:rPr>
              <a:t>本科生，</a:t>
            </a:r>
            <a:r>
              <a:rPr lang="en-US" altLang="zh-CN" dirty="0">
                <a:ea typeface="黑体" pitchFamily="49" charset="-122"/>
              </a:rPr>
              <a:t>2019</a:t>
            </a:r>
            <a:r>
              <a:rPr lang="zh-CN" altLang="en-US" dirty="0">
                <a:ea typeface="黑体" pitchFamily="49" charset="-122"/>
              </a:rPr>
              <a:t>。</a:t>
            </a:r>
            <a:r>
              <a:rPr lang="en-US" altLang="zh-CN" dirty="0">
                <a:ea typeface="黑体" pitchFamily="49" charset="-122"/>
              </a:rPr>
              <a:t>5.14</a:t>
            </a:r>
            <a:endParaRPr lang="zh-CN" altLang="en-US" dirty="0">
              <a:ea typeface="黑体" pitchFamily="49" charset="-122"/>
            </a:endParaRPr>
          </a:p>
        </p:txBody>
      </p:sp>
      <p:sp>
        <p:nvSpPr>
          <p:cNvPr id="155652" name="灯片编号占位符 3"/>
          <p:cNvSpPr>
            <a:spLocks noGrp="1"/>
          </p:cNvSpPr>
          <p:nvPr>
            <p:ph type="sldNum" sz="quarter" idx="5"/>
          </p:nvPr>
        </p:nvSpPr>
        <p:spPr>
          <a:noFill/>
        </p:spPr>
        <p:txBody>
          <a:bodyPr/>
          <a:lstStyle/>
          <a:p>
            <a:fld id="{11F9C467-631C-4AEB-92A6-7B650265FEC7}" type="slidenum">
              <a:rPr lang="en-US" altLang="zh-CN" smtClean="0">
                <a:ea typeface="黑体" pitchFamily="49" charset="-122"/>
              </a:rPr>
              <a:pPr/>
              <a:t>70</a:t>
            </a:fld>
            <a:endParaRPr lang="en-US" altLang="zh-CN">
              <a:ea typeface="黑体" pitchFamily="49" charset="-122"/>
            </a:endParaRPr>
          </a:p>
        </p:txBody>
      </p:sp>
    </p:spTree>
    <p:extLst>
      <p:ext uri="{BB962C8B-B14F-4D97-AF65-F5344CB8AC3E}">
        <p14:creationId xmlns:p14="http://schemas.microsoft.com/office/powerpoint/2010/main" val="9735073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本科，</a:t>
            </a:r>
            <a:r>
              <a:rPr lang="en-US" altLang="zh-CN" dirty="0"/>
              <a:t>20200525</a:t>
            </a:r>
            <a:endParaRPr lang="zh-CN" altLang="en-US" dirty="0"/>
          </a:p>
        </p:txBody>
      </p:sp>
      <p:sp>
        <p:nvSpPr>
          <p:cNvPr id="4" name="灯片编号占位符 3"/>
          <p:cNvSpPr>
            <a:spLocks noGrp="1"/>
          </p:cNvSpPr>
          <p:nvPr>
            <p:ph type="sldNum" sz="quarter" idx="10"/>
          </p:nvPr>
        </p:nvSpPr>
        <p:spPr/>
        <p:txBody>
          <a:bodyPr/>
          <a:lstStyle/>
          <a:p>
            <a:fld id="{D50AF6DD-051E-413B-8808-23D5AB3BD9E4}" type="slidenum">
              <a:rPr lang="en-US" smtClean="0"/>
              <a:pPr/>
              <a:t>71</a:t>
            </a:fld>
            <a:endParaRPr lang="en-US"/>
          </a:p>
        </p:txBody>
      </p:sp>
    </p:spTree>
    <p:extLst>
      <p:ext uri="{BB962C8B-B14F-4D97-AF65-F5344CB8AC3E}">
        <p14:creationId xmlns:p14="http://schemas.microsoft.com/office/powerpoint/2010/main" val="16933046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20220523</a:t>
            </a:r>
            <a:endParaRPr lang="zh-CN" altLang="en-US" dirty="0"/>
          </a:p>
        </p:txBody>
      </p:sp>
      <p:sp>
        <p:nvSpPr>
          <p:cNvPr id="4" name="灯片编号占位符 3"/>
          <p:cNvSpPr>
            <a:spLocks noGrp="1"/>
          </p:cNvSpPr>
          <p:nvPr>
            <p:ph type="sldNum" sz="quarter" idx="5"/>
          </p:nvPr>
        </p:nvSpPr>
        <p:spPr/>
        <p:txBody>
          <a:bodyPr/>
          <a:lstStyle/>
          <a:p>
            <a:fld id="{D50AF6DD-051E-413B-8808-23D5AB3BD9E4}" type="slidenum">
              <a:rPr lang="en-US" smtClean="0"/>
              <a:pPr/>
              <a:t>72</a:t>
            </a:fld>
            <a:endParaRPr lang="en-US"/>
          </a:p>
        </p:txBody>
      </p:sp>
    </p:spTree>
    <p:extLst>
      <p:ext uri="{BB962C8B-B14F-4D97-AF65-F5344CB8AC3E}">
        <p14:creationId xmlns:p14="http://schemas.microsoft.com/office/powerpoint/2010/main" val="655602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535101B3-0010-49BE-8236-66B90211FF04}" type="datetime1">
              <a:rPr lang="en-US" altLang="zh-CN" smtClean="0"/>
              <a:pPr/>
              <a:t>6/1/26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501D8D0-7646-4D22-887C-459A4F2FEB61}"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solidFill>
                  <a:srgbClr val="C00000"/>
                </a:solidFill>
                <a:latin typeface="Times New Roman" pitchFamily="18" charset="0"/>
                <a:cs typeface="Times New Roman" pitchFamily="18" charset="0"/>
              </a:defRPr>
            </a:lvl1pPr>
          </a:lstStyle>
          <a:p>
            <a:r>
              <a:rPr kumimoji="0" lang="en-US" dirty="0"/>
              <a:t>Click to edit Master title style</a:t>
            </a:r>
          </a:p>
        </p:txBody>
      </p:sp>
      <p:sp>
        <p:nvSpPr>
          <p:cNvPr id="4" name="Date Placeholder 3"/>
          <p:cNvSpPr>
            <a:spLocks noGrp="1"/>
          </p:cNvSpPr>
          <p:nvPr>
            <p:ph type="dt" sz="half" idx="10"/>
          </p:nvPr>
        </p:nvSpPr>
        <p:spPr/>
        <p:txBody>
          <a:bodyPr/>
          <a:lstStyle/>
          <a:p>
            <a:fld id="{79694328-A6FB-477A-B9C5-7FEFDBDE1042}" type="datetime1">
              <a:rPr lang="en-US" altLang="zh-CN" smtClean="0"/>
              <a:pPr/>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lvl1pPr>
              <a:buFontTx/>
              <a:buBlip>
                <a:blip r:embed="rId2"/>
              </a:buBlip>
              <a:defRPr/>
            </a:lvl1pPr>
            <a:lvl2pPr>
              <a:buClr>
                <a:srgbClr val="503DDB"/>
              </a:buClr>
              <a:buSzPct val="45000"/>
              <a:buFont typeface="Wingdings" pitchFamily="2" charset="2"/>
              <a:buChar char="q"/>
              <a:defRPr/>
            </a:lvl2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pic>
        <p:nvPicPr>
          <p:cNvPr id="302081" name="Picture 1" descr="E:\resume\logo-tsinghua.jpg"/>
          <p:cNvPicPr>
            <a:picLocks noChangeAspect="1" noChangeArrowheads="1"/>
          </p:cNvPicPr>
          <p:nvPr userDrawn="1"/>
        </p:nvPicPr>
        <p:blipFill>
          <a:blip r:embed="rId3" cstate="print"/>
          <a:srcRect/>
          <a:stretch>
            <a:fillRect/>
          </a:stretch>
        </p:blipFill>
        <p:spPr bwMode="auto">
          <a:xfrm>
            <a:off x="6851560" y="90151"/>
            <a:ext cx="2045531" cy="643813"/>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5629C65-C267-4342-9116-A00B6E7C55AD}" type="datetime1">
              <a:rPr lang="en-US" altLang="zh-CN" smtClean="0"/>
              <a:pPr/>
              <a:t>6/1/26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5501D8D0-7646-4D22-887C-459A4F2FEB6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BC48BA6D-2268-450C-9E6F-6553A2809D14}" type="datetime1">
              <a:rPr lang="en-US" altLang="zh-CN" smtClean="0"/>
              <a:pPr/>
              <a:t>6/1/26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01D8D0-7646-4D22-887C-459A4F2FEB61}"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1976173-FFAF-40B2-BD71-0C474124F5CA}" type="datetime1">
              <a:rPr lang="en-US" altLang="zh-CN" smtClean="0"/>
              <a:pPr/>
              <a:t>6/1/26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01D8D0-7646-4D22-887C-459A4F2FEB61}"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02EAAC5F-3C7D-47E2-8137-0D0E13270C17}" type="datetime1">
              <a:rPr lang="en-US" altLang="zh-CN" smtClean="0"/>
              <a:pPr/>
              <a:t>6/1/26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B44C75-2845-4A49-8407-B10E57DDCB66}" type="datetime1">
              <a:rPr lang="en-US" altLang="zh-CN" smtClean="0"/>
              <a:pPr/>
              <a:t>6/1/26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49D93C6-C0E5-4C94-83B0-EBE524181AA9}" type="datetime1">
              <a:rPr lang="en-US" altLang="zh-CN" smtClean="0"/>
              <a:pPr/>
              <a:t>6/1/26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01D8D0-7646-4D22-887C-459A4F2FEB61}"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5A46CFF-7119-486E-A242-14937EB72380}" type="datetime1">
              <a:rPr lang="en-US" altLang="zh-CN" smtClean="0"/>
              <a:pPr/>
              <a:t>6/1/26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5501D8D0-7646-4D22-887C-459A4F2FEB61}"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C97D574-52BE-4187-8AF7-E201A70CB6DC}" type="datetime1">
              <a:rPr lang="en-US" altLang="zh-CN" smtClean="0"/>
              <a:pPr/>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6CC6442-F0BB-4DBA-B030-4A0192701801}" type="datetime1">
              <a:rPr lang="en-US" altLang="zh-CN" smtClean="0"/>
              <a:pPr/>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01D8D0-7646-4D22-887C-459A4F2FEB6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917F057F-A64E-4BDF-9C5A-7B9C1755BBD0}" type="datetime1">
              <a:rPr lang="en-US" altLang="zh-CN" smtClean="0"/>
              <a:pPr/>
              <a:t>6/1/26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501D8D0-7646-4D22-887C-459A4F2FEB6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5.bin"/><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9.jpe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10.jpeg"/><Relationship Id="rId4" Type="http://schemas.openxmlformats.org/officeDocument/2006/relationships/image" Target="../media/image14.png"/><Relationship Id="rId9"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8.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8.bin"/><Relationship Id="rId10" Type="http://schemas.openxmlformats.org/officeDocument/2006/relationships/image" Target="../media/image21.png"/><Relationship Id="rId4" Type="http://schemas.openxmlformats.org/officeDocument/2006/relationships/image" Target="../media/image12.wmf"/><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1.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0.png"/></Relationships>
</file>

<file path=ppt/slides/_rels/slide2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24.xml.rels><?xml version="1.0" encoding="UTF-8" standalone="yes"?>
<Relationships xmlns="http://schemas.openxmlformats.org/package/2006/relationships"><Relationship Id="rId8" Type="http://schemas.openxmlformats.org/officeDocument/2006/relationships/image" Target="../media/image47.png"/><Relationship Id="rId7"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60.png"/></Relationships>
</file>

<file path=ppt/slides/_rels/slide25.xml.rels><?xml version="1.0" encoding="UTF-8" standalone="yes"?>
<Relationships xmlns="http://schemas.openxmlformats.org/package/2006/relationships"><Relationship Id="rId3" Type="http://schemas.openxmlformats.org/officeDocument/2006/relationships/image" Target="../media/image380.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7"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60.png"/></Relationships>
</file>

<file path=ppt/slides/_rels/slide28.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70.png"/><Relationship Id="rId1" Type="http://schemas.openxmlformats.org/officeDocument/2006/relationships/slideLayout" Target="../slideLayouts/slideLayout2.xml"/><Relationship Id="rId5" Type="http://schemas.openxmlformats.org/officeDocument/2006/relationships/image" Target="../media/image420.png"/><Relationship Id="rId4" Type="http://schemas.openxmlformats.org/officeDocument/2006/relationships/image" Target="../media/image410.png"/></Relationships>
</file>

<file path=ppt/slides/_rels/slide2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31.png"/><Relationship Id="rId7"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3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2.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3.wmf"/></Relationships>
</file>

<file path=ppt/slides/_rels/slide38.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oleObject" Target="../embeddings/oleObject19.bin"/><Relationship Id="rId7"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oleObject" Target="../embeddings/oleObject20.bin"/><Relationship Id="rId4" Type="http://schemas.openxmlformats.org/officeDocument/2006/relationships/image" Target="../media/image23.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25.wmf"/></Relationships>
</file>

<file path=ppt/slides/_rels/slide4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6.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7.wmf"/></Relationships>
</file>

<file path=ppt/slides/_rels/slide4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4.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25.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8.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oleObject" Target="../embeddings/oleObject28.bin"/><Relationship Id="rId4" Type="http://schemas.openxmlformats.org/officeDocument/2006/relationships/image" Target="../media/image29.wmf"/></Relationships>
</file>

<file path=ppt/slides/_rels/slide4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4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6.png"/></Relationships>
</file>

<file path=ppt/slides/_rels/slide50.xml.rels><?xml version="1.0" encoding="UTF-8" standalone="yes"?>
<Relationships xmlns="http://schemas.openxmlformats.org/package/2006/relationships"><Relationship Id="rId3" Type="http://schemas.openxmlformats.org/officeDocument/2006/relationships/image" Target="../media/image250.png"/><Relationship Id="rId7" Type="http://schemas.openxmlformats.org/officeDocument/2006/relationships/image" Target="../media/image290.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81.png"/><Relationship Id="rId5" Type="http://schemas.openxmlformats.org/officeDocument/2006/relationships/image" Target="../media/image270.png"/><Relationship Id="rId4" Type="http://schemas.openxmlformats.org/officeDocument/2006/relationships/image" Target="../media/image260.png"/></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3.wmf"/></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3.xml.rels><?xml version="1.0" encoding="UTF-8" standalone="yes"?>
<Relationships xmlns="http://schemas.openxmlformats.org/package/2006/relationships"><Relationship Id="rId3" Type="http://schemas.openxmlformats.org/officeDocument/2006/relationships/image" Target="../media/image681.png"/><Relationship Id="rId7" Type="http://schemas.openxmlformats.org/officeDocument/2006/relationships/image" Target="../media/image350.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00.png"/><Relationship Id="rId5" Type="http://schemas.openxmlformats.org/officeDocument/2006/relationships/image" Target="../media/image280.png"/><Relationship Id="rId4" Type="http://schemas.openxmlformats.org/officeDocument/2006/relationships/image" Target="../media/image71.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72.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3.wmf"/></Relationships>
</file>

<file path=ppt/slides/_rels/slide57.xml.rels><?xml version="1.0" encoding="UTF-8" standalone="yes"?>
<Relationships xmlns="http://schemas.openxmlformats.org/package/2006/relationships"><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75.wmf"/></Relationships>
</file>

<file path=ppt/slides/_rels/slide60.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oleObject" Target="../embeddings/oleObject32.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780.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6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image" Target="../media/image790.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781.png"/><Relationship Id="rId5" Type="http://schemas.openxmlformats.org/officeDocument/2006/relationships/image" Target="../media/image770.png"/><Relationship Id="rId4" Type="http://schemas.openxmlformats.org/officeDocument/2006/relationships/image" Target="../media/image26.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第四章 统计机器学习方法</a:t>
            </a:r>
          </a:p>
        </p:txBody>
      </p:sp>
      <p:sp>
        <p:nvSpPr>
          <p:cNvPr id="69635" name="内容占位符 2"/>
          <p:cNvSpPr>
            <a:spLocks noGrp="1"/>
          </p:cNvSpPr>
          <p:nvPr>
            <p:ph idx="1"/>
          </p:nvPr>
        </p:nvSpPr>
        <p:spPr>
          <a:xfrm>
            <a:off x="685800" y="1747838"/>
            <a:ext cx="7772400" cy="4348162"/>
          </a:xfrm>
        </p:spPr>
        <p:txBody>
          <a:bodyPr>
            <a:normAutofit/>
          </a:bodyPr>
          <a:lstStyle/>
          <a:p>
            <a:r>
              <a:rPr lang="zh-CN" altLang="en-US" sz="3200" b="1" dirty="0"/>
              <a:t>什么是机器学习？</a:t>
            </a:r>
            <a:endParaRPr lang="en-US" altLang="zh-CN" sz="3200" b="1" dirty="0"/>
          </a:p>
          <a:p>
            <a:pPr lvl="1"/>
            <a:r>
              <a:rPr lang="zh-CN" altLang="en-US" sz="3000" b="1" dirty="0"/>
              <a:t>“如果一个系统能够通过执行某个过程改进它的性能，这就是学习”</a:t>
            </a:r>
            <a:endParaRPr lang="en-US" altLang="zh-CN" sz="3000" b="1" dirty="0"/>
          </a:p>
          <a:p>
            <a:pPr marL="320040" lvl="1" indent="0">
              <a:buNone/>
            </a:pPr>
            <a:r>
              <a:rPr lang="en-US" altLang="zh-CN" sz="3000" b="1" dirty="0"/>
              <a:t>                              ——</a:t>
            </a:r>
            <a:r>
              <a:rPr lang="zh-CN" altLang="en-US" sz="3000" b="1" dirty="0"/>
              <a:t>赫伯特</a:t>
            </a:r>
            <a:r>
              <a:rPr lang="en-US" altLang="zh-CN" sz="3000" b="1" dirty="0"/>
              <a:t>·</a:t>
            </a:r>
            <a:r>
              <a:rPr lang="zh-CN" altLang="en-US" sz="3000" b="1" dirty="0"/>
              <a:t>西蒙</a:t>
            </a:r>
            <a:endParaRPr lang="en-US" altLang="zh-CN" sz="3200" b="1" dirty="0"/>
          </a:p>
          <a:p>
            <a:r>
              <a:rPr lang="zh-CN" altLang="en-US" sz="3200" b="1" dirty="0"/>
              <a:t>统计学习就是计算机系统通过运用数据及统计方法提高系统性能的机器学习</a:t>
            </a:r>
          </a:p>
        </p:txBody>
      </p:sp>
      <p:sp>
        <p:nvSpPr>
          <p:cNvPr id="69636" name="灯片编号占位符 3"/>
          <p:cNvSpPr>
            <a:spLocks noGrp="1"/>
          </p:cNvSpPr>
          <p:nvPr>
            <p:ph type="sldNum" sz="quarter" idx="12"/>
          </p:nvPr>
        </p:nvSpPr>
        <p:spPr>
          <a:noFill/>
        </p:spPr>
        <p:txBody>
          <a:bodyPr/>
          <a:lstStyle/>
          <a:p>
            <a:fld id="{DA3E646C-0F32-48D8-88B7-ADD99299751C}" type="slidenum">
              <a:rPr lang="en-US" altLang="zh-CN" smtClean="0">
                <a:ea typeface="黑体" pitchFamily="49" charset="-122"/>
              </a:rPr>
              <a:pPr/>
              <a:t>1</a:t>
            </a:fld>
            <a:endParaRPr lang="en-US" altLang="zh-CN">
              <a:ea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63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96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内容占位符 2"/>
          <p:cNvSpPr>
            <a:spLocks noGrp="1"/>
          </p:cNvSpPr>
          <p:nvPr>
            <p:ph idx="1"/>
          </p:nvPr>
        </p:nvSpPr>
        <p:spPr>
          <a:xfrm>
            <a:off x="685800" y="1890713"/>
            <a:ext cx="8058150" cy="4205287"/>
          </a:xfrm>
        </p:spPr>
        <p:txBody>
          <a:bodyPr>
            <a:normAutofit/>
          </a:bodyPr>
          <a:lstStyle/>
          <a:p>
            <a:r>
              <a:rPr lang="zh-CN" altLang="en-US" sz="3200" dirty="0"/>
              <a:t>统计学习从</a:t>
            </a:r>
            <a:r>
              <a:rPr lang="zh-CN" altLang="en-US" sz="3200" b="1" dirty="0"/>
              <a:t>数据</a:t>
            </a:r>
            <a:r>
              <a:rPr lang="zh-CN" altLang="en-US" sz="3200" dirty="0"/>
              <a:t>出发，提取</a:t>
            </a:r>
            <a:r>
              <a:rPr lang="zh-CN" altLang="en-US" sz="3200" b="1" dirty="0"/>
              <a:t>数据</a:t>
            </a:r>
            <a:r>
              <a:rPr lang="zh-CN" altLang="en-US" sz="3200" dirty="0"/>
              <a:t>的特征，抽象出</a:t>
            </a:r>
            <a:r>
              <a:rPr lang="zh-CN" altLang="en-US" sz="3200" b="1" dirty="0"/>
              <a:t>数据</a:t>
            </a:r>
            <a:r>
              <a:rPr lang="zh-CN" altLang="en-US" sz="3200" dirty="0"/>
              <a:t>的模型，发现</a:t>
            </a:r>
            <a:r>
              <a:rPr lang="zh-CN" altLang="en-US" sz="3200" b="1" dirty="0"/>
              <a:t>数据</a:t>
            </a:r>
            <a:r>
              <a:rPr lang="zh-CN" altLang="en-US" sz="3200" dirty="0"/>
              <a:t>中的知识，又回到对</a:t>
            </a:r>
            <a:r>
              <a:rPr lang="zh-CN" altLang="en-US" sz="3200" b="1" dirty="0"/>
              <a:t>数据</a:t>
            </a:r>
            <a:r>
              <a:rPr lang="zh-CN" altLang="en-US" sz="3200" dirty="0"/>
              <a:t>的分析与预测中。</a:t>
            </a:r>
            <a:endParaRPr lang="en-US" altLang="zh-CN" sz="3200" dirty="0"/>
          </a:p>
          <a:p>
            <a:endParaRPr lang="en-US" altLang="zh-CN" sz="3200" dirty="0"/>
          </a:p>
          <a:p>
            <a:r>
              <a:rPr lang="zh-CN" altLang="en-US" sz="3200" dirty="0"/>
              <a:t>统计学习的目标就是考虑</a:t>
            </a:r>
            <a:r>
              <a:rPr lang="zh-CN" altLang="en-US" sz="3200" b="1" dirty="0"/>
              <a:t>学习什么样的模型</a:t>
            </a:r>
            <a:r>
              <a:rPr lang="zh-CN" altLang="en-US" sz="3200" dirty="0"/>
              <a:t>和</a:t>
            </a:r>
            <a:r>
              <a:rPr lang="zh-CN" altLang="en-US" sz="3200" b="1" dirty="0"/>
              <a:t>如何学习</a:t>
            </a:r>
            <a:r>
              <a:rPr lang="zh-CN" altLang="en-US" sz="3200" dirty="0"/>
              <a:t>，以使模型能对数据进行</a:t>
            </a:r>
            <a:r>
              <a:rPr lang="zh-CN" altLang="en-US" sz="3200" b="1" dirty="0"/>
              <a:t>准确的预测和分析</a:t>
            </a:r>
          </a:p>
        </p:txBody>
      </p:sp>
      <p:sp>
        <p:nvSpPr>
          <p:cNvPr id="70660" name="灯片编号占位符 3"/>
          <p:cNvSpPr>
            <a:spLocks noGrp="1"/>
          </p:cNvSpPr>
          <p:nvPr>
            <p:ph type="sldNum" sz="quarter" idx="12"/>
          </p:nvPr>
        </p:nvSpPr>
        <p:spPr>
          <a:noFill/>
        </p:spPr>
        <p:txBody>
          <a:bodyPr/>
          <a:lstStyle/>
          <a:p>
            <a:fld id="{2BE81036-0B9E-434B-AA55-75DAF72B72E1}" type="slidenum">
              <a:rPr lang="en-US" altLang="zh-CN" smtClean="0">
                <a:ea typeface="黑体" pitchFamily="49" charset="-122"/>
              </a:rPr>
              <a:pPr/>
              <a:t>2</a:t>
            </a:fld>
            <a:endParaRPr lang="en-US" altLang="zh-CN">
              <a:ea typeface="黑体"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什么是统计机器学习？</a:t>
            </a:r>
          </a:p>
        </p:txBody>
      </p:sp>
      <p:sp>
        <p:nvSpPr>
          <p:cNvPr id="71683" name="内容占位符 2"/>
          <p:cNvSpPr>
            <a:spLocks noGrp="1"/>
          </p:cNvSpPr>
          <p:nvPr>
            <p:ph idx="1"/>
          </p:nvPr>
        </p:nvSpPr>
        <p:spPr>
          <a:xfrm>
            <a:off x="642938" y="1981200"/>
            <a:ext cx="7772400" cy="4114800"/>
          </a:xfrm>
        </p:spPr>
        <p:txBody>
          <a:bodyPr/>
          <a:lstStyle/>
          <a:p>
            <a:r>
              <a:rPr lang="zh-CN" altLang="en-US" sz="2800" b="1" dirty="0"/>
              <a:t>输入：</a:t>
            </a:r>
            <a:r>
              <a:rPr lang="en-US" altLang="zh-CN" sz="2800" b="1" dirty="0"/>
              <a:t>x</a:t>
            </a:r>
            <a:r>
              <a:rPr lang="zh-CN" altLang="en-US" sz="2800" b="1" dirty="0"/>
              <a:t>∈</a:t>
            </a:r>
            <a:r>
              <a:rPr lang="en-US" altLang="zh-CN" sz="2800" b="1" dirty="0"/>
              <a:t>X</a:t>
            </a:r>
          </a:p>
          <a:p>
            <a:r>
              <a:rPr lang="zh-CN" altLang="en-US" sz="2800" b="1" dirty="0"/>
              <a:t>输出：</a:t>
            </a:r>
            <a:r>
              <a:rPr lang="en-US" altLang="zh-CN" sz="2800" b="1" dirty="0"/>
              <a:t>y</a:t>
            </a:r>
            <a:r>
              <a:rPr lang="zh-CN" altLang="en-US" sz="2800" b="1" dirty="0"/>
              <a:t>∈</a:t>
            </a:r>
            <a:r>
              <a:rPr lang="en-US" altLang="zh-CN" sz="2800" b="1" dirty="0"/>
              <a:t>Y</a:t>
            </a:r>
          </a:p>
          <a:p>
            <a:r>
              <a:rPr lang="zh-CN" altLang="en-US" sz="2800" b="1" dirty="0"/>
              <a:t>未知的映射函数：</a:t>
            </a:r>
            <a:r>
              <a:rPr lang="en-US" altLang="zh-CN" sz="2800" b="1" dirty="0"/>
              <a:t>f: X</a:t>
            </a:r>
            <a:r>
              <a:rPr lang="zh-CN" altLang="en-US" sz="2800" b="1" dirty="0"/>
              <a:t>→</a:t>
            </a:r>
            <a:r>
              <a:rPr lang="en-US" altLang="zh-CN" sz="2800" b="1" dirty="0"/>
              <a:t>Y</a:t>
            </a:r>
          </a:p>
          <a:p>
            <a:r>
              <a:rPr lang="zh-CN" altLang="en-US" sz="2800" b="1" dirty="0"/>
              <a:t>训练集：</a:t>
            </a:r>
            <a:r>
              <a:rPr lang="en-US" altLang="zh-CN" sz="2800" b="1" dirty="0"/>
              <a:t>T={(x</a:t>
            </a:r>
            <a:r>
              <a:rPr lang="en-US" altLang="zh-CN" sz="2800" b="1" baseline="-25000" dirty="0"/>
              <a:t>1</a:t>
            </a:r>
            <a:r>
              <a:rPr lang="en-US" altLang="zh-CN" sz="2800" b="1" dirty="0"/>
              <a:t>,y</a:t>
            </a:r>
            <a:r>
              <a:rPr lang="en-US" altLang="zh-CN" sz="2800" b="1" baseline="-25000" dirty="0"/>
              <a:t>1</a:t>
            </a:r>
            <a:r>
              <a:rPr lang="en-US" altLang="zh-CN" sz="2800" b="1" dirty="0"/>
              <a:t>),…,(</a:t>
            </a:r>
            <a:r>
              <a:rPr lang="en-US" altLang="zh-CN" sz="2800" b="1" dirty="0" err="1"/>
              <a:t>x</a:t>
            </a:r>
            <a:r>
              <a:rPr lang="en-US" altLang="zh-CN" sz="2800" b="1" baseline="-25000" dirty="0" err="1"/>
              <a:t>n</a:t>
            </a:r>
            <a:r>
              <a:rPr lang="en-US" altLang="zh-CN" sz="2800" b="1" dirty="0" err="1"/>
              <a:t>,y</a:t>
            </a:r>
            <a:r>
              <a:rPr lang="en-US" altLang="zh-CN" sz="2800" b="1" baseline="-25000" dirty="0" err="1"/>
              <a:t>n</a:t>
            </a:r>
            <a:r>
              <a:rPr lang="en-US" altLang="zh-CN" sz="2800" b="1" dirty="0"/>
              <a:t>)}</a:t>
            </a:r>
            <a:r>
              <a:rPr lang="zh-CN" altLang="en-US" sz="2800" b="1" dirty="0"/>
              <a:t>，</a:t>
            </a:r>
            <a:endParaRPr lang="en-US" altLang="zh-CN" sz="2800" b="1" dirty="0"/>
          </a:p>
          <a:p>
            <a:pPr>
              <a:buFont typeface="Wingdings" pitchFamily="2" charset="2"/>
              <a:buNone/>
            </a:pPr>
            <a:r>
              <a:rPr lang="en-US" altLang="zh-CN" sz="2800" b="1" dirty="0"/>
              <a:t>                      T</a:t>
            </a:r>
            <a:r>
              <a:rPr lang="zh-CN" altLang="en-US" sz="2800" b="1" dirty="0"/>
              <a:t>由</a:t>
            </a:r>
            <a:r>
              <a:rPr lang="en-US" altLang="zh-CN" sz="2800" b="1" dirty="0"/>
              <a:t>f</a:t>
            </a:r>
            <a:r>
              <a:rPr lang="zh-CN" altLang="en-US" sz="2800" b="1" dirty="0"/>
              <a:t>产生（可能具有噪音）</a:t>
            </a:r>
            <a:endParaRPr lang="en-US" altLang="zh-CN" sz="2800" b="1" dirty="0"/>
          </a:p>
          <a:p>
            <a:r>
              <a:rPr lang="zh-CN" altLang="en-US" sz="2800" b="1" dirty="0"/>
              <a:t>假设空间：</a:t>
            </a:r>
            <a:r>
              <a:rPr lang="en-US" altLang="zh-CN" sz="2800" b="1" dirty="0"/>
              <a:t>H={</a:t>
            </a:r>
            <a:r>
              <a:rPr lang="en-US" altLang="zh-CN" sz="2800" b="1" dirty="0" err="1"/>
              <a:t>h</a:t>
            </a:r>
            <a:r>
              <a:rPr lang="en-US" altLang="zh-CN" sz="2800" b="1" baseline="-25000" dirty="0" err="1"/>
              <a:t>k</a:t>
            </a:r>
            <a:r>
              <a:rPr lang="en-US" altLang="zh-CN" sz="2800" b="1" dirty="0"/>
              <a:t>}</a:t>
            </a:r>
          </a:p>
          <a:p>
            <a:r>
              <a:rPr lang="zh-CN" altLang="en-US" sz="2800" b="1" dirty="0"/>
              <a:t>学到的映射函数：</a:t>
            </a:r>
            <a:r>
              <a:rPr lang="en-US" altLang="zh-CN" sz="2800" b="1" dirty="0"/>
              <a:t>g</a:t>
            </a:r>
            <a:r>
              <a:rPr lang="zh-CN" altLang="en-US" sz="2800" b="1" dirty="0"/>
              <a:t>∈</a:t>
            </a:r>
            <a:r>
              <a:rPr lang="en-US" altLang="zh-CN" sz="2800" b="1" dirty="0"/>
              <a:t>H</a:t>
            </a:r>
          </a:p>
          <a:p>
            <a:r>
              <a:rPr lang="zh-CN" altLang="en-US" sz="2800" b="1" dirty="0"/>
              <a:t>学习算法：</a:t>
            </a:r>
            <a:r>
              <a:rPr lang="en-US" altLang="zh-CN" sz="2800" b="1" dirty="0"/>
              <a:t>A</a:t>
            </a:r>
          </a:p>
          <a:p>
            <a:endParaRPr lang="en-US" altLang="zh-CN" dirty="0"/>
          </a:p>
        </p:txBody>
      </p:sp>
      <p:sp>
        <p:nvSpPr>
          <p:cNvPr id="71684" name="灯片编号占位符 3"/>
          <p:cNvSpPr>
            <a:spLocks noGrp="1"/>
          </p:cNvSpPr>
          <p:nvPr>
            <p:ph type="sldNum" sz="quarter" idx="12"/>
          </p:nvPr>
        </p:nvSpPr>
        <p:spPr>
          <a:noFill/>
        </p:spPr>
        <p:txBody>
          <a:bodyPr/>
          <a:lstStyle/>
          <a:p>
            <a:fld id="{AFEF9010-E70B-4340-BF26-9BD305DDACD8}" type="slidenum">
              <a:rPr lang="en-US" altLang="zh-CN" smtClean="0">
                <a:ea typeface="黑体" pitchFamily="49" charset="-122"/>
              </a:rPr>
              <a:pPr/>
              <a:t>3</a:t>
            </a:fld>
            <a:endParaRPr lang="en-US" altLang="zh-CN">
              <a:ea typeface="黑体"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noFill/>
        </p:spPr>
        <p:txBody>
          <a:bodyPr/>
          <a:lstStyle/>
          <a:p>
            <a:fld id="{AFA91C05-199B-4A51-9810-17A3F9C78658}" type="slidenum">
              <a:rPr lang="en-US" altLang="zh-CN" smtClean="0">
                <a:ea typeface="黑体" pitchFamily="49" charset="-122"/>
              </a:rPr>
              <a:pPr/>
              <a:t>4</a:t>
            </a:fld>
            <a:endParaRPr lang="en-US" altLang="zh-CN">
              <a:ea typeface="黑体" pitchFamily="49" charset="-122"/>
            </a:endParaRPr>
          </a:p>
        </p:txBody>
      </p:sp>
      <p:sp>
        <p:nvSpPr>
          <p:cNvPr id="72707" name="TextBox 6"/>
          <p:cNvSpPr txBox="1">
            <a:spLocks noChangeArrowheads="1"/>
          </p:cNvSpPr>
          <p:nvPr/>
        </p:nvSpPr>
        <p:spPr bwMode="auto">
          <a:xfrm>
            <a:off x="798513" y="1393825"/>
            <a:ext cx="2105025" cy="708025"/>
          </a:xfrm>
          <a:prstGeom prst="rect">
            <a:avLst/>
          </a:prstGeom>
          <a:noFill/>
          <a:ln w="28575">
            <a:solidFill>
              <a:schemeClr val="tx1"/>
            </a:solidFill>
            <a:miter lim="800000"/>
            <a:headEnd/>
            <a:tailEnd/>
          </a:ln>
        </p:spPr>
        <p:txBody>
          <a:bodyPr>
            <a:spAutoFit/>
          </a:bodyPr>
          <a:lstStyle/>
          <a:p>
            <a:r>
              <a:rPr lang="zh-CN" altLang="en-US" sz="2000" b="1" dirty="0"/>
              <a:t>训练集</a:t>
            </a:r>
            <a:r>
              <a:rPr lang="en-US" altLang="zh-CN" sz="2000" b="1" dirty="0"/>
              <a:t>T {(x</a:t>
            </a:r>
            <a:r>
              <a:rPr lang="en-US" altLang="zh-CN" sz="2000" b="1" baseline="-25000" dirty="0"/>
              <a:t>1</a:t>
            </a:r>
            <a:r>
              <a:rPr lang="en-US" altLang="zh-CN" sz="2000" b="1" dirty="0"/>
              <a:t>,y</a:t>
            </a:r>
            <a:r>
              <a:rPr lang="en-US" altLang="zh-CN" sz="2000" b="1" baseline="-25000" dirty="0"/>
              <a:t>1</a:t>
            </a:r>
            <a:r>
              <a:rPr lang="en-US" altLang="zh-CN" sz="2000" b="1" dirty="0"/>
              <a:t>),…,(</a:t>
            </a:r>
            <a:r>
              <a:rPr lang="en-US" altLang="zh-CN" sz="2000" b="1" dirty="0" err="1"/>
              <a:t>x</a:t>
            </a:r>
            <a:r>
              <a:rPr lang="en-US" altLang="zh-CN" sz="2000" b="1" baseline="-25000" dirty="0" err="1"/>
              <a:t>n</a:t>
            </a:r>
            <a:r>
              <a:rPr lang="en-US" altLang="zh-CN" sz="2000" b="1" dirty="0" err="1"/>
              <a:t>,y</a:t>
            </a:r>
            <a:r>
              <a:rPr lang="en-US" altLang="zh-CN" sz="2000" b="1" baseline="-25000" dirty="0" err="1"/>
              <a:t>n</a:t>
            </a:r>
            <a:r>
              <a:rPr lang="en-US" altLang="zh-CN" sz="2000" b="1" dirty="0"/>
              <a:t>)}</a:t>
            </a:r>
            <a:endParaRPr lang="zh-CN" altLang="en-US" sz="2000" b="1" dirty="0"/>
          </a:p>
        </p:txBody>
      </p:sp>
      <p:sp>
        <p:nvSpPr>
          <p:cNvPr id="72708" name="TextBox 8"/>
          <p:cNvSpPr txBox="1">
            <a:spLocks noChangeArrowheads="1"/>
          </p:cNvSpPr>
          <p:nvPr/>
        </p:nvSpPr>
        <p:spPr bwMode="auto">
          <a:xfrm>
            <a:off x="6372225" y="1379538"/>
            <a:ext cx="2089150" cy="706437"/>
          </a:xfrm>
          <a:prstGeom prst="rect">
            <a:avLst/>
          </a:prstGeom>
          <a:noFill/>
          <a:ln w="28575">
            <a:solidFill>
              <a:schemeClr val="tx1"/>
            </a:solidFill>
            <a:miter lim="800000"/>
            <a:headEnd/>
            <a:tailEnd/>
          </a:ln>
        </p:spPr>
        <p:txBody>
          <a:bodyPr>
            <a:spAutoFit/>
          </a:bodyPr>
          <a:lstStyle/>
          <a:p>
            <a:r>
              <a:rPr lang="zh-CN" altLang="en-US" sz="2000" b="1"/>
              <a:t>学到的目标函数</a:t>
            </a:r>
            <a:endParaRPr lang="en-US" altLang="zh-CN" sz="2000" b="1"/>
          </a:p>
          <a:p>
            <a:pPr algn="ctr"/>
            <a:r>
              <a:rPr lang="en-US" altLang="zh-CN" sz="2000" b="1"/>
              <a:t>    g </a:t>
            </a:r>
            <a:r>
              <a:rPr lang="zh-CN" altLang="en-US" sz="2000" b="1"/>
              <a:t>≈ </a:t>
            </a:r>
            <a:r>
              <a:rPr lang="en-US" altLang="zh-CN" sz="2000" b="1"/>
              <a:t>f</a:t>
            </a:r>
            <a:endParaRPr lang="zh-CN" altLang="en-US" sz="2000" b="1"/>
          </a:p>
        </p:txBody>
      </p:sp>
      <p:sp>
        <p:nvSpPr>
          <p:cNvPr id="72709" name="椭圆 9"/>
          <p:cNvSpPr>
            <a:spLocks noChangeArrowheads="1"/>
          </p:cNvSpPr>
          <p:nvPr/>
        </p:nvSpPr>
        <p:spPr bwMode="auto">
          <a:xfrm>
            <a:off x="3759200" y="1292225"/>
            <a:ext cx="1770063" cy="914400"/>
          </a:xfrm>
          <a:prstGeom prst="ellipse">
            <a:avLst/>
          </a:prstGeom>
          <a:noFill/>
          <a:ln w="28575" algn="ctr">
            <a:solidFill>
              <a:schemeClr val="tx1"/>
            </a:solidFill>
            <a:round/>
            <a:headEnd/>
            <a:tailEnd type="triangle" w="med" len="med"/>
          </a:ln>
        </p:spPr>
        <p:txBody>
          <a:bodyPr wrap="none"/>
          <a:lstStyle/>
          <a:p>
            <a:pPr algn="ctr"/>
            <a:r>
              <a:rPr lang="zh-CN" altLang="en-US" sz="2000" b="1"/>
              <a:t>学习算法</a:t>
            </a:r>
            <a:endParaRPr lang="en-US" altLang="zh-CN" sz="2000" b="1"/>
          </a:p>
          <a:p>
            <a:pPr algn="ctr"/>
            <a:r>
              <a:rPr lang="en-US" altLang="zh-CN" sz="2000" b="1"/>
              <a:t>A</a:t>
            </a:r>
            <a:endParaRPr lang="zh-CN" altLang="en-US" sz="2000" b="1"/>
          </a:p>
        </p:txBody>
      </p:sp>
      <p:sp>
        <p:nvSpPr>
          <p:cNvPr id="72710" name="椭圆 10"/>
          <p:cNvSpPr>
            <a:spLocks noChangeArrowheads="1"/>
          </p:cNvSpPr>
          <p:nvPr/>
        </p:nvSpPr>
        <p:spPr bwMode="auto">
          <a:xfrm>
            <a:off x="3759200" y="3381375"/>
            <a:ext cx="1770063" cy="914400"/>
          </a:xfrm>
          <a:prstGeom prst="ellipse">
            <a:avLst/>
          </a:prstGeom>
          <a:noFill/>
          <a:ln w="28575" algn="ctr">
            <a:solidFill>
              <a:schemeClr val="tx1"/>
            </a:solidFill>
            <a:round/>
            <a:headEnd/>
            <a:tailEnd type="triangle" w="med" len="med"/>
          </a:ln>
        </p:spPr>
        <p:txBody>
          <a:bodyPr wrap="none"/>
          <a:lstStyle/>
          <a:p>
            <a:pPr algn="ctr"/>
            <a:r>
              <a:rPr lang="zh-CN" altLang="en-US" sz="2000" b="1"/>
              <a:t>假设空间</a:t>
            </a:r>
            <a:endParaRPr lang="en-US" altLang="zh-CN" sz="2000" b="1"/>
          </a:p>
          <a:p>
            <a:pPr algn="ctr"/>
            <a:r>
              <a:rPr lang="en-US" altLang="zh-CN" sz="2000" b="1"/>
              <a:t>H</a:t>
            </a:r>
            <a:endParaRPr lang="zh-CN" altLang="en-US" sz="2000" b="1"/>
          </a:p>
        </p:txBody>
      </p:sp>
      <p:cxnSp>
        <p:nvCxnSpPr>
          <p:cNvPr id="72711" name="直接箭头连接符 12"/>
          <p:cNvCxnSpPr>
            <a:cxnSpLocks noChangeShapeType="1"/>
            <a:stCxn id="72707" idx="3"/>
            <a:endCxn id="72709" idx="2"/>
          </p:cNvCxnSpPr>
          <p:nvPr/>
        </p:nvCxnSpPr>
        <p:spPr bwMode="auto">
          <a:xfrm>
            <a:off x="2903538" y="1747838"/>
            <a:ext cx="855662" cy="1587"/>
          </a:xfrm>
          <a:prstGeom prst="straightConnector1">
            <a:avLst/>
          </a:prstGeom>
          <a:noFill/>
          <a:ln w="28575" algn="ctr">
            <a:solidFill>
              <a:schemeClr val="tx1"/>
            </a:solidFill>
            <a:round/>
            <a:headEnd/>
            <a:tailEnd type="arrow" w="med" len="med"/>
          </a:ln>
        </p:spPr>
      </p:cxnSp>
      <p:cxnSp>
        <p:nvCxnSpPr>
          <p:cNvPr id="72712" name="直接箭头连接符 17"/>
          <p:cNvCxnSpPr>
            <a:cxnSpLocks noChangeShapeType="1"/>
          </p:cNvCxnSpPr>
          <p:nvPr/>
        </p:nvCxnSpPr>
        <p:spPr bwMode="auto">
          <a:xfrm>
            <a:off x="5545138" y="1747838"/>
            <a:ext cx="855662" cy="1587"/>
          </a:xfrm>
          <a:prstGeom prst="straightConnector1">
            <a:avLst/>
          </a:prstGeom>
          <a:noFill/>
          <a:ln w="28575" algn="ctr">
            <a:solidFill>
              <a:schemeClr val="tx1"/>
            </a:solidFill>
            <a:round/>
            <a:headEnd/>
            <a:tailEnd type="arrow" w="med" len="med"/>
          </a:ln>
        </p:spPr>
      </p:cxnSp>
      <p:cxnSp>
        <p:nvCxnSpPr>
          <p:cNvPr id="72713" name="直接箭头连接符 18"/>
          <p:cNvCxnSpPr>
            <a:cxnSpLocks noChangeShapeType="1"/>
            <a:stCxn id="72710" idx="0"/>
            <a:endCxn id="72709" idx="4"/>
          </p:cNvCxnSpPr>
          <p:nvPr/>
        </p:nvCxnSpPr>
        <p:spPr bwMode="auto">
          <a:xfrm flipH="1" flipV="1">
            <a:off x="4645025" y="2206625"/>
            <a:ext cx="0" cy="1174750"/>
          </a:xfrm>
          <a:prstGeom prst="straightConnector1">
            <a:avLst/>
          </a:prstGeom>
          <a:noFill/>
          <a:ln w="28575" algn="ctr">
            <a:solidFill>
              <a:schemeClr val="tx1"/>
            </a:solidFill>
            <a:round/>
            <a:headEnd/>
            <a:tailEnd type="arrow" w="med" len="med"/>
          </a:ln>
        </p:spPr>
      </p:cxnSp>
      <p:sp>
        <p:nvSpPr>
          <p:cNvPr id="72714" name="内容占位符 2"/>
          <p:cNvSpPr>
            <a:spLocks noGrp="1"/>
          </p:cNvSpPr>
          <p:nvPr>
            <p:ph idx="1"/>
          </p:nvPr>
        </p:nvSpPr>
        <p:spPr>
          <a:xfrm>
            <a:off x="685800" y="4919663"/>
            <a:ext cx="8058150" cy="1176337"/>
          </a:xfrm>
        </p:spPr>
        <p:txBody>
          <a:bodyPr>
            <a:normAutofit/>
          </a:bodyPr>
          <a:lstStyle/>
          <a:p>
            <a:r>
              <a:rPr lang="zh-CN" altLang="en-US" sz="2800" b="1" dirty="0"/>
              <a:t>学习算法</a:t>
            </a:r>
            <a:r>
              <a:rPr lang="en-US" altLang="zh-CN" sz="2800" b="1" dirty="0"/>
              <a:t>A</a:t>
            </a:r>
            <a:r>
              <a:rPr lang="zh-CN" altLang="en-US" sz="2800" b="1" dirty="0"/>
              <a:t>根据训练集</a:t>
            </a:r>
            <a:r>
              <a:rPr lang="en-US" altLang="zh-CN" sz="2800" b="1" dirty="0"/>
              <a:t>T</a:t>
            </a:r>
            <a:r>
              <a:rPr lang="zh-CN" altLang="en-US" sz="2800" b="1" dirty="0"/>
              <a:t>从假设空间</a:t>
            </a:r>
            <a:r>
              <a:rPr lang="en-US" altLang="zh-CN" sz="2800" b="1" dirty="0"/>
              <a:t>H</a:t>
            </a:r>
            <a:r>
              <a:rPr lang="zh-CN" altLang="en-US" sz="2800" b="1" dirty="0"/>
              <a:t>中选择一个最好的</a:t>
            </a:r>
            <a:r>
              <a:rPr lang="en-US" altLang="zh-CN" sz="2800" b="1" dirty="0"/>
              <a:t>g</a:t>
            </a:r>
            <a:r>
              <a:rPr lang="zh-CN" altLang="en-US" sz="2800" b="1" dirty="0"/>
              <a:t>≈</a:t>
            </a:r>
            <a:r>
              <a:rPr lang="en-US" altLang="zh-CN" sz="2800" b="1" dirty="0"/>
              <a:t>f</a:t>
            </a:r>
            <a:endParaRPr lang="zh-CN" altLang="en-US" sz="2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6088-7F84-74E7-A6EB-A20F39BF2747}"/>
              </a:ext>
            </a:extLst>
          </p:cNvPr>
          <p:cNvSpPr>
            <a:spLocks noGrp="1"/>
          </p:cNvSpPr>
          <p:nvPr>
            <p:ph type="title"/>
          </p:nvPr>
        </p:nvSpPr>
        <p:spPr/>
        <p:txBody>
          <a:bodyPr/>
          <a:lstStyle/>
          <a:p>
            <a:r>
              <a:rPr lang="en-US" dirty="0" err="1"/>
              <a:t>如何形式化定义学习</a:t>
            </a:r>
            <a:r>
              <a:rPr lang="zh-CN" altLang="en-US" dirty="0"/>
              <a:t>？</a:t>
            </a:r>
            <a:endParaRPr lang="en-US" dirty="0"/>
          </a:p>
        </p:txBody>
      </p:sp>
      <p:sp>
        <p:nvSpPr>
          <p:cNvPr id="5" name="Content Placeholder 4">
            <a:extLst>
              <a:ext uri="{FF2B5EF4-FFF2-40B4-BE49-F238E27FC236}">
                <a16:creationId xmlns:a16="http://schemas.microsoft.com/office/drawing/2014/main" id="{729D643B-21C2-40E2-88C0-3EF2F79BC1B2}"/>
              </a:ext>
            </a:extLst>
          </p:cNvPr>
          <p:cNvSpPr>
            <a:spLocks noGrp="1"/>
          </p:cNvSpPr>
          <p:nvPr>
            <p:ph sz="quarter" idx="1"/>
          </p:nvPr>
        </p:nvSpPr>
        <p:spPr/>
        <p:txBody>
          <a:bodyPr/>
          <a:lstStyle/>
          <a:p>
            <a:r>
              <a:rPr lang="en-US" dirty="0" err="1"/>
              <a:t>可能近似正确的学习</a:t>
            </a:r>
            <a:endParaRPr lang="en-US" dirty="0"/>
          </a:p>
        </p:txBody>
      </p:sp>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51F64E81-B36E-FCB8-863F-EFA5D075F38B}"/>
                  </a:ext>
                </a:extLst>
              </p:cNvPr>
              <p:cNvSpPr/>
              <p:nvPr/>
            </p:nvSpPr>
            <p:spPr>
              <a:xfrm>
                <a:off x="821724" y="2433776"/>
                <a:ext cx="7865076" cy="2685906"/>
              </a:xfrm>
              <a:prstGeom prst="roundRect">
                <a:avLst>
                  <a:gd name="adj" fmla="val 7926"/>
                </a:avLst>
              </a:prstGeom>
              <a:solidFill>
                <a:srgbClr val="E7F1FF"/>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700"/>
                  </a:spcAft>
                </a:pPr>
                <a:r>
                  <a:rPr lang="en-US" sz="2000" b="1" dirty="0">
                    <a:solidFill>
                      <a:schemeClr val="tx1"/>
                    </a:solidFill>
                  </a:rPr>
                  <a:t>Probably Approximately Correct (PAC) Learning</a:t>
                </a:r>
                <a:r>
                  <a:rPr lang="en-US" sz="2000" dirty="0">
                    <a:solidFill>
                      <a:schemeClr val="tx1"/>
                    </a:solidFill>
                  </a:rPr>
                  <a:t>: </a:t>
                </a:r>
              </a:p>
              <a:p>
                <a:pPr>
                  <a:spcAft>
                    <a:spcPts val="300"/>
                  </a:spcAft>
                </a:pPr>
                <a:r>
                  <a:rPr lang="en-US" sz="2000" dirty="0">
                    <a:solidFill>
                      <a:schemeClr val="tx1"/>
                    </a:solidFill>
                  </a:rPr>
                  <a:t>For any </a:t>
                </a:r>
                <a14:m>
                  <m:oMath xmlns:m="http://schemas.openxmlformats.org/officeDocument/2006/math">
                    <m:r>
                      <a:rPr lang="en-US" sz="2000" b="0" i="1" smtClean="0">
                        <a:solidFill>
                          <a:schemeClr val="tx1"/>
                        </a:solidFill>
                        <a:latin typeface="Cambria Math" panose="02040503050406030204" pitchFamily="18" charset="0"/>
                      </a:rPr>
                      <m:t>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𝛿</m:t>
                    </m:r>
                    <m:r>
                      <a:rPr lang="en-US" sz="2000" b="0" i="1" smtClean="0">
                        <a:solidFill>
                          <a:schemeClr val="tx1"/>
                        </a:solidFill>
                        <a:latin typeface="Cambria Math" panose="02040503050406030204" pitchFamily="18" charset="0"/>
                      </a:rPr>
                      <m:t>∈(0,1)</m:t>
                    </m:r>
                  </m:oMath>
                </a14:m>
                <a:r>
                  <a:rPr lang="en-US" sz="2000" dirty="0">
                    <a:solidFill>
                      <a:schemeClr val="tx1"/>
                    </a:solidFill>
                  </a:rPr>
                  <a:t>, if there is an algorithm </a:t>
                </a:r>
                <a14:m>
                  <m:oMath xmlns:m="http://schemas.openxmlformats.org/officeDocument/2006/math">
                    <m:r>
                      <a:rPr lang="en-US" sz="2000" b="0" i="1" smtClean="0">
                        <a:solidFill>
                          <a:schemeClr val="tx1"/>
                        </a:solidFill>
                        <a:latin typeface="Cambria Math" panose="02040503050406030204" pitchFamily="18" charset="0"/>
                      </a:rPr>
                      <m:t>𝐴</m:t>
                    </m:r>
                  </m:oMath>
                </a14:m>
                <a:r>
                  <a:rPr lang="en-US" sz="2000" dirty="0">
                    <a:solidFill>
                      <a:schemeClr val="tx1"/>
                    </a:solidFill>
                  </a:rPr>
                  <a:t> and function </a:t>
                </a:r>
                <a14:m>
                  <m:oMath xmlns:m="http://schemas.openxmlformats.org/officeDocument/2006/math">
                    <m:r>
                      <a:rPr lang="en-US" sz="2000" b="0" i="1" smtClean="0">
                        <a:solidFill>
                          <a:schemeClr val="tx1"/>
                        </a:solidFill>
                        <a:latin typeface="Cambria Math" panose="02040503050406030204" pitchFamily="18" charset="0"/>
                      </a:rPr>
                      <m:t>𝑛</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𝜖</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𝛿</m:t>
                    </m:r>
                    <m:r>
                      <a:rPr lang="en-US" sz="2000" b="0" i="1" smtClean="0">
                        <a:solidFill>
                          <a:schemeClr val="tx1"/>
                        </a:solidFill>
                        <a:latin typeface="Cambria Math" panose="02040503050406030204" pitchFamily="18" charset="0"/>
                      </a:rPr>
                      <m:t>)</m:t>
                    </m:r>
                  </m:oMath>
                </a14:m>
                <a:r>
                  <a:rPr lang="en-US" sz="2000" dirty="0">
                    <a:solidFill>
                      <a:schemeClr val="tx1"/>
                    </a:solidFill>
                  </a:rPr>
                  <a:t> such that given any </a:t>
                </a:r>
                <a14:m>
                  <m:oMath xmlns:m="http://schemas.openxmlformats.org/officeDocument/2006/math">
                    <m:r>
                      <a:rPr lang="en-US" sz="2000" i="1">
                        <a:solidFill>
                          <a:schemeClr val="tx1"/>
                        </a:solidFill>
                        <a:latin typeface="Cambria Math" panose="02040503050406030204" pitchFamily="18" charset="0"/>
                      </a:rPr>
                      <m:t>𝑛</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𝜖</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𝛿</m:t>
                    </m:r>
                    <m:r>
                      <a:rPr lang="en-US" sz="2000" i="1">
                        <a:solidFill>
                          <a:schemeClr val="tx1"/>
                        </a:solidFill>
                        <a:latin typeface="Cambria Math" panose="02040503050406030204" pitchFamily="18" charset="0"/>
                      </a:rPr>
                      <m:t>)</m:t>
                    </m:r>
                  </m:oMath>
                </a14:m>
                <a:r>
                  <a:rPr lang="en-US" sz="2000" dirty="0">
                    <a:solidFill>
                      <a:schemeClr val="tx1"/>
                    </a:solidFill>
                  </a:rPr>
                  <a:t> samples drawn </a:t>
                </a:r>
                <a:r>
                  <a:rPr lang="en-US" sz="2000" dirty="0" err="1">
                    <a:solidFill>
                      <a:srgbClr val="FF0000"/>
                    </a:solidFill>
                  </a:rPr>
                  <a:t>i.i.d</a:t>
                </a:r>
                <a:r>
                  <a:rPr lang="en-US" sz="2000" dirty="0">
                    <a:solidFill>
                      <a:schemeClr val="tx1"/>
                    </a:solidFill>
                  </a:rPr>
                  <a:t> from any </a:t>
                </a:r>
                <a14:m>
                  <m:oMath xmlns:m="http://schemas.openxmlformats.org/officeDocument/2006/math">
                    <m:r>
                      <a:rPr lang="en-US" sz="2000" i="1">
                        <a:solidFill>
                          <a:schemeClr val="tx1"/>
                        </a:solidFill>
                        <a:latin typeface="Cambria Math" panose="02040503050406030204" pitchFamily="18" charset="0"/>
                        <a:ea typeface="Cambria Math" panose="02040503050406030204" pitchFamily="18" charset="0"/>
                      </a:rPr>
                      <m:t>𝒟</m:t>
                    </m:r>
                  </m:oMath>
                </a14:m>
                <a:r>
                  <a:rPr lang="en-US" sz="2000" dirty="0">
                    <a:solidFill>
                      <a:schemeClr val="tx1"/>
                    </a:solidFill>
                  </a:rPr>
                  <a:t> as input, algorithm </a:t>
                </a:r>
                <a14:m>
                  <m:oMath xmlns:m="http://schemas.openxmlformats.org/officeDocument/2006/math">
                    <m:r>
                      <a:rPr lang="en-US" sz="2000" i="1">
                        <a:solidFill>
                          <a:schemeClr val="tx1"/>
                        </a:solidFill>
                        <a:latin typeface="Cambria Math" panose="02040503050406030204" pitchFamily="18" charset="0"/>
                      </a:rPr>
                      <m:t>𝐴</m:t>
                    </m:r>
                  </m:oMath>
                </a14:m>
                <a:r>
                  <a:rPr lang="en-US" sz="2000" dirty="0">
                    <a:solidFill>
                      <a:schemeClr val="tx1"/>
                    </a:solidFill>
                  </a:rPr>
                  <a:t> outputs a function </a:t>
                </a:r>
                <a14:m>
                  <m:oMath xmlns:m="http://schemas.openxmlformats.org/officeDocument/2006/math">
                    <m:r>
                      <a:rPr lang="en-US" altLang="zh-CN" sz="2000" b="0" i="1" smtClean="0">
                        <a:solidFill>
                          <a:schemeClr val="tx1"/>
                        </a:solidFill>
                        <a:latin typeface="Cambria Math" panose="02040503050406030204" pitchFamily="18" charset="0"/>
                      </a:rPr>
                      <m:t>𝑔</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𝐻</m:t>
                    </m:r>
                  </m:oMath>
                </a14:m>
                <a:r>
                  <a:rPr lang="en-US" sz="2000" dirty="0">
                    <a:solidFill>
                      <a:schemeClr val="tx1"/>
                    </a:solidFill>
                  </a:rPr>
                  <a:t> such that </a:t>
                </a:r>
              </a:p>
              <a:p>
                <a:pPr>
                  <a:spcAft>
                    <a:spcPts val="300"/>
                  </a:spcAft>
                </a:pPr>
                <a:r>
                  <a:rPr lang="en-US" sz="2000" dirty="0">
                    <a:solidFill>
                      <a:schemeClr val="tx1"/>
                    </a:solidFill>
                    <a:ea typeface="Cambria Math" panose="02040503050406030204" pitchFamily="18" charset="0"/>
                  </a:rPr>
                  <a:t>         </a:t>
                </a:r>
                <a14:m>
                  <m:oMath xmlns:m="http://schemas.openxmlformats.org/officeDocument/2006/math">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i="1">
                            <a:solidFill>
                              <a:schemeClr val="tx1"/>
                            </a:solidFill>
                            <a:latin typeface="Cambria Math" panose="02040503050406030204" pitchFamily="18" charset="0"/>
                            <a:ea typeface="Cambria Math" panose="02040503050406030204" pitchFamily="18" charset="0"/>
                          </a:rPr>
                          <m:t>𝔼</m:t>
                        </m:r>
                      </m:e>
                      <m:sub>
                        <m:r>
                          <a:rPr lang="en-US" sz="2000" i="1">
                            <a:solidFill>
                              <a:schemeClr val="tx1"/>
                            </a:solidFill>
                            <a:latin typeface="Cambria Math" panose="02040503050406030204" pitchFamily="18" charset="0"/>
                            <a:ea typeface="Cambria Math" panose="02040503050406030204" pitchFamily="18" charset="0"/>
                          </a:rPr>
                          <m:t>𝑥</m:t>
                        </m:r>
                        <m:r>
                          <a:rPr lang="en-US" sz="2000"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𝒟</m:t>
                        </m:r>
                      </m:sub>
                    </m:sSub>
                    <m:r>
                      <a:rPr lang="en-US" sz="2000" i="1" smtClean="0">
                        <a:solidFill>
                          <a:srgbClr val="0432FF"/>
                        </a:solidFill>
                        <a:latin typeface="Cambria Math" panose="02040503050406030204" pitchFamily="18" charset="0"/>
                        <a:ea typeface="Cambria Math" panose="02040503050406030204" pitchFamily="18" charset="0"/>
                      </a:rPr>
                      <m:t>𝕀</m:t>
                    </m:r>
                    <m:r>
                      <a:rPr lang="en-US" sz="2000" i="1" smtClean="0">
                        <a:solidFill>
                          <a:srgbClr val="0432FF"/>
                        </a:solidFill>
                        <a:latin typeface="Cambria Math" panose="02040503050406030204" pitchFamily="18" charset="0"/>
                        <a:ea typeface="Cambria Math" panose="02040503050406030204" pitchFamily="18" charset="0"/>
                      </a:rPr>
                      <m:t> [</m:t>
                    </m:r>
                    <m:r>
                      <a:rPr lang="en-US" sz="2000" i="1">
                        <a:solidFill>
                          <a:srgbClr val="0432FF"/>
                        </a:solidFill>
                        <a:latin typeface="Cambria Math" panose="02040503050406030204" pitchFamily="18" charset="0"/>
                      </a:rPr>
                      <m:t>𝑓</m:t>
                    </m:r>
                    <m:d>
                      <m:dPr>
                        <m:ctrlPr>
                          <a:rPr lang="en-US" sz="2000" i="1">
                            <a:solidFill>
                              <a:srgbClr val="0432FF"/>
                            </a:solidFill>
                            <a:latin typeface="Cambria Math" panose="02040503050406030204" pitchFamily="18" charset="0"/>
                          </a:rPr>
                        </m:ctrlPr>
                      </m:dPr>
                      <m:e>
                        <m:r>
                          <a:rPr lang="en-US" sz="2000" i="1">
                            <a:solidFill>
                              <a:srgbClr val="0432FF"/>
                            </a:solidFill>
                            <a:latin typeface="Cambria Math" panose="02040503050406030204" pitchFamily="18" charset="0"/>
                          </a:rPr>
                          <m:t>𝑥</m:t>
                        </m:r>
                      </m:e>
                    </m:d>
                    <m:r>
                      <a:rPr lang="en-US" sz="2000" i="1">
                        <a:solidFill>
                          <a:srgbClr val="0432FF"/>
                        </a:solidFill>
                        <a:latin typeface="Cambria Math" panose="02040503050406030204" pitchFamily="18" charset="0"/>
                        <a:ea typeface="Cambria Math" panose="02040503050406030204" pitchFamily="18" charset="0"/>
                      </a:rPr>
                      <m:t>≠</m:t>
                    </m:r>
                    <m:r>
                      <a:rPr lang="en-US" altLang="zh-CN" sz="2000" b="0" i="1" smtClean="0">
                        <a:solidFill>
                          <a:srgbClr val="0432FF"/>
                        </a:solidFill>
                        <a:latin typeface="Cambria Math" panose="02040503050406030204" pitchFamily="18" charset="0"/>
                        <a:ea typeface="Cambria Math" panose="02040503050406030204" pitchFamily="18" charset="0"/>
                      </a:rPr>
                      <m:t>𝑔</m:t>
                    </m:r>
                    <m:d>
                      <m:dPr>
                        <m:ctrlPr>
                          <a:rPr lang="en-US" sz="2000" i="1">
                            <a:solidFill>
                              <a:srgbClr val="0432FF"/>
                            </a:solidFill>
                            <a:latin typeface="Cambria Math" panose="02040503050406030204" pitchFamily="18" charset="0"/>
                            <a:ea typeface="Cambria Math" panose="02040503050406030204" pitchFamily="18" charset="0"/>
                          </a:rPr>
                        </m:ctrlPr>
                      </m:dPr>
                      <m:e>
                        <m:r>
                          <a:rPr lang="en-US" sz="2000" i="1">
                            <a:solidFill>
                              <a:srgbClr val="0432FF"/>
                            </a:solidFill>
                            <a:latin typeface="Cambria Math" panose="02040503050406030204" pitchFamily="18" charset="0"/>
                            <a:ea typeface="Cambria Math" panose="02040503050406030204" pitchFamily="18" charset="0"/>
                          </a:rPr>
                          <m:t>𝑥</m:t>
                        </m:r>
                      </m:e>
                    </m:d>
                    <m:r>
                      <a:rPr lang="en-US" altLang="zh-CN" sz="2000" b="0" i="1" smtClean="0">
                        <a:solidFill>
                          <a:srgbClr val="0432FF"/>
                        </a:solidFill>
                        <a:latin typeface="Cambria Math" panose="02040503050406030204" pitchFamily="18" charset="0"/>
                        <a:ea typeface="Cambria Math" panose="02040503050406030204" pitchFamily="18" charset="0"/>
                      </a:rPr>
                      <m:t>]</m:t>
                    </m:r>
                    <m:r>
                      <m:rPr>
                        <m:nor/>
                      </m:rPr>
                      <a:rPr lang="en-US" sz="2000" dirty="0">
                        <a:solidFill>
                          <a:srgbClr val="0432FF"/>
                        </a:solidFill>
                      </a:rPr>
                      <m:t> </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𝜖</m:t>
                    </m:r>
                  </m:oMath>
                </a14:m>
                <a:r>
                  <a:rPr lang="en-US" sz="2000" dirty="0">
                    <a:solidFill>
                      <a:schemeClr val="tx1"/>
                    </a:solidFill>
                  </a:rPr>
                  <a:t>  with probability at least </a:t>
                </a:r>
                <a14:m>
                  <m:oMath xmlns:m="http://schemas.openxmlformats.org/officeDocument/2006/math">
                    <m:r>
                      <a:rPr lang="en-US"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𝛿</m:t>
                    </m:r>
                    <m:r>
                      <a:rPr lang="en-US" sz="2000" b="0" i="1" smtClean="0">
                        <a:solidFill>
                          <a:schemeClr val="tx1"/>
                        </a:solidFill>
                        <a:latin typeface="Cambria Math" panose="02040503050406030204" pitchFamily="18" charset="0"/>
                      </a:rPr>
                      <m:t>)</m:t>
                    </m:r>
                  </m:oMath>
                </a14:m>
                <a:r>
                  <a:rPr lang="en-US" sz="2000" dirty="0">
                    <a:solidFill>
                      <a:schemeClr val="tx1"/>
                    </a:solidFill>
                  </a:rPr>
                  <a:t>,</a:t>
                </a:r>
              </a:p>
              <a:p>
                <a:pPr>
                  <a:spcAft>
                    <a:spcPts val="1700"/>
                  </a:spcAft>
                </a:pPr>
                <a:r>
                  <a:rPr lang="en-US" sz="2000" dirty="0">
                    <a:solidFill>
                      <a:schemeClr val="tx1"/>
                    </a:solidFill>
                  </a:rPr>
                  <a:t>then we say hypothesis class </a:t>
                </a:r>
                <a14:m>
                  <m:oMath xmlns:m="http://schemas.openxmlformats.org/officeDocument/2006/math">
                    <m:r>
                      <a:rPr lang="en-US" sz="2000" i="1">
                        <a:solidFill>
                          <a:schemeClr val="tx1"/>
                        </a:solidFill>
                        <a:latin typeface="Cambria Math" panose="02040503050406030204" pitchFamily="18" charset="0"/>
                      </a:rPr>
                      <m:t>𝐻</m:t>
                    </m:r>
                  </m:oMath>
                </a14:m>
                <a:r>
                  <a:rPr lang="en-US" sz="2000" dirty="0">
                    <a:solidFill>
                      <a:schemeClr val="tx1"/>
                    </a:solidFill>
                  </a:rPr>
                  <a:t> is PAC-learnable by algorithm </a:t>
                </a:r>
                <a14:m>
                  <m:oMath xmlns:m="http://schemas.openxmlformats.org/officeDocument/2006/math">
                    <m:r>
                      <a:rPr lang="en-US" sz="2000" b="0" i="1" smtClean="0">
                        <a:solidFill>
                          <a:schemeClr val="tx1"/>
                        </a:solidFill>
                        <a:latin typeface="Cambria Math" panose="02040503050406030204" pitchFamily="18" charset="0"/>
                      </a:rPr>
                      <m:t>𝐴</m:t>
                    </m:r>
                  </m:oMath>
                </a14:m>
                <a:r>
                  <a:rPr lang="en-US" sz="2000" dirty="0">
                    <a:solidFill>
                      <a:schemeClr val="tx1"/>
                    </a:solidFill>
                  </a:rPr>
                  <a:t> with </a:t>
                </a:r>
                <a14:m>
                  <m:oMath xmlns:m="http://schemas.openxmlformats.org/officeDocument/2006/math">
                    <m:r>
                      <a:rPr lang="en-US" sz="2000" i="1">
                        <a:solidFill>
                          <a:schemeClr val="tx1"/>
                        </a:solidFill>
                        <a:latin typeface="Cambria Math" panose="02040503050406030204" pitchFamily="18" charset="0"/>
                      </a:rPr>
                      <m:t>𝑛</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𝜖</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𝛿</m:t>
                    </m:r>
                    <m:r>
                      <a:rPr lang="en-US" sz="2000" i="1">
                        <a:solidFill>
                          <a:schemeClr val="tx1"/>
                        </a:solidFill>
                        <a:latin typeface="Cambria Math" panose="02040503050406030204" pitchFamily="18" charset="0"/>
                      </a:rPr>
                      <m:t>)</m:t>
                    </m:r>
                  </m:oMath>
                </a14:m>
                <a:r>
                  <a:rPr lang="en-US" sz="2000" dirty="0">
                    <a:solidFill>
                      <a:schemeClr val="tx1"/>
                    </a:solidFill>
                  </a:rPr>
                  <a:t> sample complexity.  </a:t>
                </a:r>
              </a:p>
            </p:txBody>
          </p:sp>
        </mc:Choice>
        <mc:Fallback xmlns="">
          <p:sp>
            <p:nvSpPr>
              <p:cNvPr id="4" name="Rounded Rectangle 3">
                <a:extLst>
                  <a:ext uri="{FF2B5EF4-FFF2-40B4-BE49-F238E27FC236}">
                    <a16:creationId xmlns:a16="http://schemas.microsoft.com/office/drawing/2014/main" id="{51F64E81-B36E-FCB8-863F-EFA5D075F38B}"/>
                  </a:ext>
                </a:extLst>
              </p:cNvPr>
              <p:cNvSpPr>
                <a:spLocks noRot="1" noChangeAspect="1" noMove="1" noResize="1" noEditPoints="1" noAdjustHandles="1" noChangeArrowheads="1" noChangeShapeType="1" noTextEdit="1"/>
              </p:cNvSpPr>
              <p:nvPr/>
            </p:nvSpPr>
            <p:spPr>
              <a:xfrm>
                <a:off x="821724" y="2433776"/>
                <a:ext cx="7865076" cy="2685906"/>
              </a:xfrm>
              <a:prstGeom prst="roundRect">
                <a:avLst>
                  <a:gd name="adj" fmla="val 7926"/>
                </a:avLst>
              </a:prstGeom>
              <a:blipFill>
                <a:blip r:embed="rId2"/>
                <a:stretch>
                  <a:fillRect/>
                </a:stretch>
              </a:blipFill>
              <a:ln>
                <a:noFill/>
              </a:ln>
              <a:effectLst>
                <a:outerShdw blurRad="50800" dist="76200" dir="2700000" algn="tl" rotWithShape="0">
                  <a:prstClr val="black">
                    <a:alpha val="40000"/>
                  </a:prstClr>
                </a:outerShdw>
              </a:effectLst>
            </p:spPr>
            <p:txBody>
              <a:bodyPr/>
              <a:lstStyle/>
              <a:p>
                <a:r>
                  <a:rPr lang="en-US">
                    <a:noFill/>
                  </a:rPr>
                  <a:t> </a:t>
                </a:r>
              </a:p>
            </p:txBody>
          </p:sp>
        </mc:Fallback>
      </mc:AlternateContent>
    </p:spTree>
    <p:extLst>
      <p:ext uri="{BB962C8B-B14F-4D97-AF65-F5344CB8AC3E}">
        <p14:creationId xmlns:p14="http://schemas.microsoft.com/office/powerpoint/2010/main" val="1977799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内容占位符 2"/>
          <p:cNvSpPr>
            <a:spLocks noGrp="1"/>
          </p:cNvSpPr>
          <p:nvPr>
            <p:ph idx="1"/>
          </p:nvPr>
        </p:nvSpPr>
        <p:spPr>
          <a:xfrm>
            <a:off x="685800" y="1027113"/>
            <a:ext cx="7772400" cy="5068887"/>
          </a:xfrm>
        </p:spPr>
        <p:txBody>
          <a:bodyPr/>
          <a:lstStyle/>
          <a:p>
            <a:r>
              <a:rPr lang="zh-CN" altLang="en-US" sz="3200" b="1" dirty="0"/>
              <a:t>统计学习三要素：</a:t>
            </a:r>
            <a:endParaRPr lang="en-US" altLang="zh-CN" sz="3200" b="1" dirty="0"/>
          </a:p>
          <a:p>
            <a:endParaRPr lang="en-US" altLang="zh-CN" dirty="0"/>
          </a:p>
          <a:p>
            <a:pPr lvl="1"/>
            <a:r>
              <a:rPr lang="zh-CN" altLang="en-US" sz="2800" b="1" dirty="0"/>
              <a:t>模型：学习什么样的模型</a:t>
            </a:r>
            <a:endParaRPr lang="en-US" altLang="zh-CN" sz="2800" b="1" dirty="0"/>
          </a:p>
          <a:p>
            <a:pPr lvl="2"/>
            <a:r>
              <a:rPr lang="zh-CN" altLang="en-US" sz="2400" b="1" dirty="0"/>
              <a:t>条件概率分布、决策函数</a:t>
            </a:r>
            <a:endParaRPr lang="en-US" altLang="zh-CN" sz="2400" b="1" dirty="0"/>
          </a:p>
          <a:p>
            <a:pPr lvl="2"/>
            <a:endParaRPr lang="en-US" altLang="zh-CN" dirty="0"/>
          </a:p>
          <a:p>
            <a:pPr lvl="1"/>
            <a:r>
              <a:rPr lang="zh-CN" altLang="en-US" sz="2800" b="1" dirty="0"/>
              <a:t>策略：模型选择的准则</a:t>
            </a:r>
            <a:endParaRPr lang="en-US" altLang="zh-CN" sz="2800" b="1" dirty="0"/>
          </a:p>
          <a:p>
            <a:pPr lvl="2"/>
            <a:r>
              <a:rPr lang="zh-CN" altLang="en-US" sz="2400" b="1" dirty="0"/>
              <a:t>经验风险最小化、结构风险最小化</a:t>
            </a:r>
            <a:endParaRPr lang="en-US" altLang="zh-CN" sz="2400" b="1" dirty="0"/>
          </a:p>
          <a:p>
            <a:pPr lvl="2"/>
            <a:endParaRPr lang="en-US" altLang="zh-CN" dirty="0"/>
          </a:p>
          <a:p>
            <a:pPr lvl="1"/>
            <a:r>
              <a:rPr lang="zh-CN" altLang="en-US" sz="2800" b="1" dirty="0"/>
              <a:t>算法：模型学习的算法</a:t>
            </a:r>
            <a:endParaRPr lang="en-US" altLang="zh-CN" sz="2800" b="1" dirty="0"/>
          </a:p>
          <a:p>
            <a:pPr lvl="2"/>
            <a:r>
              <a:rPr lang="zh-CN" altLang="en-US" sz="2400" b="1" dirty="0"/>
              <a:t>一般归结为一个最优化问题</a:t>
            </a:r>
          </a:p>
        </p:txBody>
      </p:sp>
      <p:sp>
        <p:nvSpPr>
          <p:cNvPr id="73732" name="灯片编号占位符 3"/>
          <p:cNvSpPr>
            <a:spLocks noGrp="1"/>
          </p:cNvSpPr>
          <p:nvPr>
            <p:ph type="sldNum" sz="quarter" idx="12"/>
          </p:nvPr>
        </p:nvSpPr>
        <p:spPr>
          <a:noFill/>
        </p:spPr>
        <p:txBody>
          <a:bodyPr/>
          <a:lstStyle/>
          <a:p>
            <a:fld id="{221CE6C2-4EEA-4E86-9C97-3E30FF7D260E}" type="slidenum">
              <a:rPr lang="en-US" altLang="zh-CN" smtClean="0">
                <a:ea typeface="黑体" pitchFamily="49" charset="-122"/>
              </a:rPr>
              <a:pPr/>
              <a:t>6</a:t>
            </a:fld>
            <a:endParaRPr lang="en-US" altLang="zh-CN">
              <a:ea typeface="黑体"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内容占位符 2"/>
          <p:cNvSpPr>
            <a:spLocks noGrp="1"/>
          </p:cNvSpPr>
          <p:nvPr>
            <p:ph idx="1"/>
          </p:nvPr>
        </p:nvSpPr>
        <p:spPr/>
        <p:txBody>
          <a:bodyPr>
            <a:normAutofit/>
          </a:bodyPr>
          <a:lstStyle/>
          <a:p>
            <a:r>
              <a:rPr lang="zh-CN" altLang="en-US" sz="3200" b="1" dirty="0"/>
              <a:t>统计机器学习分类：</a:t>
            </a:r>
            <a:endParaRPr lang="en-US" altLang="zh-CN" sz="3200" b="1" dirty="0"/>
          </a:p>
          <a:p>
            <a:endParaRPr lang="en-US" altLang="zh-CN" sz="2800" b="1" dirty="0"/>
          </a:p>
          <a:p>
            <a:pPr lvl="1"/>
            <a:r>
              <a:rPr lang="zh-CN" altLang="en-US" sz="2800" b="1" dirty="0"/>
              <a:t>监督学习</a:t>
            </a:r>
            <a:endParaRPr lang="en-US" altLang="zh-CN" sz="2800" b="1" dirty="0"/>
          </a:p>
          <a:p>
            <a:pPr lvl="1"/>
            <a:r>
              <a:rPr lang="zh-CN" altLang="en-US" sz="2800" b="1" dirty="0"/>
              <a:t>无监督学习</a:t>
            </a:r>
            <a:endParaRPr lang="en-US" altLang="zh-CN" sz="2800" b="1" dirty="0"/>
          </a:p>
          <a:p>
            <a:pPr lvl="1"/>
            <a:r>
              <a:rPr lang="zh-CN" altLang="en-US" sz="2800" b="1" dirty="0"/>
              <a:t>半监督学习</a:t>
            </a:r>
            <a:endParaRPr lang="en-US" altLang="zh-CN" sz="2800" b="1" dirty="0"/>
          </a:p>
          <a:p>
            <a:pPr lvl="1"/>
            <a:r>
              <a:rPr lang="zh-CN" altLang="en-US" sz="2800" b="1" dirty="0"/>
              <a:t>弱监督</a:t>
            </a:r>
            <a:endParaRPr lang="en-US" altLang="zh-CN" sz="2800" b="1" dirty="0"/>
          </a:p>
          <a:p>
            <a:pPr lvl="1"/>
            <a:r>
              <a:rPr lang="zh-CN" altLang="en-US" sz="2800" b="1" dirty="0"/>
              <a:t>。。。</a:t>
            </a:r>
          </a:p>
        </p:txBody>
      </p:sp>
      <p:sp>
        <p:nvSpPr>
          <p:cNvPr id="74756" name="灯片编号占位符 3"/>
          <p:cNvSpPr>
            <a:spLocks noGrp="1"/>
          </p:cNvSpPr>
          <p:nvPr>
            <p:ph type="sldNum" sz="quarter" idx="12"/>
          </p:nvPr>
        </p:nvSpPr>
        <p:spPr>
          <a:noFill/>
        </p:spPr>
        <p:txBody>
          <a:bodyPr/>
          <a:lstStyle/>
          <a:p>
            <a:fld id="{5865B15F-6BA0-466C-A2F5-E86091C536B8}" type="slidenum">
              <a:rPr lang="en-US" altLang="zh-CN" smtClean="0">
                <a:ea typeface="黑体" pitchFamily="49" charset="-122"/>
              </a:rPr>
              <a:pPr/>
              <a:t>7</a:t>
            </a:fld>
            <a:endParaRPr lang="en-US" altLang="zh-CN">
              <a:ea typeface="黑体"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统计机器学习的应用</a:t>
            </a:r>
          </a:p>
        </p:txBody>
      </p:sp>
      <p:sp>
        <p:nvSpPr>
          <p:cNvPr id="76803" name="内容占位符 2"/>
          <p:cNvSpPr>
            <a:spLocks noGrp="1"/>
          </p:cNvSpPr>
          <p:nvPr>
            <p:ph idx="1"/>
          </p:nvPr>
        </p:nvSpPr>
        <p:spPr>
          <a:xfrm>
            <a:off x="914400" y="1813034"/>
            <a:ext cx="7772400" cy="4206766"/>
          </a:xfrm>
        </p:spPr>
        <p:txBody>
          <a:bodyPr>
            <a:normAutofit/>
          </a:bodyPr>
          <a:lstStyle/>
          <a:p>
            <a:r>
              <a:rPr lang="zh-CN" altLang="en-US" sz="3200" b="1" dirty="0"/>
              <a:t>应用广泛，信息处理的各个方面几乎都要用到机器学习</a:t>
            </a:r>
            <a:endParaRPr lang="en-US" altLang="zh-CN" sz="3200" b="1" dirty="0"/>
          </a:p>
          <a:p>
            <a:pPr lvl="1"/>
            <a:r>
              <a:rPr lang="zh-CN" altLang="en-US" sz="2800" b="1" dirty="0"/>
              <a:t>文字、语音识别，输入法</a:t>
            </a:r>
            <a:endParaRPr lang="en-US" altLang="zh-CN" sz="2800" b="1" dirty="0"/>
          </a:p>
          <a:p>
            <a:pPr lvl="1"/>
            <a:r>
              <a:rPr lang="zh-CN" altLang="en-US" sz="2800" b="1" dirty="0"/>
              <a:t>搜索引擎</a:t>
            </a:r>
            <a:endParaRPr lang="en-US" altLang="zh-CN" sz="2800" b="1" dirty="0"/>
          </a:p>
          <a:p>
            <a:pPr lvl="1"/>
            <a:r>
              <a:rPr lang="zh-CN" altLang="en-US" sz="2800" b="1" dirty="0"/>
              <a:t>推荐、广告</a:t>
            </a:r>
            <a:endParaRPr lang="en-US" altLang="zh-CN" sz="2800" b="1" dirty="0"/>
          </a:p>
          <a:p>
            <a:pPr lvl="1"/>
            <a:r>
              <a:rPr lang="zh-CN" altLang="en-US" sz="2800" b="1" dirty="0"/>
              <a:t>文本处理、机器翻译</a:t>
            </a:r>
            <a:endParaRPr lang="en-US" altLang="zh-CN" sz="2800" b="1" dirty="0"/>
          </a:p>
          <a:p>
            <a:pPr lvl="1"/>
            <a:r>
              <a:rPr lang="zh-CN" altLang="en-US" sz="2800" b="1" dirty="0"/>
              <a:t>图像、视频处理</a:t>
            </a:r>
            <a:endParaRPr lang="en-US" altLang="zh-CN" sz="2800" b="1" dirty="0"/>
          </a:p>
          <a:p>
            <a:pPr lvl="1"/>
            <a:r>
              <a:rPr lang="en-US" altLang="zh-CN" sz="2800" b="1" dirty="0"/>
              <a:t>……</a:t>
            </a:r>
          </a:p>
        </p:txBody>
      </p:sp>
      <p:sp>
        <p:nvSpPr>
          <p:cNvPr id="76804" name="灯片编号占位符 3"/>
          <p:cNvSpPr>
            <a:spLocks noGrp="1"/>
          </p:cNvSpPr>
          <p:nvPr>
            <p:ph type="sldNum" sz="quarter" idx="12"/>
          </p:nvPr>
        </p:nvSpPr>
        <p:spPr>
          <a:noFill/>
        </p:spPr>
        <p:txBody>
          <a:bodyPr/>
          <a:lstStyle/>
          <a:p>
            <a:fld id="{50888D07-8479-49E8-826C-FF351C3E6A6D}" type="slidenum">
              <a:rPr lang="en-US" altLang="zh-CN" smtClean="0">
                <a:ea typeface="黑体" pitchFamily="49" charset="-122"/>
              </a:rPr>
              <a:pPr/>
              <a:t>8</a:t>
            </a:fld>
            <a:endParaRPr lang="en-US" altLang="zh-CN">
              <a:ea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4.1 </a:t>
            </a:r>
            <a:r>
              <a:rPr lang="zh-CN" altLang="en-US" dirty="0"/>
              <a:t>支持向量机（</a:t>
            </a:r>
            <a:r>
              <a:rPr lang="en-US" altLang="zh-CN" dirty="0"/>
              <a:t>SVM</a:t>
            </a:r>
            <a:r>
              <a:rPr lang="zh-CN" altLang="en-US" dirty="0"/>
              <a:t>）</a:t>
            </a:r>
          </a:p>
        </p:txBody>
      </p:sp>
      <p:sp>
        <p:nvSpPr>
          <p:cNvPr id="84995" name="内容占位符 2"/>
          <p:cNvSpPr>
            <a:spLocks noGrp="1"/>
          </p:cNvSpPr>
          <p:nvPr>
            <p:ph idx="1"/>
          </p:nvPr>
        </p:nvSpPr>
        <p:spPr>
          <a:xfrm>
            <a:off x="685800" y="1747838"/>
            <a:ext cx="7772400" cy="4348162"/>
          </a:xfrm>
        </p:spPr>
        <p:txBody>
          <a:bodyPr>
            <a:normAutofit/>
          </a:bodyPr>
          <a:lstStyle/>
          <a:p>
            <a:r>
              <a:rPr lang="en-US" altLang="zh-CN" sz="3200" b="1" dirty="0"/>
              <a:t>Support Vector Machines, SVM</a:t>
            </a:r>
          </a:p>
          <a:p>
            <a:pPr lvl="1"/>
            <a:r>
              <a:rPr lang="zh-CN" altLang="en-US" sz="3000" b="1" dirty="0"/>
              <a:t>分类模型</a:t>
            </a:r>
            <a:endParaRPr lang="en-US" altLang="zh-CN" sz="3000" b="1" dirty="0"/>
          </a:p>
          <a:p>
            <a:pPr lvl="1"/>
            <a:r>
              <a:rPr lang="zh-CN" altLang="en-US" sz="3000" b="1" dirty="0"/>
              <a:t>特征空间上的间隔最大化线性分类器</a:t>
            </a:r>
            <a:endParaRPr lang="en-US" altLang="zh-CN" sz="3000" b="1" dirty="0"/>
          </a:p>
          <a:p>
            <a:pPr lvl="1"/>
            <a:r>
              <a:rPr lang="zh-CN" altLang="en-US" sz="3000" b="1" dirty="0"/>
              <a:t>通过核技巧可实现非线性分类</a:t>
            </a:r>
            <a:endParaRPr lang="en-US" altLang="zh-CN" sz="3000" b="1" dirty="0"/>
          </a:p>
          <a:p>
            <a:r>
              <a:rPr lang="zh-CN" altLang="en-US" sz="3200" b="1" dirty="0"/>
              <a:t>根据模型的复杂程度可划分为：</a:t>
            </a:r>
            <a:endParaRPr lang="en-US" altLang="zh-CN" sz="3200" b="1" dirty="0"/>
          </a:p>
          <a:p>
            <a:pPr lvl="1"/>
            <a:r>
              <a:rPr lang="zh-CN" altLang="en-US" sz="2800" b="1" dirty="0"/>
              <a:t>线性可分支持向量机</a:t>
            </a:r>
            <a:endParaRPr lang="en-US" altLang="zh-CN" sz="2800" b="1" dirty="0"/>
          </a:p>
          <a:p>
            <a:pPr lvl="1"/>
            <a:r>
              <a:rPr lang="zh-CN" altLang="en-US" sz="2800" b="1" dirty="0"/>
              <a:t>线性支持向量机</a:t>
            </a:r>
            <a:endParaRPr lang="en-US" altLang="zh-CN" sz="2800" b="1" dirty="0"/>
          </a:p>
          <a:p>
            <a:pPr lvl="1"/>
            <a:r>
              <a:rPr lang="zh-CN" altLang="en-US" sz="2800" b="1" dirty="0"/>
              <a:t>非线性支持向量机</a:t>
            </a:r>
            <a:endParaRPr lang="en-US" altLang="zh-CN" sz="2800" b="1" dirty="0"/>
          </a:p>
          <a:p>
            <a:endParaRPr lang="zh-CN" altLang="en-US" dirty="0"/>
          </a:p>
        </p:txBody>
      </p:sp>
      <p:sp>
        <p:nvSpPr>
          <p:cNvPr id="84996" name="灯片编号占位符 3"/>
          <p:cNvSpPr>
            <a:spLocks noGrp="1"/>
          </p:cNvSpPr>
          <p:nvPr>
            <p:ph type="sldNum" sz="quarter" idx="12"/>
          </p:nvPr>
        </p:nvSpPr>
        <p:spPr>
          <a:noFill/>
        </p:spPr>
        <p:txBody>
          <a:bodyPr/>
          <a:lstStyle/>
          <a:p>
            <a:fld id="{33BE5692-1A6E-4D2A-AC90-D3DBDAEF38CC}" type="slidenum">
              <a:rPr lang="en-US" altLang="zh-CN" smtClean="0">
                <a:ea typeface="黑体" pitchFamily="49" charset="-122"/>
              </a:rPr>
              <a:pPr/>
              <a:t>9</a:t>
            </a:fld>
            <a:endParaRPr lang="en-US" altLang="zh-CN">
              <a:ea typeface="黑体"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前情回顾：强化学习方法</a:t>
            </a:r>
          </a:p>
        </p:txBody>
      </p:sp>
      <p:sp>
        <p:nvSpPr>
          <p:cNvPr id="3" name="内容占位符 2"/>
          <p:cNvSpPr>
            <a:spLocks noGrp="1"/>
          </p:cNvSpPr>
          <p:nvPr>
            <p:ph sz="quarter" idx="1"/>
          </p:nvPr>
        </p:nvSpPr>
        <p:spPr/>
        <p:txBody>
          <a:bodyPr/>
          <a:lstStyle/>
          <a:p>
            <a:endParaRPr lang="en-US" altLang="zh-CN" dirty="0"/>
          </a:p>
          <a:p>
            <a:pPr marL="320040" lvl="1" indent="0">
              <a:buNone/>
            </a:pPr>
            <a:endParaRPr lang="en-US" altLang="zh-CN" dirty="0"/>
          </a:p>
          <a:p>
            <a:r>
              <a:rPr lang="zh-CN" altLang="en-US" dirty="0"/>
              <a:t>三种经典强化学习方法的深度学习实现</a:t>
            </a:r>
            <a:endParaRPr lang="en-US" altLang="zh-CN" dirty="0"/>
          </a:p>
          <a:p>
            <a:pPr lvl="1"/>
            <a:r>
              <a:rPr lang="zh-CN" altLang="en-US" dirty="0"/>
              <a:t>基于策略梯度（</a:t>
            </a:r>
            <a:r>
              <a:rPr lang="en-US" altLang="zh-CN" dirty="0"/>
              <a:t>policy</a:t>
            </a:r>
            <a:r>
              <a:rPr lang="zh-CN" altLang="en-US" dirty="0"/>
              <a:t> </a:t>
            </a:r>
            <a:r>
              <a:rPr lang="en-US" altLang="zh-CN" dirty="0"/>
              <a:t>gradient</a:t>
            </a:r>
            <a:r>
              <a:rPr lang="zh-CN" altLang="en-US" dirty="0"/>
              <a:t>）的强化学习</a:t>
            </a:r>
            <a:endParaRPr lang="en-US" altLang="zh-CN" dirty="0"/>
          </a:p>
          <a:p>
            <a:pPr lvl="1"/>
            <a:r>
              <a:rPr lang="zh-CN" altLang="en-US" dirty="0"/>
              <a:t>基于价值（</a:t>
            </a:r>
            <a:r>
              <a:rPr lang="en-US" altLang="zh-CN" dirty="0"/>
              <a:t>value</a:t>
            </a:r>
            <a:r>
              <a:rPr lang="zh-CN" altLang="en-US" dirty="0"/>
              <a:t>）的强化学习</a:t>
            </a:r>
            <a:endParaRPr lang="en-US" altLang="zh-CN" dirty="0"/>
          </a:p>
          <a:p>
            <a:pPr lvl="1"/>
            <a:r>
              <a:rPr lang="zh-CN" altLang="en-US" dirty="0"/>
              <a:t>基于演员</a:t>
            </a:r>
            <a:r>
              <a:rPr lang="en-US" altLang="zh-CN" dirty="0"/>
              <a:t>-</a:t>
            </a:r>
            <a:r>
              <a:rPr lang="zh-CN" altLang="en-US" dirty="0"/>
              <a:t>评价（</a:t>
            </a:r>
            <a:r>
              <a:rPr lang="en-US" altLang="zh-CN" dirty="0"/>
              <a:t>actor-critics</a:t>
            </a:r>
            <a:r>
              <a:rPr lang="zh-CN" altLang="en-US" dirty="0"/>
              <a:t>）方法的强化学习</a:t>
            </a:r>
          </a:p>
        </p:txBody>
      </p:sp>
    </p:spTree>
    <p:extLst>
      <p:ext uri="{BB962C8B-B14F-4D97-AF65-F5344CB8AC3E}">
        <p14:creationId xmlns:p14="http://schemas.microsoft.com/office/powerpoint/2010/main" val="2112445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76D05-59EB-BEDA-5390-FA9ECE81D772}"/>
            </a:ext>
          </a:extLst>
        </p:cNvPr>
        <p:cNvGrpSpPr/>
        <p:nvPr/>
      </p:nvGrpSpPr>
      <p:grpSpPr>
        <a:xfrm>
          <a:off x="0" y="0"/>
          <a:ext cx="0" cy="0"/>
          <a:chOff x="0" y="0"/>
          <a:chExt cx="0" cy="0"/>
        </a:xfrm>
      </p:grpSpPr>
      <p:sp>
        <p:nvSpPr>
          <p:cNvPr id="72706" name="灯片编号占位符 3">
            <a:extLst>
              <a:ext uri="{FF2B5EF4-FFF2-40B4-BE49-F238E27FC236}">
                <a16:creationId xmlns:a16="http://schemas.microsoft.com/office/drawing/2014/main" id="{C7FD1E40-720F-3C32-8D03-8D94444CAD2A}"/>
              </a:ext>
            </a:extLst>
          </p:cNvPr>
          <p:cNvSpPr>
            <a:spLocks noGrp="1"/>
          </p:cNvSpPr>
          <p:nvPr>
            <p:ph type="sldNum" sz="quarter" idx="12"/>
          </p:nvPr>
        </p:nvSpPr>
        <p:spPr>
          <a:noFill/>
        </p:spPr>
        <p:txBody>
          <a:bodyPr/>
          <a:lstStyle/>
          <a:p>
            <a:fld id="{AFA91C05-199B-4A51-9810-17A3F9C78658}" type="slidenum">
              <a:rPr lang="en-US" altLang="zh-CN" smtClean="0">
                <a:ea typeface="黑体" pitchFamily="49" charset="-122"/>
              </a:rPr>
              <a:pPr/>
              <a:t>11</a:t>
            </a:fld>
            <a:endParaRPr lang="en-US" altLang="zh-CN">
              <a:ea typeface="黑体" pitchFamily="49" charset="-122"/>
            </a:endParaRPr>
          </a:p>
        </p:txBody>
      </p:sp>
      <p:sp>
        <p:nvSpPr>
          <p:cNvPr id="72707" name="TextBox 6">
            <a:extLst>
              <a:ext uri="{FF2B5EF4-FFF2-40B4-BE49-F238E27FC236}">
                <a16:creationId xmlns:a16="http://schemas.microsoft.com/office/drawing/2014/main" id="{C1FD0F06-7A8F-8B70-797E-3AFF42629DAC}"/>
              </a:ext>
            </a:extLst>
          </p:cNvPr>
          <p:cNvSpPr txBox="1">
            <a:spLocks noChangeArrowheads="1"/>
          </p:cNvSpPr>
          <p:nvPr/>
        </p:nvSpPr>
        <p:spPr bwMode="auto">
          <a:xfrm>
            <a:off x="736167" y="1757510"/>
            <a:ext cx="2105025" cy="708025"/>
          </a:xfrm>
          <a:prstGeom prst="rect">
            <a:avLst/>
          </a:prstGeom>
          <a:noFill/>
          <a:ln w="28575">
            <a:solidFill>
              <a:schemeClr val="tx1"/>
            </a:solidFill>
            <a:miter lim="800000"/>
            <a:headEnd/>
            <a:tailEnd/>
          </a:ln>
        </p:spPr>
        <p:txBody>
          <a:bodyPr>
            <a:spAutoFit/>
          </a:bodyPr>
          <a:lstStyle/>
          <a:p>
            <a:r>
              <a:rPr lang="zh-CN" altLang="en-US" sz="2000" b="1" dirty="0"/>
              <a:t>训练集</a:t>
            </a:r>
            <a:r>
              <a:rPr lang="en-US" altLang="zh-CN" sz="2000" b="1" dirty="0"/>
              <a:t>T {(x</a:t>
            </a:r>
            <a:r>
              <a:rPr lang="en-US" altLang="zh-CN" sz="2000" b="1" baseline="-25000" dirty="0"/>
              <a:t>1</a:t>
            </a:r>
            <a:r>
              <a:rPr lang="en-US" altLang="zh-CN" sz="2000" b="1" dirty="0"/>
              <a:t>,y</a:t>
            </a:r>
            <a:r>
              <a:rPr lang="en-US" altLang="zh-CN" sz="2000" b="1" baseline="-25000" dirty="0"/>
              <a:t>1</a:t>
            </a:r>
            <a:r>
              <a:rPr lang="en-US" altLang="zh-CN" sz="2000" b="1" dirty="0"/>
              <a:t>),…,(</a:t>
            </a:r>
            <a:r>
              <a:rPr lang="en-US" altLang="zh-CN" sz="2000" b="1" dirty="0" err="1"/>
              <a:t>x</a:t>
            </a:r>
            <a:r>
              <a:rPr lang="en-US" altLang="zh-CN" sz="2000" b="1" baseline="-25000" dirty="0" err="1"/>
              <a:t>n</a:t>
            </a:r>
            <a:r>
              <a:rPr lang="en-US" altLang="zh-CN" sz="2000" b="1" dirty="0" err="1"/>
              <a:t>,y</a:t>
            </a:r>
            <a:r>
              <a:rPr lang="en-US" altLang="zh-CN" sz="2000" b="1" baseline="-25000" dirty="0" err="1"/>
              <a:t>n</a:t>
            </a:r>
            <a:r>
              <a:rPr lang="en-US" altLang="zh-CN" sz="2000" b="1" dirty="0"/>
              <a:t>)}</a:t>
            </a:r>
            <a:endParaRPr lang="zh-CN" altLang="en-US" sz="2000" b="1" dirty="0"/>
          </a:p>
        </p:txBody>
      </p:sp>
      <p:sp>
        <p:nvSpPr>
          <p:cNvPr id="72708" name="TextBox 8">
            <a:extLst>
              <a:ext uri="{FF2B5EF4-FFF2-40B4-BE49-F238E27FC236}">
                <a16:creationId xmlns:a16="http://schemas.microsoft.com/office/drawing/2014/main" id="{0A1681B6-EE08-F4D6-276D-099060B9D4CE}"/>
              </a:ext>
            </a:extLst>
          </p:cNvPr>
          <p:cNvSpPr txBox="1">
            <a:spLocks noChangeArrowheads="1"/>
          </p:cNvSpPr>
          <p:nvPr/>
        </p:nvSpPr>
        <p:spPr bwMode="auto">
          <a:xfrm>
            <a:off x="6309879" y="1743223"/>
            <a:ext cx="2089150" cy="706437"/>
          </a:xfrm>
          <a:prstGeom prst="rect">
            <a:avLst/>
          </a:prstGeom>
          <a:noFill/>
          <a:ln w="28575">
            <a:solidFill>
              <a:schemeClr val="tx1"/>
            </a:solidFill>
            <a:miter lim="800000"/>
            <a:headEnd/>
            <a:tailEnd/>
          </a:ln>
        </p:spPr>
        <p:txBody>
          <a:bodyPr>
            <a:spAutoFit/>
          </a:bodyPr>
          <a:lstStyle/>
          <a:p>
            <a:r>
              <a:rPr lang="zh-CN" altLang="en-US" sz="2000" b="1"/>
              <a:t>学到的目标函数</a:t>
            </a:r>
            <a:endParaRPr lang="en-US" altLang="zh-CN" sz="2000" b="1"/>
          </a:p>
          <a:p>
            <a:pPr algn="ctr"/>
            <a:r>
              <a:rPr lang="en-US" altLang="zh-CN" sz="2000" b="1"/>
              <a:t>    g </a:t>
            </a:r>
            <a:r>
              <a:rPr lang="zh-CN" altLang="en-US" sz="2000" b="1"/>
              <a:t>≈ </a:t>
            </a:r>
            <a:r>
              <a:rPr lang="en-US" altLang="zh-CN" sz="2000" b="1"/>
              <a:t>f</a:t>
            </a:r>
            <a:endParaRPr lang="zh-CN" altLang="en-US" sz="2000" b="1"/>
          </a:p>
        </p:txBody>
      </p:sp>
      <p:sp>
        <p:nvSpPr>
          <p:cNvPr id="72709" name="椭圆 9">
            <a:extLst>
              <a:ext uri="{FF2B5EF4-FFF2-40B4-BE49-F238E27FC236}">
                <a16:creationId xmlns:a16="http://schemas.microsoft.com/office/drawing/2014/main" id="{E6B22CDB-8C8A-D554-E303-9F24C95AB647}"/>
              </a:ext>
            </a:extLst>
          </p:cNvPr>
          <p:cNvSpPr>
            <a:spLocks noChangeArrowheads="1"/>
          </p:cNvSpPr>
          <p:nvPr/>
        </p:nvSpPr>
        <p:spPr bwMode="auto">
          <a:xfrm>
            <a:off x="3696854" y="1655910"/>
            <a:ext cx="1770063" cy="914400"/>
          </a:xfrm>
          <a:prstGeom prst="ellipse">
            <a:avLst/>
          </a:prstGeom>
          <a:noFill/>
          <a:ln w="28575" algn="ctr">
            <a:solidFill>
              <a:schemeClr val="tx1"/>
            </a:solidFill>
            <a:round/>
            <a:headEnd/>
            <a:tailEnd type="triangle" w="med" len="med"/>
          </a:ln>
        </p:spPr>
        <p:txBody>
          <a:bodyPr wrap="none"/>
          <a:lstStyle/>
          <a:p>
            <a:pPr algn="ctr"/>
            <a:r>
              <a:rPr lang="zh-CN" altLang="en-US" sz="2000" b="1"/>
              <a:t>学习算法</a:t>
            </a:r>
            <a:endParaRPr lang="en-US" altLang="zh-CN" sz="2000" b="1"/>
          </a:p>
          <a:p>
            <a:pPr algn="ctr"/>
            <a:r>
              <a:rPr lang="en-US" altLang="zh-CN" sz="2000" b="1"/>
              <a:t>A</a:t>
            </a:r>
            <a:endParaRPr lang="zh-CN" altLang="en-US" sz="2000" b="1"/>
          </a:p>
        </p:txBody>
      </p:sp>
      <p:sp>
        <p:nvSpPr>
          <p:cNvPr id="72710" name="椭圆 10">
            <a:extLst>
              <a:ext uri="{FF2B5EF4-FFF2-40B4-BE49-F238E27FC236}">
                <a16:creationId xmlns:a16="http://schemas.microsoft.com/office/drawing/2014/main" id="{28FFEBEA-2C87-F629-5F97-F203B0FC4A55}"/>
              </a:ext>
            </a:extLst>
          </p:cNvPr>
          <p:cNvSpPr>
            <a:spLocks noChangeArrowheads="1"/>
          </p:cNvSpPr>
          <p:nvPr/>
        </p:nvSpPr>
        <p:spPr bwMode="auto">
          <a:xfrm>
            <a:off x="3696854" y="3745060"/>
            <a:ext cx="1770063" cy="914400"/>
          </a:xfrm>
          <a:prstGeom prst="ellipse">
            <a:avLst/>
          </a:prstGeom>
          <a:noFill/>
          <a:ln w="28575" algn="ctr">
            <a:solidFill>
              <a:schemeClr val="tx1"/>
            </a:solidFill>
            <a:round/>
            <a:headEnd/>
            <a:tailEnd type="triangle" w="med" len="med"/>
          </a:ln>
        </p:spPr>
        <p:txBody>
          <a:bodyPr wrap="none"/>
          <a:lstStyle/>
          <a:p>
            <a:pPr algn="ctr"/>
            <a:r>
              <a:rPr lang="zh-CN" altLang="en-US" sz="2000" b="1"/>
              <a:t>假设空间</a:t>
            </a:r>
            <a:endParaRPr lang="en-US" altLang="zh-CN" sz="2000" b="1"/>
          </a:p>
          <a:p>
            <a:pPr algn="ctr"/>
            <a:r>
              <a:rPr lang="en-US" altLang="zh-CN" sz="2000" b="1"/>
              <a:t>H</a:t>
            </a:r>
            <a:endParaRPr lang="zh-CN" altLang="en-US" sz="2000" b="1"/>
          </a:p>
        </p:txBody>
      </p:sp>
      <p:cxnSp>
        <p:nvCxnSpPr>
          <p:cNvPr id="72711" name="直接箭头连接符 12">
            <a:extLst>
              <a:ext uri="{FF2B5EF4-FFF2-40B4-BE49-F238E27FC236}">
                <a16:creationId xmlns:a16="http://schemas.microsoft.com/office/drawing/2014/main" id="{523BFDEF-FB30-0F47-DBAC-4631B0FB376E}"/>
              </a:ext>
            </a:extLst>
          </p:cNvPr>
          <p:cNvCxnSpPr>
            <a:cxnSpLocks noChangeShapeType="1"/>
            <a:stCxn id="72707" idx="3"/>
            <a:endCxn id="72709" idx="2"/>
          </p:cNvCxnSpPr>
          <p:nvPr/>
        </p:nvCxnSpPr>
        <p:spPr bwMode="auto">
          <a:xfrm>
            <a:off x="2841192" y="2111523"/>
            <a:ext cx="855662" cy="1587"/>
          </a:xfrm>
          <a:prstGeom prst="straightConnector1">
            <a:avLst/>
          </a:prstGeom>
          <a:noFill/>
          <a:ln w="28575" algn="ctr">
            <a:solidFill>
              <a:schemeClr val="tx1"/>
            </a:solidFill>
            <a:round/>
            <a:headEnd/>
            <a:tailEnd type="arrow" w="med" len="med"/>
          </a:ln>
        </p:spPr>
      </p:cxnSp>
      <p:cxnSp>
        <p:nvCxnSpPr>
          <p:cNvPr id="72712" name="直接箭头连接符 17">
            <a:extLst>
              <a:ext uri="{FF2B5EF4-FFF2-40B4-BE49-F238E27FC236}">
                <a16:creationId xmlns:a16="http://schemas.microsoft.com/office/drawing/2014/main" id="{60AB4A22-25F9-2898-0A10-AE8673AB7EA9}"/>
              </a:ext>
            </a:extLst>
          </p:cNvPr>
          <p:cNvCxnSpPr>
            <a:cxnSpLocks noChangeShapeType="1"/>
          </p:cNvCxnSpPr>
          <p:nvPr/>
        </p:nvCxnSpPr>
        <p:spPr bwMode="auto">
          <a:xfrm>
            <a:off x="5482792" y="2111523"/>
            <a:ext cx="855662" cy="1587"/>
          </a:xfrm>
          <a:prstGeom prst="straightConnector1">
            <a:avLst/>
          </a:prstGeom>
          <a:noFill/>
          <a:ln w="28575" algn="ctr">
            <a:solidFill>
              <a:schemeClr val="tx1"/>
            </a:solidFill>
            <a:round/>
            <a:headEnd/>
            <a:tailEnd type="arrow" w="med" len="med"/>
          </a:ln>
        </p:spPr>
      </p:cxnSp>
      <p:cxnSp>
        <p:nvCxnSpPr>
          <p:cNvPr id="72713" name="直接箭头连接符 18">
            <a:extLst>
              <a:ext uri="{FF2B5EF4-FFF2-40B4-BE49-F238E27FC236}">
                <a16:creationId xmlns:a16="http://schemas.microsoft.com/office/drawing/2014/main" id="{1BEEA0CD-4D06-DC1E-4C3E-7B7874000068}"/>
              </a:ext>
            </a:extLst>
          </p:cNvPr>
          <p:cNvCxnSpPr>
            <a:cxnSpLocks noChangeShapeType="1"/>
            <a:stCxn id="72710" idx="0"/>
            <a:endCxn id="72709" idx="4"/>
          </p:cNvCxnSpPr>
          <p:nvPr/>
        </p:nvCxnSpPr>
        <p:spPr bwMode="auto">
          <a:xfrm flipH="1" flipV="1">
            <a:off x="4582679" y="2570310"/>
            <a:ext cx="0" cy="1174750"/>
          </a:xfrm>
          <a:prstGeom prst="straightConnector1">
            <a:avLst/>
          </a:prstGeom>
          <a:noFill/>
          <a:ln w="28575" algn="ctr">
            <a:solidFill>
              <a:schemeClr val="tx1"/>
            </a:solidFill>
            <a:round/>
            <a:headEnd/>
            <a:tailEnd type="arrow" w="med" len="med"/>
          </a:ln>
        </p:spPr>
      </p:cxnSp>
      <p:sp>
        <p:nvSpPr>
          <p:cNvPr id="72714" name="内容占位符 2">
            <a:extLst>
              <a:ext uri="{FF2B5EF4-FFF2-40B4-BE49-F238E27FC236}">
                <a16:creationId xmlns:a16="http://schemas.microsoft.com/office/drawing/2014/main" id="{CD5470C3-84FB-666D-C6EF-CDB6B13D1144}"/>
              </a:ext>
            </a:extLst>
          </p:cNvPr>
          <p:cNvSpPr>
            <a:spLocks noGrp="1"/>
          </p:cNvSpPr>
          <p:nvPr>
            <p:ph idx="1"/>
          </p:nvPr>
        </p:nvSpPr>
        <p:spPr>
          <a:xfrm>
            <a:off x="685800" y="4919663"/>
            <a:ext cx="8058150" cy="1176337"/>
          </a:xfrm>
        </p:spPr>
        <p:txBody>
          <a:bodyPr>
            <a:normAutofit/>
          </a:bodyPr>
          <a:lstStyle/>
          <a:p>
            <a:r>
              <a:rPr lang="zh-CN" altLang="en-US" sz="2800" b="1" dirty="0"/>
              <a:t>学习算法</a:t>
            </a:r>
            <a:r>
              <a:rPr lang="en-US" altLang="zh-CN" sz="2800" b="1" dirty="0"/>
              <a:t>A</a:t>
            </a:r>
            <a:r>
              <a:rPr lang="zh-CN" altLang="en-US" sz="2800" b="1" dirty="0"/>
              <a:t>根据训练集</a:t>
            </a:r>
            <a:r>
              <a:rPr lang="en-US" altLang="zh-CN" sz="2800" b="1" dirty="0"/>
              <a:t>T</a:t>
            </a:r>
            <a:r>
              <a:rPr lang="zh-CN" altLang="en-US" sz="2800" b="1" dirty="0"/>
              <a:t>从假设空间</a:t>
            </a:r>
            <a:r>
              <a:rPr lang="en-US" altLang="zh-CN" sz="2800" b="1" dirty="0"/>
              <a:t>H</a:t>
            </a:r>
            <a:r>
              <a:rPr lang="zh-CN" altLang="en-US" sz="2800" b="1" dirty="0"/>
              <a:t>中选择一个</a:t>
            </a:r>
            <a:r>
              <a:rPr lang="zh-CN" altLang="en-US" sz="2800" b="1" dirty="0">
                <a:solidFill>
                  <a:srgbClr val="FF0000"/>
                </a:solidFill>
              </a:rPr>
              <a:t>最好</a:t>
            </a:r>
            <a:r>
              <a:rPr lang="zh-CN" altLang="en-US" sz="2800" b="1" dirty="0"/>
              <a:t>的</a:t>
            </a:r>
            <a:r>
              <a:rPr lang="en-US" altLang="zh-CN" sz="2800" b="1" dirty="0"/>
              <a:t>g</a:t>
            </a:r>
            <a:r>
              <a:rPr lang="zh-CN" altLang="en-US" sz="2800" b="1" dirty="0"/>
              <a:t>≈</a:t>
            </a:r>
            <a:r>
              <a:rPr lang="en-US" altLang="zh-CN" sz="2800" b="1" dirty="0"/>
              <a:t>f</a:t>
            </a:r>
            <a:endParaRPr lang="zh-CN" altLang="en-US" sz="2800" b="1" dirty="0"/>
          </a:p>
        </p:txBody>
      </p:sp>
      <p:sp>
        <p:nvSpPr>
          <p:cNvPr id="2" name="Title 1">
            <a:extLst>
              <a:ext uri="{FF2B5EF4-FFF2-40B4-BE49-F238E27FC236}">
                <a16:creationId xmlns:a16="http://schemas.microsoft.com/office/drawing/2014/main" id="{973A4B88-A212-1AD3-96C4-1585D31FE6BD}"/>
              </a:ext>
            </a:extLst>
          </p:cNvPr>
          <p:cNvSpPr>
            <a:spLocks noGrp="1"/>
          </p:cNvSpPr>
          <p:nvPr>
            <p:ph type="title"/>
          </p:nvPr>
        </p:nvSpPr>
        <p:spPr>
          <a:xfrm>
            <a:off x="758031" y="59532"/>
            <a:ext cx="7772400" cy="1143000"/>
          </a:xfrm>
        </p:spPr>
        <p:txBody>
          <a:bodyPr/>
          <a:lstStyle/>
          <a:p>
            <a:r>
              <a:rPr lang="zh-CN" altLang="en-US" dirty="0"/>
              <a:t>前情回顾：统计机器学习</a:t>
            </a:r>
            <a:endParaRPr lang="en-US" dirty="0"/>
          </a:p>
        </p:txBody>
      </p:sp>
    </p:spTree>
    <p:extLst>
      <p:ext uri="{BB962C8B-B14F-4D97-AF65-F5344CB8AC3E}">
        <p14:creationId xmlns:p14="http://schemas.microsoft.com/office/powerpoint/2010/main" val="3245997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线性可分支持向量机</a:t>
            </a:r>
          </a:p>
        </p:txBody>
      </p:sp>
      <p:sp>
        <p:nvSpPr>
          <p:cNvPr id="86019" name="灯片编号占位符 3"/>
          <p:cNvSpPr>
            <a:spLocks noGrp="1"/>
          </p:cNvSpPr>
          <p:nvPr>
            <p:ph type="sldNum" sz="quarter" idx="12"/>
          </p:nvPr>
        </p:nvSpPr>
        <p:spPr>
          <a:noFill/>
        </p:spPr>
        <p:txBody>
          <a:bodyPr/>
          <a:lstStyle/>
          <a:p>
            <a:fld id="{5B3BBD4C-24B6-45A6-89CD-8A4D4BD19B04}" type="slidenum">
              <a:rPr lang="en-US" altLang="zh-CN" smtClean="0">
                <a:ea typeface="黑体" pitchFamily="49" charset="-122"/>
              </a:rPr>
              <a:pPr/>
              <a:t>12</a:t>
            </a:fld>
            <a:endParaRPr lang="en-US" altLang="zh-CN">
              <a:ea typeface="黑体" pitchFamily="49" charset="-122"/>
            </a:endParaRPr>
          </a:p>
        </p:txBody>
      </p:sp>
      <p:grpSp>
        <p:nvGrpSpPr>
          <p:cNvPr id="4" name="组合 3"/>
          <p:cNvGrpSpPr/>
          <p:nvPr/>
        </p:nvGrpSpPr>
        <p:grpSpPr>
          <a:xfrm>
            <a:off x="1541463" y="1749972"/>
            <a:ext cx="6513512" cy="4801641"/>
            <a:chOff x="1541463" y="1749972"/>
            <a:chExt cx="6513512" cy="4801641"/>
          </a:xfrm>
        </p:grpSpPr>
        <p:cxnSp>
          <p:nvCxnSpPr>
            <p:cNvPr id="86020" name="直接箭头连接符 9"/>
            <p:cNvCxnSpPr>
              <a:cxnSpLocks noChangeShapeType="1"/>
            </p:cNvCxnSpPr>
            <p:nvPr/>
          </p:nvCxnSpPr>
          <p:spPr bwMode="auto">
            <a:xfrm flipV="1">
              <a:off x="1541463" y="6137275"/>
              <a:ext cx="6513512" cy="25400"/>
            </a:xfrm>
            <a:prstGeom prst="straightConnector1">
              <a:avLst/>
            </a:prstGeom>
            <a:noFill/>
            <a:ln w="38100" algn="ctr">
              <a:solidFill>
                <a:schemeClr val="tx1"/>
              </a:solidFill>
              <a:round/>
              <a:headEnd/>
              <a:tailEnd type="arrow" w="med" len="med"/>
            </a:ln>
          </p:spPr>
        </p:cxnSp>
        <p:cxnSp>
          <p:nvCxnSpPr>
            <p:cNvPr id="86021" name="直接箭头连接符 18"/>
            <p:cNvCxnSpPr>
              <a:cxnSpLocks noChangeShapeType="1"/>
            </p:cNvCxnSpPr>
            <p:nvPr/>
          </p:nvCxnSpPr>
          <p:spPr bwMode="auto">
            <a:xfrm flipV="1">
              <a:off x="1841500" y="1749972"/>
              <a:ext cx="50362" cy="4801641"/>
            </a:xfrm>
            <a:prstGeom prst="straightConnector1">
              <a:avLst/>
            </a:prstGeom>
            <a:noFill/>
            <a:ln w="38100" algn="ctr">
              <a:solidFill>
                <a:schemeClr val="tx1"/>
              </a:solidFill>
              <a:round/>
              <a:headEnd/>
              <a:tailEnd type="arrow" w="med" len="med"/>
            </a:ln>
          </p:spPr>
        </p:cxnSp>
        <p:sp>
          <p:nvSpPr>
            <p:cNvPr id="86022" name="椭圆 19"/>
            <p:cNvSpPr>
              <a:spLocks noChangeArrowheads="1"/>
            </p:cNvSpPr>
            <p:nvPr/>
          </p:nvSpPr>
          <p:spPr bwMode="auto">
            <a:xfrm>
              <a:off x="3582988" y="44465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3" name="椭圆 20"/>
            <p:cNvSpPr>
              <a:spLocks noChangeArrowheads="1"/>
            </p:cNvSpPr>
            <p:nvPr/>
          </p:nvSpPr>
          <p:spPr bwMode="auto">
            <a:xfrm>
              <a:off x="2430463" y="387032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4" name="椭圆 21"/>
            <p:cNvSpPr>
              <a:spLocks noChangeArrowheads="1"/>
            </p:cNvSpPr>
            <p:nvPr/>
          </p:nvSpPr>
          <p:spPr bwMode="auto">
            <a:xfrm>
              <a:off x="3683000" y="51101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5" name="椭圆 22"/>
            <p:cNvSpPr>
              <a:spLocks noChangeArrowheads="1"/>
            </p:cNvSpPr>
            <p:nvPr/>
          </p:nvSpPr>
          <p:spPr bwMode="auto">
            <a:xfrm>
              <a:off x="2855913" y="47355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6" name="椭圆 23"/>
            <p:cNvSpPr>
              <a:spLocks noChangeArrowheads="1"/>
            </p:cNvSpPr>
            <p:nvPr/>
          </p:nvSpPr>
          <p:spPr bwMode="auto">
            <a:xfrm>
              <a:off x="4195763" y="4321175"/>
              <a:ext cx="188912"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7" name="椭圆 24"/>
            <p:cNvSpPr>
              <a:spLocks noChangeArrowheads="1"/>
            </p:cNvSpPr>
            <p:nvPr/>
          </p:nvSpPr>
          <p:spPr bwMode="auto">
            <a:xfrm>
              <a:off x="3094038" y="33448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8" name="椭圆 25"/>
            <p:cNvSpPr>
              <a:spLocks noChangeArrowheads="1"/>
            </p:cNvSpPr>
            <p:nvPr/>
          </p:nvSpPr>
          <p:spPr bwMode="auto">
            <a:xfrm>
              <a:off x="2994025" y="4295775"/>
              <a:ext cx="187325" cy="214313"/>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29" name="椭圆 26"/>
            <p:cNvSpPr>
              <a:spLocks noChangeArrowheads="1"/>
            </p:cNvSpPr>
            <p:nvPr/>
          </p:nvSpPr>
          <p:spPr bwMode="auto">
            <a:xfrm>
              <a:off x="2343150" y="46101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30" name="椭圆 27"/>
            <p:cNvSpPr>
              <a:spLocks noChangeArrowheads="1"/>
            </p:cNvSpPr>
            <p:nvPr/>
          </p:nvSpPr>
          <p:spPr bwMode="auto">
            <a:xfrm>
              <a:off x="3143250" y="5060950"/>
              <a:ext cx="188913"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6031" name="矩形 28"/>
            <p:cNvSpPr>
              <a:spLocks noChangeArrowheads="1"/>
            </p:cNvSpPr>
            <p:nvPr/>
          </p:nvSpPr>
          <p:spPr bwMode="auto">
            <a:xfrm>
              <a:off x="4884738" y="3006725"/>
              <a:ext cx="138112"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2" name="矩形 29"/>
            <p:cNvSpPr>
              <a:spLocks noChangeArrowheads="1"/>
            </p:cNvSpPr>
            <p:nvPr/>
          </p:nvSpPr>
          <p:spPr bwMode="auto">
            <a:xfrm>
              <a:off x="5724525" y="2505075"/>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3" name="矩形 30"/>
            <p:cNvSpPr>
              <a:spLocks noChangeArrowheads="1"/>
            </p:cNvSpPr>
            <p:nvPr/>
          </p:nvSpPr>
          <p:spPr bwMode="auto">
            <a:xfrm>
              <a:off x="6113463" y="3268663"/>
              <a:ext cx="136525"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4" name="矩形 31"/>
            <p:cNvSpPr>
              <a:spLocks noChangeArrowheads="1"/>
            </p:cNvSpPr>
            <p:nvPr/>
          </p:nvSpPr>
          <p:spPr bwMode="auto">
            <a:xfrm>
              <a:off x="5448300" y="2981325"/>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5" name="矩形 32"/>
            <p:cNvSpPr>
              <a:spLocks noChangeArrowheads="1"/>
            </p:cNvSpPr>
            <p:nvPr/>
          </p:nvSpPr>
          <p:spPr bwMode="auto">
            <a:xfrm>
              <a:off x="5949950" y="3944938"/>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6" name="矩形 33"/>
            <p:cNvSpPr>
              <a:spLocks noChangeArrowheads="1"/>
            </p:cNvSpPr>
            <p:nvPr/>
          </p:nvSpPr>
          <p:spPr bwMode="auto">
            <a:xfrm>
              <a:off x="5360988" y="3444875"/>
              <a:ext cx="138112"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7" name="矩形 34"/>
            <p:cNvSpPr>
              <a:spLocks noChangeArrowheads="1"/>
            </p:cNvSpPr>
            <p:nvPr/>
          </p:nvSpPr>
          <p:spPr bwMode="auto">
            <a:xfrm>
              <a:off x="6800850" y="3695700"/>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6038" name="矩形 35"/>
            <p:cNvSpPr>
              <a:spLocks noChangeArrowheads="1"/>
            </p:cNvSpPr>
            <p:nvPr/>
          </p:nvSpPr>
          <p:spPr bwMode="auto">
            <a:xfrm>
              <a:off x="6600825" y="2805113"/>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grpSp>
          <p:nvGrpSpPr>
            <p:cNvPr id="3" name="组合 65"/>
            <p:cNvGrpSpPr>
              <a:grpSpLocks/>
            </p:cNvGrpSpPr>
            <p:nvPr/>
          </p:nvGrpSpPr>
          <p:grpSpPr bwMode="auto">
            <a:xfrm>
              <a:off x="2189551" y="1853049"/>
              <a:ext cx="4736712" cy="4096901"/>
              <a:chOff x="2190117" y="1853426"/>
              <a:chExt cx="4736776" cy="4096436"/>
            </a:xfrm>
          </p:grpSpPr>
          <p:cxnSp>
            <p:nvCxnSpPr>
              <p:cNvPr id="53" name="直接连接符 52"/>
              <p:cNvCxnSpPr/>
              <p:nvPr/>
            </p:nvCxnSpPr>
            <p:spPr bwMode="auto">
              <a:xfrm>
                <a:off x="2978640" y="2432450"/>
                <a:ext cx="3494134" cy="294447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54" name="直接连接符 53"/>
              <p:cNvCxnSpPr/>
              <p:nvPr/>
            </p:nvCxnSpPr>
            <p:spPr bwMode="auto">
              <a:xfrm>
                <a:off x="4396385" y="2029181"/>
                <a:ext cx="501657" cy="3920681"/>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55" name="直接连接符 54"/>
              <p:cNvCxnSpPr/>
              <p:nvPr/>
            </p:nvCxnSpPr>
            <p:spPr bwMode="auto">
              <a:xfrm>
                <a:off x="3432759" y="2216485"/>
                <a:ext cx="3494134" cy="294447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58" name="直接连接符 57"/>
              <p:cNvCxnSpPr/>
              <p:nvPr/>
            </p:nvCxnSpPr>
            <p:spPr bwMode="auto">
              <a:xfrm>
                <a:off x="2680275" y="2781571"/>
                <a:ext cx="3495721" cy="2942892"/>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sp>
            <p:nvSpPr>
              <p:cNvPr id="86044" name="TextBox 61"/>
              <p:cNvSpPr txBox="1">
                <a:spLocks noChangeArrowheads="1"/>
              </p:cNvSpPr>
              <p:nvPr/>
            </p:nvSpPr>
            <p:spPr bwMode="auto">
              <a:xfrm>
                <a:off x="2190117" y="2392044"/>
                <a:ext cx="388306" cy="400065"/>
              </a:xfrm>
              <a:prstGeom prst="rect">
                <a:avLst/>
              </a:prstGeom>
              <a:noFill/>
              <a:ln w="9525">
                <a:noFill/>
                <a:miter lim="800000"/>
                <a:headEnd/>
                <a:tailEnd/>
              </a:ln>
            </p:spPr>
            <p:txBody>
              <a:bodyPr>
                <a:spAutoFit/>
              </a:bodyPr>
              <a:lstStyle/>
              <a:p>
                <a:r>
                  <a:rPr lang="en-US" altLang="zh-CN" sz="2000" b="1" dirty="0"/>
                  <a:t>A</a:t>
                </a:r>
                <a:endParaRPr lang="zh-CN" altLang="en-US" sz="2000" b="1" dirty="0"/>
              </a:p>
            </p:txBody>
          </p:sp>
          <p:sp>
            <p:nvSpPr>
              <p:cNvPr id="86045" name="TextBox 62"/>
              <p:cNvSpPr txBox="1">
                <a:spLocks noChangeArrowheads="1"/>
              </p:cNvSpPr>
              <p:nvPr/>
            </p:nvSpPr>
            <p:spPr bwMode="auto">
              <a:xfrm>
                <a:off x="2616002" y="2016264"/>
                <a:ext cx="388306" cy="400065"/>
              </a:xfrm>
              <a:prstGeom prst="rect">
                <a:avLst/>
              </a:prstGeom>
              <a:noFill/>
              <a:ln w="9525">
                <a:noFill/>
                <a:miter lim="800000"/>
                <a:headEnd/>
                <a:tailEnd/>
              </a:ln>
            </p:spPr>
            <p:txBody>
              <a:bodyPr>
                <a:spAutoFit/>
              </a:bodyPr>
              <a:lstStyle/>
              <a:p>
                <a:r>
                  <a:rPr lang="en-US" altLang="zh-CN" sz="2000" b="1"/>
                  <a:t>B</a:t>
                </a:r>
                <a:endParaRPr lang="zh-CN" altLang="en-US" sz="2000" b="1"/>
              </a:p>
            </p:txBody>
          </p:sp>
          <p:sp>
            <p:nvSpPr>
              <p:cNvPr id="86046" name="TextBox 63"/>
              <p:cNvSpPr txBox="1">
                <a:spLocks noChangeArrowheads="1"/>
              </p:cNvSpPr>
              <p:nvPr/>
            </p:nvSpPr>
            <p:spPr bwMode="auto">
              <a:xfrm>
                <a:off x="3192201" y="1853426"/>
                <a:ext cx="388306" cy="400065"/>
              </a:xfrm>
              <a:prstGeom prst="rect">
                <a:avLst/>
              </a:prstGeom>
              <a:noFill/>
              <a:ln w="9525">
                <a:noFill/>
                <a:miter lim="800000"/>
                <a:headEnd/>
                <a:tailEnd/>
              </a:ln>
            </p:spPr>
            <p:txBody>
              <a:bodyPr>
                <a:spAutoFit/>
              </a:bodyPr>
              <a:lstStyle/>
              <a:p>
                <a:r>
                  <a:rPr lang="en-US" altLang="zh-CN" sz="2000" b="1"/>
                  <a:t>C</a:t>
                </a:r>
                <a:endParaRPr lang="zh-CN" altLang="en-US" sz="2000" b="1"/>
              </a:p>
            </p:txBody>
          </p:sp>
          <p:sp>
            <p:nvSpPr>
              <p:cNvPr id="86047" name="TextBox 64"/>
              <p:cNvSpPr txBox="1">
                <a:spLocks noChangeArrowheads="1"/>
              </p:cNvSpPr>
              <p:nvPr/>
            </p:nvSpPr>
            <p:spPr bwMode="auto">
              <a:xfrm>
                <a:off x="4459266" y="1916482"/>
                <a:ext cx="388306" cy="400065"/>
              </a:xfrm>
              <a:prstGeom prst="rect">
                <a:avLst/>
              </a:prstGeom>
              <a:noFill/>
              <a:ln w="9525">
                <a:noFill/>
                <a:miter lim="800000"/>
                <a:headEnd/>
                <a:tailEnd/>
              </a:ln>
            </p:spPr>
            <p:txBody>
              <a:bodyPr>
                <a:spAutoFit/>
              </a:bodyPr>
              <a:lstStyle/>
              <a:p>
                <a:r>
                  <a:rPr lang="en-US" altLang="zh-CN" sz="2000" b="1"/>
                  <a:t>D</a:t>
                </a:r>
                <a:endParaRPr lang="zh-CN" altLang="en-US" sz="2000" b="1"/>
              </a:p>
            </p:txBody>
          </p:sp>
        </p:grpSp>
      </p:grpSp>
      <p:grpSp>
        <p:nvGrpSpPr>
          <p:cNvPr id="9" name="Group 8">
            <a:extLst>
              <a:ext uri="{FF2B5EF4-FFF2-40B4-BE49-F238E27FC236}">
                <a16:creationId xmlns:a16="http://schemas.microsoft.com/office/drawing/2014/main" id="{F0CE1E1A-D9F0-21BF-14D6-02F5DB9D8679}"/>
              </a:ext>
            </a:extLst>
          </p:cNvPr>
          <p:cNvGrpSpPr/>
          <p:nvPr/>
        </p:nvGrpSpPr>
        <p:grpSpPr>
          <a:xfrm>
            <a:off x="6575587" y="5437367"/>
            <a:ext cx="2778052" cy="423503"/>
            <a:chOff x="6575587" y="5437367"/>
            <a:chExt cx="2778052" cy="423503"/>
          </a:xfrm>
        </p:grpSpPr>
        <p:sp>
          <p:nvSpPr>
            <p:cNvPr id="5" name="TextBox 4">
              <a:extLst>
                <a:ext uri="{FF2B5EF4-FFF2-40B4-BE49-F238E27FC236}">
                  <a16:creationId xmlns:a16="http://schemas.microsoft.com/office/drawing/2014/main" id="{D954D5E4-E8E3-1C13-B7D7-636FE7E6899E}"/>
                </a:ext>
              </a:extLst>
            </p:cNvPr>
            <p:cNvSpPr txBox="1"/>
            <p:nvPr/>
          </p:nvSpPr>
          <p:spPr>
            <a:xfrm>
              <a:off x="7138989" y="5491538"/>
              <a:ext cx="2214650" cy="369332"/>
            </a:xfrm>
            <a:prstGeom prst="rect">
              <a:avLst/>
            </a:prstGeom>
            <a:noFill/>
          </p:spPr>
          <p:txBody>
            <a:bodyPr wrap="square" rtlCol="0">
              <a:spAutoFit/>
            </a:bodyPr>
            <a:lstStyle/>
            <a:p>
              <a:r>
                <a:rPr lang="en-US" b="1" dirty="0" err="1">
                  <a:solidFill>
                    <a:srgbClr val="FF0000"/>
                  </a:solidFill>
                </a:rPr>
                <a:t>最大间隔分类器</a:t>
              </a:r>
              <a:endParaRPr lang="en-US" b="1" dirty="0">
                <a:solidFill>
                  <a:srgbClr val="FF0000"/>
                </a:solidFill>
              </a:endParaRPr>
            </a:p>
          </p:txBody>
        </p:sp>
        <p:cxnSp>
          <p:nvCxnSpPr>
            <p:cNvPr id="7" name="Straight Arrow Connector 6">
              <a:extLst>
                <a:ext uri="{FF2B5EF4-FFF2-40B4-BE49-F238E27FC236}">
                  <a16:creationId xmlns:a16="http://schemas.microsoft.com/office/drawing/2014/main" id="{24519605-D0CD-02AD-945D-4B0EBECC4B2A}"/>
                </a:ext>
              </a:extLst>
            </p:cNvPr>
            <p:cNvCxnSpPr>
              <a:cxnSpLocks/>
              <a:stCxn id="5" idx="1"/>
            </p:cNvCxnSpPr>
            <p:nvPr/>
          </p:nvCxnSpPr>
          <p:spPr>
            <a:xfrm flipH="1" flipV="1">
              <a:off x="6575587" y="5437367"/>
              <a:ext cx="563402" cy="2388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内容占位符 2"/>
          <p:cNvSpPr>
            <a:spLocks noGrp="1"/>
          </p:cNvSpPr>
          <p:nvPr>
            <p:ph idx="1"/>
          </p:nvPr>
        </p:nvSpPr>
        <p:spPr>
          <a:xfrm>
            <a:off x="611188" y="498891"/>
            <a:ext cx="8194675" cy="6024562"/>
          </a:xfrm>
        </p:spPr>
        <p:txBody>
          <a:bodyPr>
            <a:noAutofit/>
          </a:bodyPr>
          <a:lstStyle/>
          <a:p>
            <a:pPr marL="0" indent="0">
              <a:buNone/>
            </a:pPr>
            <a:r>
              <a:rPr lang="zh-CN" altLang="en-US" sz="2800" b="1" dirty="0"/>
              <a:t>定义</a:t>
            </a:r>
            <a:r>
              <a:rPr lang="en-US" altLang="zh-CN" sz="2800" b="1" dirty="0"/>
              <a:t>4.1</a:t>
            </a:r>
            <a:r>
              <a:rPr lang="zh-CN" altLang="en-US" sz="2800" b="1" dirty="0"/>
              <a:t>：给定</a:t>
            </a:r>
            <a:r>
              <a:rPr lang="zh-CN" altLang="en-US" sz="2800" b="1" dirty="0">
                <a:solidFill>
                  <a:srgbClr val="FF0000"/>
                </a:solidFill>
              </a:rPr>
              <a:t>线性可分</a:t>
            </a:r>
            <a:r>
              <a:rPr lang="zh-CN" altLang="en-US" sz="2800" b="1" dirty="0"/>
              <a:t>训练集：</a:t>
            </a:r>
            <a:endParaRPr lang="en-US" altLang="zh-CN" sz="2800" b="1" dirty="0"/>
          </a:p>
          <a:p>
            <a:pPr>
              <a:buFont typeface="Wingdings" pitchFamily="2" charset="2"/>
              <a:buNone/>
            </a:pPr>
            <a:r>
              <a:rPr lang="zh-CN" altLang="en-US" sz="2800" b="1" dirty="0"/>
              <a:t>其中：</a:t>
            </a:r>
            <a:endParaRPr lang="en-US" altLang="zh-CN" sz="2800" b="1" dirty="0"/>
          </a:p>
          <a:p>
            <a:pPr>
              <a:buFont typeface="Wingdings" pitchFamily="2" charset="2"/>
              <a:buNone/>
            </a:pPr>
            <a:endParaRPr lang="en-US" altLang="zh-CN" sz="2800" b="1" dirty="0"/>
          </a:p>
          <a:p>
            <a:pPr>
              <a:buFont typeface="Wingdings" pitchFamily="2" charset="2"/>
              <a:buNone/>
            </a:pPr>
            <a:endParaRPr lang="en-US" altLang="zh-CN" sz="2800" b="1" dirty="0"/>
          </a:p>
          <a:p>
            <a:pPr>
              <a:buFont typeface="Wingdings" pitchFamily="2" charset="2"/>
              <a:buNone/>
            </a:pPr>
            <a:r>
              <a:rPr lang="zh-CN" altLang="en-US" sz="2800" b="1" dirty="0"/>
              <a:t>   这里</a:t>
            </a:r>
            <a:r>
              <a:rPr lang="en-US" altLang="zh-CN" sz="2800" b="1" dirty="0"/>
              <a:t>x</a:t>
            </a:r>
            <a:r>
              <a:rPr lang="en-US" altLang="zh-CN" sz="2800" b="1" baseline="-25000" dirty="0"/>
              <a:t>i</a:t>
            </a:r>
            <a:r>
              <a:rPr lang="zh-CN" altLang="en-US" sz="2800" b="1" dirty="0"/>
              <a:t>为第</a:t>
            </a:r>
            <a:r>
              <a:rPr lang="en-US" altLang="zh-CN" sz="2800" b="1" dirty="0" err="1"/>
              <a:t>i</a:t>
            </a:r>
            <a:r>
              <a:rPr lang="zh-CN" altLang="en-US" sz="2800" b="1" dirty="0"/>
              <a:t>个数据点的向量表征，</a:t>
            </a:r>
            <a:r>
              <a:rPr lang="en-US" altLang="zh-CN" sz="2800" b="1" dirty="0" err="1"/>
              <a:t>y</a:t>
            </a:r>
            <a:r>
              <a:rPr lang="en-US" altLang="zh-CN" sz="2800" b="1" baseline="-25000" dirty="0" err="1"/>
              <a:t>i</a:t>
            </a:r>
            <a:r>
              <a:rPr lang="zh-CN" altLang="en-US" sz="2800" b="1" dirty="0"/>
              <a:t>为</a:t>
            </a:r>
            <a:r>
              <a:rPr lang="en-US" altLang="zh-CN" sz="2800" b="1" dirty="0"/>
              <a:t>x</a:t>
            </a:r>
            <a:r>
              <a:rPr lang="en-US" altLang="zh-CN" sz="2800" b="1" baseline="-25000" dirty="0"/>
              <a:t>i</a:t>
            </a:r>
            <a:r>
              <a:rPr lang="zh-CN" altLang="en-US" sz="2800" b="1" dirty="0"/>
              <a:t>的类标记，</a:t>
            </a:r>
            <a:r>
              <a:rPr lang="en-US" altLang="zh-CN" sz="2800" b="1" dirty="0"/>
              <a:t>+1</a:t>
            </a:r>
            <a:r>
              <a:rPr lang="zh-CN" altLang="en-US" sz="2800" b="1" dirty="0"/>
              <a:t>表示正类，</a:t>
            </a:r>
            <a:r>
              <a:rPr lang="en-US" altLang="zh-CN" sz="2800" b="1" dirty="0"/>
              <a:t>-1</a:t>
            </a:r>
            <a:r>
              <a:rPr lang="zh-CN" altLang="en-US" sz="2800" b="1" dirty="0"/>
              <a:t>表示负类</a:t>
            </a:r>
            <a:endParaRPr lang="en-US" altLang="zh-CN" sz="2800" b="1" dirty="0"/>
          </a:p>
          <a:p>
            <a:pPr>
              <a:buFont typeface="Wingdings" pitchFamily="2" charset="2"/>
              <a:buNone/>
            </a:pPr>
            <a:r>
              <a:rPr lang="zh-CN" altLang="en-US" sz="2800" b="1" dirty="0"/>
              <a:t>通过间隔最大化得到分类超平面：</a:t>
            </a:r>
            <a:endParaRPr lang="en-US" altLang="zh-CN" sz="2800" b="1" dirty="0"/>
          </a:p>
          <a:p>
            <a:pPr>
              <a:buFont typeface="Wingdings" pitchFamily="2" charset="2"/>
              <a:buNone/>
            </a:pPr>
            <a:endParaRPr lang="en-US" altLang="zh-CN" sz="2800" b="1" dirty="0"/>
          </a:p>
          <a:p>
            <a:pPr>
              <a:buFont typeface="Wingdings" pitchFamily="2" charset="2"/>
              <a:buNone/>
            </a:pPr>
            <a:r>
              <a:rPr lang="zh-CN" altLang="en-US" sz="2800" b="1" dirty="0"/>
              <a:t>相应的决策函数：</a:t>
            </a:r>
            <a:endParaRPr lang="en-US" altLang="zh-CN" sz="2800" b="1" dirty="0"/>
          </a:p>
          <a:p>
            <a:pPr>
              <a:buFont typeface="Wingdings" pitchFamily="2" charset="2"/>
              <a:buNone/>
            </a:pPr>
            <a:endParaRPr lang="en-US" altLang="zh-CN" sz="2800" b="1" dirty="0"/>
          </a:p>
          <a:p>
            <a:pPr>
              <a:buFont typeface="Wingdings" pitchFamily="2" charset="2"/>
              <a:buNone/>
            </a:pPr>
            <a:endParaRPr lang="en-US" altLang="zh-CN" sz="2800" b="1" dirty="0"/>
          </a:p>
          <a:p>
            <a:pPr>
              <a:buFont typeface="Wingdings" pitchFamily="2" charset="2"/>
              <a:buNone/>
            </a:pPr>
            <a:r>
              <a:rPr lang="zh-CN" altLang="en-US" sz="2800" b="1" dirty="0"/>
              <a:t>称为线性支持向量机</a:t>
            </a:r>
            <a:endParaRPr lang="en-US" altLang="zh-CN" sz="3200" b="1" dirty="0"/>
          </a:p>
        </p:txBody>
      </p:sp>
      <p:sp>
        <p:nvSpPr>
          <p:cNvPr id="11271" name="灯片编号占位符 3"/>
          <p:cNvSpPr>
            <a:spLocks noGrp="1"/>
          </p:cNvSpPr>
          <p:nvPr>
            <p:ph type="sldNum" sz="quarter" idx="12"/>
          </p:nvPr>
        </p:nvSpPr>
        <p:spPr>
          <a:noFill/>
        </p:spPr>
        <p:txBody>
          <a:bodyPr/>
          <a:lstStyle/>
          <a:p>
            <a:fld id="{99D92C16-8A1E-4268-B360-AC4666ED14B4}" type="slidenum">
              <a:rPr lang="en-US" altLang="zh-CN" smtClean="0">
                <a:ea typeface="黑体" pitchFamily="49" charset="-122"/>
              </a:rPr>
              <a:pPr/>
              <a:t>13</a:t>
            </a:fld>
            <a:endParaRPr lang="en-US" altLang="zh-CN">
              <a:ea typeface="黑体" pitchFamily="49" charset="-122"/>
            </a:endParaRPr>
          </a:p>
        </p:txBody>
      </p:sp>
      <p:graphicFrame>
        <p:nvGraphicFramePr>
          <p:cNvPr id="11266" name="Object 2" descr="蓝色面巾纸"/>
          <p:cNvGraphicFramePr>
            <a:graphicFrameLocks noChangeAspect="1"/>
          </p:cNvGraphicFramePr>
          <p:nvPr>
            <p:extLst>
              <p:ext uri="{D42A27DB-BD31-4B8C-83A1-F6EECF244321}">
                <p14:modId xmlns:p14="http://schemas.microsoft.com/office/powerpoint/2010/main" val="2283080384"/>
              </p:ext>
            </p:extLst>
          </p:nvPr>
        </p:nvGraphicFramePr>
        <p:xfrm>
          <a:off x="1763713" y="1035510"/>
          <a:ext cx="4775200" cy="660400"/>
        </p:xfrm>
        <a:graphic>
          <a:graphicData uri="http://schemas.openxmlformats.org/presentationml/2006/ole">
            <mc:AlternateContent xmlns:mc="http://schemas.openxmlformats.org/markup-compatibility/2006">
              <mc:Choice xmlns:v="urn:schemas-microsoft-com:vml" Requires="v">
                <p:oleObj name="公式" r:id="rId3" imgW="1384200" imgH="228600" progId="Equation.3">
                  <p:embed/>
                </p:oleObj>
              </mc:Choice>
              <mc:Fallback>
                <p:oleObj name="公式" r:id="rId3" imgW="13842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035510"/>
                        <a:ext cx="477520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7" name="Object 4" descr="蓝色面巾纸"/>
          <p:cNvGraphicFramePr>
            <a:graphicFrameLocks noChangeAspect="1"/>
          </p:cNvGraphicFramePr>
          <p:nvPr>
            <p:extLst>
              <p:ext uri="{D42A27DB-BD31-4B8C-83A1-F6EECF244321}">
                <p14:modId xmlns:p14="http://schemas.microsoft.com/office/powerpoint/2010/main" val="2653240462"/>
              </p:ext>
            </p:extLst>
          </p:nvPr>
        </p:nvGraphicFramePr>
        <p:xfrm>
          <a:off x="1765300" y="1651460"/>
          <a:ext cx="7127875" cy="684213"/>
        </p:xfrm>
        <a:graphic>
          <a:graphicData uri="http://schemas.openxmlformats.org/presentationml/2006/ole">
            <mc:AlternateContent xmlns:mc="http://schemas.openxmlformats.org/markup-compatibility/2006">
              <mc:Choice xmlns:v="urn:schemas-microsoft-com:vml" Requires="v">
                <p:oleObj name="公式" r:id="rId5" imgW="2514600" imgH="241200" progId="Equation.3">
                  <p:embed/>
                </p:oleObj>
              </mc:Choice>
              <mc:Fallback>
                <p:oleObj name="公式" r:id="rId5" imgW="2514600" imgH="241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5300" y="1651460"/>
                        <a:ext cx="7127875" cy="684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8" name="Object 5" descr="蓝色面巾纸"/>
          <p:cNvGraphicFramePr>
            <a:graphicFrameLocks noChangeAspect="1"/>
          </p:cNvGraphicFramePr>
          <p:nvPr>
            <p:extLst>
              <p:ext uri="{D42A27DB-BD31-4B8C-83A1-F6EECF244321}">
                <p14:modId xmlns:p14="http://schemas.microsoft.com/office/powerpoint/2010/main" val="3011723425"/>
              </p:ext>
            </p:extLst>
          </p:nvPr>
        </p:nvGraphicFramePr>
        <p:xfrm>
          <a:off x="2818674" y="5061997"/>
          <a:ext cx="4264025" cy="668337"/>
        </p:xfrm>
        <a:graphic>
          <a:graphicData uri="http://schemas.openxmlformats.org/presentationml/2006/ole">
            <mc:AlternateContent xmlns:mc="http://schemas.openxmlformats.org/markup-compatibility/2006">
              <mc:Choice xmlns:v="urn:schemas-microsoft-com:vml" Requires="v">
                <p:oleObj name="公式" r:id="rId7" imgW="1460160" imgH="228600" progId="Equation.3">
                  <p:embed/>
                </p:oleObj>
              </mc:Choice>
              <mc:Fallback>
                <p:oleObj name="公式" r:id="rId7" imgW="1460160" imgH="228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8674" y="5061997"/>
                        <a:ext cx="4264025" cy="668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9" name="Object 5" descr="蓝色面巾纸"/>
          <p:cNvGraphicFramePr>
            <a:graphicFrameLocks noChangeAspect="1"/>
          </p:cNvGraphicFramePr>
          <p:nvPr>
            <p:extLst>
              <p:ext uri="{D42A27DB-BD31-4B8C-83A1-F6EECF244321}">
                <p14:modId xmlns:p14="http://schemas.microsoft.com/office/powerpoint/2010/main" val="3175815579"/>
              </p:ext>
            </p:extLst>
          </p:nvPr>
        </p:nvGraphicFramePr>
        <p:xfrm>
          <a:off x="3019596" y="3896185"/>
          <a:ext cx="2520950" cy="593725"/>
        </p:xfrm>
        <a:graphic>
          <a:graphicData uri="http://schemas.openxmlformats.org/presentationml/2006/ole">
            <mc:AlternateContent xmlns:mc="http://schemas.openxmlformats.org/markup-compatibility/2006">
              <mc:Choice xmlns:v="urn:schemas-microsoft-com:vml" Requires="v">
                <p:oleObj name="公式" r:id="rId9" imgW="863280" imgH="203040" progId="Equation.3">
                  <p:embed/>
                </p:oleObj>
              </mc:Choice>
              <mc:Fallback>
                <p:oleObj name="公式" r:id="rId9" imgW="863280" imgH="20304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9596" y="3896185"/>
                        <a:ext cx="2520950"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571500"/>
            <a:ext cx="7772400" cy="1143000"/>
          </a:xfrm>
        </p:spPr>
        <p:txBody>
          <a:bodyPr/>
          <a:lstStyle/>
          <a:p>
            <a:pPr>
              <a:defRPr/>
            </a:pPr>
            <a:r>
              <a:rPr lang="zh-CN" altLang="en-US" dirty="0"/>
              <a:t>最优分界面</a:t>
            </a:r>
          </a:p>
        </p:txBody>
      </p:sp>
      <p:sp>
        <p:nvSpPr>
          <p:cNvPr id="10245" name="灯片编号占位符 3"/>
          <p:cNvSpPr>
            <a:spLocks noGrp="1"/>
          </p:cNvSpPr>
          <p:nvPr>
            <p:ph type="sldNum" sz="quarter" idx="12"/>
          </p:nvPr>
        </p:nvSpPr>
        <p:spPr>
          <a:noFill/>
        </p:spPr>
        <p:txBody>
          <a:bodyPr/>
          <a:lstStyle/>
          <a:p>
            <a:fld id="{9BBF13A5-AF0D-4D0E-9199-9EFE8F30265A}" type="slidenum">
              <a:rPr lang="en-US" altLang="zh-CN" smtClean="0">
                <a:ea typeface="黑体" pitchFamily="49" charset="-122"/>
              </a:rPr>
              <a:pPr/>
              <a:t>14</a:t>
            </a:fld>
            <a:endParaRPr lang="en-US" altLang="zh-CN">
              <a:ea typeface="黑体" pitchFamily="49" charset="-122"/>
            </a:endParaRPr>
          </a:p>
        </p:txBody>
      </p:sp>
      <p:cxnSp>
        <p:nvCxnSpPr>
          <p:cNvPr id="10247" name="直接箭头连接符 5"/>
          <p:cNvCxnSpPr>
            <a:cxnSpLocks noChangeShapeType="1"/>
          </p:cNvCxnSpPr>
          <p:nvPr/>
        </p:nvCxnSpPr>
        <p:spPr bwMode="auto">
          <a:xfrm flipV="1">
            <a:off x="1541463" y="6137275"/>
            <a:ext cx="6513512" cy="25400"/>
          </a:xfrm>
          <a:prstGeom prst="straightConnector1">
            <a:avLst/>
          </a:prstGeom>
          <a:noFill/>
          <a:ln w="38100" algn="ctr">
            <a:solidFill>
              <a:schemeClr val="tx1"/>
            </a:solidFill>
            <a:round/>
            <a:headEnd/>
            <a:tailEnd type="arrow" w="med" len="med"/>
          </a:ln>
        </p:spPr>
      </p:cxnSp>
      <p:cxnSp>
        <p:nvCxnSpPr>
          <p:cNvPr id="10248" name="直接箭头连接符 6"/>
          <p:cNvCxnSpPr>
            <a:cxnSpLocks noChangeShapeType="1"/>
          </p:cNvCxnSpPr>
          <p:nvPr/>
        </p:nvCxnSpPr>
        <p:spPr bwMode="auto">
          <a:xfrm flipV="1">
            <a:off x="1841500" y="2943225"/>
            <a:ext cx="49213" cy="3608388"/>
          </a:xfrm>
          <a:prstGeom prst="straightConnector1">
            <a:avLst/>
          </a:prstGeom>
          <a:noFill/>
          <a:ln w="38100" algn="ctr">
            <a:solidFill>
              <a:schemeClr val="tx1"/>
            </a:solidFill>
            <a:round/>
            <a:headEnd/>
            <a:tailEnd type="arrow" w="med" len="med"/>
          </a:ln>
        </p:spPr>
      </p:cxnSp>
      <p:sp>
        <p:nvSpPr>
          <p:cNvPr id="10249" name="椭圆 7"/>
          <p:cNvSpPr>
            <a:spLocks noChangeArrowheads="1"/>
          </p:cNvSpPr>
          <p:nvPr/>
        </p:nvSpPr>
        <p:spPr bwMode="auto">
          <a:xfrm>
            <a:off x="3582988" y="44465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0" name="椭圆 8"/>
          <p:cNvSpPr>
            <a:spLocks noChangeArrowheads="1"/>
          </p:cNvSpPr>
          <p:nvPr/>
        </p:nvSpPr>
        <p:spPr bwMode="auto">
          <a:xfrm>
            <a:off x="2430463" y="387032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1" name="椭圆 9"/>
          <p:cNvSpPr>
            <a:spLocks noChangeArrowheads="1"/>
          </p:cNvSpPr>
          <p:nvPr/>
        </p:nvSpPr>
        <p:spPr bwMode="auto">
          <a:xfrm>
            <a:off x="3683000" y="51101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2" name="椭圆 10"/>
          <p:cNvSpPr>
            <a:spLocks noChangeArrowheads="1"/>
          </p:cNvSpPr>
          <p:nvPr/>
        </p:nvSpPr>
        <p:spPr bwMode="auto">
          <a:xfrm>
            <a:off x="2855913" y="47355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3" name="椭圆 11"/>
          <p:cNvSpPr>
            <a:spLocks noChangeArrowheads="1"/>
          </p:cNvSpPr>
          <p:nvPr/>
        </p:nvSpPr>
        <p:spPr bwMode="auto">
          <a:xfrm>
            <a:off x="4195763" y="4284663"/>
            <a:ext cx="188912"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4" name="椭圆 12"/>
          <p:cNvSpPr>
            <a:spLocks noChangeArrowheads="1"/>
          </p:cNvSpPr>
          <p:nvPr/>
        </p:nvSpPr>
        <p:spPr bwMode="auto">
          <a:xfrm>
            <a:off x="3094038" y="33448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5" name="椭圆 13"/>
          <p:cNvSpPr>
            <a:spLocks noChangeArrowheads="1"/>
          </p:cNvSpPr>
          <p:nvPr/>
        </p:nvSpPr>
        <p:spPr bwMode="auto">
          <a:xfrm>
            <a:off x="2994025" y="4295775"/>
            <a:ext cx="187325" cy="214313"/>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6" name="椭圆 14"/>
          <p:cNvSpPr>
            <a:spLocks noChangeArrowheads="1"/>
          </p:cNvSpPr>
          <p:nvPr/>
        </p:nvSpPr>
        <p:spPr bwMode="auto">
          <a:xfrm>
            <a:off x="2343150" y="46101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7" name="椭圆 15"/>
          <p:cNvSpPr>
            <a:spLocks noChangeArrowheads="1"/>
          </p:cNvSpPr>
          <p:nvPr/>
        </p:nvSpPr>
        <p:spPr bwMode="auto">
          <a:xfrm>
            <a:off x="3143250" y="5060950"/>
            <a:ext cx="188913"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8" name="矩形 16"/>
          <p:cNvSpPr>
            <a:spLocks noChangeArrowheads="1"/>
          </p:cNvSpPr>
          <p:nvPr/>
        </p:nvSpPr>
        <p:spPr bwMode="auto">
          <a:xfrm>
            <a:off x="4872038" y="3055938"/>
            <a:ext cx="138112"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59" name="矩形 17"/>
          <p:cNvSpPr>
            <a:spLocks noChangeArrowheads="1"/>
          </p:cNvSpPr>
          <p:nvPr/>
        </p:nvSpPr>
        <p:spPr bwMode="auto">
          <a:xfrm>
            <a:off x="5724525" y="2505075"/>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0" name="矩形 18"/>
          <p:cNvSpPr>
            <a:spLocks noChangeArrowheads="1"/>
          </p:cNvSpPr>
          <p:nvPr/>
        </p:nvSpPr>
        <p:spPr bwMode="auto">
          <a:xfrm>
            <a:off x="6113463" y="3268663"/>
            <a:ext cx="136525"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1" name="矩形 19"/>
          <p:cNvSpPr>
            <a:spLocks noChangeArrowheads="1"/>
          </p:cNvSpPr>
          <p:nvPr/>
        </p:nvSpPr>
        <p:spPr bwMode="auto">
          <a:xfrm>
            <a:off x="5448300" y="2981325"/>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2" name="矩形 20"/>
          <p:cNvSpPr>
            <a:spLocks noChangeArrowheads="1"/>
          </p:cNvSpPr>
          <p:nvPr/>
        </p:nvSpPr>
        <p:spPr bwMode="auto">
          <a:xfrm>
            <a:off x="5949950" y="3944938"/>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3" name="矩形 21"/>
          <p:cNvSpPr>
            <a:spLocks noChangeArrowheads="1"/>
          </p:cNvSpPr>
          <p:nvPr/>
        </p:nvSpPr>
        <p:spPr bwMode="auto">
          <a:xfrm>
            <a:off x="5360988" y="3444875"/>
            <a:ext cx="138112"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4" name="矩形 22"/>
          <p:cNvSpPr>
            <a:spLocks noChangeArrowheads="1"/>
          </p:cNvSpPr>
          <p:nvPr/>
        </p:nvSpPr>
        <p:spPr bwMode="auto">
          <a:xfrm>
            <a:off x="6800850" y="3695700"/>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5" name="矩形 23"/>
          <p:cNvSpPr>
            <a:spLocks noChangeArrowheads="1"/>
          </p:cNvSpPr>
          <p:nvPr/>
        </p:nvSpPr>
        <p:spPr bwMode="auto">
          <a:xfrm>
            <a:off x="6600825" y="2805113"/>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26" name="直接连接符 25"/>
          <p:cNvCxnSpPr/>
          <p:nvPr/>
        </p:nvCxnSpPr>
        <p:spPr bwMode="auto">
          <a:xfrm>
            <a:off x="3019425" y="2417763"/>
            <a:ext cx="3494088" cy="2943225"/>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28" name="直接连接符 27"/>
          <p:cNvCxnSpPr/>
          <p:nvPr/>
        </p:nvCxnSpPr>
        <p:spPr bwMode="auto">
          <a:xfrm>
            <a:off x="3570288" y="1966913"/>
            <a:ext cx="3494087"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29" name="直接连接符 28"/>
          <p:cNvCxnSpPr/>
          <p:nvPr/>
        </p:nvCxnSpPr>
        <p:spPr bwMode="auto">
          <a:xfrm>
            <a:off x="2605088" y="2955925"/>
            <a:ext cx="3495675"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graphicFrame>
        <p:nvGraphicFramePr>
          <p:cNvPr id="10242" name="Object 2" descr="蓝色面巾纸"/>
          <p:cNvGraphicFramePr>
            <a:graphicFrameLocks noChangeAspect="1"/>
          </p:cNvGraphicFramePr>
          <p:nvPr/>
        </p:nvGraphicFramePr>
        <p:xfrm>
          <a:off x="895350" y="1868488"/>
          <a:ext cx="1987550" cy="465137"/>
        </p:xfrm>
        <a:graphic>
          <a:graphicData uri="http://schemas.openxmlformats.org/presentationml/2006/ole">
            <mc:AlternateContent xmlns:mc="http://schemas.openxmlformats.org/markup-compatibility/2006">
              <mc:Choice xmlns:v="urn:schemas-microsoft-com:vml" Requires="v">
                <p:oleObj name="公式" r:id="rId3" imgW="761760" imgH="177480" progId="Equation.3">
                  <p:embed/>
                </p:oleObj>
              </mc:Choice>
              <mc:Fallback>
                <p:oleObj name="公式" r:id="rId3" imgW="761760" imgH="1774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350" y="1868488"/>
                        <a:ext cx="1987550"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0269" name="直接箭头连接符 36"/>
          <p:cNvCxnSpPr>
            <a:cxnSpLocks noChangeShapeType="1"/>
          </p:cNvCxnSpPr>
          <p:nvPr/>
        </p:nvCxnSpPr>
        <p:spPr bwMode="auto">
          <a:xfrm flipH="1">
            <a:off x="6149975" y="4897438"/>
            <a:ext cx="827088" cy="1014412"/>
          </a:xfrm>
          <a:prstGeom prst="straightConnector1">
            <a:avLst/>
          </a:prstGeom>
          <a:noFill/>
          <a:ln w="38100" algn="ctr">
            <a:solidFill>
              <a:schemeClr val="tx1"/>
            </a:solidFill>
            <a:round/>
            <a:headEnd type="arrow" w="med" len="med"/>
            <a:tailEnd type="arrow" w="med" len="med"/>
          </a:ln>
        </p:spPr>
      </p:cxnSp>
      <p:sp>
        <p:nvSpPr>
          <p:cNvPr id="10270" name="椭圆 38"/>
          <p:cNvSpPr>
            <a:spLocks noChangeArrowheads="1"/>
          </p:cNvSpPr>
          <p:nvPr/>
        </p:nvSpPr>
        <p:spPr bwMode="auto">
          <a:xfrm>
            <a:off x="3394075" y="3944938"/>
            <a:ext cx="188913"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71" name="TextBox 30"/>
          <p:cNvSpPr txBox="1">
            <a:spLocks noChangeArrowheads="1"/>
          </p:cNvSpPr>
          <p:nvPr/>
        </p:nvSpPr>
        <p:spPr bwMode="auto">
          <a:xfrm>
            <a:off x="8156575" y="5849938"/>
            <a:ext cx="581025" cy="522287"/>
          </a:xfrm>
          <a:prstGeom prst="rect">
            <a:avLst/>
          </a:prstGeom>
          <a:noFill/>
          <a:ln w="9525">
            <a:noFill/>
            <a:miter lim="800000"/>
            <a:headEnd/>
            <a:tailEnd/>
          </a:ln>
        </p:spPr>
        <p:txBody>
          <a:bodyPr>
            <a:spAutoFit/>
          </a:bodyPr>
          <a:lstStyle/>
          <a:p>
            <a:r>
              <a:rPr lang="en-US" altLang="zh-CN" sz="2800"/>
              <a:t>x</a:t>
            </a:r>
            <a:r>
              <a:rPr lang="en-US" altLang="zh-CN" sz="2800" baseline="30000"/>
              <a:t>(1)</a:t>
            </a:r>
            <a:endParaRPr lang="zh-CN" altLang="en-US" sz="2800" baseline="30000"/>
          </a:p>
        </p:txBody>
      </p:sp>
      <p:sp>
        <p:nvSpPr>
          <p:cNvPr id="10272" name="TextBox 31"/>
          <p:cNvSpPr txBox="1">
            <a:spLocks noChangeArrowheads="1"/>
          </p:cNvSpPr>
          <p:nvPr/>
        </p:nvSpPr>
        <p:spPr bwMode="auto">
          <a:xfrm>
            <a:off x="1424969" y="2586099"/>
            <a:ext cx="581025" cy="523875"/>
          </a:xfrm>
          <a:prstGeom prst="rect">
            <a:avLst/>
          </a:prstGeom>
          <a:noFill/>
          <a:ln w="9525">
            <a:noFill/>
            <a:miter lim="800000"/>
            <a:headEnd/>
            <a:tailEnd/>
          </a:ln>
        </p:spPr>
        <p:txBody>
          <a:bodyPr>
            <a:spAutoFit/>
          </a:bodyPr>
          <a:lstStyle/>
          <a:p>
            <a:r>
              <a:rPr lang="en-US" altLang="zh-CN" sz="2800"/>
              <a:t>x</a:t>
            </a:r>
            <a:r>
              <a:rPr lang="en-US" altLang="zh-CN" sz="2800" baseline="30000"/>
              <a:t>(2)</a:t>
            </a:r>
            <a:endParaRPr lang="zh-CN" altLang="en-US" sz="2800" baseline="30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571500"/>
            <a:ext cx="7772400" cy="1143000"/>
          </a:xfrm>
        </p:spPr>
        <p:txBody>
          <a:bodyPr/>
          <a:lstStyle/>
          <a:p>
            <a:pPr>
              <a:defRPr/>
            </a:pPr>
            <a:r>
              <a:rPr lang="zh-CN" altLang="en-US" dirty="0"/>
              <a:t>最优分界面</a:t>
            </a:r>
          </a:p>
        </p:txBody>
      </p:sp>
      <p:sp>
        <p:nvSpPr>
          <p:cNvPr id="10245" name="灯片编号占位符 3"/>
          <p:cNvSpPr>
            <a:spLocks noGrp="1"/>
          </p:cNvSpPr>
          <p:nvPr>
            <p:ph type="sldNum" sz="quarter" idx="12"/>
          </p:nvPr>
        </p:nvSpPr>
        <p:spPr>
          <a:noFill/>
        </p:spPr>
        <p:txBody>
          <a:bodyPr/>
          <a:lstStyle/>
          <a:p>
            <a:fld id="{9BBF13A5-AF0D-4D0E-9199-9EFE8F30265A}" type="slidenum">
              <a:rPr lang="en-US" altLang="zh-CN" smtClean="0">
                <a:ea typeface="黑体" pitchFamily="49" charset="-122"/>
              </a:rPr>
              <a:pPr/>
              <a:t>15</a:t>
            </a:fld>
            <a:endParaRPr lang="en-US" altLang="zh-CN">
              <a:ea typeface="黑体" pitchFamily="49" charset="-122"/>
            </a:endParaRPr>
          </a:p>
        </p:txBody>
      </p:sp>
      <p:cxnSp>
        <p:nvCxnSpPr>
          <p:cNvPr id="10247" name="直接箭头连接符 5"/>
          <p:cNvCxnSpPr>
            <a:cxnSpLocks noChangeShapeType="1"/>
          </p:cNvCxnSpPr>
          <p:nvPr/>
        </p:nvCxnSpPr>
        <p:spPr bwMode="auto">
          <a:xfrm flipV="1">
            <a:off x="1541463" y="6137275"/>
            <a:ext cx="6513512" cy="25400"/>
          </a:xfrm>
          <a:prstGeom prst="straightConnector1">
            <a:avLst/>
          </a:prstGeom>
          <a:noFill/>
          <a:ln w="38100" algn="ctr">
            <a:solidFill>
              <a:schemeClr val="tx1"/>
            </a:solidFill>
            <a:round/>
            <a:headEnd/>
            <a:tailEnd type="arrow" w="med" len="med"/>
          </a:ln>
        </p:spPr>
      </p:cxnSp>
      <p:cxnSp>
        <p:nvCxnSpPr>
          <p:cNvPr id="10248" name="直接箭头连接符 6"/>
          <p:cNvCxnSpPr>
            <a:cxnSpLocks noChangeShapeType="1"/>
          </p:cNvCxnSpPr>
          <p:nvPr/>
        </p:nvCxnSpPr>
        <p:spPr bwMode="auto">
          <a:xfrm flipV="1">
            <a:off x="1841500" y="2943225"/>
            <a:ext cx="49213" cy="3608388"/>
          </a:xfrm>
          <a:prstGeom prst="straightConnector1">
            <a:avLst/>
          </a:prstGeom>
          <a:noFill/>
          <a:ln w="38100" algn="ctr">
            <a:solidFill>
              <a:schemeClr val="tx1"/>
            </a:solidFill>
            <a:round/>
            <a:headEnd/>
            <a:tailEnd type="arrow" w="med" len="med"/>
          </a:ln>
        </p:spPr>
      </p:cxnSp>
      <p:sp>
        <p:nvSpPr>
          <p:cNvPr id="10249" name="椭圆 7"/>
          <p:cNvSpPr>
            <a:spLocks noChangeArrowheads="1"/>
          </p:cNvSpPr>
          <p:nvPr/>
        </p:nvSpPr>
        <p:spPr bwMode="auto">
          <a:xfrm>
            <a:off x="3582988" y="44465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0" name="椭圆 8"/>
          <p:cNvSpPr>
            <a:spLocks noChangeArrowheads="1"/>
          </p:cNvSpPr>
          <p:nvPr/>
        </p:nvSpPr>
        <p:spPr bwMode="auto">
          <a:xfrm>
            <a:off x="2430463" y="387032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1" name="椭圆 9"/>
          <p:cNvSpPr>
            <a:spLocks noChangeArrowheads="1"/>
          </p:cNvSpPr>
          <p:nvPr/>
        </p:nvSpPr>
        <p:spPr bwMode="auto">
          <a:xfrm>
            <a:off x="3958364" y="51482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2" name="椭圆 10"/>
          <p:cNvSpPr>
            <a:spLocks noChangeArrowheads="1"/>
          </p:cNvSpPr>
          <p:nvPr/>
        </p:nvSpPr>
        <p:spPr bwMode="auto">
          <a:xfrm>
            <a:off x="2855913" y="47355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3" name="椭圆 11"/>
          <p:cNvSpPr>
            <a:spLocks noChangeArrowheads="1"/>
          </p:cNvSpPr>
          <p:nvPr/>
        </p:nvSpPr>
        <p:spPr bwMode="auto">
          <a:xfrm>
            <a:off x="4195763" y="4284663"/>
            <a:ext cx="188912"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4" name="椭圆 12"/>
          <p:cNvSpPr>
            <a:spLocks noChangeArrowheads="1"/>
          </p:cNvSpPr>
          <p:nvPr/>
        </p:nvSpPr>
        <p:spPr bwMode="auto">
          <a:xfrm>
            <a:off x="3094038" y="33448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5" name="椭圆 13"/>
          <p:cNvSpPr>
            <a:spLocks noChangeArrowheads="1"/>
          </p:cNvSpPr>
          <p:nvPr/>
        </p:nvSpPr>
        <p:spPr bwMode="auto">
          <a:xfrm>
            <a:off x="2994025" y="4295775"/>
            <a:ext cx="187325" cy="214313"/>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6" name="椭圆 14"/>
          <p:cNvSpPr>
            <a:spLocks noChangeArrowheads="1"/>
          </p:cNvSpPr>
          <p:nvPr/>
        </p:nvSpPr>
        <p:spPr bwMode="auto">
          <a:xfrm>
            <a:off x="2343150" y="46101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7" name="椭圆 15"/>
          <p:cNvSpPr>
            <a:spLocks noChangeArrowheads="1"/>
          </p:cNvSpPr>
          <p:nvPr/>
        </p:nvSpPr>
        <p:spPr bwMode="auto">
          <a:xfrm>
            <a:off x="3143250" y="5060950"/>
            <a:ext cx="188913"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58" name="矩形 16"/>
          <p:cNvSpPr>
            <a:spLocks noChangeArrowheads="1"/>
          </p:cNvSpPr>
          <p:nvPr/>
        </p:nvSpPr>
        <p:spPr bwMode="auto">
          <a:xfrm>
            <a:off x="4872038" y="3055938"/>
            <a:ext cx="138112"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59" name="矩形 17"/>
          <p:cNvSpPr>
            <a:spLocks noChangeArrowheads="1"/>
          </p:cNvSpPr>
          <p:nvPr/>
        </p:nvSpPr>
        <p:spPr bwMode="auto">
          <a:xfrm>
            <a:off x="5724525" y="2505075"/>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0" name="矩形 18"/>
          <p:cNvSpPr>
            <a:spLocks noChangeArrowheads="1"/>
          </p:cNvSpPr>
          <p:nvPr/>
        </p:nvSpPr>
        <p:spPr bwMode="auto">
          <a:xfrm>
            <a:off x="6113463" y="3268663"/>
            <a:ext cx="136525"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1" name="矩形 19"/>
          <p:cNvSpPr>
            <a:spLocks noChangeArrowheads="1"/>
          </p:cNvSpPr>
          <p:nvPr/>
        </p:nvSpPr>
        <p:spPr bwMode="auto">
          <a:xfrm>
            <a:off x="5448300" y="2981325"/>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2" name="矩形 20"/>
          <p:cNvSpPr>
            <a:spLocks noChangeArrowheads="1"/>
          </p:cNvSpPr>
          <p:nvPr/>
        </p:nvSpPr>
        <p:spPr bwMode="auto">
          <a:xfrm>
            <a:off x="5949950" y="3944938"/>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3" name="矩形 21"/>
          <p:cNvSpPr>
            <a:spLocks noChangeArrowheads="1"/>
          </p:cNvSpPr>
          <p:nvPr/>
        </p:nvSpPr>
        <p:spPr bwMode="auto">
          <a:xfrm>
            <a:off x="5360988" y="3444875"/>
            <a:ext cx="138112"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4" name="矩形 22"/>
          <p:cNvSpPr>
            <a:spLocks noChangeArrowheads="1"/>
          </p:cNvSpPr>
          <p:nvPr/>
        </p:nvSpPr>
        <p:spPr bwMode="auto">
          <a:xfrm>
            <a:off x="6774880" y="3663949"/>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0265" name="矩形 23"/>
          <p:cNvSpPr>
            <a:spLocks noChangeArrowheads="1"/>
          </p:cNvSpPr>
          <p:nvPr/>
        </p:nvSpPr>
        <p:spPr bwMode="auto">
          <a:xfrm>
            <a:off x="6600825" y="2805113"/>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26" name="直接连接符 25"/>
          <p:cNvCxnSpPr/>
          <p:nvPr/>
        </p:nvCxnSpPr>
        <p:spPr bwMode="auto">
          <a:xfrm>
            <a:off x="3019425" y="2417763"/>
            <a:ext cx="3494088" cy="2943225"/>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28" name="直接连接符 27"/>
          <p:cNvCxnSpPr/>
          <p:nvPr/>
        </p:nvCxnSpPr>
        <p:spPr bwMode="auto">
          <a:xfrm>
            <a:off x="3570288" y="1966913"/>
            <a:ext cx="3494087"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29" name="直接连接符 28"/>
          <p:cNvCxnSpPr/>
          <p:nvPr/>
        </p:nvCxnSpPr>
        <p:spPr bwMode="auto">
          <a:xfrm>
            <a:off x="2605088" y="2955925"/>
            <a:ext cx="3495675"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graphicFrame>
        <p:nvGraphicFramePr>
          <p:cNvPr id="10242" name="Object 2" descr="蓝色面巾纸"/>
          <p:cNvGraphicFramePr>
            <a:graphicFrameLocks noChangeAspect="1"/>
          </p:cNvGraphicFramePr>
          <p:nvPr>
            <p:extLst>
              <p:ext uri="{D42A27DB-BD31-4B8C-83A1-F6EECF244321}">
                <p14:modId xmlns:p14="http://schemas.microsoft.com/office/powerpoint/2010/main" val="431433671"/>
              </p:ext>
            </p:extLst>
          </p:nvPr>
        </p:nvGraphicFramePr>
        <p:xfrm>
          <a:off x="895350" y="1868488"/>
          <a:ext cx="1987550" cy="465137"/>
        </p:xfrm>
        <a:graphic>
          <a:graphicData uri="http://schemas.openxmlformats.org/presentationml/2006/ole">
            <mc:AlternateContent xmlns:mc="http://schemas.openxmlformats.org/markup-compatibility/2006">
              <mc:Choice xmlns:v="urn:schemas-microsoft-com:vml" Requires="v">
                <p:oleObj name="公式" r:id="rId3" imgW="761760" imgH="177480" progId="Equation.3">
                  <p:embed/>
                </p:oleObj>
              </mc:Choice>
              <mc:Fallback>
                <p:oleObj name="公式" r:id="rId3" imgW="761760" imgH="177480" progId="Equation.3">
                  <p:embed/>
                  <p:pic>
                    <p:nvPicPr>
                      <p:cNvPr id="10242" name="Object 2" descr="蓝色面巾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350" y="1868488"/>
                        <a:ext cx="1987550"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0269" name="直接箭头连接符 36"/>
          <p:cNvCxnSpPr>
            <a:cxnSpLocks noChangeShapeType="1"/>
          </p:cNvCxnSpPr>
          <p:nvPr/>
        </p:nvCxnSpPr>
        <p:spPr bwMode="auto">
          <a:xfrm flipH="1">
            <a:off x="6149975" y="4897438"/>
            <a:ext cx="827088" cy="1014412"/>
          </a:xfrm>
          <a:prstGeom prst="straightConnector1">
            <a:avLst/>
          </a:prstGeom>
          <a:noFill/>
          <a:ln w="38100" algn="ctr">
            <a:solidFill>
              <a:schemeClr val="tx1"/>
            </a:solidFill>
            <a:round/>
            <a:headEnd type="arrow" w="med" len="med"/>
            <a:tailEnd type="arrow" w="med" len="med"/>
          </a:ln>
        </p:spPr>
      </p:cxnSp>
      <p:sp>
        <p:nvSpPr>
          <p:cNvPr id="10270" name="椭圆 38"/>
          <p:cNvSpPr>
            <a:spLocks noChangeArrowheads="1"/>
          </p:cNvSpPr>
          <p:nvPr/>
        </p:nvSpPr>
        <p:spPr bwMode="auto">
          <a:xfrm>
            <a:off x="3394075" y="3944938"/>
            <a:ext cx="188913"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0271" name="TextBox 30"/>
          <p:cNvSpPr txBox="1">
            <a:spLocks noChangeArrowheads="1"/>
          </p:cNvSpPr>
          <p:nvPr/>
        </p:nvSpPr>
        <p:spPr bwMode="auto">
          <a:xfrm>
            <a:off x="8156575" y="5849938"/>
            <a:ext cx="581025" cy="522287"/>
          </a:xfrm>
          <a:prstGeom prst="rect">
            <a:avLst/>
          </a:prstGeom>
          <a:noFill/>
          <a:ln w="9525">
            <a:noFill/>
            <a:miter lim="800000"/>
            <a:headEnd/>
            <a:tailEnd/>
          </a:ln>
        </p:spPr>
        <p:txBody>
          <a:bodyPr>
            <a:spAutoFit/>
          </a:bodyPr>
          <a:lstStyle/>
          <a:p>
            <a:r>
              <a:rPr lang="en-US" altLang="zh-CN" sz="2800"/>
              <a:t>x</a:t>
            </a:r>
            <a:r>
              <a:rPr lang="en-US" altLang="zh-CN" sz="2800" baseline="30000"/>
              <a:t>(1)</a:t>
            </a:r>
            <a:endParaRPr lang="zh-CN" altLang="en-US" sz="2800" baseline="30000"/>
          </a:p>
        </p:txBody>
      </p:sp>
      <p:sp>
        <p:nvSpPr>
          <p:cNvPr id="10272" name="TextBox 31"/>
          <p:cNvSpPr txBox="1">
            <a:spLocks noChangeArrowheads="1"/>
          </p:cNvSpPr>
          <p:nvPr/>
        </p:nvSpPr>
        <p:spPr bwMode="auto">
          <a:xfrm>
            <a:off x="1424969" y="2586099"/>
            <a:ext cx="581025" cy="523875"/>
          </a:xfrm>
          <a:prstGeom prst="rect">
            <a:avLst/>
          </a:prstGeom>
          <a:noFill/>
          <a:ln w="9525">
            <a:noFill/>
            <a:miter lim="800000"/>
            <a:headEnd/>
            <a:tailEnd/>
          </a:ln>
        </p:spPr>
        <p:txBody>
          <a:bodyPr>
            <a:spAutoFit/>
          </a:bodyPr>
          <a:lstStyle/>
          <a:p>
            <a:r>
              <a:rPr lang="en-US" altLang="zh-CN" sz="2800"/>
              <a:t>x</a:t>
            </a:r>
            <a:r>
              <a:rPr lang="en-US" altLang="zh-CN" sz="2800" baseline="30000"/>
              <a:t>(2)</a:t>
            </a:r>
            <a:endParaRPr lang="zh-CN" altLang="en-US" sz="2800" baseline="30000"/>
          </a:p>
        </p:txBody>
      </p:sp>
      <p:sp>
        <p:nvSpPr>
          <p:cNvPr id="3" name="文本框 2">
            <a:extLst>
              <a:ext uri="{FF2B5EF4-FFF2-40B4-BE49-F238E27FC236}">
                <a16:creationId xmlns:a16="http://schemas.microsoft.com/office/drawing/2014/main" id="{5A522786-9EC2-422D-9630-A1DD4C116061}"/>
              </a:ext>
            </a:extLst>
          </p:cNvPr>
          <p:cNvSpPr txBox="1"/>
          <p:nvPr/>
        </p:nvSpPr>
        <p:spPr>
          <a:xfrm>
            <a:off x="4666947" y="1676033"/>
            <a:ext cx="1664306" cy="830997"/>
          </a:xfrm>
          <a:prstGeom prst="rect">
            <a:avLst/>
          </a:prstGeom>
          <a:noFill/>
        </p:spPr>
        <p:txBody>
          <a:bodyPr wrap="square" rtlCol="0">
            <a:spAutoFit/>
          </a:bodyPr>
          <a:lstStyle/>
          <a:p>
            <a:r>
              <a:rPr lang="zh-CN" altLang="en-US" sz="2400" b="1" dirty="0">
                <a:solidFill>
                  <a:srgbClr val="7030A0"/>
                </a:solidFill>
              </a:rPr>
              <a:t>决策函数大于</a:t>
            </a:r>
            <a:r>
              <a:rPr lang="en-US" altLang="zh-CN" sz="2400" b="1" dirty="0">
                <a:solidFill>
                  <a:srgbClr val="7030A0"/>
                </a:solidFill>
              </a:rPr>
              <a:t>0</a:t>
            </a:r>
            <a:endParaRPr lang="zh-CN" altLang="en-US" sz="2400" b="1" dirty="0">
              <a:solidFill>
                <a:srgbClr val="7030A0"/>
              </a:solidFill>
            </a:endParaRPr>
          </a:p>
        </p:txBody>
      </p:sp>
      <p:sp>
        <p:nvSpPr>
          <p:cNvPr id="34" name="文本框 33">
            <a:extLst>
              <a:ext uri="{FF2B5EF4-FFF2-40B4-BE49-F238E27FC236}">
                <a16:creationId xmlns:a16="http://schemas.microsoft.com/office/drawing/2014/main" id="{A5095DAC-1F17-4DF3-BD7E-952D5F474050}"/>
              </a:ext>
            </a:extLst>
          </p:cNvPr>
          <p:cNvSpPr txBox="1"/>
          <p:nvPr/>
        </p:nvSpPr>
        <p:spPr>
          <a:xfrm>
            <a:off x="2065214" y="5261516"/>
            <a:ext cx="1664306" cy="830997"/>
          </a:xfrm>
          <a:prstGeom prst="rect">
            <a:avLst/>
          </a:prstGeom>
          <a:noFill/>
        </p:spPr>
        <p:txBody>
          <a:bodyPr wrap="square" rtlCol="0">
            <a:spAutoFit/>
          </a:bodyPr>
          <a:lstStyle/>
          <a:p>
            <a:r>
              <a:rPr lang="zh-CN" altLang="en-US" sz="2400" b="1" dirty="0">
                <a:solidFill>
                  <a:srgbClr val="7030A0"/>
                </a:solidFill>
              </a:rPr>
              <a:t>决策函数小于</a:t>
            </a:r>
            <a:r>
              <a:rPr lang="en-US" altLang="zh-CN" sz="2400" b="1" dirty="0">
                <a:solidFill>
                  <a:srgbClr val="7030A0"/>
                </a:solidFill>
              </a:rPr>
              <a:t>0</a:t>
            </a:r>
            <a:endParaRPr lang="zh-CN" altLang="en-US" sz="2400" b="1" dirty="0">
              <a:solidFill>
                <a:srgbClr val="7030A0"/>
              </a:solidFill>
            </a:endParaRPr>
          </a:p>
        </p:txBody>
      </p:sp>
      <p:cxnSp>
        <p:nvCxnSpPr>
          <p:cNvPr id="5" name="连接符: 曲线 4">
            <a:extLst>
              <a:ext uri="{FF2B5EF4-FFF2-40B4-BE49-F238E27FC236}">
                <a16:creationId xmlns:a16="http://schemas.microsoft.com/office/drawing/2014/main" id="{C1AA8A2D-5B29-4F05-8894-B8B8F2E1E852}"/>
              </a:ext>
            </a:extLst>
          </p:cNvPr>
          <p:cNvCxnSpPr>
            <a:cxnSpLocks/>
            <a:stCxn id="10242" idx="3"/>
          </p:cNvCxnSpPr>
          <p:nvPr/>
        </p:nvCxnSpPr>
        <p:spPr>
          <a:xfrm>
            <a:off x="2882900" y="2101056"/>
            <a:ext cx="667392" cy="667926"/>
          </a:xfrm>
          <a:prstGeom prst="curved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7F54C1D7-083B-40FE-BA0A-5AD61121A021}"/>
              </a:ext>
            </a:extLst>
          </p:cNvPr>
          <p:cNvCxnSpPr>
            <a:cxnSpLocks/>
            <a:endCxn id="10264" idx="2"/>
          </p:cNvCxnSpPr>
          <p:nvPr/>
        </p:nvCxnSpPr>
        <p:spPr>
          <a:xfrm flipV="1">
            <a:off x="5859025" y="3825874"/>
            <a:ext cx="984912" cy="989016"/>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Object 2" descr="蓝色面巾纸">
                <a:extLst>
                  <a:ext uri="{FF2B5EF4-FFF2-40B4-BE49-F238E27FC236}">
                    <a16:creationId xmlns:a16="http://schemas.microsoft.com/office/drawing/2014/main" id="{3B237979-56D0-4A75-8CA0-8604F72ABDEA}"/>
                  </a:ext>
                </a:extLst>
              </p:cNvPr>
              <p:cNvSpPr txBox="1"/>
              <p:nvPr/>
            </p:nvSpPr>
            <p:spPr bwMode="auto">
              <a:xfrm>
                <a:off x="6149974" y="1932781"/>
                <a:ext cx="2766055" cy="465138"/>
              </a:xfrm>
              <a:prstGeom prst="rect">
                <a:avLst/>
              </a:prstGeom>
              <a:noFill/>
            </p:spPr>
            <p:txBody>
              <a:bodyPr>
                <a:noAutofit/>
              </a:bodyPr>
              <a:lstStyle/>
              <a:p>
                <a:r>
                  <a:rPr lang="en-US" altLang="zh-CN" sz="2800" dirty="0">
                    <a:solidFill>
                      <a:srgbClr val="00B050"/>
                    </a:solidFill>
                  </a:rPr>
                  <a:t>(</a:t>
                </a:r>
                <a14:m>
                  <m:oMath xmlns:m="http://schemas.openxmlformats.org/officeDocument/2006/math">
                    <m:r>
                      <a:rPr lang="zh-CN" altLang="en-US" sz="2800" i="1" smtClean="0">
                        <a:solidFill>
                          <a:srgbClr val="00B050"/>
                        </a:solidFill>
                        <a:latin typeface="Cambria Math" panose="02040503050406030204" pitchFamily="18" charset="0"/>
                      </a:rPr>
                      <m:t>𝑤</m:t>
                    </m:r>
                    <m:r>
                      <a:rPr lang="zh-CN" altLang="en-US" sz="2800" i="1" smtClean="0">
                        <a:solidFill>
                          <a:srgbClr val="00B050"/>
                        </a:solidFill>
                        <a:latin typeface="Cambria Math" panose="02040503050406030204" pitchFamily="18" charset="0"/>
                      </a:rPr>
                      <m:t>⋅</m:t>
                    </m:r>
                    <m:r>
                      <a:rPr lang="zh-CN" altLang="en-US" sz="2800" i="1" smtClean="0">
                        <a:solidFill>
                          <a:srgbClr val="00B050"/>
                        </a:solidFill>
                        <a:latin typeface="Cambria Math" panose="02040503050406030204" pitchFamily="18" charset="0"/>
                      </a:rPr>
                      <m:t>𝑥</m:t>
                    </m:r>
                    <m:r>
                      <a:rPr lang="zh-CN" altLang="en-US" sz="2800" i="1" smtClean="0">
                        <a:solidFill>
                          <a:srgbClr val="00B050"/>
                        </a:solidFill>
                        <a:latin typeface="Cambria Math" panose="02040503050406030204" pitchFamily="18" charset="0"/>
                      </a:rPr>
                      <m:t>+</m:t>
                    </m:r>
                    <m:r>
                      <a:rPr lang="zh-CN" altLang="en-US" sz="2800" i="1" smtClean="0">
                        <a:solidFill>
                          <a:srgbClr val="00B050"/>
                        </a:solidFill>
                        <a:latin typeface="Cambria Math" panose="02040503050406030204" pitchFamily="18" charset="0"/>
                      </a:rPr>
                      <m:t>𝑏</m:t>
                    </m:r>
                    <m:r>
                      <a:rPr lang="en-US" altLang="zh-CN" sz="2800" b="0" i="1" smtClean="0">
                        <a:solidFill>
                          <a:srgbClr val="00B050"/>
                        </a:solidFill>
                        <a:latin typeface="Cambria Math" panose="02040503050406030204" pitchFamily="18" charset="0"/>
                      </a:rPr>
                      <m:t>)&gt;0</m:t>
                    </m:r>
                  </m:oMath>
                </a14:m>
                <a:endParaRPr lang="zh-CN" altLang="en-US" sz="2800" dirty="0">
                  <a:solidFill>
                    <a:srgbClr val="00B050"/>
                  </a:solidFill>
                </a:endParaRPr>
              </a:p>
            </p:txBody>
          </p:sp>
        </mc:Choice>
        <mc:Fallback xmlns="">
          <p:sp>
            <p:nvSpPr>
              <p:cNvPr id="47" name="Object 2" descr="蓝色面巾纸">
                <a:extLst>
                  <a:ext uri="{FF2B5EF4-FFF2-40B4-BE49-F238E27FC236}">
                    <a16:creationId xmlns:a16="http://schemas.microsoft.com/office/drawing/2014/main" id="{3B237979-56D0-4A75-8CA0-8604F72ABDEA}"/>
                  </a:ext>
                </a:extLst>
              </p:cNvPr>
              <p:cNvSpPr txBox="1">
                <a:spLocks noRot="1" noChangeAspect="1" noMove="1" noResize="1" noEditPoints="1" noAdjustHandles="1" noChangeArrowheads="1" noChangeShapeType="1" noTextEdit="1"/>
              </p:cNvSpPr>
              <p:nvPr/>
            </p:nvSpPr>
            <p:spPr bwMode="auto">
              <a:xfrm>
                <a:off x="6149974" y="1932781"/>
                <a:ext cx="2766055" cy="465138"/>
              </a:xfrm>
              <a:prstGeom prst="rect">
                <a:avLst/>
              </a:prstGeom>
              <a:blipFill>
                <a:blip r:embed="rId7"/>
                <a:stretch>
                  <a:fillRect l="-4566" t="-13514" b="-51351"/>
                </a:stretch>
              </a:blipFill>
            </p:spPr>
            <p:txBody>
              <a:bodyPr/>
              <a:lstStyle/>
              <a:p>
                <a:r>
                  <a:rPr lang="en-US">
                    <a:noFill/>
                  </a:rPr>
                  <a:t> </a:t>
                </a:r>
              </a:p>
            </p:txBody>
          </p:sp>
        </mc:Fallback>
      </mc:AlternateContent>
      <p:cxnSp>
        <p:nvCxnSpPr>
          <p:cNvPr id="48" name="连接符: 曲线 47">
            <a:extLst>
              <a:ext uri="{FF2B5EF4-FFF2-40B4-BE49-F238E27FC236}">
                <a16:creationId xmlns:a16="http://schemas.microsoft.com/office/drawing/2014/main" id="{D0F0E78D-C3D0-419C-8841-ECAB30DDEF57}"/>
              </a:ext>
            </a:extLst>
          </p:cNvPr>
          <p:cNvCxnSpPr>
            <a:cxnSpLocks/>
          </p:cNvCxnSpPr>
          <p:nvPr/>
        </p:nvCxnSpPr>
        <p:spPr>
          <a:xfrm rot="5400000">
            <a:off x="6011496" y="2819835"/>
            <a:ext cx="1648031" cy="878399"/>
          </a:xfrm>
          <a:prstGeom prst="curved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Object 2" descr="蓝色面巾纸">
                <a:extLst>
                  <a:ext uri="{FF2B5EF4-FFF2-40B4-BE49-F238E27FC236}">
                    <a16:creationId xmlns:a16="http://schemas.microsoft.com/office/drawing/2014/main" id="{E254A800-A029-4F7E-8220-BDF608BE58BE}"/>
                  </a:ext>
                </a:extLst>
              </p:cNvPr>
              <p:cNvSpPr txBox="1"/>
              <p:nvPr/>
            </p:nvSpPr>
            <p:spPr bwMode="auto">
              <a:xfrm>
                <a:off x="3294063" y="5475286"/>
                <a:ext cx="2614613" cy="465138"/>
              </a:xfrm>
              <a:prstGeom prst="rect">
                <a:avLst/>
              </a:prstGeom>
              <a:noFill/>
            </p:spPr>
            <p:txBody>
              <a:bodyPr>
                <a:noAutofit/>
              </a:bodyPr>
              <a:lstStyle/>
              <a:p>
                <a:r>
                  <a:rPr lang="en-US" altLang="zh-CN" sz="2800" dirty="0">
                    <a:solidFill>
                      <a:srgbClr val="00B050"/>
                    </a:solidFill>
                  </a:rPr>
                  <a:t>(</a:t>
                </a:r>
                <a14:m>
                  <m:oMath xmlns:m="http://schemas.openxmlformats.org/officeDocument/2006/math">
                    <m:r>
                      <a:rPr lang="zh-CN" altLang="en-US" sz="2800" i="1" smtClean="0">
                        <a:solidFill>
                          <a:srgbClr val="00B050"/>
                        </a:solidFill>
                        <a:latin typeface="Cambria Math" panose="02040503050406030204" pitchFamily="18" charset="0"/>
                      </a:rPr>
                      <m:t>𝑤</m:t>
                    </m:r>
                    <m:r>
                      <a:rPr lang="zh-CN" altLang="en-US" sz="2800" i="1" smtClean="0">
                        <a:solidFill>
                          <a:srgbClr val="00B050"/>
                        </a:solidFill>
                        <a:latin typeface="Cambria Math" panose="02040503050406030204" pitchFamily="18" charset="0"/>
                      </a:rPr>
                      <m:t>⋅</m:t>
                    </m:r>
                    <m:r>
                      <a:rPr lang="zh-CN" altLang="en-US" sz="2800" i="1" smtClean="0">
                        <a:solidFill>
                          <a:srgbClr val="00B050"/>
                        </a:solidFill>
                        <a:latin typeface="Cambria Math" panose="02040503050406030204" pitchFamily="18" charset="0"/>
                      </a:rPr>
                      <m:t>𝑥</m:t>
                    </m:r>
                    <m:r>
                      <a:rPr lang="zh-CN" altLang="en-US" sz="2800" i="1" smtClean="0">
                        <a:solidFill>
                          <a:srgbClr val="00B050"/>
                        </a:solidFill>
                        <a:latin typeface="Cambria Math" panose="02040503050406030204" pitchFamily="18" charset="0"/>
                      </a:rPr>
                      <m:t>+</m:t>
                    </m:r>
                    <m:r>
                      <a:rPr lang="zh-CN" altLang="en-US" sz="2800" i="1" smtClean="0">
                        <a:solidFill>
                          <a:srgbClr val="00B050"/>
                        </a:solidFill>
                        <a:latin typeface="Cambria Math" panose="02040503050406030204" pitchFamily="18" charset="0"/>
                      </a:rPr>
                      <m:t>𝑏</m:t>
                    </m:r>
                    <m:r>
                      <a:rPr lang="en-US" altLang="zh-CN" sz="2800" b="0" i="1" smtClean="0">
                        <a:solidFill>
                          <a:srgbClr val="00B050"/>
                        </a:solidFill>
                        <a:latin typeface="Cambria Math" panose="02040503050406030204" pitchFamily="18" charset="0"/>
                      </a:rPr>
                      <m:t>)&lt;0</m:t>
                    </m:r>
                  </m:oMath>
                </a14:m>
                <a:endParaRPr lang="zh-CN" altLang="en-US" sz="2800" dirty="0">
                  <a:solidFill>
                    <a:srgbClr val="00B050"/>
                  </a:solidFill>
                </a:endParaRPr>
              </a:p>
            </p:txBody>
          </p:sp>
        </mc:Choice>
        <mc:Fallback xmlns="">
          <p:sp>
            <p:nvSpPr>
              <p:cNvPr id="53" name="Object 2" descr="蓝色面巾纸">
                <a:extLst>
                  <a:ext uri="{FF2B5EF4-FFF2-40B4-BE49-F238E27FC236}">
                    <a16:creationId xmlns:a16="http://schemas.microsoft.com/office/drawing/2014/main" id="{E254A800-A029-4F7E-8220-BDF608BE58BE}"/>
                  </a:ext>
                </a:extLst>
              </p:cNvPr>
              <p:cNvSpPr txBox="1">
                <a:spLocks noRot="1" noChangeAspect="1" noMove="1" noResize="1" noEditPoints="1" noAdjustHandles="1" noChangeArrowheads="1" noChangeShapeType="1" noTextEdit="1"/>
              </p:cNvSpPr>
              <p:nvPr/>
            </p:nvSpPr>
            <p:spPr bwMode="auto">
              <a:xfrm>
                <a:off x="3294063" y="5475286"/>
                <a:ext cx="2614613" cy="465138"/>
              </a:xfrm>
              <a:prstGeom prst="rect">
                <a:avLst/>
              </a:prstGeom>
              <a:blipFill>
                <a:blip r:embed="rId8"/>
                <a:stretch>
                  <a:fillRect l="-4831" t="-10811" b="-54054"/>
                </a:stretch>
              </a:blipFill>
            </p:spPr>
            <p:txBody>
              <a:bodyPr/>
              <a:lstStyle/>
              <a:p>
                <a:r>
                  <a:rPr lang="en-US">
                    <a:noFill/>
                  </a:rPr>
                  <a:t> </a:t>
                </a:r>
              </a:p>
            </p:txBody>
          </p:sp>
        </mc:Fallback>
      </mc:AlternateContent>
      <p:cxnSp>
        <p:nvCxnSpPr>
          <p:cNvPr id="54" name="直接箭头连接符 53">
            <a:extLst>
              <a:ext uri="{FF2B5EF4-FFF2-40B4-BE49-F238E27FC236}">
                <a16:creationId xmlns:a16="http://schemas.microsoft.com/office/drawing/2014/main" id="{684F3018-F43F-45A2-8F6F-19A0A15A4760}"/>
              </a:ext>
            </a:extLst>
          </p:cNvPr>
          <p:cNvCxnSpPr>
            <a:cxnSpLocks/>
          </p:cNvCxnSpPr>
          <p:nvPr/>
        </p:nvCxnSpPr>
        <p:spPr>
          <a:xfrm flipV="1">
            <a:off x="4120289" y="4175579"/>
            <a:ext cx="984912" cy="989016"/>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连接符: 曲线 54">
            <a:extLst>
              <a:ext uri="{FF2B5EF4-FFF2-40B4-BE49-F238E27FC236}">
                <a16:creationId xmlns:a16="http://schemas.microsoft.com/office/drawing/2014/main" id="{32FFB91C-06E4-4A60-BD63-392A6891ED5C}"/>
              </a:ext>
            </a:extLst>
          </p:cNvPr>
          <p:cNvCxnSpPr>
            <a:cxnSpLocks/>
          </p:cNvCxnSpPr>
          <p:nvPr/>
        </p:nvCxnSpPr>
        <p:spPr>
          <a:xfrm rot="16200000" flipV="1">
            <a:off x="4479750" y="5002388"/>
            <a:ext cx="510280" cy="325780"/>
          </a:xfrm>
          <a:prstGeom prst="curved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9064AC82-C791-4963-A19E-0CA6A53A48F7}"/>
              </a:ext>
            </a:extLst>
          </p:cNvPr>
          <p:cNvSpPr txBox="1"/>
          <p:nvPr/>
        </p:nvSpPr>
        <p:spPr>
          <a:xfrm>
            <a:off x="7251724" y="3444875"/>
            <a:ext cx="1664306" cy="461665"/>
          </a:xfrm>
          <a:prstGeom prst="rect">
            <a:avLst/>
          </a:prstGeom>
          <a:noFill/>
        </p:spPr>
        <p:txBody>
          <a:bodyPr wrap="square" rtlCol="0">
            <a:spAutoFit/>
          </a:bodyPr>
          <a:lstStyle/>
          <a:p>
            <a:r>
              <a:rPr lang="zh-CN" altLang="en-US" sz="2400" b="1" dirty="0">
                <a:solidFill>
                  <a:srgbClr val="FF0000"/>
                </a:solidFill>
              </a:rPr>
              <a:t>正例</a:t>
            </a:r>
          </a:p>
        </p:txBody>
      </p:sp>
      <p:sp>
        <p:nvSpPr>
          <p:cNvPr id="62" name="文本框 61">
            <a:extLst>
              <a:ext uri="{FF2B5EF4-FFF2-40B4-BE49-F238E27FC236}">
                <a16:creationId xmlns:a16="http://schemas.microsoft.com/office/drawing/2014/main" id="{1F5E3E7E-F331-48D7-A2D4-86BFA410D887}"/>
              </a:ext>
            </a:extLst>
          </p:cNvPr>
          <p:cNvSpPr txBox="1"/>
          <p:nvPr/>
        </p:nvSpPr>
        <p:spPr>
          <a:xfrm>
            <a:off x="2012344" y="3395389"/>
            <a:ext cx="1664306" cy="461665"/>
          </a:xfrm>
          <a:prstGeom prst="rect">
            <a:avLst/>
          </a:prstGeom>
          <a:noFill/>
        </p:spPr>
        <p:txBody>
          <a:bodyPr wrap="square" rtlCol="0">
            <a:spAutoFit/>
          </a:bodyPr>
          <a:lstStyle/>
          <a:p>
            <a:r>
              <a:rPr lang="zh-CN" altLang="en-US" sz="2400" b="1" dirty="0">
                <a:solidFill>
                  <a:srgbClr val="E6AF00"/>
                </a:solidFill>
              </a:rPr>
              <a:t>负例</a:t>
            </a:r>
          </a:p>
        </p:txBody>
      </p:sp>
    </p:spTree>
    <p:extLst>
      <p:ext uri="{BB962C8B-B14F-4D97-AF65-F5344CB8AC3E}">
        <p14:creationId xmlns:p14="http://schemas.microsoft.com/office/powerpoint/2010/main" val="149391868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函数间隔</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0" dirty="0"/>
                  <a:t>Margin </a:t>
                </a:r>
                <a14:m>
                  <m:oMath xmlns:m="http://schemas.openxmlformats.org/officeDocument/2006/math">
                    <m:r>
                      <m:rPr>
                        <m:sty m:val="p"/>
                      </m:rPr>
                      <a:rPr lang="en-US" b="0" i="1" smtClean="0">
                        <a:latin typeface="Cambria Math" panose="02040503050406030204" pitchFamily="18" charset="0"/>
                      </a:rPr>
                      <m:t>γ</m:t>
                    </m:r>
                  </m:oMath>
                </a14:m>
                <a:r>
                  <a:rPr lang="en-US" b="0" dirty="0"/>
                  <a:t> = </a:t>
                </a:r>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0" i="1" smtClean="0">
                                <a:latin typeface="Cambria Math" panose="02040503050406030204" pitchFamily="18" charset="0"/>
                              </a:rPr>
                              <m:t>𝑖</m:t>
                            </m:r>
                          </m:lim>
                        </m:limLow>
                      </m:fName>
                      <m:e>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altLang="zh-CN"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𝑤</m:t>
                                </m:r>
                              </m:e>
                              <m:sup>
                                <m:r>
                                  <a:rPr lang="en-US" i="1">
                                    <a:latin typeface="Cambria Math" panose="02040503050406030204" pitchFamily="18" charset="0"/>
                                  </a:rPr>
                                  <m:t>𝑇</m:t>
                                </m:r>
                              </m:sup>
                            </m:sSup>
                            <m:sSub>
                              <m:sSubPr>
                                <m:ctrlPr>
                                  <a:rPr lang="en-US" b="0"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𝑖</m:t>
                                </m:r>
                              </m:sub>
                            </m:sSub>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b</m:t>
                            </m:r>
                            <m:r>
                              <a:rPr lang="en-US" altLang="zh-CN" b="0" i="1" smtClean="0">
                                <a:latin typeface="Cambria Math" panose="02040503050406030204" pitchFamily="18" charset="0"/>
                              </a:rPr>
                              <m:t>)</m:t>
                            </m:r>
                          </m:num>
                          <m:den>
                            <m:rad>
                              <m:radPr>
                                <m:degHide m:val="on"/>
                                <m:ctrlPr>
                                  <a:rPr lang="en-US" b="0" i="1" smtClean="0">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𝑤</m:t>
                                    </m:r>
                                  </m:e>
                                  <m:sup>
                                    <m:r>
                                      <a:rPr lang="en-US" i="1">
                                        <a:latin typeface="Cambria Math" panose="02040503050406030204" pitchFamily="18" charset="0"/>
                                      </a:rPr>
                                      <m:t>𝑇</m:t>
                                    </m:r>
                                  </m:sup>
                                </m:sSup>
                                <m:r>
                                  <a:rPr lang="en-US" i="1">
                                    <a:latin typeface="Cambria Math" panose="02040503050406030204" pitchFamily="18" charset="0"/>
                                  </a:rPr>
                                  <m:t>𝑤</m:t>
                                </m:r>
                              </m:e>
                            </m:rad>
                          </m:den>
                        </m:f>
                      </m:e>
                    </m:func>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grpSp>
        <p:nvGrpSpPr>
          <p:cNvPr id="7" name="Group 6"/>
          <p:cNvGrpSpPr/>
          <p:nvPr/>
        </p:nvGrpSpPr>
        <p:grpSpPr>
          <a:xfrm>
            <a:off x="2356022" y="2741748"/>
            <a:ext cx="4366053" cy="3566981"/>
            <a:chOff x="2848232" y="2552362"/>
            <a:chExt cx="4366053" cy="3566981"/>
          </a:xfrm>
        </p:grpSpPr>
        <p:cxnSp>
          <p:nvCxnSpPr>
            <p:cNvPr id="8" name="Straight Arrow Connector 7"/>
            <p:cNvCxnSpPr/>
            <p:nvPr/>
          </p:nvCxnSpPr>
          <p:spPr>
            <a:xfrm flipV="1">
              <a:off x="3204519" y="5750011"/>
              <a:ext cx="37811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3204519" y="2636108"/>
              <a:ext cx="0" cy="311390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731741" y="4357816"/>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398109" y="4123038"/>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748217" y="3911641"/>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118920" y="4142300"/>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3958281" y="3364130"/>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3468130" y="4760804"/>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782063" y="3497327"/>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258963" y="3669352"/>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247502" y="4580317"/>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9" name="Rectangle 18"/>
            <p:cNvSpPr/>
            <p:nvPr/>
          </p:nvSpPr>
          <p:spPr>
            <a:xfrm>
              <a:off x="5962753" y="4443157"/>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0" name="Rectangle 19"/>
            <p:cNvSpPr/>
            <p:nvPr/>
          </p:nvSpPr>
          <p:spPr>
            <a:xfrm>
              <a:off x="5394136" y="5399903"/>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1" name="Rectangle 20"/>
            <p:cNvSpPr/>
            <p:nvPr/>
          </p:nvSpPr>
          <p:spPr>
            <a:xfrm>
              <a:off x="4714924" y="5373858"/>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2" name="TextBox 21"/>
            <p:cNvSpPr txBox="1"/>
            <p:nvPr/>
          </p:nvSpPr>
          <p:spPr>
            <a:xfrm>
              <a:off x="2848232" y="2552362"/>
              <a:ext cx="551936" cy="369332"/>
            </a:xfrm>
            <a:prstGeom prst="rect">
              <a:avLst/>
            </a:prstGeom>
            <a:noFill/>
          </p:spPr>
          <p:txBody>
            <a:bodyPr wrap="square" rtlCol="0">
              <a:spAutoFit/>
            </a:bodyPr>
            <a:lstStyle/>
            <a:p>
              <a:r>
                <a:rPr lang="en-US" dirty="0"/>
                <a:t>Y</a:t>
              </a:r>
            </a:p>
          </p:txBody>
        </p:sp>
        <p:sp>
          <p:nvSpPr>
            <p:cNvPr id="23" name="TextBox 22"/>
            <p:cNvSpPr txBox="1"/>
            <p:nvPr/>
          </p:nvSpPr>
          <p:spPr>
            <a:xfrm>
              <a:off x="6662349" y="5750011"/>
              <a:ext cx="551936" cy="369332"/>
            </a:xfrm>
            <a:prstGeom prst="rect">
              <a:avLst/>
            </a:prstGeom>
            <a:noFill/>
          </p:spPr>
          <p:txBody>
            <a:bodyPr wrap="square" rtlCol="0">
              <a:spAutoFit/>
            </a:bodyPr>
            <a:lstStyle/>
            <a:p>
              <a:r>
                <a:rPr lang="en-US" dirty="0"/>
                <a:t>X</a:t>
              </a:r>
            </a:p>
          </p:txBody>
        </p:sp>
        <p:sp>
          <p:nvSpPr>
            <p:cNvPr id="24" name="Oval 23"/>
            <p:cNvSpPr/>
            <p:nvPr/>
          </p:nvSpPr>
          <p:spPr>
            <a:xfrm>
              <a:off x="3606115" y="3553077"/>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4398594" y="3312395"/>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3748217" y="3111941"/>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4574881" y="3977645"/>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3335761" y="3288335"/>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3274824" y="3765651"/>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5176039" y="3322889"/>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2" name="Straight Connector 31"/>
          <p:cNvCxnSpPr/>
          <p:nvPr/>
        </p:nvCxnSpPr>
        <p:spPr>
          <a:xfrm flipV="1">
            <a:off x="2988620" y="3825184"/>
            <a:ext cx="2335276" cy="18879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angle 32"/>
              <p:cNvSpPr/>
              <p:nvPr/>
            </p:nvSpPr>
            <p:spPr>
              <a:xfrm>
                <a:off x="5251685" y="3618391"/>
                <a:ext cx="1525610" cy="3976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𝑤</m:t>
                          </m:r>
                        </m:e>
                        <m:sub/>
                        <m:sup>
                          <m:r>
                            <a:rPr lang="en-US" b="0" i="1" smtClean="0">
                              <a:solidFill>
                                <a:schemeClr val="tx1"/>
                              </a:solidFill>
                              <a:latin typeface="Cambria Math" panose="02040503050406030204" pitchFamily="18" charset="0"/>
                            </a:rPr>
                            <m:t>𝑇</m:t>
                          </m:r>
                        </m:sup>
                      </m:sSubSup>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r>
                        <m:rPr>
                          <m:sty m:val="p"/>
                        </m:rPr>
                        <a:rPr lang="en-US" b="0" i="1" smtClean="0">
                          <a:solidFill>
                            <a:schemeClr val="tx1"/>
                          </a:solidFill>
                          <a:latin typeface="Cambria Math" panose="02040503050406030204" pitchFamily="18" charset="0"/>
                        </a:rPr>
                        <m:t>b</m:t>
                      </m:r>
                      <m:r>
                        <a:rPr lang="en-US" b="0" i="1" smtClean="0">
                          <a:solidFill>
                            <a:schemeClr val="tx1"/>
                          </a:solidFill>
                          <a:latin typeface="Cambria Math" panose="02040503050406030204" pitchFamily="18" charset="0"/>
                        </a:rPr>
                        <m:t>=0</m:t>
                      </m:r>
                    </m:oMath>
                  </m:oMathPara>
                </a14:m>
                <a:endParaRPr lang="en-US" dirty="0">
                  <a:solidFill>
                    <a:schemeClr val="tx1"/>
                  </a:solidFill>
                </a:endParaRPr>
              </a:p>
            </p:txBody>
          </p:sp>
        </mc:Choice>
        <mc:Fallback xmlns="">
          <p:sp>
            <p:nvSpPr>
              <p:cNvPr id="33" name="Rectangle 32"/>
              <p:cNvSpPr>
                <a:spLocks noRot="1" noChangeAspect="1" noMove="1" noResize="1" noEditPoints="1" noAdjustHandles="1" noChangeArrowheads="1" noChangeShapeType="1" noTextEdit="1"/>
              </p:cNvSpPr>
              <p:nvPr/>
            </p:nvSpPr>
            <p:spPr>
              <a:xfrm>
                <a:off x="5251685" y="3618391"/>
                <a:ext cx="1525610" cy="39767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3727471" y="2867269"/>
                <a:ext cx="1525610" cy="3976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𝑤</m:t>
                          </m:r>
                        </m:e>
                        <m:sub/>
                        <m:sup>
                          <m:r>
                            <a:rPr lang="en-US" b="0" i="1" smtClean="0">
                              <a:solidFill>
                                <a:schemeClr val="tx1"/>
                              </a:solidFill>
                              <a:latin typeface="Cambria Math" panose="02040503050406030204" pitchFamily="18" charset="0"/>
                            </a:rPr>
                            <m:t>𝑇</m:t>
                          </m:r>
                        </m:sup>
                      </m:sSubSup>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r>
                        <m:rPr>
                          <m:sty m:val="p"/>
                        </m:rPr>
                        <a:rPr lang="en-US" b="0" i="1" smtClean="0">
                          <a:solidFill>
                            <a:schemeClr val="tx1"/>
                          </a:solidFill>
                          <a:latin typeface="Cambria Math" panose="02040503050406030204" pitchFamily="18" charset="0"/>
                        </a:rPr>
                        <m:t>b</m:t>
                      </m:r>
                      <m:r>
                        <a:rPr lang="en-US" b="0" i="1" smtClean="0">
                          <a:solidFill>
                            <a:schemeClr val="tx1"/>
                          </a:solidFill>
                          <a:latin typeface="Cambria Math" panose="02040503050406030204" pitchFamily="18" charset="0"/>
                        </a:rPr>
                        <m:t>&gt;0</m:t>
                      </m:r>
                    </m:oMath>
                  </m:oMathPara>
                </a14:m>
                <a:endParaRPr lang="en-US" dirty="0">
                  <a:solidFill>
                    <a:schemeClr val="tx1"/>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3727471" y="2867269"/>
                <a:ext cx="1525610" cy="39767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6109394" y="4513682"/>
                <a:ext cx="1525610" cy="3976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𝑤</m:t>
                          </m:r>
                        </m:e>
                        <m:sub/>
                        <m:sup>
                          <m:r>
                            <a:rPr lang="en-US" b="0" i="1" smtClean="0">
                              <a:solidFill>
                                <a:schemeClr val="tx1"/>
                              </a:solidFill>
                              <a:latin typeface="Cambria Math" panose="02040503050406030204" pitchFamily="18" charset="0"/>
                            </a:rPr>
                            <m:t>𝑇</m:t>
                          </m:r>
                        </m:sup>
                      </m:sSubSup>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r>
                        <m:rPr>
                          <m:sty m:val="p"/>
                        </m:rPr>
                        <a:rPr lang="en-US" b="0" i="1" smtClean="0">
                          <a:solidFill>
                            <a:schemeClr val="tx1"/>
                          </a:solidFill>
                          <a:latin typeface="Cambria Math" panose="02040503050406030204" pitchFamily="18" charset="0"/>
                        </a:rPr>
                        <m:t>b</m:t>
                      </m:r>
                      <m:r>
                        <a:rPr lang="en-US" b="0" i="1" smtClean="0">
                          <a:solidFill>
                            <a:schemeClr val="tx1"/>
                          </a:solidFill>
                          <a:latin typeface="Cambria Math" panose="02040503050406030204" pitchFamily="18" charset="0"/>
                        </a:rPr>
                        <m:t>&lt;0</m:t>
                      </m:r>
                    </m:oMath>
                  </m:oMathPara>
                </a14:m>
                <a:endParaRPr lang="en-US" dirty="0">
                  <a:solidFill>
                    <a:schemeClr val="tx1"/>
                  </a:solidFill>
                </a:endParaRPr>
              </a:p>
            </p:txBody>
          </p:sp>
        </mc:Choice>
        <mc:Fallback xmlns="">
          <p:sp>
            <p:nvSpPr>
              <p:cNvPr id="35" name="Rectangle 34"/>
              <p:cNvSpPr>
                <a:spLocks noRot="1" noChangeAspect="1" noMove="1" noResize="1" noEditPoints="1" noAdjustHandles="1" noChangeArrowheads="1" noChangeShapeType="1" noTextEdit="1"/>
              </p:cNvSpPr>
              <p:nvPr/>
            </p:nvSpPr>
            <p:spPr>
              <a:xfrm>
                <a:off x="6109394" y="4513682"/>
                <a:ext cx="1525610" cy="397673"/>
              </a:xfrm>
              <a:prstGeom prst="rect">
                <a:avLst/>
              </a:prstGeom>
              <a:blipFill>
                <a:blip r:embed="rId5"/>
                <a:stretch>
                  <a:fillRect/>
                </a:stretch>
              </a:blipFill>
            </p:spPr>
            <p:txBody>
              <a:bodyPr/>
              <a:lstStyle/>
              <a:p>
                <a:r>
                  <a:rPr lang="en-US">
                    <a:noFill/>
                  </a:rPr>
                  <a:t> </a:t>
                </a:r>
              </a:p>
            </p:txBody>
          </p:sp>
        </mc:Fallback>
      </mc:AlternateContent>
      <p:grpSp>
        <p:nvGrpSpPr>
          <p:cNvPr id="36" name="Group 35"/>
          <p:cNvGrpSpPr/>
          <p:nvPr/>
        </p:nvGrpSpPr>
        <p:grpSpPr>
          <a:xfrm>
            <a:off x="3025433" y="3621315"/>
            <a:ext cx="2098709" cy="1770099"/>
            <a:chOff x="3025433" y="3621315"/>
            <a:chExt cx="2098709" cy="1770099"/>
          </a:xfrm>
        </p:grpSpPr>
        <p:cxnSp>
          <p:nvCxnSpPr>
            <p:cNvPr id="49" name="Straight Connector 48"/>
            <p:cNvCxnSpPr>
              <a:stCxn id="13" idx="5"/>
            </p:cNvCxnSpPr>
            <p:nvPr/>
          </p:nvCxnSpPr>
          <p:spPr>
            <a:xfrm>
              <a:off x="3746244" y="4451220"/>
              <a:ext cx="336427" cy="37072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10" idx="5"/>
            </p:cNvCxnSpPr>
            <p:nvPr/>
          </p:nvCxnSpPr>
          <p:spPr>
            <a:xfrm>
              <a:off x="3359065" y="4666736"/>
              <a:ext cx="368406" cy="431029"/>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16" idx="5"/>
            </p:cNvCxnSpPr>
            <p:nvPr/>
          </p:nvCxnSpPr>
          <p:spPr>
            <a:xfrm>
              <a:off x="4409387" y="3806247"/>
              <a:ext cx="380868" cy="44694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15" idx="5"/>
            </p:cNvCxnSpPr>
            <p:nvPr/>
          </p:nvCxnSpPr>
          <p:spPr>
            <a:xfrm>
              <a:off x="3095454" y="5069724"/>
              <a:ext cx="271198" cy="32169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30" idx="5"/>
            </p:cNvCxnSpPr>
            <p:nvPr/>
          </p:nvCxnSpPr>
          <p:spPr>
            <a:xfrm>
              <a:off x="4803363" y="3631809"/>
              <a:ext cx="320779" cy="34955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25" idx="5"/>
            </p:cNvCxnSpPr>
            <p:nvPr/>
          </p:nvCxnSpPr>
          <p:spPr>
            <a:xfrm>
              <a:off x="4025918" y="3621315"/>
              <a:ext cx="636794" cy="740411"/>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a:stCxn id="27" idx="5"/>
            </p:cNvCxnSpPr>
            <p:nvPr/>
          </p:nvCxnSpPr>
          <p:spPr>
            <a:xfrm>
              <a:off x="4202205" y="4286565"/>
              <a:ext cx="227691" cy="264106"/>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12" idx="5"/>
            </p:cNvCxnSpPr>
            <p:nvPr/>
          </p:nvCxnSpPr>
          <p:spPr>
            <a:xfrm>
              <a:off x="3375541" y="4220561"/>
              <a:ext cx="627243" cy="686302"/>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17" idx="5"/>
            </p:cNvCxnSpPr>
            <p:nvPr/>
          </p:nvCxnSpPr>
          <p:spPr>
            <a:xfrm>
              <a:off x="3886287" y="3978272"/>
              <a:ext cx="500545" cy="605769"/>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11" idx="5"/>
            </p:cNvCxnSpPr>
            <p:nvPr/>
          </p:nvCxnSpPr>
          <p:spPr>
            <a:xfrm>
              <a:off x="3025433" y="4431958"/>
              <a:ext cx="624339" cy="725351"/>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cxnSp>
        <p:nvCxnSpPr>
          <p:cNvPr id="87" name="Straight Connector 86"/>
          <p:cNvCxnSpPr/>
          <p:nvPr/>
        </p:nvCxnSpPr>
        <p:spPr>
          <a:xfrm>
            <a:off x="4202205" y="4766605"/>
            <a:ext cx="699721" cy="81913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a:xfrm>
            <a:off x="3793434" y="4084925"/>
            <a:ext cx="1676414" cy="1464974"/>
            <a:chOff x="3793434" y="4084925"/>
            <a:chExt cx="1676414" cy="1464974"/>
          </a:xfrm>
        </p:grpSpPr>
        <p:cxnSp>
          <p:nvCxnSpPr>
            <p:cNvPr id="84" name="Straight Connector 83"/>
            <p:cNvCxnSpPr/>
            <p:nvPr/>
          </p:nvCxnSpPr>
          <p:spPr>
            <a:xfrm>
              <a:off x="4506799" y="4479488"/>
              <a:ext cx="236639" cy="266052"/>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3793434" y="5069724"/>
              <a:ext cx="429280" cy="48017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H="1" flipV="1">
              <a:off x="5007226" y="4084925"/>
              <a:ext cx="462622" cy="54515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5111576" y="1465261"/>
            <a:ext cx="3741241" cy="1007053"/>
            <a:chOff x="5111576" y="1465261"/>
            <a:chExt cx="3741241" cy="1007053"/>
          </a:xfrm>
        </p:grpSpPr>
        <mc:AlternateContent xmlns:mc="http://schemas.openxmlformats.org/markup-compatibility/2006" xmlns:a14="http://schemas.microsoft.com/office/drawing/2010/main">
          <mc:Choice Requires="a14">
            <p:sp>
              <p:nvSpPr>
                <p:cNvPr id="101" name="TextBox 100"/>
                <p:cNvSpPr txBox="1"/>
                <p:nvPr/>
              </p:nvSpPr>
              <p:spPr>
                <a:xfrm>
                  <a:off x="7818495" y="1864519"/>
                  <a:ext cx="1034322" cy="607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𝑤</m:t>
                                </m:r>
                              </m:e>
                              <m:sup>
                                <m:r>
                                  <a:rPr lang="en-US" b="0" i="1" smtClean="0">
                                    <a:latin typeface="Cambria Math" panose="02040503050406030204" pitchFamily="18" charset="0"/>
                                  </a:rPr>
                                  <m:t>𝑇</m:t>
                                </m:r>
                              </m:sup>
                            </m:sSup>
                            <m:r>
                              <a:rPr lang="en-US" b="0" i="1" smtClean="0">
                                <a:latin typeface="Cambria Math" panose="02040503050406030204" pitchFamily="18" charset="0"/>
                              </a:rPr>
                              <m:t>𝑥</m:t>
                            </m:r>
                            <m:r>
                              <a:rPr lang="en-US" b="0" i="1" smtClean="0">
                                <a:latin typeface="Cambria Math" panose="02040503050406030204" pitchFamily="18" charset="0"/>
                              </a:rPr>
                              <m:t>+</m:t>
                            </m:r>
                            <m:r>
                              <m:rPr>
                                <m:sty m:val="p"/>
                              </m:rPr>
                              <a:rPr lang="en-US" b="0" i="1" smtClean="0">
                                <a:latin typeface="Cambria Math" panose="02040503050406030204" pitchFamily="18" charset="0"/>
                              </a:rPr>
                              <m:t>b</m:t>
                            </m:r>
                            <m:r>
                              <a:rPr lang="en-US" b="0" i="1" smtClean="0">
                                <a:latin typeface="Cambria Math" panose="02040503050406030204" pitchFamily="18" charset="0"/>
                              </a:rPr>
                              <m:t>|</m:t>
                            </m:r>
                          </m:num>
                          <m:den>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rPr>
                                      <m:t>𝑤</m:t>
                                    </m:r>
                                  </m:e>
                                  <m:sup>
                                    <m:r>
                                      <a:rPr lang="en-US" b="0" i="1" smtClean="0">
                                        <a:latin typeface="Cambria Math" panose="02040503050406030204" pitchFamily="18" charset="0"/>
                                      </a:rPr>
                                      <m:t>𝑇</m:t>
                                    </m:r>
                                  </m:sup>
                                </m:sSup>
                                <m:r>
                                  <a:rPr lang="en-US" b="0" i="1" smtClean="0">
                                    <a:latin typeface="Cambria Math" panose="02040503050406030204" pitchFamily="18" charset="0"/>
                                  </a:rPr>
                                  <m:t>𝑤</m:t>
                                </m:r>
                              </m:e>
                            </m:rad>
                          </m:den>
                        </m:f>
                      </m:oMath>
                    </m:oMathPara>
                  </a14:m>
                  <a:endParaRPr lang="en-US" dirty="0"/>
                </a:p>
              </p:txBody>
            </p:sp>
          </mc:Choice>
          <mc:Fallback xmlns="">
            <p:sp>
              <p:nvSpPr>
                <p:cNvPr id="101" name="TextBox 100"/>
                <p:cNvSpPr txBox="1">
                  <a:spLocks noRot="1" noChangeAspect="1" noMove="1" noResize="1" noEditPoints="1" noAdjustHandles="1" noChangeArrowheads="1" noChangeShapeType="1" noTextEdit="1"/>
                </p:cNvSpPr>
                <p:nvPr/>
              </p:nvSpPr>
              <p:spPr>
                <a:xfrm>
                  <a:off x="7818495" y="1864519"/>
                  <a:ext cx="1034322" cy="607795"/>
                </a:xfrm>
                <a:prstGeom prst="rect">
                  <a:avLst/>
                </a:prstGeom>
                <a:blipFill>
                  <a:blip r:embed="rId6"/>
                  <a:stretch>
                    <a:fillRect l="-7317" r="-7317" b="-10204"/>
                  </a:stretch>
                </a:blipFill>
              </p:spPr>
              <p:txBody>
                <a:bodyPr/>
                <a:lstStyle/>
                <a:p>
                  <a:r>
                    <a:rPr lang="en-US">
                      <a:noFill/>
                    </a:rPr>
                    <a:t> </a:t>
                  </a:r>
                </a:p>
              </p:txBody>
            </p:sp>
          </mc:Fallback>
        </mc:AlternateContent>
        <p:grpSp>
          <p:nvGrpSpPr>
            <p:cNvPr id="103" name="Group 102"/>
            <p:cNvGrpSpPr/>
            <p:nvPr/>
          </p:nvGrpSpPr>
          <p:grpSpPr>
            <a:xfrm>
              <a:off x="5111576" y="1465261"/>
              <a:ext cx="3011722" cy="896289"/>
              <a:chOff x="5111576" y="1465261"/>
              <a:chExt cx="3011722" cy="896289"/>
            </a:xfrm>
          </p:grpSpPr>
          <p:sp>
            <p:nvSpPr>
              <p:cNvPr id="100" name="Rectangle 99"/>
              <p:cNvSpPr/>
              <p:nvPr/>
            </p:nvSpPr>
            <p:spPr>
              <a:xfrm>
                <a:off x="5111576" y="1992218"/>
                <a:ext cx="3011722" cy="369332"/>
              </a:xfrm>
              <a:prstGeom prst="rect">
                <a:avLst/>
              </a:prstGeom>
            </p:spPr>
            <p:txBody>
              <a:bodyPr wrap="none">
                <a:spAutoFit/>
              </a:bodyPr>
              <a:lstStyle/>
              <a:p>
                <a:r>
                  <a:rPr lang="en-US" dirty="0"/>
                  <a:t>Distance from a point to a line</a:t>
                </a:r>
              </a:p>
            </p:txBody>
          </p:sp>
          <p:pic>
            <p:nvPicPr>
              <p:cNvPr id="102" name="Picture 2" descr="https://encrypted-tbn1.gstatic.com/images?q=tbn:ANd9GcQtFSht8JzeS1QcUvRqwpkw3eT7Dt4wJhogehphQM46XBiRZtW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08278" y="1465261"/>
                <a:ext cx="399425" cy="533253"/>
              </a:xfrm>
              <a:prstGeom prst="rect">
                <a:avLst/>
              </a:prstGeom>
              <a:noFill/>
              <a:extLst>
                <a:ext uri="{909E8E84-426E-40DD-AFC4-6F175D3DCCD1}">
                  <a14:hiddenFill xmlns:a14="http://schemas.microsoft.com/office/drawing/2010/main">
                    <a:solidFill>
                      <a:srgbClr val="FFFFFF"/>
                    </a:solidFill>
                  </a14:hiddenFill>
                </a:ext>
              </a:extLst>
            </p:spPr>
          </p:pic>
        </p:grpSp>
      </p:grpSp>
      <mc:AlternateContent xmlns:mc="http://schemas.openxmlformats.org/markup-compatibility/2006" xmlns:a14="http://schemas.microsoft.com/office/drawing/2010/main">
        <mc:Choice Requires="a14">
          <p:sp>
            <p:nvSpPr>
              <p:cNvPr id="104" name="Rectangle 103"/>
              <p:cNvSpPr/>
              <p:nvPr/>
            </p:nvSpPr>
            <p:spPr>
              <a:xfrm>
                <a:off x="5908589" y="2544114"/>
                <a:ext cx="2519792" cy="369332"/>
              </a:xfrm>
              <a:prstGeom prst="rect">
                <a:avLst/>
              </a:prstGeom>
            </p:spPr>
            <p:txBody>
              <a:bodyPr wrap="none">
                <a:spAutoFit/>
              </a:bodyPr>
              <a:lstStyle/>
              <a:p>
                <a:r>
                  <a:rPr lang="en-US" b="0" dirty="0"/>
                  <a:t>Since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𝑠𝑔𝑛</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𝑤</m:t>
                            </m:r>
                          </m:e>
                          <m:sup>
                            <m:r>
                              <a:rPr lang="en-US" b="0" i="1" smtClean="0">
                                <a:latin typeface="Cambria Math" panose="02040503050406030204" pitchFamily="18" charset="0"/>
                              </a:rPr>
                              <m:t>𝑇</m:t>
                            </m:r>
                          </m:sup>
                        </m:sSup>
                        <m:r>
                          <a:rPr lang="en-US" b="0" i="1" smtClean="0">
                            <a:latin typeface="Cambria Math" panose="02040503050406030204" pitchFamily="18" charset="0"/>
                          </a:rPr>
                          <m:t>𝑥</m:t>
                        </m:r>
                        <m:r>
                          <a:rPr lang="en-US" b="0" i="1" smtClean="0">
                            <a:latin typeface="Cambria Math" panose="02040503050406030204" pitchFamily="18" charset="0"/>
                          </a:rPr>
                          <m:t>+</m:t>
                        </m:r>
                        <m:r>
                          <m:rPr>
                            <m:sty m:val="p"/>
                          </m:rPr>
                          <a:rPr lang="en-US" b="0" i="1" smtClean="0">
                            <a:latin typeface="Cambria Math" panose="02040503050406030204" pitchFamily="18" charset="0"/>
                          </a:rPr>
                          <m:t>b</m:t>
                        </m:r>
                      </m:e>
                    </m:d>
                  </m:oMath>
                </a14:m>
                <a:endParaRPr lang="en-US" dirty="0"/>
              </a:p>
            </p:txBody>
          </p:sp>
        </mc:Choice>
        <mc:Fallback xmlns="">
          <p:sp>
            <p:nvSpPr>
              <p:cNvPr id="104" name="Rectangle 103"/>
              <p:cNvSpPr>
                <a:spLocks noRot="1" noChangeAspect="1" noMove="1" noResize="1" noEditPoints="1" noAdjustHandles="1" noChangeArrowheads="1" noChangeShapeType="1" noTextEdit="1"/>
              </p:cNvSpPr>
              <p:nvPr/>
            </p:nvSpPr>
            <p:spPr>
              <a:xfrm>
                <a:off x="5908589" y="2544114"/>
                <a:ext cx="2519792" cy="369332"/>
              </a:xfrm>
              <a:prstGeom prst="rect">
                <a:avLst/>
              </a:prstGeom>
              <a:blipFill>
                <a:blip r:embed="rId8"/>
                <a:stretch>
                  <a:fillRect l="-2010" t="-3333" b="-26667"/>
                </a:stretch>
              </a:blipFill>
            </p:spPr>
            <p:txBody>
              <a:bodyPr/>
              <a:lstStyle/>
              <a:p>
                <a:r>
                  <a:rPr lang="en-US">
                    <a:noFill/>
                  </a:rPr>
                  <a:t> </a:t>
                </a:r>
              </a:p>
            </p:txBody>
          </p:sp>
        </mc:Fallback>
      </mc:AlternateContent>
      <p:grpSp>
        <p:nvGrpSpPr>
          <p:cNvPr id="38" name="Group 37"/>
          <p:cNvGrpSpPr/>
          <p:nvPr/>
        </p:nvGrpSpPr>
        <p:grpSpPr>
          <a:xfrm>
            <a:off x="5111576" y="3005187"/>
            <a:ext cx="3884280" cy="607795"/>
            <a:chOff x="5111576" y="3005187"/>
            <a:chExt cx="3884280" cy="607795"/>
          </a:xfrm>
        </p:grpSpPr>
        <mc:AlternateContent xmlns:mc="http://schemas.openxmlformats.org/markup-compatibility/2006" xmlns:a14="http://schemas.microsoft.com/office/drawing/2010/main">
          <mc:Choice Requires="a14">
            <p:sp>
              <p:nvSpPr>
                <p:cNvPr id="105" name="TextBox 104"/>
                <p:cNvSpPr txBox="1"/>
                <p:nvPr/>
              </p:nvSpPr>
              <p:spPr>
                <a:xfrm>
                  <a:off x="7782832" y="3005187"/>
                  <a:ext cx="1213024" cy="607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𝑦</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𝑤</m:t>
                                </m:r>
                              </m:e>
                              <m:sup>
                                <m:r>
                                  <a:rPr lang="en-US" b="0" i="1" smtClean="0">
                                    <a:latin typeface="Cambria Math" panose="02040503050406030204" pitchFamily="18" charset="0"/>
                                  </a:rPr>
                                  <m:t>𝑇</m:t>
                                </m:r>
                              </m:sup>
                            </m:sSup>
                            <m:r>
                              <a:rPr lang="en-US" b="0" i="1" smtClean="0">
                                <a:latin typeface="Cambria Math" panose="02040503050406030204" pitchFamily="18" charset="0"/>
                              </a:rPr>
                              <m:t>𝑥</m:t>
                            </m:r>
                            <m:r>
                              <a:rPr lang="en-US" b="0" i="1" smtClean="0">
                                <a:latin typeface="Cambria Math" panose="02040503050406030204" pitchFamily="18" charset="0"/>
                              </a:rPr>
                              <m:t>+</m:t>
                            </m:r>
                            <m:r>
                              <m:rPr>
                                <m:sty m:val="p"/>
                              </m:rPr>
                              <a:rPr lang="en-US" b="0" i="1" smtClean="0">
                                <a:latin typeface="Cambria Math" panose="02040503050406030204" pitchFamily="18" charset="0"/>
                              </a:rPr>
                              <m:t>b</m:t>
                            </m:r>
                            <m:r>
                              <a:rPr lang="en-US" b="0" i="1" smtClean="0">
                                <a:latin typeface="Cambria Math" panose="02040503050406030204" pitchFamily="18" charset="0"/>
                              </a:rPr>
                              <m:t>)</m:t>
                            </m:r>
                          </m:num>
                          <m:den>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rPr>
                                      <m:t>𝑤</m:t>
                                    </m:r>
                                  </m:e>
                                  <m:sup>
                                    <m:r>
                                      <a:rPr lang="en-US" b="0" i="1" smtClean="0">
                                        <a:latin typeface="Cambria Math" panose="02040503050406030204" pitchFamily="18" charset="0"/>
                                      </a:rPr>
                                      <m:t>𝑇</m:t>
                                    </m:r>
                                  </m:sup>
                                </m:sSup>
                                <m:r>
                                  <a:rPr lang="en-US" b="0" i="1" smtClean="0">
                                    <a:latin typeface="Cambria Math" panose="02040503050406030204" pitchFamily="18" charset="0"/>
                                  </a:rPr>
                                  <m:t>𝑤</m:t>
                                </m:r>
                              </m:e>
                            </m:rad>
                          </m:den>
                        </m:f>
                      </m:oMath>
                    </m:oMathPara>
                  </a14:m>
                  <a:endParaRPr lang="en-US" dirty="0"/>
                </a:p>
              </p:txBody>
            </p:sp>
          </mc:Choice>
          <mc:Fallback xmlns="">
            <p:sp>
              <p:nvSpPr>
                <p:cNvPr id="105" name="TextBox 104"/>
                <p:cNvSpPr txBox="1">
                  <a:spLocks noRot="1" noChangeAspect="1" noMove="1" noResize="1" noEditPoints="1" noAdjustHandles="1" noChangeArrowheads="1" noChangeShapeType="1" noTextEdit="1"/>
                </p:cNvSpPr>
                <p:nvPr/>
              </p:nvSpPr>
              <p:spPr>
                <a:xfrm>
                  <a:off x="7782832" y="3005187"/>
                  <a:ext cx="1213024" cy="607795"/>
                </a:xfrm>
                <a:prstGeom prst="rect">
                  <a:avLst/>
                </a:prstGeom>
                <a:blipFill>
                  <a:blip r:embed="rId9"/>
                  <a:stretch>
                    <a:fillRect l="-3093" r="-6186" b="-8163"/>
                  </a:stretch>
                </a:blipFill>
              </p:spPr>
              <p:txBody>
                <a:bodyPr/>
                <a:lstStyle/>
                <a:p>
                  <a:r>
                    <a:rPr lang="en-US">
                      <a:noFill/>
                    </a:rPr>
                    <a:t> </a:t>
                  </a:r>
                </a:p>
              </p:txBody>
            </p:sp>
          </mc:Fallback>
        </mc:AlternateContent>
        <p:sp>
          <p:nvSpPr>
            <p:cNvPr id="106" name="Rectangle 105"/>
            <p:cNvSpPr/>
            <p:nvPr/>
          </p:nvSpPr>
          <p:spPr>
            <a:xfrm>
              <a:off x="5111576" y="3132457"/>
              <a:ext cx="3050579" cy="369332"/>
            </a:xfrm>
            <a:prstGeom prst="rect">
              <a:avLst/>
            </a:prstGeom>
          </p:spPr>
          <p:txBody>
            <a:bodyPr wrap="none">
              <a:spAutoFit/>
            </a:bodyPr>
            <a:lstStyle/>
            <a:p>
              <a:r>
                <a:rPr lang="en-US" dirty="0"/>
                <a:t>The distance can be written as</a:t>
              </a:r>
            </a:p>
          </p:txBody>
        </p:sp>
      </p:grpSp>
      <p:pic>
        <p:nvPicPr>
          <p:cNvPr id="1026" name="Picture 2" descr="http://www.cedar-rapids.org/government/departments/police/PublishingImages/Question-Mark.jpg?Mobile=1&amp;Source=%2Fgovernment%2Fdepartments%2Fpolice%2F_layouts%2Fmobile%2Fdispform.aspx%3FList%3D62cf74f9-3aad-4eea-b56b-1b8ccdde0ec3%26View%3D5fdcbbc0-9bbd-44a5-a406-2d8fb76c0e31%26ID%3D27%26CurrentPage%3D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rot="956404">
            <a:off x="4928385" y="4905654"/>
            <a:ext cx="526372" cy="657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279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down)">
                                      <p:cBhvr>
                                        <p:cTn id="7" dur="500"/>
                                        <p:tgtEl>
                                          <p:spTgt spid="87"/>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par>
                          <p:cTn id="23" fill="hold">
                            <p:stCondLst>
                              <p:cond delay="0"/>
                            </p:stCondLst>
                            <p:childTnLst>
                              <p:par>
                                <p:cTn id="24" presetID="1" presetClass="exit" presetSubtype="0" fill="hold" nodeType="afterEffect">
                                  <p:stCondLst>
                                    <p:cond delay="0"/>
                                  </p:stCondLst>
                                  <p:childTnLst>
                                    <p:set>
                                      <p:cBhvr>
                                        <p:cTn id="25" dur="1" fill="hold">
                                          <p:stCondLst>
                                            <p:cond delay="0"/>
                                          </p:stCondLst>
                                        </p:cTn>
                                        <p:tgtEl>
                                          <p:spTgt spid="1026"/>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wipe(left)">
                                      <p:cBhvr>
                                        <p:cTn id="30" dur="500"/>
                                        <p:tgtEl>
                                          <p:spTgt spid="36"/>
                                        </p:tgtEl>
                                      </p:cBhvr>
                                    </p:animEffect>
                                  </p:childTnLst>
                                </p:cTn>
                              </p:par>
                              <p:par>
                                <p:cTn id="31" presetID="22" presetClass="entr" presetSubtype="4"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down)">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间隔最大化</a:t>
            </a:r>
          </a:p>
        </p:txBody>
      </p:sp>
      <p:sp>
        <p:nvSpPr>
          <p:cNvPr id="16388" name="灯片编号占位符 3"/>
          <p:cNvSpPr>
            <a:spLocks noGrp="1"/>
          </p:cNvSpPr>
          <p:nvPr>
            <p:ph type="sldNum" sz="quarter" idx="12"/>
          </p:nvPr>
        </p:nvSpPr>
        <p:spPr>
          <a:noFill/>
        </p:spPr>
        <p:txBody>
          <a:bodyPr/>
          <a:lstStyle/>
          <a:p>
            <a:fld id="{B1B32D19-DC3B-47F4-8AA4-ADC6E3913345}" type="slidenum">
              <a:rPr lang="en-US" altLang="zh-CN" smtClean="0">
                <a:ea typeface="黑体" pitchFamily="49" charset="-122"/>
              </a:rPr>
              <a:pPr/>
              <a:t>17</a:t>
            </a:fld>
            <a:endParaRPr lang="en-US" altLang="zh-CN">
              <a:ea typeface="黑体" pitchFamily="49" charset="-122"/>
            </a:endParaRPr>
          </a:p>
        </p:txBody>
      </p:sp>
      <p:graphicFrame>
        <p:nvGraphicFramePr>
          <p:cNvPr id="16386" name="Object 2" descr="羊皮纸"/>
          <p:cNvGraphicFramePr>
            <a:graphicFrameLocks noChangeAspect="1"/>
          </p:cNvGraphicFramePr>
          <p:nvPr/>
        </p:nvGraphicFramePr>
        <p:xfrm>
          <a:off x="1884363" y="1578895"/>
          <a:ext cx="5608637" cy="4606925"/>
        </p:xfrm>
        <a:graphic>
          <a:graphicData uri="http://schemas.openxmlformats.org/presentationml/2006/ole">
            <mc:AlternateContent xmlns:mc="http://schemas.openxmlformats.org/markup-compatibility/2006">
              <mc:Choice xmlns:v="urn:schemas-microsoft-com:vml" Requires="v">
                <p:oleObj name="公式" r:id="rId3" imgW="2425680" imgH="1993680" progId="Equation.3">
                  <p:embed/>
                </p:oleObj>
              </mc:Choice>
              <mc:Fallback>
                <p:oleObj name="公式" r:id="rId3" imgW="2425680" imgH="19936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4363" y="1578895"/>
                        <a:ext cx="5608637" cy="4606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内容占位符 2"/>
          <p:cNvSpPr>
            <a:spLocks noGrp="1"/>
          </p:cNvSpPr>
          <p:nvPr>
            <p:ph idx="1"/>
          </p:nvPr>
        </p:nvSpPr>
        <p:spPr>
          <a:xfrm>
            <a:off x="685800" y="831256"/>
            <a:ext cx="8148638" cy="5827712"/>
          </a:xfrm>
        </p:spPr>
        <p:txBody>
          <a:bodyPr>
            <a:normAutofit/>
          </a:bodyPr>
          <a:lstStyle/>
          <a:p>
            <a:r>
              <a:rPr lang="zh-CN" altLang="en-US" sz="3200" b="1" dirty="0"/>
              <a:t>由于函数间隔是可缩放的，成比例变化不影响最优化问题，所以可取       </a:t>
            </a:r>
            <a:endParaRPr lang="en-US" altLang="zh-CN" sz="3200" b="1" dirty="0"/>
          </a:p>
          <a:p>
            <a:endParaRPr lang="en-US" altLang="zh-CN" sz="3200" b="1" dirty="0"/>
          </a:p>
          <a:p>
            <a:r>
              <a:rPr lang="zh-CN" altLang="en-US" sz="3200" b="1" dirty="0"/>
              <a:t>同时，最大化      与最小化        是等价的，于是问题转化为如下的凸二次规划问题：</a:t>
            </a:r>
            <a:endParaRPr lang="en-US" altLang="zh-CN" sz="3200" b="1" dirty="0"/>
          </a:p>
          <a:p>
            <a:endParaRPr lang="en-US" altLang="zh-CN" sz="3200" b="1" dirty="0"/>
          </a:p>
          <a:p>
            <a:endParaRPr lang="en-US" altLang="zh-CN" sz="3200" b="1" dirty="0"/>
          </a:p>
          <a:p>
            <a:endParaRPr lang="en-US" altLang="zh-CN" sz="3200" b="1" dirty="0"/>
          </a:p>
          <a:p>
            <a:endParaRPr lang="en-US" altLang="zh-CN" sz="3200" b="1" dirty="0"/>
          </a:p>
          <a:p>
            <a:r>
              <a:rPr lang="zh-CN" altLang="en-US" sz="3200" b="1" dirty="0"/>
              <a:t>使上式等式成立的点构成了支持向量。</a:t>
            </a:r>
          </a:p>
        </p:txBody>
      </p:sp>
      <p:sp>
        <p:nvSpPr>
          <p:cNvPr id="17415" name="灯片编号占位符 3"/>
          <p:cNvSpPr>
            <a:spLocks noGrp="1"/>
          </p:cNvSpPr>
          <p:nvPr>
            <p:ph type="sldNum" sz="quarter" idx="12"/>
          </p:nvPr>
        </p:nvSpPr>
        <p:spPr>
          <a:noFill/>
        </p:spPr>
        <p:txBody>
          <a:bodyPr/>
          <a:lstStyle/>
          <a:p>
            <a:fld id="{276706E2-B5B6-4931-8A87-0DC88D995155}" type="slidenum">
              <a:rPr lang="en-US" altLang="zh-CN" smtClean="0">
                <a:ea typeface="黑体" pitchFamily="49" charset="-122"/>
              </a:rPr>
              <a:pPr/>
              <a:t>18</a:t>
            </a:fld>
            <a:endParaRPr lang="en-US" altLang="zh-CN">
              <a:ea typeface="黑体" pitchFamily="49" charset="-122"/>
            </a:endParaRPr>
          </a:p>
        </p:txBody>
      </p:sp>
      <p:graphicFrame>
        <p:nvGraphicFramePr>
          <p:cNvPr id="17410" name="Object 2" descr="羊皮纸"/>
          <p:cNvGraphicFramePr>
            <a:graphicFrameLocks noChangeAspect="1"/>
          </p:cNvGraphicFramePr>
          <p:nvPr>
            <p:extLst>
              <p:ext uri="{D42A27DB-BD31-4B8C-83A1-F6EECF244321}">
                <p14:modId xmlns:p14="http://schemas.microsoft.com/office/powerpoint/2010/main" val="3150165829"/>
              </p:ext>
            </p:extLst>
          </p:nvPr>
        </p:nvGraphicFramePr>
        <p:xfrm>
          <a:off x="6048602" y="1254139"/>
          <a:ext cx="639581" cy="590522"/>
        </p:xfrm>
        <a:graphic>
          <a:graphicData uri="http://schemas.openxmlformats.org/presentationml/2006/ole">
            <mc:AlternateContent xmlns:mc="http://schemas.openxmlformats.org/markup-compatibility/2006">
              <mc:Choice xmlns:v="urn:schemas-microsoft-com:vml" Requires="v">
                <p:oleObj name="公式" r:id="rId3" imgW="330120" imgH="304560" progId="Equation.3">
                  <p:embed/>
                </p:oleObj>
              </mc:Choice>
              <mc:Fallback>
                <p:oleObj name="公式" r:id="rId3" imgW="330120" imgH="30456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602" y="1254139"/>
                        <a:ext cx="639581" cy="590522"/>
                      </a:xfrm>
                      <a:prstGeom prst="rect">
                        <a:avLst/>
                      </a:prstGeom>
                      <a:noFill/>
                    </p:spPr>
                  </p:pic>
                </p:oleObj>
              </mc:Fallback>
            </mc:AlternateContent>
          </a:graphicData>
        </a:graphic>
      </p:graphicFrame>
      <p:graphicFrame>
        <p:nvGraphicFramePr>
          <p:cNvPr id="17411" name="Object 2" descr="羊皮纸"/>
          <p:cNvGraphicFramePr>
            <a:graphicFrameLocks noChangeAspect="1"/>
          </p:cNvGraphicFramePr>
          <p:nvPr>
            <p:extLst>
              <p:ext uri="{D42A27DB-BD31-4B8C-83A1-F6EECF244321}">
                <p14:modId xmlns:p14="http://schemas.microsoft.com/office/powerpoint/2010/main" val="1288545362"/>
              </p:ext>
            </p:extLst>
          </p:nvPr>
        </p:nvGraphicFramePr>
        <p:xfrm>
          <a:off x="3635375" y="2380664"/>
          <a:ext cx="455613" cy="641350"/>
        </p:xfrm>
        <a:graphic>
          <a:graphicData uri="http://schemas.openxmlformats.org/presentationml/2006/ole">
            <mc:AlternateContent xmlns:mc="http://schemas.openxmlformats.org/markup-compatibility/2006">
              <mc:Choice xmlns:v="urn:schemas-microsoft-com:vml" Requires="v">
                <p:oleObj name="公式" r:id="rId5" imgW="190440" imgH="266400" progId="Equation.3">
                  <p:embed/>
                </p:oleObj>
              </mc:Choice>
              <mc:Fallback>
                <p:oleObj name="公式" r:id="rId5" imgW="190440" imgH="2664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5375" y="2380664"/>
                        <a:ext cx="455613"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2" name="Object 2" descr="羊皮纸"/>
          <p:cNvGraphicFramePr>
            <a:graphicFrameLocks noChangeAspect="1"/>
          </p:cNvGraphicFramePr>
          <p:nvPr>
            <p:extLst>
              <p:ext uri="{D42A27DB-BD31-4B8C-83A1-F6EECF244321}">
                <p14:modId xmlns:p14="http://schemas.microsoft.com/office/powerpoint/2010/main" val="2550558261"/>
              </p:ext>
            </p:extLst>
          </p:nvPr>
        </p:nvGraphicFramePr>
        <p:xfrm>
          <a:off x="5750830" y="2465617"/>
          <a:ext cx="779463" cy="573088"/>
        </p:xfrm>
        <a:graphic>
          <a:graphicData uri="http://schemas.openxmlformats.org/presentationml/2006/ole">
            <mc:AlternateContent xmlns:mc="http://schemas.openxmlformats.org/markup-compatibility/2006">
              <mc:Choice xmlns:v="urn:schemas-microsoft-com:vml" Requires="v">
                <p:oleObj name="公式" r:id="rId7" imgW="380880" imgH="279360" progId="Equation.3">
                  <p:embed/>
                </p:oleObj>
              </mc:Choice>
              <mc:Fallback>
                <p:oleObj name="公式" r:id="rId7" imgW="380880" imgH="27936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50830" y="2465617"/>
                        <a:ext cx="779463" cy="573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组合 3">
            <a:extLst>
              <a:ext uri="{FF2B5EF4-FFF2-40B4-BE49-F238E27FC236}">
                <a16:creationId xmlns:a16="http://schemas.microsoft.com/office/drawing/2014/main" id="{F849ECEE-6FD7-DA37-49C0-AF88692939FF}"/>
              </a:ext>
            </a:extLst>
          </p:cNvPr>
          <p:cNvGrpSpPr/>
          <p:nvPr/>
        </p:nvGrpSpPr>
        <p:grpSpPr>
          <a:xfrm>
            <a:off x="1327113" y="3745112"/>
            <a:ext cx="6443431" cy="1626586"/>
            <a:chOff x="1327113" y="3745112"/>
            <a:chExt cx="6443431" cy="1626586"/>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4A7A74F-9A30-2B4D-36D4-F012000A109A}"/>
                    </a:ext>
                  </a:extLst>
                </p:cNvPr>
                <p:cNvSpPr txBox="1"/>
                <p:nvPr/>
              </p:nvSpPr>
              <p:spPr>
                <a:xfrm>
                  <a:off x="1327113" y="3745112"/>
                  <a:ext cx="1818383" cy="819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lim>
                            </m:limLow>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e>
                        </m:func>
                      </m:oMath>
                    </m:oMathPara>
                  </a14:m>
                  <a:endParaRPr kumimoji="1" lang="zh-CN" altLang="en-US" sz="2800" dirty="0"/>
                </a:p>
              </p:txBody>
            </p:sp>
          </mc:Choice>
          <mc:Fallback xmlns="">
            <p:sp>
              <p:nvSpPr>
                <p:cNvPr id="2" name="文本框 1">
                  <a:extLst>
                    <a:ext uri="{FF2B5EF4-FFF2-40B4-BE49-F238E27FC236}">
                      <a16:creationId xmlns:a16="http://schemas.microsoft.com/office/drawing/2014/main" id="{E4A7A74F-9A30-2B4D-36D4-F012000A109A}"/>
                    </a:ext>
                  </a:extLst>
                </p:cNvPr>
                <p:cNvSpPr txBox="1">
                  <a:spLocks noRot="1" noChangeAspect="1" noMove="1" noResize="1" noEditPoints="1" noAdjustHandles="1" noChangeArrowheads="1" noChangeShapeType="1" noTextEdit="1"/>
                </p:cNvSpPr>
                <p:nvPr/>
              </p:nvSpPr>
              <p:spPr>
                <a:xfrm>
                  <a:off x="1327113" y="3745112"/>
                  <a:ext cx="1818383" cy="819199"/>
                </a:xfrm>
                <a:prstGeom prst="rect">
                  <a:avLst/>
                </a:prstGeom>
                <a:blipFill>
                  <a:blip r:embed="rId9"/>
                  <a:stretch>
                    <a:fillRect l="-4167" t="-1515" r="-1389"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7840250-FB34-D77F-CF93-EE25CA94BC82}"/>
                    </a:ext>
                  </a:extLst>
                </p:cNvPr>
                <p:cNvSpPr txBox="1"/>
                <p:nvPr/>
              </p:nvSpPr>
              <p:spPr>
                <a:xfrm>
                  <a:off x="1327113" y="4940811"/>
                  <a:ext cx="644343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𝑠</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𝑡</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≥1,</m:t>
                        </m:r>
                        <m:r>
                          <a:rPr kumimoji="1" lang="zh-CN" altLang="en-US" sz="2800" b="0" i="1" smtClean="0">
                            <a:latin typeface="Cambria Math" panose="02040503050406030204" pitchFamily="18" charset="0"/>
                            <a:ea typeface="Cambria Math" panose="02040503050406030204" pitchFamily="18" charset="0"/>
                          </a:rPr>
                          <m:t>   </m:t>
                        </m:r>
                        <m:r>
                          <a:rPr kumimoji="1" lang="en-US" altLang="zh-CN" sz="2800" b="0" i="1" smtClean="0">
                            <a:latin typeface="Cambria Math" panose="02040503050406030204" pitchFamily="18" charset="0"/>
                            <a:ea typeface="Cambria Math" panose="02040503050406030204" pitchFamily="18" charset="0"/>
                          </a:rPr>
                          <m:t>𝑖</m:t>
                        </m:r>
                        <m:r>
                          <a:rPr kumimoji="1" lang="en-US" altLang="zh-CN" sz="2800" b="0" i="1" smtClean="0">
                            <a:latin typeface="Cambria Math" panose="02040503050406030204" pitchFamily="18" charset="0"/>
                            <a:ea typeface="Cambria Math" panose="02040503050406030204" pitchFamily="18" charset="0"/>
                          </a:rPr>
                          <m:t>=1,2,…,</m:t>
                        </m:r>
                        <m:r>
                          <a:rPr kumimoji="1" lang="en-US" altLang="zh-CN" sz="2800" b="0" i="1" smtClean="0">
                            <a:latin typeface="Cambria Math" panose="02040503050406030204" pitchFamily="18" charset="0"/>
                            <a:ea typeface="Cambria Math" panose="02040503050406030204" pitchFamily="18" charset="0"/>
                          </a:rPr>
                          <m:t>𝑁</m:t>
                        </m:r>
                      </m:oMath>
                    </m:oMathPara>
                  </a14:m>
                  <a:endParaRPr kumimoji="1" lang="zh-CN" altLang="en-US" sz="2800" dirty="0"/>
                </a:p>
              </p:txBody>
            </p:sp>
          </mc:Choice>
          <mc:Fallback xmlns="">
            <p:sp>
              <p:nvSpPr>
                <p:cNvPr id="3" name="文本框 2">
                  <a:extLst>
                    <a:ext uri="{FF2B5EF4-FFF2-40B4-BE49-F238E27FC236}">
                      <a16:creationId xmlns:a16="http://schemas.microsoft.com/office/drawing/2014/main" id="{07840250-FB34-D77F-CF93-EE25CA94BC82}"/>
                    </a:ext>
                  </a:extLst>
                </p:cNvPr>
                <p:cNvSpPr txBox="1">
                  <a:spLocks noRot="1" noChangeAspect="1" noMove="1" noResize="1" noEditPoints="1" noAdjustHandles="1" noChangeArrowheads="1" noChangeShapeType="1" noTextEdit="1"/>
                </p:cNvSpPr>
                <p:nvPr/>
              </p:nvSpPr>
              <p:spPr>
                <a:xfrm>
                  <a:off x="1327113" y="4940811"/>
                  <a:ext cx="6443431" cy="430887"/>
                </a:xfrm>
                <a:prstGeom prst="rect">
                  <a:avLst/>
                </a:prstGeom>
                <a:blipFill>
                  <a:blip r:embed="rId10"/>
                  <a:stretch>
                    <a:fillRect l="-197" t="-14706" r="-787" b="-35294"/>
                  </a:stretch>
                </a:blipFill>
              </p:spPr>
              <p:txBody>
                <a:bodyPr/>
                <a:lstStyle/>
                <a:p>
                  <a:r>
                    <a:rPr lang="zh-CN" altLang="en-US">
                      <a:noFill/>
                    </a:rPr>
                    <a:t> </a:t>
                  </a:r>
                </a:p>
              </p:txBody>
            </p:sp>
          </mc:Fallback>
        </mc:AlternateContent>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571500"/>
            <a:ext cx="7772400" cy="1143000"/>
          </a:xfrm>
        </p:spPr>
        <p:txBody>
          <a:bodyPr/>
          <a:lstStyle/>
          <a:p>
            <a:pPr>
              <a:defRPr/>
            </a:pPr>
            <a:r>
              <a:rPr lang="zh-CN" altLang="en-US" dirty="0"/>
              <a:t>最优分界面</a:t>
            </a:r>
          </a:p>
        </p:txBody>
      </p:sp>
      <p:sp>
        <p:nvSpPr>
          <p:cNvPr id="18439" name="灯片编号占位符 3"/>
          <p:cNvSpPr>
            <a:spLocks noGrp="1"/>
          </p:cNvSpPr>
          <p:nvPr>
            <p:ph type="sldNum" sz="quarter" idx="12"/>
          </p:nvPr>
        </p:nvSpPr>
        <p:spPr>
          <a:noFill/>
        </p:spPr>
        <p:txBody>
          <a:bodyPr/>
          <a:lstStyle/>
          <a:p>
            <a:fld id="{08D01FD5-98A9-4D4F-B86E-B016C4BD6975}" type="slidenum">
              <a:rPr lang="en-US" altLang="zh-CN" smtClean="0">
                <a:ea typeface="黑体" pitchFamily="49" charset="-122"/>
              </a:rPr>
              <a:pPr/>
              <a:t>19</a:t>
            </a:fld>
            <a:endParaRPr lang="en-US" altLang="zh-CN">
              <a:ea typeface="黑体" pitchFamily="49" charset="-122"/>
            </a:endParaRPr>
          </a:p>
        </p:txBody>
      </p:sp>
      <p:sp>
        <p:nvSpPr>
          <p:cNvPr id="18440" name="灯片编号占位符 3"/>
          <p:cNvSpPr txBox="1">
            <a:spLocks/>
          </p:cNvSpPr>
          <p:nvPr/>
        </p:nvSpPr>
        <p:spPr bwMode="auto">
          <a:xfrm>
            <a:off x="6553200" y="6248400"/>
            <a:ext cx="1905000" cy="457200"/>
          </a:xfrm>
          <a:prstGeom prst="rect">
            <a:avLst/>
          </a:prstGeom>
          <a:noFill/>
          <a:ln w="9525">
            <a:noFill/>
            <a:miter lim="800000"/>
            <a:headEnd/>
            <a:tailEnd/>
          </a:ln>
        </p:spPr>
        <p:txBody>
          <a:bodyPr lIns="92075" tIns="46038" rIns="92075" bIns="46038" anchor="ctr"/>
          <a:lstStyle/>
          <a:p>
            <a:pPr algn="r"/>
            <a:fld id="{1B665023-B133-4E6C-B08A-6E5410581D76}" type="slidenum">
              <a:rPr kumimoji="0" lang="en-US" altLang="zh-CN" sz="1400"/>
              <a:pPr algn="r"/>
              <a:t>19</a:t>
            </a:fld>
            <a:endParaRPr kumimoji="0" lang="en-US" altLang="zh-CN" sz="1400"/>
          </a:p>
        </p:txBody>
      </p:sp>
      <p:cxnSp>
        <p:nvCxnSpPr>
          <p:cNvPr id="18441" name="直接箭头连接符 5"/>
          <p:cNvCxnSpPr>
            <a:cxnSpLocks noChangeShapeType="1"/>
          </p:cNvCxnSpPr>
          <p:nvPr/>
        </p:nvCxnSpPr>
        <p:spPr bwMode="auto">
          <a:xfrm flipV="1">
            <a:off x="1541463" y="6137275"/>
            <a:ext cx="6513512" cy="25400"/>
          </a:xfrm>
          <a:prstGeom prst="straightConnector1">
            <a:avLst/>
          </a:prstGeom>
          <a:noFill/>
          <a:ln w="38100" algn="ctr">
            <a:solidFill>
              <a:schemeClr val="tx1"/>
            </a:solidFill>
            <a:round/>
            <a:headEnd/>
            <a:tailEnd type="arrow" w="med" len="med"/>
          </a:ln>
        </p:spPr>
      </p:cxnSp>
      <p:cxnSp>
        <p:nvCxnSpPr>
          <p:cNvPr id="18442" name="直接箭头连接符 6"/>
          <p:cNvCxnSpPr>
            <a:cxnSpLocks noChangeShapeType="1"/>
          </p:cNvCxnSpPr>
          <p:nvPr/>
        </p:nvCxnSpPr>
        <p:spPr bwMode="auto">
          <a:xfrm flipV="1">
            <a:off x="1841500" y="2943225"/>
            <a:ext cx="49213" cy="3608388"/>
          </a:xfrm>
          <a:prstGeom prst="straightConnector1">
            <a:avLst/>
          </a:prstGeom>
          <a:noFill/>
          <a:ln w="38100" algn="ctr">
            <a:solidFill>
              <a:schemeClr val="tx1"/>
            </a:solidFill>
            <a:round/>
            <a:headEnd/>
            <a:tailEnd type="arrow" w="med" len="med"/>
          </a:ln>
        </p:spPr>
      </p:cxnSp>
      <p:sp>
        <p:nvSpPr>
          <p:cNvPr id="18443" name="椭圆 7"/>
          <p:cNvSpPr>
            <a:spLocks noChangeArrowheads="1"/>
          </p:cNvSpPr>
          <p:nvPr/>
        </p:nvSpPr>
        <p:spPr bwMode="auto">
          <a:xfrm>
            <a:off x="3582988" y="44465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4" name="椭圆 8"/>
          <p:cNvSpPr>
            <a:spLocks noChangeArrowheads="1"/>
          </p:cNvSpPr>
          <p:nvPr/>
        </p:nvSpPr>
        <p:spPr bwMode="auto">
          <a:xfrm>
            <a:off x="2430463" y="387032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5" name="椭圆 9"/>
          <p:cNvSpPr>
            <a:spLocks noChangeArrowheads="1"/>
          </p:cNvSpPr>
          <p:nvPr/>
        </p:nvSpPr>
        <p:spPr bwMode="auto">
          <a:xfrm>
            <a:off x="3683000" y="51101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6" name="椭圆 10"/>
          <p:cNvSpPr>
            <a:spLocks noChangeArrowheads="1"/>
          </p:cNvSpPr>
          <p:nvPr/>
        </p:nvSpPr>
        <p:spPr bwMode="auto">
          <a:xfrm>
            <a:off x="2855913" y="47355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7" name="椭圆 11"/>
          <p:cNvSpPr>
            <a:spLocks noChangeArrowheads="1"/>
          </p:cNvSpPr>
          <p:nvPr/>
        </p:nvSpPr>
        <p:spPr bwMode="auto">
          <a:xfrm>
            <a:off x="4195763" y="4284663"/>
            <a:ext cx="188912"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8" name="椭圆 12"/>
          <p:cNvSpPr>
            <a:spLocks noChangeArrowheads="1"/>
          </p:cNvSpPr>
          <p:nvPr/>
        </p:nvSpPr>
        <p:spPr bwMode="auto">
          <a:xfrm>
            <a:off x="3094038" y="33448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49" name="椭圆 13"/>
          <p:cNvSpPr>
            <a:spLocks noChangeArrowheads="1"/>
          </p:cNvSpPr>
          <p:nvPr/>
        </p:nvSpPr>
        <p:spPr bwMode="auto">
          <a:xfrm>
            <a:off x="2994025" y="4295775"/>
            <a:ext cx="187325" cy="214313"/>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50" name="椭圆 14"/>
          <p:cNvSpPr>
            <a:spLocks noChangeArrowheads="1"/>
          </p:cNvSpPr>
          <p:nvPr/>
        </p:nvSpPr>
        <p:spPr bwMode="auto">
          <a:xfrm>
            <a:off x="2343150" y="46101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51" name="椭圆 15"/>
          <p:cNvSpPr>
            <a:spLocks noChangeArrowheads="1"/>
          </p:cNvSpPr>
          <p:nvPr/>
        </p:nvSpPr>
        <p:spPr bwMode="auto">
          <a:xfrm>
            <a:off x="3143250" y="5060950"/>
            <a:ext cx="188913"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18452" name="矩形 16"/>
          <p:cNvSpPr>
            <a:spLocks noChangeArrowheads="1"/>
          </p:cNvSpPr>
          <p:nvPr/>
        </p:nvSpPr>
        <p:spPr bwMode="auto">
          <a:xfrm>
            <a:off x="4872038" y="3055938"/>
            <a:ext cx="138112"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3" name="矩形 17"/>
          <p:cNvSpPr>
            <a:spLocks noChangeArrowheads="1"/>
          </p:cNvSpPr>
          <p:nvPr/>
        </p:nvSpPr>
        <p:spPr bwMode="auto">
          <a:xfrm>
            <a:off x="5724525" y="2505075"/>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4" name="矩形 18"/>
          <p:cNvSpPr>
            <a:spLocks noChangeArrowheads="1"/>
          </p:cNvSpPr>
          <p:nvPr/>
        </p:nvSpPr>
        <p:spPr bwMode="auto">
          <a:xfrm>
            <a:off x="6113463" y="3268663"/>
            <a:ext cx="136525"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5" name="矩形 19"/>
          <p:cNvSpPr>
            <a:spLocks noChangeArrowheads="1"/>
          </p:cNvSpPr>
          <p:nvPr/>
        </p:nvSpPr>
        <p:spPr bwMode="auto">
          <a:xfrm>
            <a:off x="5448300" y="2981325"/>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6" name="矩形 20"/>
          <p:cNvSpPr>
            <a:spLocks noChangeArrowheads="1"/>
          </p:cNvSpPr>
          <p:nvPr/>
        </p:nvSpPr>
        <p:spPr bwMode="auto">
          <a:xfrm>
            <a:off x="5949950" y="3944938"/>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7" name="矩形 21"/>
          <p:cNvSpPr>
            <a:spLocks noChangeArrowheads="1"/>
          </p:cNvSpPr>
          <p:nvPr/>
        </p:nvSpPr>
        <p:spPr bwMode="auto">
          <a:xfrm>
            <a:off x="5360988" y="3444875"/>
            <a:ext cx="138112"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8" name="矩形 22"/>
          <p:cNvSpPr>
            <a:spLocks noChangeArrowheads="1"/>
          </p:cNvSpPr>
          <p:nvPr/>
        </p:nvSpPr>
        <p:spPr bwMode="auto">
          <a:xfrm>
            <a:off x="6800850" y="3695700"/>
            <a:ext cx="138113"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18459" name="矩形 23"/>
          <p:cNvSpPr>
            <a:spLocks noChangeArrowheads="1"/>
          </p:cNvSpPr>
          <p:nvPr/>
        </p:nvSpPr>
        <p:spPr bwMode="auto">
          <a:xfrm>
            <a:off x="6600825" y="2805113"/>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26" name="直接连接符 25"/>
          <p:cNvCxnSpPr/>
          <p:nvPr/>
        </p:nvCxnSpPr>
        <p:spPr bwMode="auto">
          <a:xfrm>
            <a:off x="3019425" y="2417763"/>
            <a:ext cx="3494088" cy="2943225"/>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28" name="直接连接符 27"/>
          <p:cNvCxnSpPr/>
          <p:nvPr/>
        </p:nvCxnSpPr>
        <p:spPr bwMode="auto">
          <a:xfrm>
            <a:off x="3570288" y="1966913"/>
            <a:ext cx="3494087"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29" name="直接连接符 28"/>
          <p:cNvCxnSpPr/>
          <p:nvPr/>
        </p:nvCxnSpPr>
        <p:spPr bwMode="auto">
          <a:xfrm>
            <a:off x="2605088" y="2955925"/>
            <a:ext cx="3495675" cy="2943225"/>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graphicFrame>
        <p:nvGraphicFramePr>
          <p:cNvPr id="18434" name="Object 2" descr="羊皮纸"/>
          <p:cNvGraphicFramePr>
            <a:graphicFrameLocks noChangeAspect="1"/>
          </p:cNvGraphicFramePr>
          <p:nvPr/>
        </p:nvGraphicFramePr>
        <p:xfrm>
          <a:off x="1485900" y="1822450"/>
          <a:ext cx="1920875" cy="465138"/>
        </p:xfrm>
        <a:graphic>
          <a:graphicData uri="http://schemas.openxmlformats.org/presentationml/2006/ole">
            <mc:AlternateContent xmlns:mc="http://schemas.openxmlformats.org/markup-compatibility/2006">
              <mc:Choice xmlns:v="urn:schemas-microsoft-com:vml" Requires="v">
                <p:oleObj name="公式" r:id="rId3" imgW="736560" imgH="177480" progId="Equation.3">
                  <p:embed/>
                </p:oleObj>
              </mc:Choice>
              <mc:Fallback>
                <p:oleObj name="公式" r:id="rId3" imgW="736560" imgH="1774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5900" y="1822450"/>
                        <a:ext cx="1920875"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8463" name="直接箭头连接符 36"/>
          <p:cNvCxnSpPr>
            <a:cxnSpLocks noChangeShapeType="1"/>
          </p:cNvCxnSpPr>
          <p:nvPr/>
        </p:nvCxnSpPr>
        <p:spPr bwMode="auto">
          <a:xfrm flipH="1">
            <a:off x="6149975" y="4897438"/>
            <a:ext cx="827088" cy="1014412"/>
          </a:xfrm>
          <a:prstGeom prst="straightConnector1">
            <a:avLst/>
          </a:prstGeom>
          <a:noFill/>
          <a:ln w="38100" algn="ctr">
            <a:solidFill>
              <a:schemeClr val="tx1"/>
            </a:solidFill>
            <a:round/>
            <a:headEnd type="arrow" w="med" len="med"/>
            <a:tailEnd type="arrow" w="med" len="med"/>
          </a:ln>
        </p:spPr>
      </p:cxnSp>
      <p:graphicFrame>
        <p:nvGraphicFramePr>
          <p:cNvPr id="18435" name="Object 3" descr="蓝色面巾纸"/>
          <p:cNvGraphicFramePr>
            <a:graphicFrameLocks noChangeAspect="1"/>
          </p:cNvGraphicFramePr>
          <p:nvPr/>
        </p:nvGraphicFramePr>
        <p:xfrm>
          <a:off x="7285038" y="5056188"/>
          <a:ext cx="519112" cy="906462"/>
        </p:xfrm>
        <a:graphic>
          <a:graphicData uri="http://schemas.openxmlformats.org/presentationml/2006/ole">
            <mc:AlternateContent xmlns:mc="http://schemas.openxmlformats.org/markup-compatibility/2006">
              <mc:Choice xmlns:v="urn:schemas-microsoft-com:vml" Requires="v">
                <p:oleObj name="公式" r:id="rId5" imgW="253800" imgH="444240" progId="Equation.3">
                  <p:embed/>
                </p:oleObj>
              </mc:Choice>
              <mc:Fallback>
                <p:oleObj name="公式" r:id="rId5" imgW="253800" imgH="44424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5038" y="5056188"/>
                        <a:ext cx="519112" cy="906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64" name="椭圆 38"/>
          <p:cNvSpPr>
            <a:spLocks noChangeArrowheads="1"/>
          </p:cNvSpPr>
          <p:nvPr/>
        </p:nvSpPr>
        <p:spPr bwMode="auto">
          <a:xfrm>
            <a:off x="3394075" y="3944938"/>
            <a:ext cx="188913"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cxnSp>
        <p:nvCxnSpPr>
          <p:cNvPr id="18465" name="直接箭头连接符 30"/>
          <p:cNvCxnSpPr>
            <a:cxnSpLocks noChangeShapeType="1"/>
          </p:cNvCxnSpPr>
          <p:nvPr/>
        </p:nvCxnSpPr>
        <p:spPr bwMode="auto">
          <a:xfrm flipV="1">
            <a:off x="3921125" y="2324100"/>
            <a:ext cx="758825" cy="838200"/>
          </a:xfrm>
          <a:prstGeom prst="straightConnector1">
            <a:avLst/>
          </a:prstGeom>
          <a:noFill/>
          <a:ln w="38100" algn="ctr">
            <a:solidFill>
              <a:schemeClr val="tx1"/>
            </a:solidFill>
            <a:round/>
            <a:headEnd/>
            <a:tailEnd type="arrow" w="med" len="med"/>
          </a:ln>
        </p:spPr>
      </p:cxnSp>
      <p:sp>
        <p:nvSpPr>
          <p:cNvPr id="18466" name="TextBox 31"/>
          <p:cNvSpPr txBox="1">
            <a:spLocks noChangeArrowheads="1"/>
          </p:cNvSpPr>
          <p:nvPr/>
        </p:nvSpPr>
        <p:spPr bwMode="auto">
          <a:xfrm>
            <a:off x="4727575" y="2014538"/>
            <a:ext cx="635000" cy="465137"/>
          </a:xfrm>
          <a:prstGeom prst="rect">
            <a:avLst/>
          </a:prstGeom>
          <a:noFill/>
          <a:ln w="9525">
            <a:noFill/>
            <a:miter lim="800000"/>
            <a:headEnd/>
            <a:tailEnd/>
          </a:ln>
        </p:spPr>
        <p:txBody>
          <a:bodyPr>
            <a:spAutoFit/>
          </a:bodyPr>
          <a:lstStyle/>
          <a:p>
            <a:r>
              <a:rPr lang="en-US" altLang="zh-CN" i="1"/>
              <a:t>w</a:t>
            </a:r>
            <a:endParaRPr lang="zh-CN" altLang="en-US" i="1"/>
          </a:p>
        </p:txBody>
      </p:sp>
      <p:graphicFrame>
        <p:nvGraphicFramePr>
          <p:cNvPr id="18436" name="Object 2" descr="羊皮纸"/>
          <p:cNvGraphicFramePr>
            <a:graphicFrameLocks noChangeAspect="1"/>
          </p:cNvGraphicFramePr>
          <p:nvPr/>
        </p:nvGraphicFramePr>
        <p:xfrm>
          <a:off x="3721100" y="1543050"/>
          <a:ext cx="1854200" cy="465138"/>
        </p:xfrm>
        <a:graphic>
          <a:graphicData uri="http://schemas.openxmlformats.org/presentationml/2006/ole">
            <mc:AlternateContent xmlns:mc="http://schemas.openxmlformats.org/markup-compatibility/2006">
              <mc:Choice xmlns:v="urn:schemas-microsoft-com:vml" Requires="v">
                <p:oleObj name="公式" r:id="rId7" imgW="711000" imgH="177480" progId="Equation.3">
                  <p:embed/>
                </p:oleObj>
              </mc:Choice>
              <mc:Fallback>
                <p:oleObj name="公式" r:id="rId7" imgW="711000" imgH="17748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1100" y="1543050"/>
                        <a:ext cx="1854200"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7" name="Object 2" descr="羊皮纸"/>
          <p:cNvGraphicFramePr>
            <a:graphicFrameLocks noChangeAspect="1"/>
          </p:cNvGraphicFramePr>
          <p:nvPr/>
        </p:nvGraphicFramePr>
        <p:xfrm>
          <a:off x="642938" y="2473325"/>
          <a:ext cx="2120900" cy="465138"/>
        </p:xfrm>
        <a:graphic>
          <a:graphicData uri="http://schemas.openxmlformats.org/presentationml/2006/ole">
            <mc:AlternateContent xmlns:mc="http://schemas.openxmlformats.org/markup-compatibility/2006">
              <mc:Choice xmlns:v="urn:schemas-microsoft-com:vml" Requires="v">
                <p:oleObj name="公式" r:id="rId9" imgW="812520" imgH="177480" progId="Equation.3">
                  <p:embed/>
                </p:oleObj>
              </mc:Choice>
              <mc:Fallback>
                <p:oleObj name="公式" r:id="rId9" imgW="812520" imgH="17748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938" y="2473325"/>
                        <a:ext cx="2120900"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学习的对偶算法</a:t>
            </a:r>
          </a:p>
        </p:txBody>
      </p:sp>
      <mc:AlternateContent xmlns:mc="http://schemas.openxmlformats.org/markup-compatibility/2006" xmlns:a14="http://schemas.microsoft.com/office/drawing/2010/main">
        <mc:Choice Requires="a14">
          <p:sp>
            <p:nvSpPr>
              <p:cNvPr id="20485" name="内容占位符 2"/>
              <p:cNvSpPr>
                <a:spLocks noGrp="1"/>
              </p:cNvSpPr>
              <p:nvPr>
                <p:ph idx="1"/>
              </p:nvPr>
            </p:nvSpPr>
            <p:spPr>
              <a:xfrm>
                <a:off x="685799" y="1552524"/>
                <a:ext cx="8165123" cy="4848271"/>
              </a:xfrm>
            </p:spPr>
            <p:txBody>
              <a:bodyPr>
                <a:normAutofit/>
              </a:bodyPr>
              <a:lstStyle/>
              <a:p>
                <a:r>
                  <a:rPr lang="zh-CN" altLang="en-US" sz="3200" b="1" dirty="0"/>
                  <a:t>原始问题：</a:t>
                </a:r>
                <a:endParaRPr lang="en-US" altLang="zh-CN" sz="3200" b="1" dirty="0"/>
              </a:p>
              <a:p>
                <a:endParaRPr lang="en-US" altLang="zh-CN" sz="3200" b="1" dirty="0"/>
              </a:p>
              <a:p>
                <a:endParaRPr lang="en-US" altLang="zh-CN" sz="3200" b="1" dirty="0"/>
              </a:p>
              <a:p>
                <a:endParaRPr lang="en-US" altLang="zh-CN" sz="3200" b="1" dirty="0"/>
              </a:p>
              <a:p>
                <a:endParaRPr lang="en-US" altLang="zh-CN" sz="2800" b="1" dirty="0"/>
              </a:p>
              <a:p>
                <a:r>
                  <a:rPr lang="zh-CN" altLang="en-US" sz="3200" b="1" dirty="0"/>
                  <a:t>定义拉格朗日函数</a:t>
                </a:r>
                <a:r>
                  <a:rPr lang="zh-CN" altLang="en-US" dirty="0"/>
                  <a:t>：</a:t>
                </a:r>
                <a:endParaRPr lang="en-US" altLang="zh-CN" dirty="0"/>
              </a:p>
              <a:p>
                <a:endParaRPr lang="en-US" altLang="zh-CN" dirty="0"/>
              </a:p>
              <a:p>
                <a:endParaRPr lang="en-US" altLang="zh-CN" dirty="0"/>
              </a:p>
              <a:p>
                <a:pPr marL="0" indent="0">
                  <a:buNone/>
                </a:pPr>
                <a:r>
                  <a:rPr lang="zh-CN" altLang="en-US" dirty="0"/>
                  <a:t>其中</a:t>
                </a:r>
                <a14:m>
                  <m:oMath xmlns:m="http://schemas.openxmlformats.org/officeDocument/2006/math">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rPr>
                          <m:t>𝑖</m:t>
                        </m:r>
                      </m:sub>
                    </m:sSub>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0,</m:t>
                    </m:r>
                    <m:r>
                      <a:rPr kumimoji="1" lang="zh-CN" altLang="en-US" sz="2800" b="0" i="1" smtClean="0">
                        <a:latin typeface="Cambria Math" panose="02040503050406030204" pitchFamily="18" charset="0"/>
                        <a:ea typeface="Cambria Math" panose="02040503050406030204" pitchFamily="18" charset="0"/>
                      </a:rPr>
                      <m:t> </m:t>
                    </m:r>
                    <m:r>
                      <a:rPr kumimoji="1" lang="zh-CN" altLang="en-US" sz="2800" b="0" i="1" smtClean="0">
                        <a:latin typeface="Cambria Math" panose="02040503050406030204" pitchFamily="18" charset="0"/>
                        <a:ea typeface="Cambria Math" panose="02040503050406030204" pitchFamily="18" charset="0"/>
                      </a:rPr>
                      <m:t>𝛼</m:t>
                    </m:r>
                    <m:r>
                      <a:rPr kumimoji="1" lang="en-US" altLang="zh-CN" sz="2800" b="0" i="1" smtClean="0">
                        <a:latin typeface="Cambria Math" panose="02040503050406030204" pitchFamily="18" charset="0"/>
                        <a:ea typeface="Cambria Math" panose="02040503050406030204" pitchFamily="18" charset="0"/>
                      </a:rPr>
                      <m:t>=</m:t>
                    </m:r>
                    <m:sSup>
                      <m:sSupPr>
                        <m:ctrlPr>
                          <a:rPr kumimoji="1" lang="en-US" altLang="zh-CN" sz="2800" b="0" i="1" smtClean="0">
                            <a:latin typeface="Cambria Math" panose="02040503050406030204" pitchFamily="18" charset="0"/>
                            <a:ea typeface="Cambria Math" panose="02040503050406030204" pitchFamily="18" charset="0"/>
                          </a:rPr>
                        </m:ctrlPr>
                      </m:sSupPr>
                      <m:e>
                        <m:r>
                          <a:rPr kumimoji="1" lang="en-US" altLang="zh-CN" sz="2800" i="1">
                            <a:latin typeface="Cambria Math" panose="02040503050406030204" pitchFamily="18" charset="0"/>
                            <a:ea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ea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ea typeface="Cambria Math" panose="02040503050406030204" pitchFamily="18" charset="0"/>
                              </a:rPr>
                              <m:t>2</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ea typeface="Cambria Math" panose="02040503050406030204" pitchFamily="18" charset="0"/>
                              </a:rPr>
                              <m:t>𝑁</m:t>
                            </m:r>
                          </m:sub>
                        </m:sSub>
                        <m:r>
                          <a:rPr kumimoji="1" lang="en-US" altLang="zh-CN" sz="2800" i="1">
                            <a:latin typeface="Cambria Math" panose="02040503050406030204" pitchFamily="18" charset="0"/>
                            <a:ea typeface="Cambria Math" panose="02040503050406030204" pitchFamily="18" charset="0"/>
                          </a:rPr>
                          <m:t>)</m:t>
                        </m:r>
                      </m:e>
                      <m:sup>
                        <m:r>
                          <a:rPr kumimoji="1" lang="en-US" altLang="zh-CN" sz="2800" b="0" i="1" smtClean="0">
                            <a:latin typeface="Cambria Math" panose="02040503050406030204" pitchFamily="18" charset="0"/>
                            <a:ea typeface="Cambria Math" panose="02040503050406030204" pitchFamily="18" charset="0"/>
                          </a:rPr>
                          <m:t>𝑇</m:t>
                        </m:r>
                      </m:sup>
                    </m:sSup>
                  </m:oMath>
                </a14:m>
                <a:r>
                  <a:rPr lang="zh-CN" altLang="en-US" dirty="0"/>
                  <a:t>为拉格朗日乘子向量</a:t>
                </a:r>
              </a:p>
            </p:txBody>
          </p:sp>
        </mc:Choice>
        <mc:Fallback xmlns="">
          <p:sp>
            <p:nvSpPr>
              <p:cNvPr id="20485" name="内容占位符 2"/>
              <p:cNvSpPr>
                <a:spLocks noGrp="1" noRot="1" noChangeAspect="1" noMove="1" noResize="1" noEditPoints="1" noAdjustHandles="1" noChangeArrowheads="1" noChangeShapeType="1" noTextEdit="1"/>
              </p:cNvSpPr>
              <p:nvPr>
                <p:ph idx="1"/>
              </p:nvPr>
            </p:nvSpPr>
            <p:spPr>
              <a:xfrm>
                <a:off x="685799" y="1552524"/>
                <a:ext cx="8165123" cy="4848271"/>
              </a:xfrm>
              <a:blipFill>
                <a:blip r:embed="rId3"/>
                <a:stretch>
                  <a:fillRect l="-1242" t="-2611" b="-522"/>
                </a:stretch>
              </a:blipFill>
            </p:spPr>
            <p:txBody>
              <a:bodyPr/>
              <a:lstStyle/>
              <a:p>
                <a:r>
                  <a:rPr lang="zh-CN" altLang="en-US">
                    <a:noFill/>
                  </a:rPr>
                  <a:t> </a:t>
                </a:r>
              </a:p>
            </p:txBody>
          </p:sp>
        </mc:Fallback>
      </mc:AlternateContent>
      <p:sp>
        <p:nvSpPr>
          <p:cNvPr id="20486" name="灯片编号占位符 3"/>
          <p:cNvSpPr>
            <a:spLocks noGrp="1"/>
          </p:cNvSpPr>
          <p:nvPr>
            <p:ph type="sldNum" sz="quarter" idx="12"/>
          </p:nvPr>
        </p:nvSpPr>
        <p:spPr>
          <a:noFill/>
        </p:spPr>
        <p:txBody>
          <a:bodyPr/>
          <a:lstStyle/>
          <a:p>
            <a:fld id="{C6AB7A8A-36FD-4A37-841F-0A1946F753A2}" type="slidenum">
              <a:rPr lang="en-US" altLang="zh-CN" smtClean="0">
                <a:ea typeface="黑体" pitchFamily="49" charset="-122"/>
              </a:rPr>
              <a:pPr/>
              <a:t>20</a:t>
            </a:fld>
            <a:endParaRPr lang="en-US" altLang="zh-CN">
              <a:ea typeface="黑体" pitchFamily="49" charset="-122"/>
            </a:endParaRPr>
          </a:p>
        </p:txBody>
      </p:sp>
      <p:cxnSp>
        <p:nvCxnSpPr>
          <p:cNvPr id="10" name="直接箭头连接符 9"/>
          <p:cNvCxnSpPr/>
          <p:nvPr/>
        </p:nvCxnSpPr>
        <p:spPr>
          <a:xfrm flipH="1">
            <a:off x="3692435" y="2878632"/>
            <a:ext cx="1254034" cy="517711"/>
          </a:xfrm>
          <a:prstGeom prst="straightConnector1">
            <a:avLst/>
          </a:prstGeom>
          <a:ln w="5715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CA9D92E-75E7-42E2-A38C-7686DAE834B5}"/>
                  </a:ext>
                </a:extLst>
              </p:cNvPr>
              <p:cNvSpPr txBox="1"/>
              <p:nvPr/>
            </p:nvSpPr>
            <p:spPr>
              <a:xfrm>
                <a:off x="1010590" y="2313384"/>
                <a:ext cx="1818383" cy="819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lim>
                          </m:limLow>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e>
                      </m:func>
                    </m:oMath>
                  </m:oMathPara>
                </a14:m>
                <a:endParaRPr kumimoji="1" lang="zh-CN" altLang="en-US" sz="2800" dirty="0"/>
              </a:p>
            </p:txBody>
          </p:sp>
        </mc:Choice>
        <mc:Fallback xmlns="">
          <p:sp>
            <p:nvSpPr>
              <p:cNvPr id="3" name="文本框 2">
                <a:extLst>
                  <a:ext uri="{FF2B5EF4-FFF2-40B4-BE49-F238E27FC236}">
                    <a16:creationId xmlns:a16="http://schemas.microsoft.com/office/drawing/2014/main" id="{FCA9D92E-75E7-42E2-A38C-7686DAE834B5}"/>
                  </a:ext>
                </a:extLst>
              </p:cNvPr>
              <p:cNvSpPr txBox="1">
                <a:spLocks noRot="1" noChangeAspect="1" noMove="1" noResize="1" noEditPoints="1" noAdjustHandles="1" noChangeArrowheads="1" noChangeShapeType="1" noTextEdit="1"/>
              </p:cNvSpPr>
              <p:nvPr/>
            </p:nvSpPr>
            <p:spPr>
              <a:xfrm>
                <a:off x="1010590" y="2313384"/>
                <a:ext cx="1818383" cy="819199"/>
              </a:xfrm>
              <a:prstGeom prst="rect">
                <a:avLst/>
              </a:prstGeom>
              <a:blipFill>
                <a:blip r:embed="rId4"/>
                <a:stretch>
                  <a:fillRect l="-4167" t="-1515" r="-1389"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A735D07-44F7-3DDB-BB07-BDB1DD2C71A2}"/>
                  </a:ext>
                </a:extLst>
              </p:cNvPr>
              <p:cNvSpPr txBox="1"/>
              <p:nvPr/>
            </p:nvSpPr>
            <p:spPr>
              <a:xfrm>
                <a:off x="1010590" y="3509083"/>
                <a:ext cx="644343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𝑠</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𝑡</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≥1,</m:t>
                      </m:r>
                      <m:r>
                        <a:rPr kumimoji="1" lang="zh-CN" altLang="en-US" sz="2800" b="0" i="1" smtClean="0">
                          <a:latin typeface="Cambria Math" panose="02040503050406030204" pitchFamily="18" charset="0"/>
                          <a:ea typeface="Cambria Math" panose="02040503050406030204" pitchFamily="18" charset="0"/>
                        </a:rPr>
                        <m:t>   </m:t>
                      </m:r>
                      <m:r>
                        <a:rPr kumimoji="1" lang="en-US" altLang="zh-CN" sz="2800" b="0" i="1" smtClean="0">
                          <a:latin typeface="Cambria Math" panose="02040503050406030204" pitchFamily="18" charset="0"/>
                          <a:ea typeface="Cambria Math" panose="02040503050406030204" pitchFamily="18" charset="0"/>
                        </a:rPr>
                        <m:t>𝑖</m:t>
                      </m:r>
                      <m:r>
                        <a:rPr kumimoji="1" lang="en-US" altLang="zh-CN" sz="2800" b="0" i="1" smtClean="0">
                          <a:latin typeface="Cambria Math" panose="02040503050406030204" pitchFamily="18" charset="0"/>
                          <a:ea typeface="Cambria Math" panose="02040503050406030204" pitchFamily="18" charset="0"/>
                        </a:rPr>
                        <m:t>=1,2,…,</m:t>
                      </m:r>
                      <m:r>
                        <a:rPr kumimoji="1" lang="en-US" altLang="zh-CN" sz="2800" b="0" i="1" smtClean="0">
                          <a:latin typeface="Cambria Math" panose="02040503050406030204" pitchFamily="18" charset="0"/>
                          <a:ea typeface="Cambria Math" panose="02040503050406030204" pitchFamily="18" charset="0"/>
                        </a:rPr>
                        <m:t>𝑁</m:t>
                      </m:r>
                    </m:oMath>
                  </m:oMathPara>
                </a14:m>
                <a:endParaRPr kumimoji="1" lang="zh-CN" altLang="en-US" sz="2800" dirty="0"/>
              </a:p>
            </p:txBody>
          </p:sp>
        </mc:Choice>
        <mc:Fallback xmlns="">
          <p:sp>
            <p:nvSpPr>
              <p:cNvPr id="4" name="文本框 3">
                <a:extLst>
                  <a:ext uri="{FF2B5EF4-FFF2-40B4-BE49-F238E27FC236}">
                    <a16:creationId xmlns:a16="http://schemas.microsoft.com/office/drawing/2014/main" id="{3A735D07-44F7-3DDB-BB07-BDB1DD2C71A2}"/>
                  </a:ext>
                </a:extLst>
              </p:cNvPr>
              <p:cNvSpPr txBox="1">
                <a:spLocks noRot="1" noChangeAspect="1" noMove="1" noResize="1" noEditPoints="1" noAdjustHandles="1" noChangeArrowheads="1" noChangeShapeType="1" noTextEdit="1"/>
              </p:cNvSpPr>
              <p:nvPr/>
            </p:nvSpPr>
            <p:spPr>
              <a:xfrm>
                <a:off x="1010590" y="3509083"/>
                <a:ext cx="6443431" cy="430887"/>
              </a:xfrm>
              <a:prstGeom prst="rect">
                <a:avLst/>
              </a:prstGeom>
              <a:blipFill>
                <a:blip r:embed="rId5"/>
                <a:stretch>
                  <a:fillRect l="-196" t="-11429" r="-589" b="-31429"/>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BAC108D8-2E2C-ED4D-67AB-CB8AF5F9936D}"/>
              </a:ext>
            </a:extLst>
          </p:cNvPr>
          <p:cNvSpPr txBox="1"/>
          <p:nvPr/>
        </p:nvSpPr>
        <p:spPr>
          <a:xfrm>
            <a:off x="4114800" y="2971800"/>
            <a:ext cx="65" cy="276999"/>
          </a:xfrm>
          <a:prstGeom prst="rect">
            <a:avLst/>
          </a:prstGeom>
          <a:noFill/>
        </p:spPr>
        <p:txBody>
          <a:bodyPr wrap="none" lIns="0" tIns="0" rIns="0" bIns="0" rtlCol="0">
            <a:spAutoFit/>
          </a:bodyPr>
          <a:lstStyle/>
          <a:p>
            <a:endParaRPr kumimoji="1"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9D7D49E-7088-E465-716B-57939CA4F8A5}"/>
                  </a:ext>
                </a:extLst>
              </p:cNvPr>
              <p:cNvSpPr txBox="1"/>
              <p:nvPr/>
            </p:nvSpPr>
            <p:spPr>
              <a:xfrm>
                <a:off x="4114800" y="2093040"/>
                <a:ext cx="3442224" cy="430887"/>
              </a:xfrm>
              <a:prstGeom prst="rect">
                <a:avLst/>
              </a:prstGeom>
              <a:solidFill>
                <a:srgbClr val="F4B39B">
                  <a:alpha val="40167"/>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1−</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≤0</m:t>
                      </m:r>
                    </m:oMath>
                  </m:oMathPara>
                </a14:m>
                <a:endParaRPr kumimoji="1" lang="zh-CN" altLang="en-US" sz="2800" dirty="0"/>
              </a:p>
            </p:txBody>
          </p:sp>
        </mc:Choice>
        <mc:Fallback xmlns="">
          <p:sp>
            <p:nvSpPr>
              <p:cNvPr id="6" name="文本框 5">
                <a:extLst>
                  <a:ext uri="{FF2B5EF4-FFF2-40B4-BE49-F238E27FC236}">
                    <a16:creationId xmlns:a16="http://schemas.microsoft.com/office/drawing/2014/main" id="{A9D7D49E-7088-E465-716B-57939CA4F8A5}"/>
                  </a:ext>
                </a:extLst>
              </p:cNvPr>
              <p:cNvSpPr txBox="1">
                <a:spLocks noRot="1" noChangeAspect="1" noMove="1" noResize="1" noEditPoints="1" noAdjustHandles="1" noChangeArrowheads="1" noChangeShapeType="1" noTextEdit="1"/>
              </p:cNvSpPr>
              <p:nvPr/>
            </p:nvSpPr>
            <p:spPr>
              <a:xfrm>
                <a:off x="4114800" y="2093040"/>
                <a:ext cx="3442224" cy="430887"/>
              </a:xfrm>
              <a:prstGeom prst="rect">
                <a:avLst/>
              </a:prstGeom>
              <a:blipFill>
                <a:blip r:embed="rId6"/>
                <a:stretch>
                  <a:fillRect l="-3676" t="-11429" r="-1838" b="-3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78DC57F-2BD3-ECD8-C85E-38BDC02BEBF1}"/>
                  </a:ext>
                </a:extLst>
              </p:cNvPr>
              <p:cNvSpPr txBox="1"/>
              <p:nvPr/>
            </p:nvSpPr>
            <p:spPr>
              <a:xfrm>
                <a:off x="685799" y="4833657"/>
                <a:ext cx="6219138"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rPr>
                        <m:t>𝐿</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𝑤</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𝑏</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𝛼</m:t>
                          </m:r>
                        </m:e>
                      </m:d>
                      <m:r>
                        <a:rPr kumimoji="1" lang="en-US" altLang="zh-CN" sz="2400" b="0" i="1" smtClean="0">
                          <a:latin typeface="Cambria Math" panose="02040503050406030204" pitchFamily="18" charset="0"/>
                        </a:rPr>
                        <m:t>=</m:t>
                      </m:r>
                      <m:f>
                        <m:fPr>
                          <m:ctrlPr>
                            <a:rPr kumimoji="1" lang="en-US" altLang="zh-CN" sz="2400" i="1" smtClean="0">
                              <a:latin typeface="Cambria Math" panose="02040503050406030204" pitchFamily="18" charset="0"/>
                            </a:rPr>
                          </m:ctrlPr>
                        </m:fPr>
                        <m:num>
                          <m:r>
                            <a:rPr kumimoji="1" lang="en-US" altLang="zh-CN" sz="2400" i="1">
                              <a:latin typeface="Cambria Math" panose="02040503050406030204" pitchFamily="18" charset="0"/>
                            </a:rPr>
                            <m:t>1</m:t>
                          </m:r>
                        </m:num>
                        <m:den>
                          <m:r>
                            <a:rPr kumimoji="1" lang="en-US" altLang="zh-CN" sz="2400" i="1">
                              <a:latin typeface="Cambria Math" panose="02040503050406030204" pitchFamily="18" charset="0"/>
                            </a:rPr>
                            <m:t>2</m:t>
                          </m:r>
                        </m:den>
                      </m:f>
                      <m:sSup>
                        <m:sSupPr>
                          <m:ctrlPr>
                            <a:rPr kumimoji="1" lang="en-US" altLang="zh-CN" sz="2400" i="1">
                              <a:latin typeface="Cambria Math" panose="02040503050406030204" pitchFamily="18" charset="0"/>
                            </a:rPr>
                          </m:ctrlPr>
                        </m:sSupPr>
                        <m:e>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e>
                          </m:d>
                        </m:e>
                        <m:sup>
                          <m:r>
                            <a:rPr kumimoji="1" lang="en-US" altLang="zh-CN" sz="2400" i="1">
                              <a:latin typeface="Cambria Math" panose="02040503050406030204" pitchFamily="18" charset="0"/>
                            </a:rPr>
                            <m:t>2</m:t>
                          </m:r>
                        </m:sup>
                      </m:sSup>
                      <m:r>
                        <a:rPr kumimoji="1" lang="en-US" altLang="zh-CN" sz="2400" b="0" i="1" smtClean="0">
                          <a:latin typeface="Cambria Math" panose="02040503050406030204" pitchFamily="18" charset="0"/>
                        </a:rPr>
                        <m:t>+</m:t>
                      </m:r>
                      <m:nary>
                        <m:naryPr>
                          <m:chr m:val="∑"/>
                          <m:ctrlPr>
                            <a:rPr kumimoji="1" lang="en-US" altLang="zh-CN" sz="2400" b="0" i="1" smtClean="0">
                              <a:latin typeface="Cambria Math" panose="02040503050406030204" pitchFamily="18" charset="0"/>
                            </a:rPr>
                          </m:ctrlPr>
                        </m:naryPr>
                        <m:sub>
                          <m:r>
                            <m:rPr>
                              <m:brk m:alnAt="23"/>
                            </m:rPr>
                            <a:rPr kumimoji="1" lang="en-US" altLang="zh-CN" sz="2400" b="0" i="1" smtClean="0">
                              <a:latin typeface="Cambria Math" panose="02040503050406030204" pitchFamily="18" charset="0"/>
                            </a:rPr>
                            <m:t>𝑖</m:t>
                          </m:r>
                        </m:sub>
                        <m:sup>
                          <m:r>
                            <a:rPr kumimoji="1" lang="en-US" altLang="zh-CN" sz="2400" b="0" i="1" smtClean="0">
                              <a:latin typeface="Cambria Math" panose="02040503050406030204" pitchFamily="18" charset="0"/>
                            </a:rPr>
                            <m:t>𝑁</m:t>
                          </m:r>
                        </m:sup>
                        <m:e>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ea typeface="Cambria Math" panose="02040503050406030204" pitchFamily="18" charset="0"/>
                                </a:rPr>
                                <m:t>𝛼</m:t>
                              </m:r>
                            </m:e>
                            <m:sub>
                              <m:r>
                                <a:rPr kumimoji="1" lang="en-US" altLang="zh-CN" sz="2400" b="0" i="1" smtClean="0">
                                  <a:latin typeface="Cambria Math" panose="02040503050406030204" pitchFamily="18" charset="0"/>
                                </a:rPr>
                                <m:t>𝑖</m:t>
                              </m:r>
                            </m:sub>
                          </m:sSub>
                          <m:d>
                            <m:dPr>
                              <m:begChr m:val="["/>
                              <m:endChr m:val="]"/>
                              <m:ctrlPr>
                                <a:rPr kumimoji="1" lang="en-US" altLang="zh-CN" sz="2400" b="0" i="1" smtClean="0">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e>
                      </m:nary>
                    </m:oMath>
                  </m:oMathPara>
                </a14:m>
                <a:endParaRPr kumimoji="1" lang="zh-CN" altLang="en-US" sz="2400" dirty="0"/>
              </a:p>
            </p:txBody>
          </p:sp>
        </mc:Choice>
        <mc:Fallback xmlns="">
          <p:sp>
            <p:nvSpPr>
              <p:cNvPr id="8" name="文本框 7">
                <a:extLst>
                  <a:ext uri="{FF2B5EF4-FFF2-40B4-BE49-F238E27FC236}">
                    <a16:creationId xmlns:a16="http://schemas.microsoft.com/office/drawing/2014/main" id="{B78DC57F-2BD3-ECD8-C85E-38BDC02BEBF1}"/>
                  </a:ext>
                </a:extLst>
              </p:cNvPr>
              <p:cNvSpPr txBox="1">
                <a:spLocks noRot="1" noChangeAspect="1" noMove="1" noResize="1" noEditPoints="1" noAdjustHandles="1" noChangeArrowheads="1" noChangeShapeType="1" noTextEdit="1"/>
              </p:cNvSpPr>
              <p:nvPr/>
            </p:nvSpPr>
            <p:spPr>
              <a:xfrm>
                <a:off x="685799" y="4833657"/>
                <a:ext cx="6219138" cy="1038489"/>
              </a:xfrm>
              <a:prstGeom prst="rect">
                <a:avLst/>
              </a:prstGeom>
              <a:blipFill>
                <a:blip r:embed="rId7"/>
                <a:stretch>
                  <a:fillRect l="-611" t="-114458" b="-17469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766355" y="893750"/>
            <a:ext cx="7772400" cy="5218624"/>
          </a:xfrm>
        </p:spPr>
        <p:txBody>
          <a:bodyPr>
            <a:normAutofit/>
          </a:bodyPr>
          <a:lstStyle/>
          <a:p>
            <a:r>
              <a:rPr lang="zh-CN" altLang="en-US" sz="3200" dirty="0"/>
              <a:t>拉格朗日函数与原始优化问题的关系</a:t>
            </a:r>
          </a:p>
        </p:txBody>
      </p:sp>
      <p:sp>
        <p:nvSpPr>
          <p:cNvPr id="8" name="椭圆形标注 7"/>
          <p:cNvSpPr/>
          <p:nvPr/>
        </p:nvSpPr>
        <p:spPr>
          <a:xfrm>
            <a:off x="5808620" y="1701997"/>
            <a:ext cx="2499357" cy="584151"/>
          </a:xfrm>
          <a:prstGeom prst="wedgeEllipseCallout">
            <a:avLst>
              <a:gd name="adj1" fmla="val -27222"/>
              <a:gd name="adj2" fmla="val 95339"/>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ln w="0"/>
                <a:solidFill>
                  <a:schemeClr val="tx1"/>
                </a:solidFill>
                <a:effectLst>
                  <a:outerShdw blurRad="38100" dist="19050" dir="2700000" algn="tl" rotWithShape="0">
                    <a:schemeClr val="dk1">
                      <a:alpha val="40000"/>
                    </a:schemeClr>
                  </a:outerShdw>
                </a:effectLst>
              </a:rPr>
              <a:t>约束：≤</a:t>
            </a:r>
            <a:r>
              <a:rPr lang="en-US" altLang="zh-CN" sz="2800" dirty="0">
                <a:ln w="0"/>
                <a:solidFill>
                  <a:schemeClr val="tx1"/>
                </a:solidFill>
                <a:effectLst>
                  <a:outerShdw blurRad="38100" dist="19050" dir="2700000" algn="tl" rotWithShape="0">
                    <a:schemeClr val="dk1">
                      <a:alpha val="40000"/>
                    </a:schemeClr>
                  </a:outerShdw>
                </a:effectLst>
              </a:rPr>
              <a:t>0</a:t>
            </a:r>
            <a:endParaRPr lang="zh-CN" altLang="en-US" sz="2800" dirty="0">
              <a:ln w="0"/>
              <a:solidFill>
                <a:schemeClr val="tx1"/>
              </a:solidFill>
              <a:effectLst>
                <a:outerShdw blurRad="38100" dist="19050" dir="2700000" algn="tl" rotWithShape="0">
                  <a:schemeClr val="dk1">
                    <a:alpha val="40000"/>
                  </a:schemeClr>
                </a:outerShdw>
              </a:effectLst>
            </a:endParaRPr>
          </a:p>
        </p:txBody>
      </p:sp>
      <p:sp>
        <p:nvSpPr>
          <p:cNvPr id="9" name="矩形 8"/>
          <p:cNvSpPr/>
          <p:nvPr/>
        </p:nvSpPr>
        <p:spPr>
          <a:xfrm>
            <a:off x="5464498" y="2673539"/>
            <a:ext cx="3181027" cy="4528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68DAB44-5AD5-CED1-0231-AF0F7F6E1B04}"/>
                  </a:ext>
                </a:extLst>
              </p:cNvPr>
              <p:cNvSpPr txBox="1"/>
              <p:nvPr/>
            </p:nvSpPr>
            <p:spPr>
              <a:xfrm>
                <a:off x="1479239" y="2274425"/>
                <a:ext cx="7254165"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latin typeface="Cambria Math" panose="02040503050406030204" pitchFamily="18" charset="0"/>
                        </a:rPr>
                        <m:t>𝐿</m:t>
                      </m:r>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𝛼</m:t>
                          </m:r>
                        </m:e>
                      </m:d>
                      <m:r>
                        <a:rPr kumimoji="1" lang="en-US" altLang="zh-CN" sz="2800" b="0" i="1" smtClean="0">
                          <a:latin typeface="Cambria Math" panose="02040503050406030204" pitchFamily="18" charset="0"/>
                        </a:rPr>
                        <m:t>=</m:t>
                      </m:r>
                      <m:f>
                        <m:fPr>
                          <m:ctrlPr>
                            <a:rPr kumimoji="1" lang="en-US" altLang="zh-CN" sz="2800" i="1" smtClean="0">
                              <a:latin typeface="Cambria Math" panose="02040503050406030204" pitchFamily="18" charset="0"/>
                            </a:rPr>
                          </m:ctrlPr>
                        </m:fPr>
                        <m:num>
                          <m:r>
                            <a:rPr kumimoji="1" lang="en-US" altLang="zh-CN" sz="2800" i="1">
                              <a:latin typeface="Cambria Math" panose="02040503050406030204" pitchFamily="18" charset="0"/>
                            </a:rPr>
                            <m:t>1</m:t>
                          </m:r>
                        </m:num>
                        <m:den>
                          <m:r>
                            <a:rPr kumimoji="1" lang="en-US" altLang="zh-CN" sz="2800" i="1">
                              <a:latin typeface="Cambria Math" panose="02040503050406030204" pitchFamily="18" charset="0"/>
                            </a:rPr>
                            <m:t>2</m:t>
                          </m:r>
                        </m:den>
                      </m:f>
                      <m:sSup>
                        <m:sSupPr>
                          <m:ctrlPr>
                            <a:rPr kumimoji="1" lang="en-US" altLang="zh-CN" sz="2800" i="1">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i="1">
                              <a:latin typeface="Cambria Math" panose="02040503050406030204" pitchFamily="18" charset="0"/>
                            </a:rPr>
                            <m:t>2</m:t>
                          </m:r>
                        </m:sup>
                      </m:sSup>
                      <m:r>
                        <a:rPr kumimoji="1" lang="en-US" altLang="zh-CN" sz="2800" b="0" i="1" smtClean="0">
                          <a:latin typeface="Cambria Math" panose="02040503050406030204" pitchFamily="18" charset="0"/>
                        </a:rPr>
                        <m:t>+</m:t>
                      </m:r>
                      <m:nary>
                        <m:naryPr>
                          <m:chr m:val="∑"/>
                          <m:ctrlPr>
                            <a:rPr kumimoji="1" lang="en-US" altLang="zh-CN" sz="2800" b="0" i="1" smtClean="0">
                              <a:latin typeface="Cambria Math" panose="02040503050406030204" pitchFamily="18" charset="0"/>
                            </a:rPr>
                          </m:ctrlPr>
                        </m:naryPr>
                        <m:sub>
                          <m:r>
                            <m:rPr>
                              <m:brk m:alnAt="23"/>
                            </m:rPr>
                            <a:rPr kumimoji="1" lang="en-US" altLang="zh-CN" sz="2800" b="0" i="1" smtClean="0">
                              <a:latin typeface="Cambria Math" panose="02040503050406030204" pitchFamily="18" charset="0"/>
                            </a:rPr>
                            <m:t>𝑖</m:t>
                          </m:r>
                        </m:sub>
                        <m:sup>
                          <m:r>
                            <a:rPr kumimoji="1" lang="en-US" altLang="zh-CN" sz="2800" b="0" i="1" smtClean="0">
                              <a:latin typeface="Cambria Math" panose="02040503050406030204" pitchFamily="18" charset="0"/>
                            </a:rPr>
                            <m:t>𝑁</m:t>
                          </m:r>
                        </m:sup>
                        <m:e>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ea typeface="Cambria Math" panose="02040503050406030204" pitchFamily="18" charset="0"/>
                                </a:rPr>
                                <m:t>𝛼</m:t>
                              </m:r>
                            </m:e>
                            <m:sub>
                              <m:r>
                                <a:rPr kumimoji="1" lang="en-US" altLang="zh-CN" sz="2800" b="0" i="1" smtClean="0">
                                  <a:latin typeface="Cambria Math" panose="02040503050406030204" pitchFamily="18" charset="0"/>
                                </a:rPr>
                                <m:t>𝑖</m:t>
                              </m:r>
                            </m:sub>
                          </m:sSub>
                          <m:d>
                            <m:dPr>
                              <m:begChr m:val="["/>
                              <m:endChr m:val="]"/>
                              <m:ctrlPr>
                                <a:rPr kumimoji="1" lang="en-US" altLang="zh-CN" sz="2800" b="0" i="1" smtClean="0">
                                  <a:latin typeface="Cambria Math" panose="02040503050406030204" pitchFamily="18" charset="0"/>
                                </a:rPr>
                              </m:ctrlPr>
                            </m:dPr>
                            <m:e>
                              <m:r>
                                <a:rPr kumimoji="1" lang="en-US" altLang="zh-CN" sz="2800" i="1">
                                  <a:latin typeface="Cambria Math" panose="02040503050406030204" pitchFamily="18" charset="0"/>
                                </a:rPr>
                                <m:t>1−</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𝑦</m:t>
                                  </m:r>
                                </m:e>
                                <m:sub>
                                  <m:r>
                                    <a:rPr kumimoji="1" lang="en-US" altLang="zh-CN" sz="2800" i="1">
                                      <a:latin typeface="Cambria Math" panose="02040503050406030204" pitchFamily="18" charset="0"/>
                                    </a:rPr>
                                    <m:t>𝑖</m:t>
                                  </m:r>
                                </m:sub>
                              </m:sSub>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e>
                              </m:d>
                            </m:e>
                          </m:d>
                        </m:e>
                      </m:nary>
                    </m:oMath>
                  </m:oMathPara>
                </a14:m>
                <a:endParaRPr kumimoji="1" lang="zh-CN" altLang="en-US" sz="2800" dirty="0"/>
              </a:p>
            </p:txBody>
          </p:sp>
        </mc:Choice>
        <mc:Fallback xmlns="">
          <p:sp>
            <p:nvSpPr>
              <p:cNvPr id="2" name="文本框 1">
                <a:extLst>
                  <a:ext uri="{FF2B5EF4-FFF2-40B4-BE49-F238E27FC236}">
                    <a16:creationId xmlns:a16="http://schemas.microsoft.com/office/drawing/2014/main" id="{F68DAB44-5AD5-CED1-0231-AF0F7F6E1B04}"/>
                  </a:ext>
                </a:extLst>
              </p:cNvPr>
              <p:cNvSpPr txBox="1">
                <a:spLocks noRot="1" noChangeAspect="1" noMove="1" noResize="1" noEditPoints="1" noAdjustHandles="1" noChangeArrowheads="1" noChangeShapeType="1" noTextEdit="1"/>
              </p:cNvSpPr>
              <p:nvPr/>
            </p:nvSpPr>
            <p:spPr>
              <a:xfrm>
                <a:off x="1479239" y="2274425"/>
                <a:ext cx="7254165" cy="1211550"/>
              </a:xfrm>
              <a:prstGeom prst="rect">
                <a:avLst/>
              </a:prstGeom>
              <a:blipFill>
                <a:blip r:embed="rId3"/>
                <a:stretch>
                  <a:fillRect l="-699" t="-112500" b="-175000"/>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8F10A78C-FB59-0C24-0F47-DB214D7FCD9E}"/>
              </a:ext>
            </a:extLst>
          </p:cNvPr>
          <p:cNvGrpSpPr/>
          <p:nvPr/>
        </p:nvGrpSpPr>
        <p:grpSpPr>
          <a:xfrm>
            <a:off x="1346656" y="3770345"/>
            <a:ext cx="7519329" cy="1375633"/>
            <a:chOff x="1314609" y="3582162"/>
            <a:chExt cx="7519329" cy="1375633"/>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7F389D2-1B35-F7B0-A5F5-5E4DB2D4CD4E}"/>
                    </a:ext>
                  </a:extLst>
                </p:cNvPr>
                <p:cNvSpPr txBox="1"/>
                <p:nvPr/>
              </p:nvSpPr>
              <p:spPr>
                <a:xfrm>
                  <a:off x="1314609" y="3582162"/>
                  <a:ext cx="4318042" cy="13756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800" i="1" smtClean="0">
                            <a:latin typeface="Cambria Math" panose="02040503050406030204" pitchFamily="18" charset="0"/>
                          </a:rPr>
                          <m:t>∴</m:t>
                        </m:r>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max</m:t>
                                </m:r>
                              </m:e>
                              <m:lim>
                                <m:r>
                                  <a:rPr kumimoji="1" lang="en-US" altLang="zh-CN" sz="2800" i="1">
                                    <a:latin typeface="Cambria Math" panose="02040503050406030204" pitchFamily="18" charset="0"/>
                                    <a:ea typeface="Cambria Math" panose="02040503050406030204" pitchFamily="18" charset="0"/>
                                  </a:rPr>
                                  <m:t>𝛼</m:t>
                                </m:r>
                              </m:lim>
                            </m:limLow>
                          </m:fName>
                          <m:e>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r>
                              <a:rPr kumimoji="1" lang="en-US" altLang="zh-CN" sz="2800" b="0" i="1" smtClean="0">
                                <a:latin typeface="Cambria Math" panose="02040503050406030204" pitchFamily="18" charset="0"/>
                                <a:ea typeface="Cambria Math" panose="02040503050406030204" pitchFamily="18" charset="0"/>
                              </a:rPr>
                              <m:t>=</m:t>
                            </m:r>
                            <m:d>
                              <m:dPr>
                                <m:begChr m:val="{"/>
                                <m:endChr m:val=""/>
                                <m:ctrlPr>
                                  <a:rPr kumimoji="1" lang="en-US" altLang="zh-CN" sz="2800" i="1" smtClean="0">
                                    <a:latin typeface="Cambria Math" panose="02040503050406030204" pitchFamily="18" charset="0"/>
                                    <a:ea typeface="Cambria Math" panose="02040503050406030204" pitchFamily="18" charset="0"/>
                                  </a:rPr>
                                </m:ctrlPr>
                              </m:dPr>
                              <m:e>
                                <m:eqArr>
                                  <m:eqArrPr>
                                    <m:ctrlPr>
                                      <a:rPr kumimoji="1" lang="en-US" altLang="zh-CN" sz="2800" i="1" smtClean="0">
                                        <a:latin typeface="Cambria Math" panose="02040503050406030204" pitchFamily="18" charset="0"/>
                                        <a:ea typeface="Cambria Math" panose="02040503050406030204" pitchFamily="18" charset="0"/>
                                      </a:rPr>
                                    </m:ctrlPr>
                                  </m:eqArrPr>
                                  <m:e>
                                    <m:f>
                                      <m:fPr>
                                        <m:ctrlPr>
                                          <a:rPr kumimoji="1" lang="en-US" altLang="zh-CN" sz="2800" i="1">
                                            <a:latin typeface="Cambria Math" panose="02040503050406030204" pitchFamily="18" charset="0"/>
                                          </a:rPr>
                                        </m:ctrlPr>
                                      </m:fPr>
                                      <m:num>
                                        <m:r>
                                          <a:rPr kumimoji="1" lang="en-US" altLang="zh-CN" sz="2800" i="1">
                                            <a:latin typeface="Cambria Math" panose="02040503050406030204" pitchFamily="18" charset="0"/>
                                          </a:rPr>
                                          <m:t>1</m:t>
                                        </m:r>
                                      </m:num>
                                      <m:den>
                                        <m:r>
                                          <a:rPr kumimoji="1" lang="en-US" altLang="zh-CN" sz="2800" i="1">
                                            <a:latin typeface="Cambria Math" panose="02040503050406030204" pitchFamily="18" charset="0"/>
                                          </a:rPr>
                                          <m:t>2</m:t>
                                        </m:r>
                                      </m:den>
                                    </m:f>
                                    <m:sSup>
                                      <m:sSupPr>
                                        <m:ctrlPr>
                                          <a:rPr kumimoji="1" lang="en-US" altLang="zh-CN" sz="2800" i="1">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i="1">
                                            <a:latin typeface="Cambria Math" panose="02040503050406030204" pitchFamily="18" charset="0"/>
                                          </a:rPr>
                                          <m:t>2</m:t>
                                        </m:r>
                                      </m:sup>
                                    </m:sSup>
                                  </m:e>
                                  <m:e>
                                    <m:r>
                                      <a:rPr kumimoji="1" lang="en-US" altLang="zh-CN" sz="2800" i="1" smtClean="0">
                                        <a:latin typeface="Cambria Math" panose="02040503050406030204" pitchFamily="18" charset="0"/>
                                        <a:ea typeface="Cambria Math" panose="02040503050406030204" pitchFamily="18" charset="0"/>
                                      </a:rPr>
                                      <m:t>∞</m:t>
                                    </m:r>
                                  </m:e>
                                </m:eqArr>
                              </m:e>
                            </m:d>
                          </m:e>
                        </m:func>
                      </m:oMath>
                    </m:oMathPara>
                  </a14:m>
                  <a:endParaRPr kumimoji="1" lang="zh-CN" altLang="en-US" sz="2800" dirty="0"/>
                </a:p>
              </p:txBody>
            </p:sp>
          </mc:Choice>
          <mc:Fallback xmlns="">
            <p:sp>
              <p:nvSpPr>
                <p:cNvPr id="4" name="文本框 3">
                  <a:extLst>
                    <a:ext uri="{FF2B5EF4-FFF2-40B4-BE49-F238E27FC236}">
                      <a16:creationId xmlns:a16="http://schemas.microsoft.com/office/drawing/2014/main" id="{97F389D2-1B35-F7B0-A5F5-5E4DB2D4CD4E}"/>
                    </a:ext>
                  </a:extLst>
                </p:cNvPr>
                <p:cNvSpPr txBox="1">
                  <a:spLocks noRot="1" noChangeAspect="1" noMove="1" noResize="1" noEditPoints="1" noAdjustHandles="1" noChangeArrowheads="1" noChangeShapeType="1" noTextEdit="1"/>
                </p:cNvSpPr>
                <p:nvPr/>
              </p:nvSpPr>
              <p:spPr>
                <a:xfrm>
                  <a:off x="1314609" y="3582162"/>
                  <a:ext cx="4318042" cy="1375633"/>
                </a:xfrm>
                <a:prstGeom prst="rect">
                  <a:avLst/>
                </a:prstGeom>
                <a:blipFill>
                  <a:blip r:embed="rId4"/>
                  <a:stretch>
                    <a:fillRect l="-882" t="-230000" r="-29706" b="-327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088D345-BAE8-509C-E6E7-884BC023D300}"/>
                    </a:ext>
                  </a:extLst>
                </p:cNvPr>
                <p:cNvSpPr txBox="1"/>
                <p:nvPr/>
              </p:nvSpPr>
              <p:spPr>
                <a:xfrm>
                  <a:off x="5337468" y="3910754"/>
                  <a:ext cx="349647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zh-CN" altLang="en-US" sz="2800" b="0" i="1" smtClean="0">
                            <a:latin typeface="Cambria Math" panose="02040503050406030204" pitchFamily="18" charset="0"/>
                          </a:rPr>
                          <m:t>，</m:t>
                        </m:r>
                        <m:r>
                          <a:rPr kumimoji="1" lang="zh-CN" altLang="en-US" sz="2800" i="1">
                            <a:latin typeface="Cambria Math" panose="02040503050406030204" pitchFamily="18" charset="0"/>
                          </a:rPr>
                          <m:t>当</m:t>
                        </m:r>
                        <m:r>
                          <a:rPr kumimoji="1" lang="zh-CN" altLang="en-US" sz="2800" i="1" smtClean="0">
                            <a:latin typeface="Cambria Math" panose="02040503050406030204" pitchFamily="18" charset="0"/>
                          </a:rPr>
                          <m:t>满足</m:t>
                        </m:r>
                        <m:r>
                          <a:rPr kumimoji="1" lang="zh-CN" altLang="en-US" sz="2800" i="1">
                            <a:latin typeface="Cambria Math" panose="02040503050406030204" pitchFamily="18" charset="0"/>
                          </a:rPr>
                          <m:t>约束</m:t>
                        </m:r>
                        <m:r>
                          <a:rPr kumimoji="1" lang="zh-CN" altLang="en-US" sz="2800" i="1" smtClean="0">
                            <a:latin typeface="Cambria Math" panose="02040503050406030204" pitchFamily="18" charset="0"/>
                          </a:rPr>
                          <m:t>条件</m:t>
                        </m:r>
                        <m:r>
                          <a:rPr kumimoji="1" lang="zh-CN" altLang="en-US" sz="2800" i="1">
                            <a:latin typeface="Cambria Math" panose="02040503050406030204" pitchFamily="18" charset="0"/>
                          </a:rPr>
                          <m:t>时</m:t>
                        </m:r>
                      </m:oMath>
                    </m:oMathPara>
                  </a14:m>
                  <a:endParaRPr kumimoji="1" lang="zh-CN" altLang="en-US" sz="2800" dirty="0"/>
                </a:p>
              </p:txBody>
            </p:sp>
          </mc:Choice>
          <mc:Fallback xmlns="">
            <p:sp>
              <p:nvSpPr>
                <p:cNvPr id="10" name="文本框 9">
                  <a:extLst>
                    <a:ext uri="{FF2B5EF4-FFF2-40B4-BE49-F238E27FC236}">
                      <a16:creationId xmlns:a16="http://schemas.microsoft.com/office/drawing/2014/main" id="{D088D345-BAE8-509C-E6E7-884BC023D300}"/>
                    </a:ext>
                  </a:extLst>
                </p:cNvPr>
                <p:cNvSpPr txBox="1">
                  <a:spLocks noRot="1" noChangeAspect="1" noMove="1" noResize="1" noEditPoints="1" noAdjustHandles="1" noChangeArrowheads="1" noChangeShapeType="1" noTextEdit="1"/>
                </p:cNvSpPr>
                <p:nvPr/>
              </p:nvSpPr>
              <p:spPr>
                <a:xfrm>
                  <a:off x="5337468" y="3910754"/>
                  <a:ext cx="3496470" cy="523220"/>
                </a:xfrm>
                <a:prstGeom prst="rect">
                  <a:avLst/>
                </a:prstGeom>
                <a:blipFill>
                  <a:blip r:embed="rId5"/>
                  <a:stretch>
                    <a:fillRect t="-2381" r="-725" b="-9524"/>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64F4EDE-18BC-3F89-B66E-FB755CD6CEEF}"/>
                  </a:ext>
                </a:extLst>
              </p:cNvPr>
              <p:cNvSpPr txBox="1"/>
              <p:nvPr/>
            </p:nvSpPr>
            <p:spPr>
              <a:xfrm>
                <a:off x="1357466" y="5505568"/>
                <a:ext cx="3214534" cy="5939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800" i="1" smtClean="0">
                          <a:latin typeface="Cambria Math" panose="02040503050406030204" pitchFamily="18" charset="0"/>
                        </a:rPr>
                        <m:t>∴</m:t>
                      </m:r>
                      <m:func>
                        <m:funcPr>
                          <m:ctrlPr>
                            <a:rPr kumimoji="1" lang="en-US" altLang="zh-CN" sz="2800" i="1">
                              <a:latin typeface="Cambria Math" panose="02040503050406030204" pitchFamily="18" charset="0"/>
                            </a:rPr>
                          </m:ctrlPr>
                        </m:funcPr>
                        <m:fName>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min</m:t>
                              </m:r>
                            </m:e>
                            <m:lim>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lim>
                          </m:limLow>
                        </m:fName>
                        <m:e>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max</m:t>
                              </m:r>
                            </m:e>
                            <m:lim>
                              <m:r>
                                <a:rPr kumimoji="1" lang="en-US" altLang="zh-CN" sz="2800" i="1">
                                  <a:latin typeface="Cambria Math" panose="02040503050406030204" pitchFamily="18" charset="0"/>
                                  <a:ea typeface="Cambria Math" panose="02040503050406030204" pitchFamily="18" charset="0"/>
                                </a:rPr>
                                <m:t>𝛼</m:t>
                              </m:r>
                            </m:lim>
                          </m:limLow>
                        </m:e>
                      </m:func>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oMath>
                  </m:oMathPara>
                </a14:m>
                <a:endParaRPr kumimoji="1" lang="zh-CN" altLang="en-US" sz="2800" dirty="0"/>
              </a:p>
            </p:txBody>
          </p:sp>
        </mc:Choice>
        <mc:Fallback xmlns="">
          <p:sp>
            <p:nvSpPr>
              <p:cNvPr id="11" name="文本框 10">
                <a:extLst>
                  <a:ext uri="{FF2B5EF4-FFF2-40B4-BE49-F238E27FC236}">
                    <a16:creationId xmlns:a16="http://schemas.microsoft.com/office/drawing/2014/main" id="{464F4EDE-18BC-3F89-B66E-FB755CD6CEEF}"/>
                  </a:ext>
                </a:extLst>
              </p:cNvPr>
              <p:cNvSpPr txBox="1">
                <a:spLocks noRot="1" noChangeAspect="1" noMove="1" noResize="1" noEditPoints="1" noAdjustHandles="1" noChangeArrowheads="1" noChangeShapeType="1" noTextEdit="1"/>
              </p:cNvSpPr>
              <p:nvPr/>
            </p:nvSpPr>
            <p:spPr>
              <a:xfrm>
                <a:off x="1357466" y="5505568"/>
                <a:ext cx="3214534" cy="593945"/>
              </a:xfrm>
              <a:prstGeom prst="rect">
                <a:avLst/>
              </a:prstGeom>
              <a:blipFill>
                <a:blip r:embed="rId6"/>
                <a:stretch>
                  <a:fillRect l="-1186"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B390B7A-6E10-2952-8A29-2AC7AF64713D}"/>
                  </a:ext>
                </a:extLst>
              </p:cNvPr>
              <p:cNvSpPr txBox="1"/>
              <p:nvPr/>
            </p:nvSpPr>
            <p:spPr>
              <a:xfrm>
                <a:off x="4478215" y="5505568"/>
                <a:ext cx="349647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zh-CN" altLang="en-US" sz="2800" i="1">
                          <a:latin typeface="Cambria Math" panose="02040503050406030204" pitchFamily="18" charset="0"/>
                        </a:rPr>
                        <m:t>与原始优化问题等价</m:t>
                      </m:r>
                    </m:oMath>
                  </m:oMathPara>
                </a14:m>
                <a:endParaRPr kumimoji="1" lang="zh-CN" altLang="en-US" sz="2800" dirty="0"/>
              </a:p>
            </p:txBody>
          </p:sp>
        </mc:Choice>
        <mc:Fallback xmlns="">
          <p:sp>
            <p:nvSpPr>
              <p:cNvPr id="12" name="文本框 11">
                <a:extLst>
                  <a:ext uri="{FF2B5EF4-FFF2-40B4-BE49-F238E27FC236}">
                    <a16:creationId xmlns:a16="http://schemas.microsoft.com/office/drawing/2014/main" id="{4B390B7A-6E10-2952-8A29-2AC7AF64713D}"/>
                  </a:ext>
                </a:extLst>
              </p:cNvPr>
              <p:cNvSpPr txBox="1">
                <a:spLocks noRot="1" noChangeAspect="1" noMove="1" noResize="1" noEditPoints="1" noAdjustHandles="1" noChangeArrowheads="1" noChangeShapeType="1" noTextEdit="1"/>
              </p:cNvSpPr>
              <p:nvPr/>
            </p:nvSpPr>
            <p:spPr>
              <a:xfrm>
                <a:off x="4478215" y="5505568"/>
                <a:ext cx="3496470" cy="523220"/>
              </a:xfrm>
              <a:prstGeom prst="rect">
                <a:avLst/>
              </a:prstGeom>
              <a:blipFill>
                <a:blip r:embed="rId7"/>
                <a:stretch>
                  <a:fillRect l="-725" t="-2381" r="-725" b="-95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2002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p:txBody>
          <a:bodyPr/>
          <a:lstStyle/>
          <a:p>
            <a:r>
              <a:rPr lang="zh-CN" altLang="en-US" dirty="0"/>
              <a:t>对偶问题</a:t>
            </a:r>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当满足</a:t>
            </a:r>
            <a:r>
              <a:rPr lang="en-US" altLang="zh-CN" dirty="0"/>
              <a:t>KKT</a:t>
            </a:r>
            <a:r>
              <a:rPr lang="zh-CN" altLang="en-US" dirty="0"/>
              <a:t>条件时，上式等号成立</a:t>
            </a:r>
            <a:endParaRPr lang="en-US" altLang="zh-CN" dirty="0"/>
          </a:p>
          <a:p>
            <a:r>
              <a:rPr lang="zh-CN" altLang="en-US" dirty="0"/>
              <a:t>所以可以通过求解对偶优化问题求解原始优化问题</a:t>
            </a:r>
          </a:p>
        </p:txBody>
      </p:sp>
      <mc:AlternateContent xmlns:mc="http://schemas.openxmlformats.org/markup-compatibility/2006" xmlns:a14="http://schemas.microsoft.com/office/drawing/2010/main">
        <mc:Choice Requires="a14">
          <p:sp>
            <p:nvSpPr>
              <p:cNvPr id="4" name="Object 2" descr="羊皮纸"/>
              <p:cNvSpPr txBox="1"/>
              <p:nvPr/>
            </p:nvSpPr>
            <p:spPr bwMode="auto">
              <a:xfrm>
                <a:off x="1304924" y="2030413"/>
                <a:ext cx="7187497" cy="709612"/>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limLow>
                        <m:limLowPr>
                          <m:ctrlPr>
                            <a:rPr lang="zh-CN" altLang="en-US" sz="2800" i="1" smtClean="0">
                              <a:solidFill>
                                <a:srgbClr val="000000"/>
                              </a:solidFill>
                              <a:latin typeface="Cambria Math" panose="02040503050406030204" pitchFamily="18" charset="0"/>
                            </a:rPr>
                          </m:ctrlPr>
                        </m:limLowPr>
                        <m:e>
                          <m:r>
                            <m:rPr>
                              <m:sty m:val="p"/>
                            </m:rPr>
                            <a:rPr lang="zh-CN" altLang="en-US" sz="2800">
                              <a:solidFill>
                                <a:srgbClr val="000000"/>
                              </a:solidFill>
                              <a:latin typeface="Cambria Math" panose="02040503050406030204" pitchFamily="18" charset="0"/>
                            </a:rPr>
                            <m:t>min</m:t>
                          </m:r>
                        </m:e>
                        <m:lim>
                          <m:r>
                            <a:rPr lang="zh-CN" altLang="en-US" sz="2800" i="1">
                              <a:solidFill>
                                <a:srgbClr val="000000"/>
                              </a:solidFill>
                              <a:latin typeface="Cambria Math" panose="02040503050406030204" pitchFamily="18" charset="0"/>
                            </a:rPr>
                            <m:t>𝑤</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𝑏</m:t>
                          </m:r>
                        </m:lim>
                      </m:limLow>
                      <m:limLow>
                        <m:limLowPr>
                          <m:ctrlPr>
                            <a:rPr lang="zh-CN" altLang="en-US" sz="2800" i="1">
                              <a:solidFill>
                                <a:srgbClr val="000000"/>
                              </a:solidFill>
                              <a:latin typeface="Cambria Math" panose="02040503050406030204" pitchFamily="18" charset="0"/>
                            </a:rPr>
                          </m:ctrlPr>
                        </m:limLowPr>
                        <m:e>
                          <m:r>
                            <m:rPr>
                              <m:sty m:val="p"/>
                            </m:rPr>
                            <a:rPr lang="zh-CN" altLang="en-US" sz="2800">
                              <a:solidFill>
                                <a:srgbClr val="000000"/>
                              </a:solidFill>
                              <a:latin typeface="Cambria Math" panose="02040503050406030204" pitchFamily="18" charset="0"/>
                            </a:rPr>
                            <m:t>max</m:t>
                          </m:r>
                        </m:e>
                        <m:lim>
                          <m:r>
                            <a:rPr lang="zh-CN" altLang="en-US" sz="2800" i="1">
                              <a:solidFill>
                                <a:srgbClr val="000000"/>
                              </a:solidFill>
                              <a:latin typeface="Cambria Math" panose="02040503050406030204" pitchFamily="18" charset="0"/>
                            </a:rPr>
                            <m:t>𝛼</m:t>
                          </m:r>
                        </m:lim>
                      </m:limLow>
                      <m:r>
                        <a:rPr lang="zh-CN" altLang="en-US" sz="2800" i="1" smtClean="0">
                          <a:solidFill>
                            <a:srgbClr val="000000"/>
                          </a:solidFill>
                          <a:latin typeface="Cambria Math" panose="02040503050406030204" pitchFamily="18" charset="0"/>
                        </a:rPr>
                        <m:t> </m:t>
                      </m:r>
                      <m:d>
                        <m:dPr>
                          <m:ctrlPr>
                            <a:rPr lang="zh-CN" altLang="en-US" sz="2800" i="1">
                              <a:solidFill>
                                <a:srgbClr val="000000"/>
                              </a:solidFill>
                              <a:latin typeface="Cambria Math" panose="02040503050406030204" pitchFamily="18" charset="0"/>
                            </a:rPr>
                          </m:ctrlPr>
                        </m:dPr>
                        <m:e>
                          <m:r>
                            <a:rPr lang="zh-CN" altLang="en-US" sz="2800" i="1">
                              <a:solidFill>
                                <a:srgbClr val="000000"/>
                              </a:solidFill>
                              <a:latin typeface="Cambria Math" panose="02040503050406030204" pitchFamily="18" charset="0"/>
                            </a:rPr>
                            <m:t>𝐿</m:t>
                          </m:r>
                          <m:d>
                            <m:dPr>
                              <m:ctrlPr>
                                <a:rPr lang="zh-CN" altLang="en-US" sz="2800" i="1">
                                  <a:solidFill>
                                    <a:srgbClr val="000000"/>
                                  </a:solidFill>
                                  <a:latin typeface="Cambria Math" panose="02040503050406030204" pitchFamily="18" charset="0"/>
                                </a:rPr>
                              </m:ctrlPr>
                            </m:dPr>
                            <m:e>
                              <m:r>
                                <a:rPr lang="zh-CN" altLang="en-US" sz="2800" i="1">
                                  <a:solidFill>
                                    <a:srgbClr val="000000"/>
                                  </a:solidFill>
                                  <a:latin typeface="Cambria Math" panose="02040503050406030204" pitchFamily="18" charset="0"/>
                                </a:rPr>
                                <m:t>𝑤</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𝑏</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𝛼</m:t>
                              </m:r>
                            </m:e>
                          </m:d>
                        </m:e>
                      </m:d>
                      <m:r>
                        <a:rPr lang="en-US" altLang="zh-CN" sz="2800" b="0" i="1" smtClean="0">
                          <a:solidFill>
                            <a:srgbClr val="000000"/>
                          </a:solidFill>
                          <a:latin typeface="Cambria Math" panose="02040503050406030204" pitchFamily="18" charset="0"/>
                        </a:rPr>
                        <m:t>  </m:t>
                      </m:r>
                      <m:r>
                        <a:rPr lang="en-US" altLang="zh-CN"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  </m:t>
                      </m:r>
                      <m:limLow>
                        <m:limLowPr>
                          <m:ctrlPr>
                            <a:rPr lang="zh-CN" altLang="en-US" sz="2800" i="1" smtClean="0">
                              <a:solidFill>
                                <a:srgbClr val="FF0000"/>
                              </a:solidFill>
                              <a:latin typeface="Cambria Math" panose="02040503050406030204" pitchFamily="18" charset="0"/>
                            </a:rPr>
                          </m:ctrlPr>
                        </m:limLowPr>
                        <m:e>
                          <m:r>
                            <m:rPr>
                              <m:sty m:val="p"/>
                            </m:rPr>
                            <a:rPr lang="zh-CN" altLang="en-US" sz="2800" i="0">
                              <a:solidFill>
                                <a:srgbClr val="FF0000"/>
                              </a:solidFill>
                              <a:latin typeface="Cambria Math" panose="02040503050406030204" pitchFamily="18" charset="0"/>
                            </a:rPr>
                            <m:t>max</m:t>
                          </m:r>
                        </m:e>
                        <m:lim>
                          <m:r>
                            <a:rPr lang="zh-CN" altLang="en-US" sz="2800" i="1">
                              <a:solidFill>
                                <a:srgbClr val="FF0000"/>
                              </a:solidFill>
                              <a:latin typeface="Cambria Math" panose="02040503050406030204" pitchFamily="18" charset="0"/>
                            </a:rPr>
                            <m:t>𝛼</m:t>
                          </m:r>
                        </m:lim>
                      </m:limLow>
                      <m:limLow>
                        <m:limLowPr>
                          <m:ctrlPr>
                            <a:rPr lang="zh-CN" altLang="en-US" sz="2800" i="1">
                              <a:solidFill>
                                <a:srgbClr val="FF0000"/>
                              </a:solidFill>
                              <a:latin typeface="Cambria Math" panose="02040503050406030204" pitchFamily="18" charset="0"/>
                            </a:rPr>
                          </m:ctrlPr>
                        </m:limLowPr>
                        <m:e>
                          <m:r>
                            <m:rPr>
                              <m:sty m:val="p"/>
                            </m:rPr>
                            <a:rPr lang="zh-CN" altLang="en-US" sz="2800" i="0">
                              <a:solidFill>
                                <a:srgbClr val="FF0000"/>
                              </a:solidFill>
                              <a:latin typeface="Cambria Math" panose="02040503050406030204" pitchFamily="18" charset="0"/>
                            </a:rPr>
                            <m:t>min</m:t>
                          </m:r>
                        </m:e>
                        <m:lim>
                          <m:r>
                            <a:rPr lang="zh-CN" altLang="en-US" sz="2800" i="1">
                              <a:solidFill>
                                <a:srgbClr val="FF0000"/>
                              </a:solidFill>
                              <a:latin typeface="Cambria Math" panose="02040503050406030204" pitchFamily="18" charset="0"/>
                            </a:rPr>
                            <m:t>𝑤</m:t>
                          </m:r>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𝑏</m:t>
                          </m:r>
                        </m:lim>
                      </m:limLow>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𝐿</m:t>
                      </m:r>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𝑤</m:t>
                      </m:r>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𝑏</m:t>
                      </m:r>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𝛼</m:t>
                      </m:r>
                      <m:r>
                        <a:rPr lang="zh-CN" altLang="en-US" sz="2800" i="1">
                          <a:solidFill>
                            <a:srgbClr val="FF0000"/>
                          </a:solidFill>
                          <a:latin typeface="Cambria Math" panose="02040503050406030204" pitchFamily="18" charset="0"/>
                        </a:rPr>
                        <m:t>))</m:t>
                      </m:r>
                    </m:oMath>
                  </m:oMathPara>
                </a14:m>
                <a:endParaRPr lang="zh-CN" altLang="en-US" sz="2800" dirty="0"/>
              </a:p>
            </p:txBody>
          </p:sp>
        </mc:Choice>
        <mc:Fallback xmlns="">
          <p:sp>
            <p:nvSpPr>
              <p:cNvPr id="4" name="Object 2" descr="羊皮纸"/>
              <p:cNvSpPr txBox="1">
                <a:spLocks noRot="1" noChangeAspect="1" noMove="1" noResize="1" noEditPoints="1" noAdjustHandles="1" noChangeArrowheads="1" noChangeShapeType="1" noTextEdit="1"/>
              </p:cNvSpPr>
              <p:nvPr/>
            </p:nvSpPr>
            <p:spPr bwMode="auto">
              <a:xfrm>
                <a:off x="1304924" y="2030413"/>
                <a:ext cx="7187497" cy="70961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2B1472B-3477-6948-AB89-3280122E3E0D}"/>
                  </a:ext>
                </a:extLst>
              </p:cNvPr>
              <p:cNvSpPr txBox="1"/>
              <p:nvPr/>
            </p:nvSpPr>
            <p:spPr>
              <a:xfrm>
                <a:off x="1246406" y="3000857"/>
                <a:ext cx="6797694" cy="5939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min</m:t>
                              </m:r>
                            </m:e>
                            <m:lim>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lim>
                          </m:limLow>
                        </m:fName>
                        <m:e>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e>
                      </m:func>
                      <m:r>
                        <a:rPr kumimoji="1" lang="en-US" altLang="zh-CN" sz="2800" i="1" smtClean="0">
                          <a:latin typeface="Cambria Math" panose="02040503050406030204" pitchFamily="18" charset="0"/>
                          <a:ea typeface="Cambria Math" panose="02040503050406030204" pitchFamily="18" charset="0"/>
                        </a:rPr>
                        <m:t>≤</m:t>
                      </m:r>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r>
                        <a:rPr kumimoji="1" lang="en-US" altLang="zh-CN" sz="2800" i="1" smtClean="0">
                          <a:latin typeface="Cambria Math" panose="02040503050406030204" pitchFamily="18" charset="0"/>
                          <a:ea typeface="Cambria Math" panose="02040503050406030204" pitchFamily="18" charset="0"/>
                        </a:rPr>
                        <m:t>≤</m:t>
                      </m:r>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max</m:t>
                          </m:r>
                        </m:e>
                        <m:lim>
                          <m:r>
                            <a:rPr kumimoji="1" lang="en-US" altLang="zh-CN" sz="2800" i="1">
                              <a:latin typeface="Cambria Math" panose="02040503050406030204" pitchFamily="18" charset="0"/>
                              <a:ea typeface="Cambria Math" panose="02040503050406030204" pitchFamily="18" charset="0"/>
                            </a:rPr>
                            <m:t>𝛼</m:t>
                          </m:r>
                        </m:lim>
                      </m:limLow>
                      <m:r>
                        <a:rPr kumimoji="1" lang="zh-CN" altLang="en-US" sz="2800" b="0" i="1" smtClean="0">
                          <a:latin typeface="Cambria Math" panose="02040503050406030204" pitchFamily="18" charset="0"/>
                          <a:ea typeface="Cambria Math" panose="02040503050406030204" pitchFamily="18" charset="0"/>
                        </a:rPr>
                        <m:t> </m:t>
                      </m:r>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oMath>
                  </m:oMathPara>
                </a14:m>
                <a:endParaRPr kumimoji="1" lang="zh-CN" altLang="en-US" sz="2800" dirty="0"/>
              </a:p>
            </p:txBody>
          </p:sp>
        </mc:Choice>
        <mc:Fallback xmlns="">
          <p:sp>
            <p:nvSpPr>
              <p:cNvPr id="7" name="文本框 6">
                <a:extLst>
                  <a:ext uri="{FF2B5EF4-FFF2-40B4-BE49-F238E27FC236}">
                    <a16:creationId xmlns:a16="http://schemas.microsoft.com/office/drawing/2014/main" id="{62B1472B-3477-6948-AB89-3280122E3E0D}"/>
                  </a:ext>
                </a:extLst>
              </p:cNvPr>
              <p:cNvSpPr txBox="1">
                <a:spLocks noRot="1" noChangeAspect="1" noMove="1" noResize="1" noEditPoints="1" noAdjustHandles="1" noChangeArrowheads="1" noChangeShapeType="1" noTextEdit="1"/>
              </p:cNvSpPr>
              <p:nvPr/>
            </p:nvSpPr>
            <p:spPr>
              <a:xfrm>
                <a:off x="1246406" y="3000857"/>
                <a:ext cx="6797694" cy="593945"/>
              </a:xfrm>
              <a:prstGeom prst="rect">
                <a:avLst/>
              </a:prstGeom>
              <a:blipFill>
                <a:blip r:embed="rId5"/>
                <a:stretch>
                  <a:fillRect l="-559" t="-4167"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1E77E40-3AE4-A8CE-36C2-DD825F214393}"/>
                  </a:ext>
                </a:extLst>
              </p:cNvPr>
              <p:cNvSpPr txBox="1"/>
              <p:nvPr/>
            </p:nvSpPr>
            <p:spPr>
              <a:xfrm>
                <a:off x="1246406" y="3916383"/>
                <a:ext cx="6264022" cy="5939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max</m:t>
                              </m:r>
                            </m:e>
                            <m:lim>
                              <m:r>
                                <a:rPr kumimoji="1" lang="en-US" altLang="zh-CN" sz="2800" i="1">
                                  <a:latin typeface="Cambria Math" panose="02040503050406030204" pitchFamily="18" charset="0"/>
                                  <a:ea typeface="Cambria Math" panose="02040503050406030204" pitchFamily="18" charset="0"/>
                                </a:rPr>
                                <m:t>𝛼</m:t>
                              </m:r>
                            </m:lim>
                          </m:limLow>
                          <m:r>
                            <a:rPr kumimoji="1" lang="zh-CN" altLang="en-US" sz="2800" b="0" i="1" smtClean="0">
                              <a:latin typeface="Cambria Math" panose="02040503050406030204" pitchFamily="18" charset="0"/>
                              <a:ea typeface="Cambria Math" panose="02040503050406030204" pitchFamily="18" charset="0"/>
                            </a:rPr>
                            <m:t> </m:t>
                          </m:r>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min</m:t>
                              </m:r>
                            </m:e>
                            <m:lim>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lim>
                          </m:limLow>
                        </m:fName>
                        <m:e>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e>
                      </m:func>
                      <m:r>
                        <a:rPr kumimoji="1" lang="en-US" altLang="zh-CN" sz="2800" i="1" smtClean="0">
                          <a:latin typeface="Cambria Math" panose="02040503050406030204" pitchFamily="18" charset="0"/>
                          <a:ea typeface="Cambria Math" panose="02040503050406030204" pitchFamily="18" charset="0"/>
                        </a:rPr>
                        <m:t>≤</m:t>
                      </m:r>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min</m:t>
                          </m:r>
                        </m:e>
                        <m:lim>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lim>
                      </m:limLow>
                      <m:r>
                        <a:rPr kumimoji="1" lang="zh-CN" altLang="en-US" sz="2800" b="0" i="1" smtClean="0">
                          <a:latin typeface="Cambria Math" panose="02040503050406030204" pitchFamily="18" charset="0"/>
                        </a:rPr>
                        <m:t> </m:t>
                      </m:r>
                      <m:limLow>
                        <m:limLowPr>
                          <m:ctrlPr>
                            <a:rPr kumimoji="1" lang="en-US" altLang="zh-CN" sz="2800" i="1">
                              <a:latin typeface="Cambria Math" panose="02040503050406030204" pitchFamily="18" charset="0"/>
                            </a:rPr>
                          </m:ctrlPr>
                        </m:limLowPr>
                        <m:e>
                          <m:r>
                            <m:rPr>
                              <m:sty m:val="p"/>
                            </m:rPr>
                            <a:rPr kumimoji="1" lang="en-US" altLang="zh-CN" sz="2800">
                              <a:latin typeface="Cambria Math" panose="02040503050406030204" pitchFamily="18" charset="0"/>
                            </a:rPr>
                            <m:t>max</m:t>
                          </m:r>
                        </m:e>
                        <m:lim>
                          <m:r>
                            <a:rPr kumimoji="1" lang="en-US" altLang="zh-CN" sz="2800" i="1">
                              <a:latin typeface="Cambria Math" panose="02040503050406030204" pitchFamily="18" charset="0"/>
                              <a:ea typeface="Cambria Math" panose="02040503050406030204" pitchFamily="18" charset="0"/>
                            </a:rPr>
                            <m:t>𝛼</m:t>
                          </m:r>
                        </m:lim>
                      </m:limLow>
                      <m:r>
                        <a:rPr kumimoji="1" lang="zh-CN" altLang="en-US" sz="2800" b="0" i="1" smtClean="0">
                          <a:latin typeface="Cambria Math" panose="02040503050406030204" pitchFamily="18" charset="0"/>
                          <a:ea typeface="Cambria Math" panose="02040503050406030204" pitchFamily="18" charset="0"/>
                        </a:rPr>
                        <m:t> </m:t>
                      </m:r>
                      <m:r>
                        <a:rPr kumimoji="1" lang="en-US" altLang="zh-CN" sz="2800" i="1">
                          <a:latin typeface="Cambria Math" panose="02040503050406030204" pitchFamily="18" charset="0"/>
                        </a:rPr>
                        <m:t>𝐿</m:t>
                      </m:r>
                      <m:d>
                        <m:dPr>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𝑏</m:t>
                          </m:r>
                          <m:r>
                            <a:rPr kumimoji="1" lang="en-US" altLang="zh-CN" sz="2800" i="1">
                              <a:latin typeface="Cambria Math" panose="02040503050406030204" pitchFamily="18" charset="0"/>
                            </a:rPr>
                            <m:t>,</m:t>
                          </m:r>
                          <m:r>
                            <a:rPr kumimoji="1" lang="en-US" altLang="zh-CN" sz="2800" i="1">
                              <a:latin typeface="Cambria Math" panose="02040503050406030204" pitchFamily="18" charset="0"/>
                              <a:ea typeface="Cambria Math" panose="02040503050406030204" pitchFamily="18" charset="0"/>
                            </a:rPr>
                            <m:t>𝛼</m:t>
                          </m:r>
                        </m:e>
                      </m:d>
                    </m:oMath>
                  </m:oMathPara>
                </a14:m>
                <a:endParaRPr kumimoji="1" lang="zh-CN" altLang="en-US" sz="2800" dirty="0"/>
              </a:p>
            </p:txBody>
          </p:sp>
        </mc:Choice>
        <mc:Fallback xmlns="">
          <p:sp>
            <p:nvSpPr>
              <p:cNvPr id="8" name="文本框 7">
                <a:extLst>
                  <a:ext uri="{FF2B5EF4-FFF2-40B4-BE49-F238E27FC236}">
                    <a16:creationId xmlns:a16="http://schemas.microsoft.com/office/drawing/2014/main" id="{C1E77E40-3AE4-A8CE-36C2-DD825F214393}"/>
                  </a:ext>
                </a:extLst>
              </p:cNvPr>
              <p:cNvSpPr txBox="1">
                <a:spLocks noRot="1" noChangeAspect="1" noMove="1" noResize="1" noEditPoints="1" noAdjustHandles="1" noChangeArrowheads="1" noChangeShapeType="1" noTextEdit="1"/>
              </p:cNvSpPr>
              <p:nvPr/>
            </p:nvSpPr>
            <p:spPr>
              <a:xfrm>
                <a:off x="1246406" y="3916383"/>
                <a:ext cx="6264022" cy="593945"/>
              </a:xfrm>
              <a:prstGeom prst="rect">
                <a:avLst/>
              </a:prstGeom>
              <a:blipFill>
                <a:blip r:embed="rId6"/>
                <a:stretch>
                  <a:fillRect l="-202" t="-4167" b="-8333"/>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174B5A67-81AE-83CC-A3E2-3D35221F8342}"/>
              </a:ext>
            </a:extLst>
          </p:cNvPr>
          <p:cNvSpPr txBox="1"/>
          <p:nvPr/>
        </p:nvSpPr>
        <p:spPr>
          <a:xfrm>
            <a:off x="914400" y="6341381"/>
            <a:ext cx="4649030" cy="369332"/>
          </a:xfrm>
          <a:prstGeom prst="rect">
            <a:avLst/>
          </a:prstGeom>
          <a:noFill/>
        </p:spPr>
        <p:txBody>
          <a:bodyPr wrap="none" rtlCol="0">
            <a:spAutoFit/>
          </a:bodyPr>
          <a:lstStyle/>
          <a:p>
            <a:r>
              <a:rPr kumimoji="1" lang="en-US" altLang="zh-CN" dirty="0"/>
              <a:t>https://</a:t>
            </a:r>
            <a:r>
              <a:rPr kumimoji="1" lang="en-US" altLang="zh-CN" dirty="0" err="1"/>
              <a:t>en.wikipedia.org</a:t>
            </a:r>
            <a:r>
              <a:rPr kumimoji="1" lang="en-US" altLang="zh-CN" dirty="0"/>
              <a:t>/wiki/Max–</a:t>
            </a:r>
            <a:r>
              <a:rPr kumimoji="1" lang="en-US" altLang="zh-CN" dirty="0" err="1"/>
              <a:t>min_inequality</a:t>
            </a:r>
            <a:endParaRPr kumimoji="1" lang="zh-CN" altLang="en-US" dirty="0"/>
          </a:p>
        </p:txBody>
      </p:sp>
      <p:sp>
        <p:nvSpPr>
          <p:cNvPr id="11" name="文本框 10">
            <a:extLst>
              <a:ext uri="{FF2B5EF4-FFF2-40B4-BE49-F238E27FC236}">
                <a16:creationId xmlns:a16="http://schemas.microsoft.com/office/drawing/2014/main" id="{CFF13CA4-1A99-E362-AD29-A3668650A761}"/>
              </a:ext>
            </a:extLst>
          </p:cNvPr>
          <p:cNvSpPr txBox="1"/>
          <p:nvPr/>
        </p:nvSpPr>
        <p:spPr>
          <a:xfrm>
            <a:off x="914400" y="6046462"/>
            <a:ext cx="4572000" cy="369332"/>
          </a:xfrm>
          <a:prstGeom prst="rect">
            <a:avLst/>
          </a:prstGeom>
          <a:noFill/>
        </p:spPr>
        <p:txBody>
          <a:bodyPr wrap="square">
            <a:spAutoFit/>
          </a:bodyPr>
          <a:lstStyle/>
          <a:p>
            <a:r>
              <a:rPr lang="zh-CN" altLang="en-US" dirty="0"/>
              <a:t>https://en.wikipedia.org/wiki/Minimax_theorem</a:t>
            </a:r>
          </a:p>
        </p:txBody>
      </p:sp>
    </p:spTree>
    <p:extLst>
      <p:ext uri="{BB962C8B-B14F-4D97-AF65-F5344CB8AC3E}">
        <p14:creationId xmlns:p14="http://schemas.microsoft.com/office/powerpoint/2010/main" val="463807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79A8694-F63A-7AA0-C963-50B816596051}"/>
                  </a:ext>
                </a:extLst>
              </p:cNvPr>
              <p:cNvSpPr txBox="1"/>
              <p:nvPr/>
            </p:nvSpPr>
            <p:spPr>
              <a:xfrm>
                <a:off x="2433260" y="782641"/>
                <a:ext cx="5995744"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limLow>
                        <m:limLowPr>
                          <m:ctrlPr>
                            <a:rPr kumimoji="1" lang="en-US" altLang="zh-CN" sz="2400" i="1" smtClean="0">
                              <a:latin typeface="Cambria Math" panose="02040503050406030204" pitchFamily="18" charset="0"/>
                            </a:rPr>
                          </m:ctrlPr>
                        </m:limLowPr>
                        <m:e>
                          <m:r>
                            <m:rPr>
                              <m:sty m:val="p"/>
                            </m:rPr>
                            <a:rPr kumimoji="1" lang="en-US" altLang="zh-CN" sz="2400">
                              <a:latin typeface="Cambria Math" panose="02040503050406030204" pitchFamily="18" charset="0"/>
                            </a:rPr>
                            <m:t>min</m:t>
                          </m:r>
                        </m:e>
                        <m:lim>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lim>
                      </m:limLow>
                      <m:r>
                        <a:rPr kumimoji="1" lang="zh-CN" altLang="en-US" sz="2400" b="0" i="1" smtClean="0">
                          <a:latin typeface="Cambria Math" panose="02040503050406030204" pitchFamily="18" charset="0"/>
                        </a:rPr>
                        <m:t> </m:t>
                      </m:r>
                      <m:limLow>
                        <m:limLowPr>
                          <m:ctrlPr>
                            <a:rPr kumimoji="1" lang="en-US" altLang="zh-CN" sz="2400" i="1">
                              <a:latin typeface="Cambria Math" panose="02040503050406030204" pitchFamily="18" charset="0"/>
                            </a:rPr>
                          </m:ctrlPr>
                        </m:limLowPr>
                        <m:e>
                          <m:r>
                            <m:rPr>
                              <m:sty m:val="p"/>
                            </m:rPr>
                            <a:rPr kumimoji="1" lang="en-US" altLang="zh-CN" sz="2400">
                              <a:latin typeface="Cambria Math" panose="02040503050406030204" pitchFamily="18" charset="0"/>
                            </a:rPr>
                            <m:t>max</m:t>
                          </m:r>
                        </m:e>
                        <m:lim>
                          <m:r>
                            <a:rPr kumimoji="1" lang="en-US" altLang="zh-CN" sz="2400" i="1">
                              <a:latin typeface="Cambria Math" panose="02040503050406030204" pitchFamily="18" charset="0"/>
                              <a:ea typeface="Cambria Math" panose="02040503050406030204" pitchFamily="18" charset="0"/>
                            </a:rPr>
                            <m:t>𝛼</m:t>
                          </m:r>
                        </m:lim>
                      </m:limLow>
                      <m:d>
                        <m:dPr>
                          <m:begChr m:val="["/>
                          <m:endChr m:val="]"/>
                          <m:ctrlPr>
                            <a:rPr kumimoji="1" lang="en-US" altLang="zh-CN" sz="2400" i="1" smtClean="0">
                              <a:latin typeface="Cambria Math" panose="02040503050406030204" pitchFamily="18" charset="0"/>
                              <a:ea typeface="Cambria Math" panose="02040503050406030204" pitchFamily="18" charset="0"/>
                            </a:rPr>
                          </m:ctrlPr>
                        </m:dPr>
                        <m:e>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1</m:t>
                              </m:r>
                            </m:num>
                            <m:den>
                              <m:r>
                                <a:rPr kumimoji="1" lang="en-US" altLang="zh-CN" sz="2400" i="1">
                                  <a:latin typeface="Cambria Math" panose="02040503050406030204" pitchFamily="18" charset="0"/>
                                </a:rPr>
                                <m:t>2</m:t>
                              </m:r>
                            </m:den>
                          </m:f>
                          <m:sSup>
                            <m:sSupPr>
                              <m:ctrlPr>
                                <a:rPr kumimoji="1" lang="en-US" altLang="zh-CN" sz="2400" i="1">
                                  <a:latin typeface="Cambria Math" panose="02040503050406030204" pitchFamily="18" charset="0"/>
                                </a:rPr>
                              </m:ctrlPr>
                            </m:sSupPr>
                            <m:e>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e>
                              </m:d>
                            </m:e>
                            <m:sup>
                              <m:r>
                                <a:rPr kumimoji="1" lang="en-US" altLang="zh-CN" sz="2400" i="1">
                                  <a:latin typeface="Cambria Math" panose="02040503050406030204" pitchFamily="18" charset="0"/>
                                </a:rPr>
                                <m:t>2</m:t>
                              </m:r>
                            </m:sup>
                          </m:sSup>
                          <m:r>
                            <a:rPr kumimoji="1" lang="en-US" altLang="zh-CN" sz="2400" i="1">
                              <a:latin typeface="Cambria Math" panose="02040503050406030204" pitchFamily="18" charset="0"/>
                            </a:rPr>
                            <m:t>+</m:t>
                          </m:r>
                          <m:nary>
                            <m:naryPr>
                              <m:chr m:val="∑"/>
                              <m:ctrlPr>
                                <a:rPr kumimoji="1" lang="en-US" altLang="zh-CN" sz="2400" i="1">
                                  <a:latin typeface="Cambria Math" panose="02040503050406030204" pitchFamily="18" charset="0"/>
                                </a:rPr>
                              </m:ctrlPr>
                            </m:naryPr>
                            <m:sub>
                              <m:r>
                                <m:rPr>
                                  <m:brk m:alnAt="23"/>
                                </m:rPr>
                                <a:rPr kumimoji="1" lang="en-US" altLang="zh-CN" sz="2400" i="1">
                                  <a:latin typeface="Cambria Math" panose="02040503050406030204" pitchFamily="18" charset="0"/>
                                </a:rPr>
                                <m:t>𝑖</m:t>
                              </m:r>
                            </m:sub>
                            <m:sup>
                              <m:r>
                                <a:rPr kumimoji="1" lang="en-US" altLang="zh-CN" sz="2400" i="1">
                                  <a:latin typeface="Cambria Math" panose="02040503050406030204" pitchFamily="18" charset="0"/>
                                </a:rPr>
                                <m:t>𝑁</m:t>
                              </m:r>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e>
                          </m:nary>
                        </m:e>
                      </m:d>
                    </m:oMath>
                  </m:oMathPara>
                </a14:m>
                <a:endParaRPr kumimoji="1" lang="zh-CN" altLang="en-US" sz="2400" dirty="0"/>
              </a:p>
            </p:txBody>
          </p:sp>
        </mc:Choice>
        <mc:Fallback xmlns="">
          <p:sp>
            <p:nvSpPr>
              <p:cNvPr id="6" name="文本框 5">
                <a:extLst>
                  <a:ext uri="{FF2B5EF4-FFF2-40B4-BE49-F238E27FC236}">
                    <a16:creationId xmlns:a16="http://schemas.microsoft.com/office/drawing/2014/main" id="{F79A8694-F63A-7AA0-C963-50B816596051}"/>
                  </a:ext>
                </a:extLst>
              </p:cNvPr>
              <p:cNvSpPr txBox="1">
                <a:spLocks noRot="1" noChangeAspect="1" noMove="1" noResize="1" noEditPoints="1" noAdjustHandles="1" noChangeArrowheads="1" noChangeShapeType="1" noTextEdit="1"/>
              </p:cNvSpPr>
              <p:nvPr/>
            </p:nvSpPr>
            <p:spPr>
              <a:xfrm>
                <a:off x="2433260" y="782641"/>
                <a:ext cx="5995744" cy="1038489"/>
              </a:xfrm>
              <a:prstGeom prst="rect">
                <a:avLst/>
              </a:prstGeom>
              <a:blipFill>
                <a:blip r:embed="rId3"/>
                <a:stretch>
                  <a:fillRect l="-634" t="-114458" b="-1746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891237E-5FF2-9379-A376-D67E0FB2066E}"/>
                  </a:ext>
                </a:extLst>
              </p:cNvPr>
              <p:cNvSpPr txBox="1"/>
              <p:nvPr/>
            </p:nvSpPr>
            <p:spPr>
              <a:xfrm>
                <a:off x="2433260" y="1884892"/>
                <a:ext cx="6115969"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400" i="1" smtClean="0">
                              <a:latin typeface="Cambria Math" panose="02040503050406030204" pitchFamily="18" charset="0"/>
                            </a:rPr>
                          </m:ctrlPr>
                        </m:funcPr>
                        <m:fName>
                          <m:limLow>
                            <m:limLowPr>
                              <m:ctrlPr>
                                <a:rPr kumimoji="1" lang="en-US" altLang="zh-CN" sz="2400" i="1">
                                  <a:latin typeface="Cambria Math" panose="02040503050406030204" pitchFamily="18" charset="0"/>
                                </a:rPr>
                              </m:ctrlPr>
                            </m:limLowPr>
                            <m:e>
                              <m:r>
                                <m:rPr>
                                  <m:sty m:val="p"/>
                                </m:rPr>
                                <a:rPr kumimoji="1" lang="en-US" altLang="zh-CN" sz="2400">
                                  <a:latin typeface="Cambria Math" panose="02040503050406030204" pitchFamily="18" charset="0"/>
                                </a:rPr>
                                <m:t>max</m:t>
                              </m:r>
                            </m:e>
                            <m:lim>
                              <m:r>
                                <a:rPr kumimoji="1" lang="en-US" altLang="zh-CN" sz="2400" i="1">
                                  <a:latin typeface="Cambria Math" panose="02040503050406030204" pitchFamily="18" charset="0"/>
                                  <a:ea typeface="Cambria Math" panose="02040503050406030204" pitchFamily="18" charset="0"/>
                                </a:rPr>
                                <m:t>𝛼</m:t>
                              </m:r>
                            </m:lim>
                          </m:limLow>
                          <m:r>
                            <a:rPr kumimoji="1" lang="zh-CN" altLang="en-US" sz="2400" b="0" i="1" smtClean="0">
                              <a:latin typeface="Cambria Math" panose="02040503050406030204" pitchFamily="18" charset="0"/>
                              <a:ea typeface="Cambria Math" panose="02040503050406030204" pitchFamily="18" charset="0"/>
                            </a:rPr>
                            <m:t> </m:t>
                          </m:r>
                          <m:limLow>
                            <m:limLowPr>
                              <m:ctrlPr>
                                <a:rPr kumimoji="1" lang="en-US" altLang="zh-CN" sz="2400" i="1">
                                  <a:latin typeface="Cambria Math" panose="02040503050406030204" pitchFamily="18" charset="0"/>
                                </a:rPr>
                              </m:ctrlPr>
                            </m:limLowPr>
                            <m:e>
                              <m:r>
                                <m:rPr>
                                  <m:sty m:val="p"/>
                                </m:rPr>
                                <a:rPr kumimoji="1" lang="en-US" altLang="zh-CN" sz="2400">
                                  <a:latin typeface="Cambria Math" panose="02040503050406030204" pitchFamily="18" charset="0"/>
                                </a:rPr>
                                <m:t>min</m:t>
                              </m:r>
                            </m:e>
                            <m:lim>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lim>
                          </m:limLow>
                        </m:fName>
                        <m:e>
                          <m:d>
                            <m:dPr>
                              <m:begChr m:val="["/>
                              <m:endChr m:val="]"/>
                              <m:ctrlPr>
                                <a:rPr kumimoji="1" lang="en-US" altLang="zh-CN" sz="2400" i="1">
                                  <a:latin typeface="Cambria Math" panose="02040503050406030204" pitchFamily="18" charset="0"/>
                                  <a:ea typeface="Cambria Math" panose="02040503050406030204" pitchFamily="18" charset="0"/>
                                </a:rPr>
                              </m:ctrlPr>
                            </m:dPr>
                            <m:e>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1</m:t>
                                  </m:r>
                                </m:num>
                                <m:den>
                                  <m:r>
                                    <a:rPr kumimoji="1" lang="en-US" altLang="zh-CN" sz="2400" i="1">
                                      <a:latin typeface="Cambria Math" panose="02040503050406030204" pitchFamily="18" charset="0"/>
                                    </a:rPr>
                                    <m:t>2</m:t>
                                  </m:r>
                                </m:den>
                              </m:f>
                              <m:sSup>
                                <m:sSupPr>
                                  <m:ctrlPr>
                                    <a:rPr kumimoji="1" lang="en-US" altLang="zh-CN" sz="2400" i="1">
                                      <a:latin typeface="Cambria Math" panose="02040503050406030204" pitchFamily="18" charset="0"/>
                                    </a:rPr>
                                  </m:ctrlPr>
                                </m:sSupPr>
                                <m:e>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e>
                                  </m:d>
                                </m:e>
                                <m:sup>
                                  <m:r>
                                    <a:rPr kumimoji="1" lang="en-US" altLang="zh-CN" sz="2400" i="1">
                                      <a:latin typeface="Cambria Math" panose="02040503050406030204" pitchFamily="18" charset="0"/>
                                    </a:rPr>
                                    <m:t>2</m:t>
                                  </m:r>
                                </m:sup>
                              </m:sSup>
                              <m:r>
                                <a:rPr kumimoji="1" lang="en-US" altLang="zh-CN" sz="2400" i="1">
                                  <a:latin typeface="Cambria Math" panose="02040503050406030204" pitchFamily="18" charset="0"/>
                                </a:rPr>
                                <m:t>+</m:t>
                              </m:r>
                              <m:nary>
                                <m:naryPr>
                                  <m:chr m:val="∑"/>
                                  <m:ctrlPr>
                                    <a:rPr kumimoji="1" lang="en-US" altLang="zh-CN" sz="2400" i="1">
                                      <a:latin typeface="Cambria Math" panose="02040503050406030204" pitchFamily="18" charset="0"/>
                                    </a:rPr>
                                  </m:ctrlPr>
                                </m:naryPr>
                                <m:sub>
                                  <m:r>
                                    <m:rPr>
                                      <m:brk m:alnAt="23"/>
                                    </m:rPr>
                                    <a:rPr kumimoji="1" lang="en-US" altLang="zh-CN" sz="2400" i="1">
                                      <a:latin typeface="Cambria Math" panose="02040503050406030204" pitchFamily="18" charset="0"/>
                                    </a:rPr>
                                    <m:t>𝑖</m:t>
                                  </m:r>
                                </m:sub>
                                <m:sup>
                                  <m:r>
                                    <a:rPr kumimoji="1" lang="en-US" altLang="zh-CN" sz="2400" i="1">
                                      <a:latin typeface="Cambria Math" panose="02040503050406030204" pitchFamily="18" charset="0"/>
                                    </a:rPr>
                                    <m:t>𝑁</m:t>
                                  </m:r>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e>
                              </m:nary>
                            </m:e>
                          </m:d>
                          <m:r>
                            <m:rPr>
                              <m:nor/>
                            </m:rPr>
                            <a:rPr kumimoji="1" lang="zh-CN" altLang="en-US" sz="2400" dirty="0"/>
                            <m:t> </m:t>
                          </m:r>
                        </m:e>
                      </m:func>
                    </m:oMath>
                  </m:oMathPara>
                </a14:m>
                <a:endParaRPr kumimoji="1" lang="zh-CN" altLang="en-US" sz="2400" dirty="0"/>
              </a:p>
            </p:txBody>
          </p:sp>
        </mc:Choice>
        <mc:Fallback xmlns="">
          <p:sp>
            <p:nvSpPr>
              <p:cNvPr id="7" name="文本框 6">
                <a:extLst>
                  <a:ext uri="{FF2B5EF4-FFF2-40B4-BE49-F238E27FC236}">
                    <a16:creationId xmlns:a16="http://schemas.microsoft.com/office/drawing/2014/main" id="{A891237E-5FF2-9379-A376-D67E0FB2066E}"/>
                  </a:ext>
                </a:extLst>
              </p:cNvPr>
              <p:cNvSpPr txBox="1">
                <a:spLocks noRot="1" noChangeAspect="1" noMove="1" noResize="1" noEditPoints="1" noAdjustHandles="1" noChangeArrowheads="1" noChangeShapeType="1" noTextEdit="1"/>
              </p:cNvSpPr>
              <p:nvPr/>
            </p:nvSpPr>
            <p:spPr>
              <a:xfrm>
                <a:off x="2433260" y="1884892"/>
                <a:ext cx="6115969" cy="1038489"/>
              </a:xfrm>
              <a:prstGeom prst="rect">
                <a:avLst/>
              </a:prstGeom>
              <a:blipFill>
                <a:blip r:embed="rId4"/>
                <a:stretch>
                  <a:fillRect t="-114458" r="-1660" b="-174699"/>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A7732B8F-3DE0-FFB6-FF3E-DA31E8B698B6}"/>
              </a:ext>
            </a:extLst>
          </p:cNvPr>
          <p:cNvSpPr txBox="1"/>
          <p:nvPr/>
        </p:nvSpPr>
        <p:spPr>
          <a:xfrm>
            <a:off x="643476" y="1134252"/>
            <a:ext cx="1620957" cy="523220"/>
          </a:xfrm>
          <a:prstGeom prst="rect">
            <a:avLst/>
          </a:prstGeom>
          <a:noFill/>
        </p:spPr>
        <p:txBody>
          <a:bodyPr wrap="none" rtlCol="0">
            <a:spAutoFit/>
          </a:bodyPr>
          <a:lstStyle/>
          <a:p>
            <a:r>
              <a:rPr kumimoji="1" lang="zh-CN" altLang="en-US" sz="2800" dirty="0"/>
              <a:t>原始问题</a:t>
            </a:r>
          </a:p>
        </p:txBody>
      </p:sp>
      <p:sp>
        <p:nvSpPr>
          <p:cNvPr id="9" name="文本框 8">
            <a:extLst>
              <a:ext uri="{FF2B5EF4-FFF2-40B4-BE49-F238E27FC236}">
                <a16:creationId xmlns:a16="http://schemas.microsoft.com/office/drawing/2014/main" id="{5551A8A0-9814-0B02-B6EB-F7A135F3F8D4}"/>
              </a:ext>
            </a:extLst>
          </p:cNvPr>
          <p:cNvSpPr txBox="1"/>
          <p:nvPr/>
        </p:nvSpPr>
        <p:spPr>
          <a:xfrm>
            <a:off x="643476" y="2199427"/>
            <a:ext cx="1620957" cy="523220"/>
          </a:xfrm>
          <a:prstGeom prst="rect">
            <a:avLst/>
          </a:prstGeom>
          <a:noFill/>
        </p:spPr>
        <p:txBody>
          <a:bodyPr wrap="none" rtlCol="0">
            <a:spAutoFit/>
          </a:bodyPr>
          <a:lstStyle/>
          <a:p>
            <a:r>
              <a:rPr kumimoji="1" lang="zh-CN" altLang="en-US" sz="2800" dirty="0"/>
              <a:t>对偶问题</a:t>
            </a:r>
          </a:p>
        </p:txBody>
      </p:sp>
      <p:sp>
        <p:nvSpPr>
          <p:cNvPr id="10" name="文本框 9">
            <a:extLst>
              <a:ext uri="{FF2B5EF4-FFF2-40B4-BE49-F238E27FC236}">
                <a16:creationId xmlns:a16="http://schemas.microsoft.com/office/drawing/2014/main" id="{0E5A984B-5684-177E-3528-7565C0E74A93}"/>
              </a:ext>
            </a:extLst>
          </p:cNvPr>
          <p:cNvSpPr txBox="1"/>
          <p:nvPr/>
        </p:nvSpPr>
        <p:spPr>
          <a:xfrm>
            <a:off x="690368" y="3344052"/>
            <a:ext cx="1906291" cy="523220"/>
          </a:xfrm>
          <a:prstGeom prst="rect">
            <a:avLst/>
          </a:prstGeom>
          <a:noFill/>
        </p:spPr>
        <p:txBody>
          <a:bodyPr wrap="none" rtlCol="0">
            <a:spAutoFit/>
          </a:bodyPr>
          <a:lstStyle/>
          <a:p>
            <a:r>
              <a:rPr kumimoji="1" lang="en-US" altLang="zh-CN" sz="2800" dirty="0"/>
              <a:t>KKT</a:t>
            </a:r>
            <a:r>
              <a:rPr kumimoji="1" lang="zh-CN" altLang="en-US" sz="2800" dirty="0"/>
              <a:t>条件：</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D50C3B0-195C-295F-5205-7ED81E29324C}"/>
                  </a:ext>
                </a:extLst>
              </p:cNvPr>
              <p:cNvSpPr txBox="1"/>
              <p:nvPr/>
            </p:nvSpPr>
            <p:spPr>
              <a:xfrm>
                <a:off x="1195751" y="4442302"/>
                <a:ext cx="406790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r>
                        <a:rPr kumimoji="1" lang="en-US" altLang="zh-CN" sz="2400" b="0" i="1" smtClean="0">
                          <a:latin typeface="Cambria Math" panose="02040503050406030204" pitchFamily="18" charset="0"/>
                        </a:rPr>
                        <m:t>=0</m:t>
                      </m:r>
                    </m:oMath>
                  </m:oMathPara>
                </a14:m>
                <a:endParaRPr lang="zh-CN" altLang="en-US" sz="2400" dirty="0"/>
              </a:p>
            </p:txBody>
          </p:sp>
        </mc:Choice>
        <mc:Fallback xmlns="">
          <p:sp>
            <p:nvSpPr>
              <p:cNvPr id="12" name="文本框 11">
                <a:extLst>
                  <a:ext uri="{FF2B5EF4-FFF2-40B4-BE49-F238E27FC236}">
                    <a16:creationId xmlns:a16="http://schemas.microsoft.com/office/drawing/2014/main" id="{CD50C3B0-195C-295F-5205-7ED81E29324C}"/>
                  </a:ext>
                </a:extLst>
              </p:cNvPr>
              <p:cNvSpPr txBox="1">
                <a:spLocks noRot="1" noChangeAspect="1" noMove="1" noResize="1" noEditPoints="1" noAdjustHandles="1" noChangeArrowheads="1" noChangeShapeType="1" noTextEdit="1"/>
              </p:cNvSpPr>
              <p:nvPr/>
            </p:nvSpPr>
            <p:spPr>
              <a:xfrm>
                <a:off x="1195751" y="4442302"/>
                <a:ext cx="4067907" cy="461665"/>
              </a:xfrm>
              <a:prstGeom prst="rect">
                <a:avLst/>
              </a:prstGeom>
              <a:blipFill>
                <a:blip r:embed="rId5"/>
                <a:stretch>
                  <a:fillRect b="-54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1796A97-60BB-6A6D-0E77-3A11CEC4261E}"/>
                  </a:ext>
                </a:extLst>
              </p:cNvPr>
              <p:cNvSpPr txBox="1"/>
              <p:nvPr/>
            </p:nvSpPr>
            <p:spPr>
              <a:xfrm>
                <a:off x="1195751" y="3896266"/>
                <a:ext cx="3364523" cy="477888"/>
              </a:xfrm>
              <a:prstGeom prst="rect">
                <a:avLst/>
              </a:prstGeom>
              <a:noFill/>
            </p:spPr>
            <p:txBody>
              <a:bodyPr wrap="square">
                <a:spAutoFit/>
              </a:bodyPr>
              <a:lstStyle/>
              <a:p>
                <a14:m>
                  <m:oMath xmlns:m="http://schemas.openxmlformats.org/officeDocument/2006/math">
                    <m:sSub>
                      <m:sSubPr>
                        <m:ctrlPr>
                          <a:rPr kumimoji="1" lang="en-US" altLang="zh-CN" sz="2400" i="1" smtClean="0">
                            <a:latin typeface="Cambria Math" panose="02040503050406030204" pitchFamily="18" charset="0"/>
                          </a:rPr>
                        </m:ctrlPr>
                      </m:sSubPr>
                      <m:e>
                        <m:r>
                          <m:rPr>
                            <m:sty m:val="p"/>
                          </m:rPr>
                          <a:rPr kumimoji="1" lang="en-US" altLang="zh-CN" sz="2400" i="1" smtClean="0">
                            <a:latin typeface="Cambria Math" panose="02040503050406030204" pitchFamily="18" charset="0"/>
                            <a:ea typeface="Cambria Math" panose="02040503050406030204" pitchFamily="18" charset="0"/>
                          </a:rPr>
                          <m:t>∇</m:t>
                        </m:r>
                      </m:e>
                      <m:sub>
                        <m:r>
                          <a:rPr kumimoji="1" lang="en-US" altLang="zh-CN" sz="2400" b="0" i="1" smtClean="0">
                            <a:latin typeface="Cambria Math" panose="02040503050406030204" pitchFamily="18" charset="0"/>
                          </a:rPr>
                          <m:t>𝑤</m:t>
                        </m:r>
                        <m:r>
                          <a:rPr kumimoji="1" lang="en-US" altLang="zh-CN" sz="2400" b="0" i="1" smtClean="0">
                            <a:latin typeface="Cambria Math" panose="02040503050406030204" pitchFamily="18" charset="0"/>
                          </a:rPr>
                          <m:t>,</m:t>
                        </m:r>
                        <m:r>
                          <a:rPr kumimoji="1" lang="zh-CN" altLang="en-US" sz="2400" b="0" i="1" smtClean="0">
                            <a:latin typeface="Cambria Math" panose="02040503050406030204" pitchFamily="18" charset="0"/>
                          </a:rPr>
                          <m:t> </m:t>
                        </m:r>
                        <m:r>
                          <a:rPr kumimoji="1" lang="en-US" altLang="zh-CN" sz="2400" b="0" i="1" smtClean="0">
                            <a:latin typeface="Cambria Math" panose="02040503050406030204" pitchFamily="18" charset="0"/>
                          </a:rPr>
                          <m:t>𝑏</m:t>
                        </m:r>
                      </m:sub>
                    </m:sSub>
                  </m:oMath>
                </a14:m>
                <a:r>
                  <a:rPr kumimoji="1" lang="en-US" altLang="zh-CN" sz="2400" dirty="0"/>
                  <a:t> </a:t>
                </a:r>
                <a14:m>
                  <m:oMath xmlns:m="http://schemas.openxmlformats.org/officeDocument/2006/math">
                    <m:r>
                      <a:rPr kumimoji="1" lang="en-US" altLang="zh-CN" sz="2400" i="1">
                        <a:latin typeface="Cambria Math" panose="02040503050406030204" pitchFamily="18" charset="0"/>
                      </a:rPr>
                      <m:t>𝐿</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r>
                          <a:rPr kumimoji="1" lang="en-US" altLang="zh-CN" sz="2400" i="1">
                            <a:latin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𝛼</m:t>
                        </m:r>
                      </m:e>
                    </m:d>
                    <m:r>
                      <a:rPr kumimoji="1" lang="en-US" altLang="zh-CN" sz="2400" b="0" i="1" smtClean="0">
                        <a:latin typeface="Cambria Math" panose="02040503050406030204" pitchFamily="18" charset="0"/>
                        <a:ea typeface="Cambria Math" panose="02040503050406030204" pitchFamily="18" charset="0"/>
                      </a:rPr>
                      <m:t>=0</m:t>
                    </m:r>
                  </m:oMath>
                </a14:m>
                <a:endParaRPr lang="zh-CN" altLang="en-US" sz="2400" dirty="0"/>
              </a:p>
            </p:txBody>
          </p:sp>
        </mc:Choice>
        <mc:Fallback xmlns="">
          <p:sp>
            <p:nvSpPr>
              <p:cNvPr id="13" name="文本框 12">
                <a:extLst>
                  <a:ext uri="{FF2B5EF4-FFF2-40B4-BE49-F238E27FC236}">
                    <a16:creationId xmlns:a16="http://schemas.microsoft.com/office/drawing/2014/main" id="{81796A97-60BB-6A6D-0E77-3A11CEC4261E}"/>
                  </a:ext>
                </a:extLst>
              </p:cNvPr>
              <p:cNvSpPr txBox="1">
                <a:spLocks noRot="1" noChangeAspect="1" noMove="1" noResize="1" noEditPoints="1" noAdjustHandles="1" noChangeArrowheads="1" noChangeShapeType="1" noTextEdit="1"/>
              </p:cNvSpPr>
              <p:nvPr/>
            </p:nvSpPr>
            <p:spPr>
              <a:xfrm>
                <a:off x="1195751" y="3896266"/>
                <a:ext cx="3364523" cy="477888"/>
              </a:xfrm>
              <a:prstGeom prst="rect">
                <a:avLst/>
              </a:prstGeom>
              <a:blipFill>
                <a:blip r:embed="rId6"/>
                <a:stretch>
                  <a:fillRect l="-3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DE7FA7F-AEDB-8405-2697-276CB5B27235}"/>
                  </a:ext>
                </a:extLst>
              </p:cNvPr>
              <p:cNvSpPr txBox="1"/>
              <p:nvPr/>
            </p:nvSpPr>
            <p:spPr>
              <a:xfrm>
                <a:off x="2089758" y="4988129"/>
                <a:ext cx="3364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sz="2400" i="1" smtClean="0">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rPr>
                        <m:t>0</m:t>
                      </m:r>
                    </m:oMath>
                  </m:oMathPara>
                </a14:m>
                <a:endParaRPr lang="zh-CN" altLang="en-US" sz="2400" dirty="0"/>
              </a:p>
            </p:txBody>
          </p:sp>
        </mc:Choice>
        <mc:Fallback xmlns="">
          <p:sp>
            <p:nvSpPr>
              <p:cNvPr id="15" name="文本框 14">
                <a:extLst>
                  <a:ext uri="{FF2B5EF4-FFF2-40B4-BE49-F238E27FC236}">
                    <a16:creationId xmlns:a16="http://schemas.microsoft.com/office/drawing/2014/main" id="{EDE7FA7F-AEDB-8405-2697-276CB5B27235}"/>
                  </a:ext>
                </a:extLst>
              </p:cNvPr>
              <p:cNvSpPr txBox="1">
                <a:spLocks noRot="1" noChangeAspect="1" noMove="1" noResize="1" noEditPoints="1" noAdjustHandles="1" noChangeArrowheads="1" noChangeShapeType="1" noTextEdit="1"/>
              </p:cNvSpPr>
              <p:nvPr/>
            </p:nvSpPr>
            <p:spPr>
              <a:xfrm>
                <a:off x="2089758" y="4988129"/>
                <a:ext cx="3364523" cy="461665"/>
              </a:xfrm>
              <a:prstGeom prst="rect">
                <a:avLst/>
              </a:prstGeom>
              <a:blipFill>
                <a:blip r:embed="rId7"/>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F92D8B42-8B6B-71FF-C200-B1687936F566}"/>
                  </a:ext>
                </a:extLst>
              </p:cNvPr>
              <p:cNvSpPr txBox="1"/>
              <p:nvPr/>
            </p:nvSpPr>
            <p:spPr>
              <a:xfrm>
                <a:off x="1500846" y="5513250"/>
                <a:ext cx="3364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r>
                        <a:rPr kumimoji="1" lang="en-US" altLang="zh-CN" sz="240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0</m:t>
                      </m:r>
                    </m:oMath>
                  </m:oMathPara>
                </a14:m>
                <a:endParaRPr lang="zh-CN" altLang="en-US" sz="2400" dirty="0"/>
              </a:p>
            </p:txBody>
          </p:sp>
        </mc:Choice>
        <mc:Fallback xmlns="">
          <p:sp>
            <p:nvSpPr>
              <p:cNvPr id="17" name="文本框 16">
                <a:extLst>
                  <a:ext uri="{FF2B5EF4-FFF2-40B4-BE49-F238E27FC236}">
                    <a16:creationId xmlns:a16="http://schemas.microsoft.com/office/drawing/2014/main" id="{F92D8B42-8B6B-71FF-C200-B1687936F566}"/>
                  </a:ext>
                </a:extLst>
              </p:cNvPr>
              <p:cNvSpPr txBox="1">
                <a:spLocks noRot="1" noChangeAspect="1" noMove="1" noResize="1" noEditPoints="1" noAdjustHandles="1" noChangeArrowheads="1" noChangeShapeType="1" noTextEdit="1"/>
              </p:cNvSpPr>
              <p:nvPr/>
            </p:nvSpPr>
            <p:spPr>
              <a:xfrm>
                <a:off x="1500846" y="5513250"/>
                <a:ext cx="3364523" cy="46166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31D47E04-59B8-D773-D7A9-448EEC1A61C0}"/>
                  </a:ext>
                </a:extLst>
              </p:cNvPr>
              <p:cNvSpPr txBox="1"/>
              <p:nvPr/>
            </p:nvSpPr>
            <p:spPr>
              <a:xfrm>
                <a:off x="2311325" y="6050159"/>
                <a:ext cx="358019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Cambria Math" panose="02040503050406030204" pitchFamily="18" charset="0"/>
                        </a:rPr>
                        <m:t>𝑖</m:t>
                      </m:r>
                      <m:r>
                        <a:rPr kumimoji="1" lang="en-US" altLang="zh-CN" sz="2400" b="0" i="1" smtClean="0">
                          <a:latin typeface="Cambria Math" panose="02040503050406030204" pitchFamily="18" charset="0"/>
                          <a:ea typeface="Cambria Math" panose="02040503050406030204" pitchFamily="18" charset="0"/>
                        </a:rPr>
                        <m:t>=1,2,…,</m:t>
                      </m:r>
                      <m:r>
                        <a:rPr kumimoji="1" lang="en-US" altLang="zh-CN" sz="2400" b="0" i="1" smtClean="0">
                          <a:latin typeface="Cambria Math" panose="02040503050406030204" pitchFamily="18" charset="0"/>
                          <a:ea typeface="Cambria Math" panose="02040503050406030204" pitchFamily="18" charset="0"/>
                        </a:rPr>
                        <m:t>𝑁</m:t>
                      </m:r>
                    </m:oMath>
                  </m:oMathPara>
                </a14:m>
                <a:endParaRPr lang="zh-CN" altLang="en-US" sz="2400" dirty="0"/>
              </a:p>
            </p:txBody>
          </p:sp>
        </mc:Choice>
        <mc:Fallback xmlns="">
          <p:sp>
            <p:nvSpPr>
              <p:cNvPr id="19" name="文本框 18">
                <a:extLst>
                  <a:ext uri="{FF2B5EF4-FFF2-40B4-BE49-F238E27FC236}">
                    <a16:creationId xmlns:a16="http://schemas.microsoft.com/office/drawing/2014/main" id="{31D47E04-59B8-D773-D7A9-448EEC1A61C0}"/>
                  </a:ext>
                </a:extLst>
              </p:cNvPr>
              <p:cNvSpPr txBox="1">
                <a:spLocks noRot="1" noChangeAspect="1" noMove="1" noResize="1" noEditPoints="1" noAdjustHandles="1" noChangeArrowheads="1" noChangeShapeType="1" noTextEdit="1"/>
              </p:cNvSpPr>
              <p:nvPr/>
            </p:nvSpPr>
            <p:spPr>
              <a:xfrm>
                <a:off x="2311325" y="6050159"/>
                <a:ext cx="3580197" cy="461665"/>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25331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5D5A6-CFFE-6B23-F532-9D5033BA6B5F}"/>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51E21425-3F73-4F87-4842-5EED0B85DFDE}"/>
              </a:ext>
            </a:extLst>
          </p:cNvPr>
          <p:cNvSpPr/>
          <p:nvPr/>
        </p:nvSpPr>
        <p:spPr>
          <a:xfrm>
            <a:off x="4994030" y="1495673"/>
            <a:ext cx="3681046" cy="1618842"/>
          </a:xfrm>
          <a:prstGeom prst="rect">
            <a:avLst/>
          </a:prstGeom>
          <a:solidFill>
            <a:srgbClr val="F4B39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B8490165-00ED-F256-444F-BB9A81A79187}"/>
              </a:ext>
            </a:extLst>
          </p:cNvPr>
          <p:cNvSpPr>
            <a:spLocks noGrp="1"/>
          </p:cNvSpPr>
          <p:nvPr>
            <p:ph type="title"/>
          </p:nvPr>
        </p:nvSpPr>
        <p:spPr/>
        <p:txBody>
          <a:bodyPr/>
          <a:lstStyle/>
          <a:p>
            <a:r>
              <a:rPr lang="zh-CN" altLang="en-US" dirty="0"/>
              <a:t>如何求得</a:t>
            </a:r>
            <a:r>
              <a:rPr lang="en-US" altLang="zh-CN" dirty="0"/>
              <a:t>w*</a:t>
            </a:r>
            <a:r>
              <a:rPr lang="zh-CN" altLang="en-US" dirty="0"/>
              <a:t>、</a:t>
            </a:r>
            <a:r>
              <a:rPr lang="en-US" altLang="zh-CN" dirty="0"/>
              <a:t>b*?</a:t>
            </a:r>
            <a:endParaRPr lang="zh-CN" altLang="en-US" dirty="0"/>
          </a:p>
        </p:txBody>
      </p:sp>
      <mc:AlternateContent xmlns:mc="http://schemas.openxmlformats.org/markup-compatibility/2006" xmlns:a14="http://schemas.microsoft.com/office/drawing/2010/main">
        <mc:Choice Requires="a14">
          <p:sp>
            <p:nvSpPr>
              <p:cNvPr id="5" name="Object 2" descr="羊皮纸">
                <a:extLst>
                  <a:ext uri="{FF2B5EF4-FFF2-40B4-BE49-F238E27FC236}">
                    <a16:creationId xmlns:a16="http://schemas.microsoft.com/office/drawing/2014/main" id="{B3CC7E1D-7904-6550-B493-0681FA7877F1}"/>
                  </a:ext>
                </a:extLst>
              </p:cNvPr>
              <p:cNvSpPr txBox="1"/>
              <p:nvPr/>
            </p:nvSpPr>
            <p:spPr bwMode="auto">
              <a:xfrm>
                <a:off x="809625" y="1542930"/>
                <a:ext cx="6002338" cy="4778374"/>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smtClean="0">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m:t>
                          </m:r>
                        </m:e>
                        <m:sub>
                          <m:r>
                            <a:rPr lang="zh-CN" altLang="en-US" sz="2400" i="1">
                              <a:solidFill>
                                <a:srgbClr val="000000"/>
                              </a:solidFill>
                              <a:latin typeface="Cambria Math" panose="02040503050406030204" pitchFamily="18" charset="0"/>
                            </a:rPr>
                            <m:t>𝑤</m:t>
                          </m:r>
                        </m:sub>
                      </m:sSub>
                      <m:r>
                        <a:rPr lang="zh-CN" altLang="en-US" sz="2400" i="1">
                          <a:solidFill>
                            <a:srgbClr val="000000"/>
                          </a:solidFill>
                          <a:latin typeface="Cambria Math" panose="02040503050406030204" pitchFamily="18" charset="0"/>
                        </a:rPr>
                        <m:t>𝐿</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𝑤</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𝛼</m:t>
                      </m:r>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𝑤</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e>
                      </m:nary>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𝑤</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e>
                      </m:nary>
                    </m:oMath>
                  </m:oMathPara>
                </a14:m>
                <a:br>
                  <a:rPr lang="zh-CN" altLang="en-US" sz="2400" i="1" dirty="0">
                    <a:solidFill>
                      <a:srgbClr val="000000"/>
                    </a:solidFill>
                    <a:latin typeface="Cambria Math" panose="02040503050406030204" pitchFamily="18" charset="0"/>
                  </a:rPr>
                </a:br>
                <a:endParaRPr lang="en-US" altLang="zh-CN" sz="2400" i="1" dirty="0">
                  <a:solidFill>
                    <a:srgbClr val="000000"/>
                  </a:solidFill>
                  <a:latin typeface="Cambria Math" panose="02040503050406030204" pitchFamily="18" charset="0"/>
                </a:endParaRPr>
              </a:p>
              <a:p>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d>
                        <m:dPr>
                          <m:begChr m:val="["/>
                          <m:endChr m:val="]"/>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1</m:t>
                          </m:r>
                          <m:r>
                            <a:rPr lang="zh-CN" altLang="en-US" sz="2400" i="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𝑤</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𝑏</m:t>
                              </m:r>
                            </m:e>
                          </m:d>
                        </m:e>
                      </m:d>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𝑁</m:t>
                      </m:r>
                    </m:oMath>
                  </m:oMathPara>
                </a14:m>
                <a:endParaRPr lang="en-US" altLang="zh-CN" sz="2400" i="1" dirty="0">
                  <a:solidFill>
                    <a:srgbClr val="000000"/>
                  </a:solidFill>
                  <a:latin typeface="Cambria Math" panose="02040503050406030204" pitchFamily="18" charset="0"/>
                </a:endParaRPr>
              </a:p>
              <a:p>
                <a:pPr/>
                <a:br>
                  <a:rPr lang="zh-CN" altLang="en-US" sz="24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𝑏</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𝑤</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选择一个</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𝑏</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e>
                      </m:nary>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5" name="Object 2" descr="羊皮纸"/>
              <p:cNvSpPr txBox="1">
                <a:spLocks noRot="1" noChangeAspect="1" noMove="1" noResize="1" noEditPoints="1" noAdjustHandles="1" noChangeArrowheads="1" noChangeShapeType="1" noTextEdit="1"/>
              </p:cNvSpPr>
              <p:nvPr/>
            </p:nvSpPr>
            <p:spPr bwMode="auto">
              <a:xfrm>
                <a:off x="809625" y="1542930"/>
                <a:ext cx="6002338" cy="4778374"/>
              </a:xfrm>
              <a:prstGeom prst="rect">
                <a:avLst/>
              </a:prstGeom>
              <a:blipFill>
                <a:blip r:embed="rId6"/>
                <a:stretch>
                  <a:fillRect l="-305" b="-4464"/>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77DBB261-FB17-EAAF-2E28-B8276A982B5B}"/>
              </a:ext>
            </a:extLst>
          </p:cNvPr>
          <p:cNvSpPr txBox="1"/>
          <p:nvPr/>
        </p:nvSpPr>
        <p:spPr>
          <a:xfrm>
            <a:off x="5098245" y="1542930"/>
            <a:ext cx="1906291" cy="523220"/>
          </a:xfrm>
          <a:prstGeom prst="rect">
            <a:avLst/>
          </a:prstGeom>
          <a:noFill/>
        </p:spPr>
        <p:txBody>
          <a:bodyPr wrap="none" rtlCol="0">
            <a:spAutoFit/>
          </a:bodyPr>
          <a:lstStyle/>
          <a:p>
            <a:r>
              <a:rPr kumimoji="1" lang="en-US" altLang="zh-CN" sz="2800" dirty="0"/>
              <a:t>KKT</a:t>
            </a:r>
            <a:r>
              <a:rPr kumimoji="1" lang="zh-CN" altLang="en-US" sz="2800" dirty="0"/>
              <a:t>条件：</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1183664-2176-FF55-1A42-7D9DBBC032AD}"/>
                  </a:ext>
                </a:extLst>
              </p:cNvPr>
              <p:cNvSpPr txBox="1"/>
              <p:nvPr/>
            </p:nvSpPr>
            <p:spPr>
              <a:xfrm>
                <a:off x="4800600" y="2613773"/>
                <a:ext cx="406790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r>
                        <a:rPr kumimoji="1" lang="en-US" altLang="zh-CN" sz="2400" b="0" i="1" smtClean="0">
                          <a:latin typeface="Cambria Math" panose="02040503050406030204" pitchFamily="18" charset="0"/>
                        </a:rPr>
                        <m:t>=0</m:t>
                      </m:r>
                    </m:oMath>
                  </m:oMathPara>
                </a14:m>
                <a:endParaRPr lang="zh-CN" altLang="en-US" sz="2400" dirty="0"/>
              </a:p>
            </p:txBody>
          </p:sp>
        </mc:Choice>
        <mc:Fallback xmlns="">
          <p:sp>
            <p:nvSpPr>
              <p:cNvPr id="6" name="文本框 5">
                <a:extLst>
                  <a:ext uri="{FF2B5EF4-FFF2-40B4-BE49-F238E27FC236}">
                    <a16:creationId xmlns:a16="http://schemas.microsoft.com/office/drawing/2014/main" id="{3D4AB251-82D3-D566-2A02-A78522B3978D}"/>
                  </a:ext>
                </a:extLst>
              </p:cNvPr>
              <p:cNvSpPr txBox="1">
                <a:spLocks noRot="1" noChangeAspect="1" noMove="1" noResize="1" noEditPoints="1" noAdjustHandles="1" noChangeArrowheads="1" noChangeShapeType="1" noTextEdit="1"/>
              </p:cNvSpPr>
              <p:nvPr/>
            </p:nvSpPr>
            <p:spPr>
              <a:xfrm>
                <a:off x="4800600" y="2613773"/>
                <a:ext cx="4067907" cy="461665"/>
              </a:xfrm>
              <a:prstGeom prst="rect">
                <a:avLst/>
              </a:prstGeom>
              <a:blipFill>
                <a:blip r:embed="rId7"/>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0E38772-3E8B-0CB2-541F-74442C353ABD}"/>
                  </a:ext>
                </a:extLst>
              </p:cNvPr>
              <p:cNvSpPr txBox="1"/>
              <p:nvPr/>
            </p:nvSpPr>
            <p:spPr>
              <a:xfrm>
                <a:off x="5098245" y="2066150"/>
                <a:ext cx="3364523" cy="477888"/>
              </a:xfrm>
              <a:prstGeom prst="rect">
                <a:avLst/>
              </a:prstGeom>
              <a:noFill/>
            </p:spPr>
            <p:txBody>
              <a:bodyPr wrap="square">
                <a:spAutoFit/>
              </a:bodyPr>
              <a:lstStyle/>
              <a:p>
                <a14:m>
                  <m:oMath xmlns:m="http://schemas.openxmlformats.org/officeDocument/2006/math">
                    <m:sSub>
                      <m:sSubPr>
                        <m:ctrlPr>
                          <a:rPr kumimoji="1" lang="en-US" altLang="zh-CN" sz="2400" i="1" smtClean="0">
                            <a:latin typeface="Cambria Math" panose="02040503050406030204" pitchFamily="18" charset="0"/>
                          </a:rPr>
                        </m:ctrlPr>
                      </m:sSubPr>
                      <m:e>
                        <m:r>
                          <m:rPr>
                            <m:sty m:val="p"/>
                          </m:rPr>
                          <a:rPr kumimoji="1" lang="en-US" altLang="zh-CN" sz="2400" i="1" smtClean="0">
                            <a:latin typeface="Cambria Math" panose="02040503050406030204" pitchFamily="18" charset="0"/>
                            <a:ea typeface="Cambria Math" panose="02040503050406030204" pitchFamily="18" charset="0"/>
                          </a:rPr>
                          <m:t>∇</m:t>
                        </m:r>
                      </m:e>
                      <m:sub>
                        <m:r>
                          <a:rPr kumimoji="1" lang="en-US" altLang="zh-CN" sz="2400" b="0" i="1" smtClean="0">
                            <a:latin typeface="Cambria Math" panose="02040503050406030204" pitchFamily="18" charset="0"/>
                          </a:rPr>
                          <m:t>𝑤</m:t>
                        </m:r>
                        <m:r>
                          <a:rPr kumimoji="1" lang="en-US" altLang="zh-CN" sz="2400" b="0" i="1" smtClean="0">
                            <a:latin typeface="Cambria Math" panose="02040503050406030204" pitchFamily="18" charset="0"/>
                          </a:rPr>
                          <m:t>,</m:t>
                        </m:r>
                        <m:r>
                          <a:rPr kumimoji="1" lang="zh-CN" altLang="en-US" sz="2400" b="0" i="1" smtClean="0">
                            <a:latin typeface="Cambria Math" panose="02040503050406030204" pitchFamily="18" charset="0"/>
                          </a:rPr>
                          <m:t> </m:t>
                        </m:r>
                        <m:r>
                          <a:rPr kumimoji="1" lang="en-US" altLang="zh-CN" sz="2400" b="0" i="1" smtClean="0">
                            <a:latin typeface="Cambria Math" panose="02040503050406030204" pitchFamily="18" charset="0"/>
                          </a:rPr>
                          <m:t>𝑏</m:t>
                        </m:r>
                      </m:sub>
                    </m:sSub>
                  </m:oMath>
                </a14:m>
                <a:r>
                  <a:rPr kumimoji="1" lang="en-US" altLang="zh-CN" sz="2400" dirty="0"/>
                  <a:t> </a:t>
                </a:r>
                <a14:m>
                  <m:oMath xmlns:m="http://schemas.openxmlformats.org/officeDocument/2006/math">
                    <m:r>
                      <a:rPr kumimoji="1" lang="en-US" altLang="zh-CN" sz="2400" i="1">
                        <a:latin typeface="Cambria Math" panose="02040503050406030204" pitchFamily="18" charset="0"/>
                      </a:rPr>
                      <m:t>𝐿</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r>
                          <a:rPr kumimoji="1" lang="en-US" altLang="zh-CN" sz="2400" i="1">
                            <a:latin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𝛼</m:t>
                        </m:r>
                      </m:e>
                    </m:d>
                    <m:r>
                      <a:rPr kumimoji="1" lang="en-US" altLang="zh-CN" sz="2400" b="0" i="1" smtClean="0">
                        <a:latin typeface="Cambria Math" panose="02040503050406030204" pitchFamily="18" charset="0"/>
                        <a:ea typeface="Cambria Math" panose="02040503050406030204" pitchFamily="18" charset="0"/>
                      </a:rPr>
                      <m:t>=0</m:t>
                    </m:r>
                  </m:oMath>
                </a14:m>
                <a:endParaRPr lang="zh-CN" altLang="en-US" sz="2400" dirty="0"/>
              </a:p>
            </p:txBody>
          </p:sp>
        </mc:Choice>
        <mc:Fallback xmlns="">
          <p:sp>
            <p:nvSpPr>
              <p:cNvPr id="7" name="文本框 6">
                <a:extLst>
                  <a:ext uri="{FF2B5EF4-FFF2-40B4-BE49-F238E27FC236}">
                    <a16:creationId xmlns:a16="http://schemas.microsoft.com/office/drawing/2014/main" id="{4F48F18B-8851-8D7D-0CE4-5C9711BA136E}"/>
                  </a:ext>
                </a:extLst>
              </p:cNvPr>
              <p:cNvSpPr txBox="1">
                <a:spLocks noRot="1" noChangeAspect="1" noMove="1" noResize="1" noEditPoints="1" noAdjustHandles="1" noChangeArrowheads="1" noChangeShapeType="1" noTextEdit="1"/>
              </p:cNvSpPr>
              <p:nvPr/>
            </p:nvSpPr>
            <p:spPr>
              <a:xfrm>
                <a:off x="5098245" y="2066150"/>
                <a:ext cx="3364523" cy="477888"/>
              </a:xfrm>
              <a:prstGeom prst="rect">
                <a:avLst/>
              </a:prstGeom>
              <a:blipFill>
                <a:blip r:embed="rId8"/>
                <a:stretch>
                  <a:fillRect l="-3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12089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内容占位符 2"/>
          <p:cNvSpPr>
            <a:spLocks noGrp="1"/>
          </p:cNvSpPr>
          <p:nvPr>
            <p:ph idx="1"/>
          </p:nvPr>
        </p:nvSpPr>
        <p:spPr>
          <a:xfrm>
            <a:off x="685800" y="774700"/>
            <a:ext cx="7772400" cy="5321300"/>
          </a:xfrm>
        </p:spPr>
        <p:txBody>
          <a:bodyPr>
            <a:normAutofit/>
          </a:bodyPr>
          <a:lstStyle/>
          <a:p>
            <a:r>
              <a:rPr lang="zh-CN" altLang="en-US" sz="3200" b="1" dirty="0"/>
              <a:t>对偶问题的求解：</a:t>
            </a:r>
            <a:endParaRPr lang="en-US" altLang="zh-CN" sz="3200" b="1" dirty="0"/>
          </a:p>
          <a:p>
            <a:endParaRPr lang="en-US" altLang="zh-CN" sz="3200" b="1" dirty="0"/>
          </a:p>
          <a:p>
            <a:endParaRPr lang="en-US" altLang="zh-CN" sz="3200" b="1" dirty="0"/>
          </a:p>
          <a:p>
            <a:r>
              <a:rPr lang="zh-CN" altLang="en-US" sz="3200" b="1" dirty="0"/>
              <a:t>对</a:t>
            </a:r>
            <a:r>
              <a:rPr lang="en-US" altLang="zh-CN" sz="3200" b="1" i="1" dirty="0" err="1"/>
              <a:t>w,b</a:t>
            </a:r>
            <a:r>
              <a:rPr lang="zh-CN" altLang="en-US" sz="3200" b="1" dirty="0"/>
              <a:t>求偏导令其为</a:t>
            </a:r>
            <a:r>
              <a:rPr lang="en-US" altLang="zh-CN" sz="3200" b="1" dirty="0"/>
              <a:t>0</a:t>
            </a:r>
            <a:r>
              <a:rPr lang="zh-CN" altLang="en-US" sz="3200" b="1" dirty="0"/>
              <a:t>求解并代入，得到对偶问题：</a:t>
            </a:r>
          </a:p>
        </p:txBody>
      </p:sp>
      <p:sp>
        <p:nvSpPr>
          <p:cNvPr id="21509" name="灯片编号占位符 3"/>
          <p:cNvSpPr>
            <a:spLocks noGrp="1"/>
          </p:cNvSpPr>
          <p:nvPr>
            <p:ph type="sldNum" sz="quarter" idx="12"/>
          </p:nvPr>
        </p:nvSpPr>
        <p:spPr>
          <a:noFill/>
        </p:spPr>
        <p:txBody>
          <a:bodyPr/>
          <a:lstStyle/>
          <a:p>
            <a:fld id="{73D20A1B-F092-448E-A5FF-2FF8D7AFF2A1}" type="slidenum">
              <a:rPr lang="en-US" altLang="zh-CN" smtClean="0">
                <a:ea typeface="黑体" pitchFamily="49" charset="-122"/>
              </a:rPr>
              <a:pPr/>
              <a:t>25</a:t>
            </a:fld>
            <a:endParaRPr lang="en-US" altLang="zh-CN">
              <a:ea typeface="黑体" pitchFamily="49" charset="-122"/>
            </a:endParaRPr>
          </a:p>
        </p:txBody>
      </p:sp>
      <mc:AlternateContent xmlns:mc="http://schemas.openxmlformats.org/markup-compatibility/2006" xmlns:a14="http://schemas.microsoft.com/office/drawing/2010/main">
        <mc:Choice Requires="a14">
          <p:sp>
            <p:nvSpPr>
              <p:cNvPr id="21507" name="Object 2" descr="羊皮纸"/>
              <p:cNvSpPr txBox="1"/>
              <p:nvPr/>
            </p:nvSpPr>
            <p:spPr bwMode="auto">
              <a:xfrm>
                <a:off x="1146175" y="3933825"/>
                <a:ext cx="5997575" cy="2276475"/>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limLow>
                        <m:limLowPr>
                          <m:ctrlPr>
                            <a:rPr lang="zh-CN" altLang="en-US" sz="2400" i="1" smtClean="0">
                              <a:solidFill>
                                <a:srgbClr val="000000"/>
                              </a:solidFill>
                              <a:latin typeface="Cambria Math" panose="02040503050406030204" pitchFamily="18" charset="0"/>
                            </a:rPr>
                          </m:ctrlPr>
                        </m:limLowPr>
                        <m:e>
                          <m:r>
                            <m:rPr>
                              <m:sty m:val="p"/>
                            </m:rPr>
                            <a:rPr lang="zh-CN" altLang="en-US" sz="2400" i="0">
                              <a:solidFill>
                                <a:srgbClr val="000000"/>
                              </a:solidFill>
                              <a:latin typeface="Cambria Math" panose="02040503050406030204" pitchFamily="18" charset="0"/>
                            </a:rPr>
                            <m:t>max</m:t>
                          </m:r>
                        </m:e>
                        <m:lim>
                          <m:r>
                            <a:rPr lang="zh-CN" altLang="en-US" sz="2400" i="1">
                              <a:solidFill>
                                <a:srgbClr val="000000"/>
                              </a:solidFill>
                              <a:latin typeface="Cambria Math" panose="02040503050406030204" pitchFamily="18" charset="0"/>
                            </a:rPr>
                            <m:t>𝛼</m:t>
                          </m:r>
                        </m:lim>
                      </m:limLow>
                      <m:d>
                        <m:dPr>
                          <m:ctrlPr>
                            <a:rPr lang="en-US" altLang="zh-CN" sz="2400" i="1" smtClean="0">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𝑗</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e>
                                  </m:nary>
                                </m:e>
                              </m:nary>
                            </m:e>
                          </m:nary>
                        </m:e>
                      </m:d>
                    </m:oMath>
                    <m:oMath xmlns:m="http://schemas.openxmlformats.org/officeDocument/2006/math">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.  </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e>
                      </m:nary>
                      <m:r>
                        <a:rPr lang="zh-CN" altLang="en-US" sz="2400" i="1">
                          <a:solidFill>
                            <a:srgbClr val="000000"/>
                          </a:solidFill>
                          <a:latin typeface="Cambria Math" panose="02040503050406030204" pitchFamily="18" charset="0"/>
                        </a:rPr>
                        <m:t>=0,  </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≥0, </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=1,2,...,</m:t>
                      </m:r>
                      <m:r>
                        <a:rPr lang="zh-CN" altLang="en-US" sz="2400" i="1">
                          <a:solidFill>
                            <a:srgbClr val="000000"/>
                          </a:solidFill>
                          <a:latin typeface="Cambria Math" panose="02040503050406030204" pitchFamily="18" charset="0"/>
                        </a:rPr>
                        <m:t>𝑁</m:t>
                      </m:r>
                    </m:oMath>
                  </m:oMathPara>
                </a14:m>
                <a:endParaRPr lang="zh-CN" altLang="en-US" sz="2400" dirty="0"/>
              </a:p>
            </p:txBody>
          </p:sp>
        </mc:Choice>
        <mc:Fallback xmlns="">
          <p:sp>
            <p:nvSpPr>
              <p:cNvPr id="21507" name="Object 2" descr="羊皮纸"/>
              <p:cNvSpPr txBox="1">
                <a:spLocks noRot="1" noChangeAspect="1" noMove="1" noResize="1" noEditPoints="1" noAdjustHandles="1" noChangeArrowheads="1" noChangeShapeType="1" noTextEdit="1"/>
              </p:cNvSpPr>
              <p:nvPr/>
            </p:nvSpPr>
            <p:spPr bwMode="auto">
              <a:xfrm>
                <a:off x="1146175" y="3933825"/>
                <a:ext cx="5997575" cy="22764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ADBDB24-136E-FDEB-9EA7-C94327F4B2AF}"/>
                  </a:ext>
                </a:extLst>
              </p:cNvPr>
              <p:cNvSpPr txBox="1"/>
              <p:nvPr/>
            </p:nvSpPr>
            <p:spPr>
              <a:xfrm>
                <a:off x="1514015" y="1315773"/>
                <a:ext cx="6115969"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400" i="1" smtClean="0">
                              <a:latin typeface="Cambria Math" panose="02040503050406030204" pitchFamily="18" charset="0"/>
                            </a:rPr>
                          </m:ctrlPr>
                        </m:funcPr>
                        <m:fName>
                          <m:limLow>
                            <m:limLowPr>
                              <m:ctrlPr>
                                <a:rPr kumimoji="1" lang="en-US" altLang="zh-CN" sz="2400" i="1">
                                  <a:latin typeface="Cambria Math" panose="02040503050406030204" pitchFamily="18" charset="0"/>
                                </a:rPr>
                              </m:ctrlPr>
                            </m:limLowPr>
                            <m:e>
                              <m:r>
                                <m:rPr>
                                  <m:sty m:val="p"/>
                                </m:rPr>
                                <a:rPr kumimoji="1" lang="en-US" altLang="zh-CN" sz="2400">
                                  <a:latin typeface="Cambria Math" panose="02040503050406030204" pitchFamily="18" charset="0"/>
                                </a:rPr>
                                <m:t>max</m:t>
                              </m:r>
                            </m:e>
                            <m:lim>
                              <m:r>
                                <a:rPr kumimoji="1" lang="en-US" altLang="zh-CN" sz="2400" i="1">
                                  <a:latin typeface="Cambria Math" panose="02040503050406030204" pitchFamily="18" charset="0"/>
                                  <a:ea typeface="Cambria Math" panose="02040503050406030204" pitchFamily="18" charset="0"/>
                                </a:rPr>
                                <m:t>𝛼</m:t>
                              </m:r>
                            </m:lim>
                          </m:limLow>
                          <m:r>
                            <a:rPr kumimoji="1" lang="zh-CN" altLang="en-US" sz="2400" b="0" i="1" smtClean="0">
                              <a:latin typeface="Cambria Math" panose="02040503050406030204" pitchFamily="18" charset="0"/>
                              <a:ea typeface="Cambria Math" panose="02040503050406030204" pitchFamily="18" charset="0"/>
                            </a:rPr>
                            <m:t> </m:t>
                          </m:r>
                          <m:limLow>
                            <m:limLowPr>
                              <m:ctrlPr>
                                <a:rPr kumimoji="1" lang="en-US" altLang="zh-CN" sz="2400" i="1">
                                  <a:latin typeface="Cambria Math" panose="02040503050406030204" pitchFamily="18" charset="0"/>
                                </a:rPr>
                              </m:ctrlPr>
                            </m:limLowPr>
                            <m:e>
                              <m:r>
                                <m:rPr>
                                  <m:sty m:val="p"/>
                                </m:rPr>
                                <a:rPr kumimoji="1" lang="en-US" altLang="zh-CN" sz="2400">
                                  <a:latin typeface="Cambria Math" panose="02040503050406030204" pitchFamily="18" charset="0"/>
                                </a:rPr>
                                <m:t>min</m:t>
                              </m:r>
                            </m:e>
                            <m:lim>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lim>
                          </m:limLow>
                        </m:fName>
                        <m:e>
                          <m:d>
                            <m:dPr>
                              <m:begChr m:val="["/>
                              <m:endChr m:val="]"/>
                              <m:ctrlPr>
                                <a:rPr kumimoji="1" lang="en-US" altLang="zh-CN" sz="2400" i="1">
                                  <a:latin typeface="Cambria Math" panose="02040503050406030204" pitchFamily="18" charset="0"/>
                                  <a:ea typeface="Cambria Math" panose="02040503050406030204" pitchFamily="18" charset="0"/>
                                </a:rPr>
                              </m:ctrlPr>
                            </m:dPr>
                            <m:e>
                              <m:f>
                                <m:fPr>
                                  <m:ctrlPr>
                                    <a:rPr kumimoji="1" lang="en-US" altLang="zh-CN" sz="2400" i="1">
                                      <a:latin typeface="Cambria Math" panose="02040503050406030204" pitchFamily="18" charset="0"/>
                                    </a:rPr>
                                  </m:ctrlPr>
                                </m:fPr>
                                <m:num>
                                  <m:r>
                                    <a:rPr kumimoji="1" lang="en-US" altLang="zh-CN" sz="2400" i="1">
                                      <a:latin typeface="Cambria Math" panose="02040503050406030204" pitchFamily="18" charset="0"/>
                                    </a:rPr>
                                    <m:t>1</m:t>
                                  </m:r>
                                </m:num>
                                <m:den>
                                  <m:r>
                                    <a:rPr kumimoji="1" lang="en-US" altLang="zh-CN" sz="2400" i="1">
                                      <a:latin typeface="Cambria Math" panose="02040503050406030204" pitchFamily="18" charset="0"/>
                                    </a:rPr>
                                    <m:t>2</m:t>
                                  </m:r>
                                </m:den>
                              </m:f>
                              <m:sSup>
                                <m:sSupPr>
                                  <m:ctrlPr>
                                    <a:rPr kumimoji="1" lang="en-US" altLang="zh-CN" sz="2400" i="1">
                                      <a:latin typeface="Cambria Math" panose="02040503050406030204" pitchFamily="18" charset="0"/>
                                    </a:rPr>
                                  </m:ctrlPr>
                                </m:sSupPr>
                                <m:e>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e>
                                  </m:d>
                                </m:e>
                                <m:sup>
                                  <m:r>
                                    <a:rPr kumimoji="1" lang="en-US" altLang="zh-CN" sz="2400" i="1">
                                      <a:latin typeface="Cambria Math" panose="02040503050406030204" pitchFamily="18" charset="0"/>
                                    </a:rPr>
                                    <m:t>2</m:t>
                                  </m:r>
                                </m:sup>
                              </m:sSup>
                              <m:r>
                                <a:rPr kumimoji="1" lang="en-US" altLang="zh-CN" sz="2400" i="1">
                                  <a:latin typeface="Cambria Math" panose="02040503050406030204" pitchFamily="18" charset="0"/>
                                </a:rPr>
                                <m:t>+</m:t>
                              </m:r>
                              <m:nary>
                                <m:naryPr>
                                  <m:chr m:val="∑"/>
                                  <m:ctrlPr>
                                    <a:rPr kumimoji="1" lang="en-US" altLang="zh-CN" sz="2400" i="1">
                                      <a:latin typeface="Cambria Math" panose="02040503050406030204" pitchFamily="18" charset="0"/>
                                    </a:rPr>
                                  </m:ctrlPr>
                                </m:naryPr>
                                <m:sub>
                                  <m:r>
                                    <m:rPr>
                                      <m:brk m:alnAt="23"/>
                                    </m:rPr>
                                    <a:rPr kumimoji="1" lang="en-US" altLang="zh-CN" sz="2400" i="1">
                                      <a:latin typeface="Cambria Math" panose="02040503050406030204" pitchFamily="18" charset="0"/>
                                    </a:rPr>
                                    <m:t>𝑖</m:t>
                                  </m:r>
                                </m:sub>
                                <m:sup>
                                  <m:r>
                                    <a:rPr kumimoji="1" lang="en-US" altLang="zh-CN" sz="2400" i="1">
                                      <a:latin typeface="Cambria Math" panose="02040503050406030204" pitchFamily="18" charset="0"/>
                                    </a:rPr>
                                    <m:t>𝑁</m:t>
                                  </m:r>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e>
                              </m:nary>
                            </m:e>
                          </m:d>
                          <m:r>
                            <m:rPr>
                              <m:nor/>
                            </m:rPr>
                            <a:rPr kumimoji="1" lang="zh-CN" altLang="en-US" sz="2400" dirty="0"/>
                            <m:t> </m:t>
                          </m:r>
                        </m:e>
                      </m:func>
                    </m:oMath>
                  </m:oMathPara>
                </a14:m>
                <a:endParaRPr kumimoji="1" lang="zh-CN" altLang="en-US" sz="2400" dirty="0"/>
              </a:p>
            </p:txBody>
          </p:sp>
        </mc:Choice>
        <mc:Fallback xmlns="">
          <p:sp>
            <p:nvSpPr>
              <p:cNvPr id="2" name="文本框 1">
                <a:extLst>
                  <a:ext uri="{FF2B5EF4-FFF2-40B4-BE49-F238E27FC236}">
                    <a16:creationId xmlns:a16="http://schemas.microsoft.com/office/drawing/2014/main" id="{0ADBDB24-136E-FDEB-9EA7-C94327F4B2AF}"/>
                  </a:ext>
                </a:extLst>
              </p:cNvPr>
              <p:cNvSpPr txBox="1">
                <a:spLocks noRot="1" noChangeAspect="1" noMove="1" noResize="1" noEditPoints="1" noAdjustHandles="1" noChangeArrowheads="1" noChangeShapeType="1" noTextEdit="1"/>
              </p:cNvSpPr>
              <p:nvPr/>
            </p:nvSpPr>
            <p:spPr>
              <a:xfrm>
                <a:off x="1514015" y="1315773"/>
                <a:ext cx="6115969" cy="1038489"/>
              </a:xfrm>
              <a:prstGeom prst="rect">
                <a:avLst/>
              </a:prstGeom>
              <a:blipFill>
                <a:blip r:embed="rId4"/>
                <a:stretch>
                  <a:fillRect l="-207" t="-114458" r="-1660" b="-174699"/>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内容占位符 2"/>
          <p:cNvSpPr>
            <a:spLocks noGrp="1"/>
          </p:cNvSpPr>
          <p:nvPr>
            <p:ph idx="1"/>
          </p:nvPr>
        </p:nvSpPr>
        <p:spPr>
          <a:xfrm>
            <a:off x="685800" y="1317625"/>
            <a:ext cx="7772400" cy="4778375"/>
          </a:xfrm>
        </p:spPr>
        <p:txBody>
          <a:bodyPr>
            <a:normAutofit/>
          </a:bodyPr>
          <a:lstStyle/>
          <a:p>
            <a:r>
              <a:rPr lang="zh-CN" altLang="en-US" sz="3200" b="1" dirty="0"/>
              <a:t>目标函数加个负号，由求极大转换成求极小，得到等价的对偶问题：</a:t>
            </a:r>
          </a:p>
        </p:txBody>
      </p:sp>
      <p:sp>
        <p:nvSpPr>
          <p:cNvPr id="22532" name="灯片编号占位符 3"/>
          <p:cNvSpPr>
            <a:spLocks noGrp="1"/>
          </p:cNvSpPr>
          <p:nvPr>
            <p:ph type="sldNum" sz="quarter" idx="12"/>
          </p:nvPr>
        </p:nvSpPr>
        <p:spPr>
          <a:noFill/>
        </p:spPr>
        <p:txBody>
          <a:bodyPr/>
          <a:lstStyle/>
          <a:p>
            <a:fld id="{0B21DF29-4F7F-4F14-A15B-B9941DCF56C3}" type="slidenum">
              <a:rPr lang="en-US" altLang="zh-CN" smtClean="0">
                <a:ea typeface="黑体" pitchFamily="49" charset="-122"/>
              </a:rPr>
              <a:pPr/>
              <a:t>26</a:t>
            </a:fld>
            <a:endParaRPr lang="en-US" altLang="zh-CN">
              <a:ea typeface="黑体" pitchFamily="49" charset="-122"/>
            </a:endParaRPr>
          </a:p>
        </p:txBody>
      </p:sp>
      <mc:AlternateContent xmlns:mc="http://schemas.openxmlformats.org/markup-compatibility/2006" xmlns:a14="http://schemas.microsoft.com/office/drawing/2010/main">
        <mc:Choice Requires="a14">
          <p:sp>
            <p:nvSpPr>
              <p:cNvPr id="22530" name="Object 2" descr="羊皮纸"/>
              <p:cNvSpPr txBox="1"/>
              <p:nvPr/>
            </p:nvSpPr>
            <p:spPr bwMode="auto">
              <a:xfrm>
                <a:off x="1423988" y="2760663"/>
                <a:ext cx="5738812" cy="289401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limLow>
                        <m:limLowPr>
                          <m:ctrlPr>
                            <a:rPr lang="zh-CN" altLang="en-US" sz="2400" i="1" smtClean="0">
                              <a:solidFill>
                                <a:srgbClr val="000000"/>
                              </a:solidFill>
                              <a:latin typeface="Cambria Math" panose="02040503050406030204" pitchFamily="18" charset="0"/>
                            </a:rPr>
                          </m:ctrlPr>
                        </m:limLowPr>
                        <m:e>
                          <m:r>
                            <m:rPr>
                              <m:sty m:val="p"/>
                            </m:rPr>
                            <a:rPr lang="zh-CN" altLang="en-US" sz="2400" i="0">
                              <a:solidFill>
                                <a:srgbClr val="000000"/>
                              </a:solidFill>
                              <a:latin typeface="Cambria Math" panose="02040503050406030204" pitchFamily="18" charset="0"/>
                            </a:rPr>
                            <m:t>min</m:t>
                          </m:r>
                        </m:e>
                        <m:lim>
                          <m:r>
                            <a:rPr lang="zh-CN" altLang="en-US" sz="2400" i="1">
                              <a:solidFill>
                                <a:srgbClr val="000000"/>
                              </a:solidFill>
                              <a:latin typeface="Cambria Math" panose="02040503050406030204" pitchFamily="18" charset="0"/>
                            </a:rPr>
                            <m:t>𝛼</m:t>
                          </m:r>
                        </m:lim>
                      </m:limLow>
                      <m:d>
                        <m:dPr>
                          <m:ctrlPr>
                            <a:rPr lang="en-US" altLang="zh-CN" sz="2400" i="1" smtClean="0">
                              <a:solidFill>
                                <a:srgbClr val="000000"/>
                              </a:solidFill>
                              <a:latin typeface="Cambria Math" panose="02040503050406030204" pitchFamily="18" charset="0"/>
                            </a:rPr>
                          </m:ctrlPr>
                        </m:dPr>
                        <m:e>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𝑗</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e>
                                  </m:nary>
                                </m:e>
                              </m:nary>
                            </m:e>
                          </m:nary>
                          <m:r>
                            <m:rPr>
                              <m:nor/>
                            </m:rPr>
                            <a:rPr lang="zh-CN" altLang="en-US" sz="2400" i="1" dirty="0">
                              <a:solidFill>
                                <a:srgbClr val="000000"/>
                              </a:solidFill>
                              <a:latin typeface="Cambria Math" panose="02040503050406030204" pitchFamily="18" charset="0"/>
                            </a:rPr>
                            <m:t> </m:t>
                          </m:r>
                        </m:e>
                      </m:d>
                      <m:r>
                        <a:rPr lang="zh-CN" altLang="en-US" sz="2400" i="1">
                          <a:solidFill>
                            <a:srgbClr val="000000"/>
                          </a:solidFill>
                          <a:latin typeface="Cambria Math" panose="02040503050406030204" pitchFamily="18" charset="0"/>
                        </a:rPr>
                        <m:t> </m:t>
                      </m:r>
                    </m:oMath>
                  </m:oMathPara>
                </a14:m>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.  </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e>
                      </m:nary>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      </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≥0, </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=1,2,...,</m:t>
                      </m:r>
                      <m:r>
                        <a:rPr lang="zh-CN" altLang="en-US" sz="2400" i="1">
                          <a:solidFill>
                            <a:srgbClr val="000000"/>
                          </a:solidFill>
                          <a:latin typeface="Cambria Math" panose="02040503050406030204" pitchFamily="18" charset="0"/>
                        </a:rPr>
                        <m:t>𝑁</m:t>
                      </m:r>
                    </m:oMath>
                  </m:oMathPara>
                </a14:m>
                <a:endParaRPr lang="zh-CN" altLang="en-US" sz="2400" dirty="0"/>
              </a:p>
            </p:txBody>
          </p:sp>
        </mc:Choice>
        <mc:Fallback xmlns="">
          <p:sp>
            <p:nvSpPr>
              <p:cNvPr id="22530" name="Object 2" descr="羊皮纸"/>
              <p:cNvSpPr txBox="1">
                <a:spLocks noRot="1" noChangeAspect="1" noMove="1" noResize="1" noEditPoints="1" noAdjustHandles="1" noChangeArrowheads="1" noChangeShapeType="1" noTextEdit="1"/>
              </p:cNvSpPr>
              <p:nvPr/>
            </p:nvSpPr>
            <p:spPr bwMode="auto">
              <a:xfrm>
                <a:off x="1423988" y="2760663"/>
                <a:ext cx="5738812" cy="289401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8946973-DE98-F8F4-3BD8-3934874786DC}"/>
                  </a:ext>
                </a:extLst>
              </p:cNvPr>
              <p:cNvSpPr txBox="1"/>
              <p:nvPr/>
            </p:nvSpPr>
            <p:spPr>
              <a:xfrm>
                <a:off x="1090247" y="5613728"/>
                <a:ext cx="3072380" cy="523220"/>
              </a:xfrm>
              <a:prstGeom prst="rect">
                <a:avLst/>
              </a:prstGeom>
              <a:noFill/>
            </p:spPr>
            <p:txBody>
              <a:bodyPr wrap="none" rtlCol="0">
                <a:spAutoFit/>
              </a:bodyPr>
              <a:lstStyle/>
              <a:p>
                <a:r>
                  <a:rPr kumimoji="1" lang="zh-CN" altLang="en-US" sz="2800" dirty="0"/>
                  <a:t>解出的最优解为</a:t>
                </a:r>
                <a14:m>
                  <m:oMath xmlns:m="http://schemas.openxmlformats.org/officeDocument/2006/math">
                    <m:sSup>
                      <m:sSupPr>
                        <m:ctrlPr>
                          <a:rPr kumimoji="1" lang="en-US" altLang="zh-CN" sz="2800" i="1" smtClean="0">
                            <a:latin typeface="Cambria Math" panose="02040503050406030204" pitchFamily="18" charset="0"/>
                          </a:rPr>
                        </m:ctrlPr>
                      </m:sSupPr>
                      <m:e>
                        <m:r>
                          <a:rPr kumimoji="1" lang="en-US" altLang="zh-CN" sz="2800" i="1" smtClean="0">
                            <a:latin typeface="Cambria Math" panose="02040503050406030204" pitchFamily="18" charset="0"/>
                            <a:ea typeface="Cambria Math" panose="02040503050406030204" pitchFamily="18" charset="0"/>
                          </a:rPr>
                          <m:t>𝛼</m:t>
                        </m:r>
                      </m:e>
                      <m:sup>
                        <m:r>
                          <a:rPr kumimoji="1" lang="zh-CN" altLang="en-US" sz="2800" b="0" i="1" smtClean="0">
                            <a:latin typeface="Cambria Math" panose="02040503050406030204" pitchFamily="18" charset="0"/>
                          </a:rPr>
                          <m:t>∗</m:t>
                        </m:r>
                      </m:sup>
                    </m:sSup>
                  </m:oMath>
                </a14:m>
                <a:endParaRPr kumimoji="1" lang="zh-CN" altLang="en-US" sz="2800" dirty="0"/>
              </a:p>
            </p:txBody>
          </p:sp>
        </mc:Choice>
        <mc:Fallback xmlns="">
          <p:sp>
            <p:nvSpPr>
              <p:cNvPr id="2" name="文本框 1">
                <a:extLst>
                  <a:ext uri="{FF2B5EF4-FFF2-40B4-BE49-F238E27FC236}">
                    <a16:creationId xmlns:a16="http://schemas.microsoft.com/office/drawing/2014/main" id="{98946973-DE98-F8F4-3BD8-3934874786DC}"/>
                  </a:ext>
                </a:extLst>
              </p:cNvPr>
              <p:cNvSpPr txBox="1">
                <a:spLocks noRot="1" noChangeAspect="1" noMove="1" noResize="1" noEditPoints="1" noAdjustHandles="1" noChangeArrowheads="1" noChangeShapeType="1" noTextEdit="1"/>
              </p:cNvSpPr>
              <p:nvPr/>
            </p:nvSpPr>
            <p:spPr>
              <a:xfrm>
                <a:off x="1090247" y="5613728"/>
                <a:ext cx="3072380" cy="523220"/>
              </a:xfrm>
              <a:prstGeom prst="rect">
                <a:avLst/>
              </a:prstGeom>
              <a:blipFill>
                <a:blip r:embed="rId4"/>
                <a:stretch>
                  <a:fillRect l="-4115" t="-23810" b="-21429"/>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5A72491-CDD5-20AA-DDAC-8D2FC243878C}"/>
              </a:ext>
            </a:extLst>
          </p:cNvPr>
          <p:cNvSpPr/>
          <p:nvPr/>
        </p:nvSpPr>
        <p:spPr>
          <a:xfrm>
            <a:off x="4994030" y="1495673"/>
            <a:ext cx="3681046" cy="1618842"/>
          </a:xfrm>
          <a:prstGeom prst="rect">
            <a:avLst/>
          </a:prstGeom>
          <a:solidFill>
            <a:srgbClr val="F4B39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title"/>
          </p:nvPr>
        </p:nvSpPr>
        <p:spPr/>
        <p:txBody>
          <a:bodyPr/>
          <a:lstStyle/>
          <a:p>
            <a:r>
              <a:rPr lang="zh-CN" altLang="en-US" dirty="0"/>
              <a:t>回顾：如何求得</a:t>
            </a:r>
            <a:r>
              <a:rPr lang="en-US" altLang="zh-CN" dirty="0"/>
              <a:t>w*</a:t>
            </a:r>
            <a:r>
              <a:rPr lang="zh-CN" altLang="en-US" dirty="0"/>
              <a:t>、</a:t>
            </a:r>
            <a:r>
              <a:rPr lang="en-US" altLang="zh-CN" dirty="0"/>
              <a:t>b*?</a:t>
            </a:r>
            <a:endParaRPr lang="zh-CN" altLang="en-US" dirty="0"/>
          </a:p>
        </p:txBody>
      </p:sp>
      <mc:AlternateContent xmlns:mc="http://schemas.openxmlformats.org/markup-compatibility/2006" xmlns:a14="http://schemas.microsoft.com/office/drawing/2010/main">
        <mc:Choice Requires="a14">
          <p:sp>
            <p:nvSpPr>
              <p:cNvPr id="5" name="Object 2" descr="羊皮纸"/>
              <p:cNvSpPr txBox="1"/>
              <p:nvPr/>
            </p:nvSpPr>
            <p:spPr bwMode="auto">
              <a:xfrm>
                <a:off x="809625" y="1542930"/>
                <a:ext cx="6002338" cy="4778374"/>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smtClean="0">
                              <a:solidFill>
                                <a:srgbClr val="000000"/>
                              </a:solidFill>
                              <a:latin typeface="Cambria Math" panose="02040503050406030204" pitchFamily="18" charset="0"/>
                            </a:rPr>
                          </m:ctrlPr>
                        </m:sSubPr>
                        <m:e>
                          <m:r>
                            <m:rPr>
                              <m:sty m:val="p"/>
                            </m:rPr>
                            <a:rPr lang="zh-CN" altLang="en-US" sz="2400" i="1">
                              <a:solidFill>
                                <a:srgbClr val="000000"/>
                              </a:solidFill>
                              <a:latin typeface="Cambria Math" panose="02040503050406030204" pitchFamily="18" charset="0"/>
                            </a:rPr>
                            <m:t>∇</m:t>
                          </m:r>
                        </m:e>
                        <m:sub>
                          <m:r>
                            <a:rPr lang="zh-CN" altLang="en-US" sz="2400" i="1">
                              <a:solidFill>
                                <a:srgbClr val="000000"/>
                              </a:solidFill>
                              <a:latin typeface="Cambria Math" panose="02040503050406030204" pitchFamily="18" charset="0"/>
                            </a:rPr>
                            <m:t>𝑤</m:t>
                          </m:r>
                        </m:sub>
                      </m:sSub>
                      <m:r>
                        <a:rPr lang="zh-CN" altLang="en-US" sz="2400" i="1">
                          <a:solidFill>
                            <a:srgbClr val="000000"/>
                          </a:solidFill>
                          <a:latin typeface="Cambria Math" panose="02040503050406030204" pitchFamily="18" charset="0"/>
                        </a:rPr>
                        <m:t>𝐿</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𝑤</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𝑏</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𝛼</m:t>
                      </m:r>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𝑤</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e>
                      </m:nary>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𝑤</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e>
                      </m:nary>
                    </m:oMath>
                  </m:oMathPara>
                </a14:m>
                <a:br>
                  <a:rPr lang="zh-CN" altLang="en-US" sz="2400" i="1" dirty="0">
                    <a:solidFill>
                      <a:srgbClr val="000000"/>
                    </a:solidFill>
                    <a:latin typeface="Cambria Math" panose="02040503050406030204" pitchFamily="18" charset="0"/>
                  </a:rPr>
                </a:br>
                <a:endParaRPr lang="en-US" altLang="zh-CN" sz="2400" i="1" dirty="0">
                  <a:solidFill>
                    <a:srgbClr val="000000"/>
                  </a:solidFill>
                  <a:latin typeface="Cambria Math" panose="02040503050406030204" pitchFamily="18" charset="0"/>
                </a:endParaRPr>
              </a:p>
              <a:p>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d>
                        <m:dPr>
                          <m:begChr m:val="["/>
                          <m:endChr m:val="]"/>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1</m:t>
                          </m:r>
                          <m:r>
                            <a:rPr lang="zh-CN" altLang="en-US" sz="2400" i="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𝑤</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𝑏</m:t>
                              </m:r>
                            </m:e>
                          </m:d>
                        </m:e>
                      </m:d>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𝑁</m:t>
                      </m:r>
                    </m:oMath>
                  </m:oMathPara>
                </a14:m>
                <a:endParaRPr lang="en-US" altLang="zh-CN" sz="2400" i="1" dirty="0">
                  <a:solidFill>
                    <a:srgbClr val="000000"/>
                  </a:solidFill>
                  <a:latin typeface="Cambria Math" panose="02040503050406030204" pitchFamily="18" charset="0"/>
                </a:endParaRPr>
              </a:p>
              <a:p>
                <a:pPr/>
                <a:br>
                  <a:rPr lang="zh-CN" altLang="en-US" sz="24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𝑏</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𝑤</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选择一个</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𝑏</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e>
                      </m:nary>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5" name="Object 2" descr="羊皮纸"/>
              <p:cNvSpPr txBox="1">
                <a:spLocks noRot="1" noChangeAspect="1" noMove="1" noResize="1" noEditPoints="1" noAdjustHandles="1" noChangeArrowheads="1" noChangeShapeType="1" noTextEdit="1"/>
              </p:cNvSpPr>
              <p:nvPr/>
            </p:nvSpPr>
            <p:spPr bwMode="auto">
              <a:xfrm>
                <a:off x="809625" y="1542930"/>
                <a:ext cx="6002338" cy="4778374"/>
              </a:xfrm>
              <a:prstGeom prst="rect">
                <a:avLst/>
              </a:prstGeom>
              <a:blipFill>
                <a:blip r:embed="rId6"/>
                <a:stretch>
                  <a:fillRect l="-305" b="-4464"/>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5A38BE28-E31B-6F2B-C90F-E56F0DA6DE23}"/>
              </a:ext>
            </a:extLst>
          </p:cNvPr>
          <p:cNvSpPr txBox="1"/>
          <p:nvPr/>
        </p:nvSpPr>
        <p:spPr>
          <a:xfrm>
            <a:off x="5098245" y="1542930"/>
            <a:ext cx="1906291" cy="523220"/>
          </a:xfrm>
          <a:prstGeom prst="rect">
            <a:avLst/>
          </a:prstGeom>
          <a:noFill/>
        </p:spPr>
        <p:txBody>
          <a:bodyPr wrap="none" rtlCol="0">
            <a:spAutoFit/>
          </a:bodyPr>
          <a:lstStyle/>
          <a:p>
            <a:r>
              <a:rPr kumimoji="1" lang="en-US" altLang="zh-CN" sz="2800" dirty="0"/>
              <a:t>KKT</a:t>
            </a:r>
            <a:r>
              <a:rPr kumimoji="1" lang="zh-CN" altLang="en-US" sz="2800" dirty="0"/>
              <a:t>条件：</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D4AB251-82D3-D566-2A02-A78522B3978D}"/>
                  </a:ext>
                </a:extLst>
              </p:cNvPr>
              <p:cNvSpPr txBox="1"/>
              <p:nvPr/>
            </p:nvSpPr>
            <p:spPr>
              <a:xfrm>
                <a:off x="4800600" y="2613773"/>
                <a:ext cx="406790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r>
                        <a:rPr kumimoji="1" lang="en-US" altLang="zh-CN" sz="2400" b="0" i="1" smtClean="0">
                          <a:latin typeface="Cambria Math" panose="02040503050406030204" pitchFamily="18" charset="0"/>
                        </a:rPr>
                        <m:t>=0</m:t>
                      </m:r>
                    </m:oMath>
                  </m:oMathPara>
                </a14:m>
                <a:endParaRPr lang="zh-CN" altLang="en-US" sz="2400" dirty="0"/>
              </a:p>
            </p:txBody>
          </p:sp>
        </mc:Choice>
        <mc:Fallback xmlns="">
          <p:sp>
            <p:nvSpPr>
              <p:cNvPr id="6" name="文本框 5">
                <a:extLst>
                  <a:ext uri="{FF2B5EF4-FFF2-40B4-BE49-F238E27FC236}">
                    <a16:creationId xmlns:a16="http://schemas.microsoft.com/office/drawing/2014/main" id="{3D4AB251-82D3-D566-2A02-A78522B3978D}"/>
                  </a:ext>
                </a:extLst>
              </p:cNvPr>
              <p:cNvSpPr txBox="1">
                <a:spLocks noRot="1" noChangeAspect="1" noMove="1" noResize="1" noEditPoints="1" noAdjustHandles="1" noChangeArrowheads="1" noChangeShapeType="1" noTextEdit="1"/>
              </p:cNvSpPr>
              <p:nvPr/>
            </p:nvSpPr>
            <p:spPr>
              <a:xfrm>
                <a:off x="4800600" y="2613773"/>
                <a:ext cx="4067907" cy="461665"/>
              </a:xfrm>
              <a:prstGeom prst="rect">
                <a:avLst/>
              </a:prstGeom>
              <a:blipFill>
                <a:blip r:embed="rId7"/>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F48F18B-8851-8D7D-0CE4-5C9711BA136E}"/>
                  </a:ext>
                </a:extLst>
              </p:cNvPr>
              <p:cNvSpPr txBox="1"/>
              <p:nvPr/>
            </p:nvSpPr>
            <p:spPr>
              <a:xfrm>
                <a:off x="5098245" y="2066150"/>
                <a:ext cx="3364523" cy="477888"/>
              </a:xfrm>
              <a:prstGeom prst="rect">
                <a:avLst/>
              </a:prstGeom>
              <a:noFill/>
            </p:spPr>
            <p:txBody>
              <a:bodyPr wrap="square">
                <a:spAutoFit/>
              </a:bodyPr>
              <a:lstStyle/>
              <a:p>
                <a14:m>
                  <m:oMath xmlns:m="http://schemas.openxmlformats.org/officeDocument/2006/math">
                    <m:sSub>
                      <m:sSubPr>
                        <m:ctrlPr>
                          <a:rPr kumimoji="1" lang="en-US" altLang="zh-CN" sz="2400" i="1" smtClean="0">
                            <a:latin typeface="Cambria Math" panose="02040503050406030204" pitchFamily="18" charset="0"/>
                          </a:rPr>
                        </m:ctrlPr>
                      </m:sSubPr>
                      <m:e>
                        <m:r>
                          <m:rPr>
                            <m:sty m:val="p"/>
                          </m:rPr>
                          <a:rPr kumimoji="1" lang="en-US" altLang="zh-CN" sz="2400" i="1" smtClean="0">
                            <a:latin typeface="Cambria Math" panose="02040503050406030204" pitchFamily="18" charset="0"/>
                            <a:ea typeface="Cambria Math" panose="02040503050406030204" pitchFamily="18" charset="0"/>
                          </a:rPr>
                          <m:t>∇</m:t>
                        </m:r>
                      </m:e>
                      <m:sub>
                        <m:r>
                          <a:rPr kumimoji="1" lang="en-US" altLang="zh-CN" sz="2400" b="0" i="1" smtClean="0">
                            <a:latin typeface="Cambria Math" panose="02040503050406030204" pitchFamily="18" charset="0"/>
                          </a:rPr>
                          <m:t>𝑤</m:t>
                        </m:r>
                        <m:r>
                          <a:rPr kumimoji="1" lang="en-US" altLang="zh-CN" sz="2400" b="0" i="1" smtClean="0">
                            <a:latin typeface="Cambria Math" panose="02040503050406030204" pitchFamily="18" charset="0"/>
                          </a:rPr>
                          <m:t>,</m:t>
                        </m:r>
                        <m:r>
                          <a:rPr kumimoji="1" lang="zh-CN" altLang="en-US" sz="2400" b="0" i="1" smtClean="0">
                            <a:latin typeface="Cambria Math" panose="02040503050406030204" pitchFamily="18" charset="0"/>
                          </a:rPr>
                          <m:t> </m:t>
                        </m:r>
                        <m:r>
                          <a:rPr kumimoji="1" lang="en-US" altLang="zh-CN" sz="2400" b="0" i="1" smtClean="0">
                            <a:latin typeface="Cambria Math" panose="02040503050406030204" pitchFamily="18" charset="0"/>
                          </a:rPr>
                          <m:t>𝑏</m:t>
                        </m:r>
                      </m:sub>
                    </m:sSub>
                  </m:oMath>
                </a14:m>
                <a:r>
                  <a:rPr kumimoji="1" lang="en-US" altLang="zh-CN" sz="2400" dirty="0"/>
                  <a:t> </a:t>
                </a:r>
                <a14:m>
                  <m:oMath xmlns:m="http://schemas.openxmlformats.org/officeDocument/2006/math">
                    <m:r>
                      <a:rPr kumimoji="1" lang="en-US" altLang="zh-CN" sz="2400" i="1">
                        <a:latin typeface="Cambria Math" panose="02040503050406030204" pitchFamily="18" charset="0"/>
                      </a:rPr>
                      <m:t>𝐿</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r>
                          <a:rPr kumimoji="1" lang="en-US" altLang="zh-CN" sz="2400" i="1">
                            <a:latin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𝛼</m:t>
                        </m:r>
                      </m:e>
                    </m:d>
                    <m:r>
                      <a:rPr kumimoji="1" lang="en-US" altLang="zh-CN" sz="2400" b="0" i="1" smtClean="0">
                        <a:latin typeface="Cambria Math" panose="02040503050406030204" pitchFamily="18" charset="0"/>
                        <a:ea typeface="Cambria Math" panose="02040503050406030204" pitchFamily="18" charset="0"/>
                      </a:rPr>
                      <m:t>=0</m:t>
                    </m:r>
                  </m:oMath>
                </a14:m>
                <a:endParaRPr lang="zh-CN" altLang="en-US" sz="2400" dirty="0"/>
              </a:p>
            </p:txBody>
          </p:sp>
        </mc:Choice>
        <mc:Fallback xmlns="">
          <p:sp>
            <p:nvSpPr>
              <p:cNvPr id="7" name="文本框 6">
                <a:extLst>
                  <a:ext uri="{FF2B5EF4-FFF2-40B4-BE49-F238E27FC236}">
                    <a16:creationId xmlns:a16="http://schemas.microsoft.com/office/drawing/2014/main" id="{4F48F18B-8851-8D7D-0CE4-5C9711BA136E}"/>
                  </a:ext>
                </a:extLst>
              </p:cNvPr>
              <p:cNvSpPr txBox="1">
                <a:spLocks noRot="1" noChangeAspect="1" noMove="1" noResize="1" noEditPoints="1" noAdjustHandles="1" noChangeArrowheads="1" noChangeShapeType="1" noTextEdit="1"/>
              </p:cNvSpPr>
              <p:nvPr/>
            </p:nvSpPr>
            <p:spPr>
              <a:xfrm>
                <a:off x="5098245" y="2066150"/>
                <a:ext cx="3364523" cy="477888"/>
              </a:xfrm>
              <a:prstGeom prst="rect">
                <a:avLst/>
              </a:prstGeom>
              <a:blipFill>
                <a:blip r:embed="rId8"/>
                <a:stretch>
                  <a:fillRect l="-3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944047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内容占位符 2"/>
          <p:cNvSpPr>
            <a:spLocks noGrp="1"/>
          </p:cNvSpPr>
          <p:nvPr>
            <p:ph idx="1"/>
          </p:nvPr>
        </p:nvSpPr>
        <p:spPr>
          <a:xfrm>
            <a:off x="914400" y="1447800"/>
            <a:ext cx="7772400" cy="5219700"/>
          </a:xfrm>
        </p:spPr>
        <p:txBody>
          <a:bodyPr>
            <a:normAutofit/>
          </a:bodyPr>
          <a:lstStyle/>
          <a:p>
            <a:r>
              <a:rPr lang="zh-CN" altLang="en-US" sz="2800" b="1" dirty="0"/>
              <a:t>分类超平面：</a:t>
            </a:r>
            <a:endParaRPr lang="en-US" altLang="zh-CN" sz="2800" b="1" dirty="0"/>
          </a:p>
          <a:p>
            <a:endParaRPr lang="en-US" altLang="zh-CN" sz="2800" b="1" dirty="0"/>
          </a:p>
          <a:p>
            <a:pPr marL="0" indent="0">
              <a:buNone/>
            </a:pPr>
            <a:endParaRPr lang="en-US" altLang="zh-CN" sz="2000" b="1" dirty="0"/>
          </a:p>
          <a:p>
            <a:r>
              <a:rPr lang="zh-CN" altLang="en-US" sz="2800" b="1" dirty="0"/>
              <a:t>分类决策函数为：</a:t>
            </a:r>
            <a:endParaRPr lang="en-US" altLang="zh-CN" sz="2800" b="1" dirty="0"/>
          </a:p>
          <a:p>
            <a:endParaRPr lang="en-US" altLang="zh-CN" sz="2800" b="1" dirty="0"/>
          </a:p>
          <a:p>
            <a:endParaRPr lang="en-US" altLang="zh-CN" sz="2800" b="1" dirty="0"/>
          </a:p>
          <a:p>
            <a:r>
              <a:rPr lang="zh-CN" altLang="en-US" sz="2800" b="1" dirty="0"/>
              <a:t>其中：</a:t>
            </a:r>
          </a:p>
        </p:txBody>
      </p:sp>
      <p:sp>
        <p:nvSpPr>
          <p:cNvPr id="35846" name="灯片编号占位符 3"/>
          <p:cNvSpPr>
            <a:spLocks noGrp="1"/>
          </p:cNvSpPr>
          <p:nvPr>
            <p:ph type="sldNum" sz="quarter" idx="12"/>
          </p:nvPr>
        </p:nvSpPr>
        <p:spPr>
          <a:noFill/>
        </p:spPr>
        <p:txBody>
          <a:bodyPr/>
          <a:lstStyle/>
          <a:p>
            <a:fld id="{610A0EDE-0B3F-46F9-8CB5-51C19494988E}" type="slidenum">
              <a:rPr lang="en-US" altLang="zh-CN" smtClean="0">
                <a:ea typeface="黑体" pitchFamily="49" charset="-122"/>
              </a:rPr>
              <a:pPr/>
              <a:t>28</a:t>
            </a:fld>
            <a:endParaRPr lang="en-US" altLang="zh-CN">
              <a:ea typeface="黑体" pitchFamily="49" charset="-122"/>
            </a:endParaRPr>
          </a:p>
        </p:txBody>
      </p:sp>
      <mc:AlternateContent xmlns:mc="http://schemas.openxmlformats.org/markup-compatibility/2006" xmlns:a14="http://schemas.microsoft.com/office/drawing/2010/main">
        <mc:Choice Requires="a14">
          <p:sp>
            <p:nvSpPr>
              <p:cNvPr id="35842" name="Object 5" descr="羊皮纸"/>
              <p:cNvSpPr txBox="1"/>
              <p:nvPr/>
            </p:nvSpPr>
            <p:spPr bwMode="auto">
              <a:xfrm>
                <a:off x="2082723" y="3466168"/>
                <a:ext cx="5327650" cy="51659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𝑓</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𝑠𝑖𝑔𝑛</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𝑤</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𝑏</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35842" name="Object 5" descr="羊皮纸"/>
              <p:cNvSpPr txBox="1">
                <a:spLocks noRot="1" noChangeAspect="1" noMove="1" noResize="1" noEditPoints="1" noAdjustHandles="1" noChangeArrowheads="1" noChangeShapeType="1" noTextEdit="1"/>
              </p:cNvSpPr>
              <p:nvPr/>
            </p:nvSpPr>
            <p:spPr bwMode="auto">
              <a:xfrm>
                <a:off x="2082723" y="3466168"/>
                <a:ext cx="5327650" cy="51659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843" name="Object 5" descr="羊皮纸"/>
              <p:cNvSpPr txBox="1"/>
              <p:nvPr/>
            </p:nvSpPr>
            <p:spPr bwMode="auto">
              <a:xfrm>
                <a:off x="2133600" y="2187576"/>
                <a:ext cx="3868738" cy="516596"/>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𝑤</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𝑏</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35843" name="Object 5" descr="羊皮纸"/>
              <p:cNvSpPr txBox="1">
                <a:spLocks noRot="1" noChangeAspect="1" noMove="1" noResize="1" noEditPoints="1" noAdjustHandles="1" noChangeArrowheads="1" noChangeShapeType="1" noTextEdit="1"/>
              </p:cNvSpPr>
              <p:nvPr/>
            </p:nvSpPr>
            <p:spPr bwMode="auto">
              <a:xfrm>
                <a:off x="2133600" y="2187576"/>
                <a:ext cx="3868738" cy="51659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5119AC7-494D-4518-B8ED-3D4EA8BA5A1E}"/>
                  </a:ext>
                </a:extLst>
              </p:cNvPr>
              <p:cNvSpPr txBox="1"/>
              <p:nvPr/>
            </p:nvSpPr>
            <p:spPr>
              <a:xfrm>
                <a:off x="869800" y="4431874"/>
                <a:ext cx="4572000" cy="1130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𝑤</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e>
                      </m:nary>
                    </m:oMath>
                  </m:oMathPara>
                </a14:m>
                <a:endParaRPr lang="zh-CN" altLang="en-US" sz="2400" dirty="0"/>
              </a:p>
            </p:txBody>
          </p:sp>
        </mc:Choice>
        <mc:Fallback xmlns="">
          <p:sp>
            <p:nvSpPr>
              <p:cNvPr id="12" name="文本框 11">
                <a:extLst>
                  <a:ext uri="{FF2B5EF4-FFF2-40B4-BE49-F238E27FC236}">
                    <a16:creationId xmlns:a16="http://schemas.microsoft.com/office/drawing/2014/main" id="{F5119AC7-494D-4518-B8ED-3D4EA8BA5A1E}"/>
                  </a:ext>
                </a:extLst>
              </p:cNvPr>
              <p:cNvSpPr txBox="1">
                <a:spLocks noRot="1" noChangeAspect="1" noMove="1" noResize="1" noEditPoints="1" noAdjustHandles="1" noChangeArrowheads="1" noChangeShapeType="1" noTextEdit="1"/>
              </p:cNvSpPr>
              <p:nvPr/>
            </p:nvSpPr>
            <p:spPr>
              <a:xfrm>
                <a:off x="869800" y="4431874"/>
                <a:ext cx="4572000" cy="113082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E558DE42-D8ED-45BC-9B02-DDC30F36001E}"/>
                  </a:ext>
                </a:extLst>
              </p:cNvPr>
              <p:cNvSpPr txBox="1"/>
              <p:nvPr/>
            </p:nvSpPr>
            <p:spPr>
              <a:xfrm>
                <a:off x="1555594" y="5368574"/>
                <a:ext cx="4572000" cy="1130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𝑏</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Sup>
                            <m:sSubSupPr>
                              <m:ctrlPr>
                                <a:rPr lang="zh-CN" altLang="en-US" sz="2400" i="1">
                                  <a:solidFill>
                                    <a:srgbClr val="000000"/>
                                  </a:solidFill>
                                  <a:latin typeface="Cambria Math" panose="02040503050406030204" pitchFamily="18" charset="0"/>
                                </a:rPr>
                              </m:ctrlPr>
                            </m:sSubSup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up>
                              <m:r>
                                <a:rPr lang="zh-CN" altLang="en-US" sz="2400" i="1">
                                  <a:solidFill>
                                    <a:srgbClr val="000000"/>
                                  </a:solidFill>
                                  <a:latin typeface="Cambria Math" panose="02040503050406030204" pitchFamily="18" charset="0"/>
                                </a:rPr>
                                <m:t>∗</m:t>
                              </m:r>
                            </m:sup>
                          </m:sSub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e>
                      </m:nary>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14" name="文本框 13">
                <a:extLst>
                  <a:ext uri="{FF2B5EF4-FFF2-40B4-BE49-F238E27FC236}">
                    <a16:creationId xmlns:a16="http://schemas.microsoft.com/office/drawing/2014/main" id="{E558DE42-D8ED-45BC-9B02-DDC30F36001E}"/>
                  </a:ext>
                </a:extLst>
              </p:cNvPr>
              <p:cNvSpPr txBox="1">
                <a:spLocks noRot="1" noChangeAspect="1" noMove="1" noResize="1" noEditPoints="1" noAdjustHandles="1" noChangeArrowheads="1" noChangeShapeType="1" noTextEdit="1"/>
              </p:cNvSpPr>
              <p:nvPr/>
            </p:nvSpPr>
            <p:spPr>
              <a:xfrm>
                <a:off x="1555594" y="5368574"/>
                <a:ext cx="4572000" cy="1130822"/>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90766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3A1F73E9-5C11-9BE5-C8CC-6D37DF96E274}"/>
              </a:ext>
            </a:extLst>
          </p:cNvPr>
          <p:cNvSpPr/>
          <p:nvPr/>
        </p:nvSpPr>
        <p:spPr>
          <a:xfrm>
            <a:off x="2186434" y="2376762"/>
            <a:ext cx="4180112" cy="3285477"/>
          </a:xfrm>
          <a:prstGeom prst="rect">
            <a:avLst/>
          </a:prstGeom>
          <a:solidFill>
            <a:srgbClr val="F4B39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81A92B0-FFEB-4A8E-A375-01BD612AA936}"/>
                  </a:ext>
                </a:extLst>
              </p:cNvPr>
              <p:cNvSpPr>
                <a:spLocks noGrp="1"/>
              </p:cNvSpPr>
              <p:nvPr>
                <p:ph sz="quarter" idx="1"/>
              </p:nvPr>
            </p:nvSpPr>
            <p:spPr/>
            <p:txBody>
              <a:bodyPr>
                <a:normAutofit/>
              </a:bodyPr>
              <a:lstStyle/>
              <a:p>
                <a14:m>
                  <m:oMath xmlns:m="http://schemas.openxmlformats.org/officeDocument/2006/math">
                    <m:r>
                      <a:rPr lang="zh-CN" altLang="en-US" sz="2800" i="1">
                        <a:solidFill>
                          <a:srgbClr val="000000"/>
                        </a:solidFill>
                        <a:latin typeface="Cambria Math" panose="02040503050406030204" pitchFamily="18" charset="0"/>
                      </a:rPr>
                      <m:t>与</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&gt;0</m:t>
                    </m:r>
                    <m:r>
                      <a:rPr lang="zh-CN" altLang="en-US" sz="2800" i="1">
                        <a:solidFill>
                          <a:srgbClr val="000000"/>
                        </a:solidFill>
                        <a:latin typeface="Cambria Math" panose="02040503050406030204" pitchFamily="18" charset="0"/>
                      </a:rPr>
                      <m:t>对应的实例</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就是支持向量。</m:t>
                    </m:r>
                  </m:oMath>
                </a14:m>
                <a:endParaRPr lang="zh-CN" altLang="en-US" sz="3600" dirty="0"/>
              </a:p>
            </p:txBody>
          </p:sp>
        </mc:Choice>
        <mc:Fallback xmlns="">
          <p:sp>
            <p:nvSpPr>
              <p:cNvPr id="3" name="内容占位符 2">
                <a:extLst>
                  <a:ext uri="{FF2B5EF4-FFF2-40B4-BE49-F238E27FC236}">
                    <a16:creationId xmlns:a16="http://schemas.microsoft.com/office/drawing/2014/main" id="{C81A92B0-FFEB-4A8E-A375-01BD612AA936}"/>
                  </a:ext>
                </a:extLst>
              </p:cNvPr>
              <p:cNvSpPr>
                <a:spLocks noGrp="1" noRot="1" noChangeAspect="1" noMove="1" noResize="1" noEditPoints="1" noAdjustHandles="1" noChangeArrowheads="1" noChangeShapeType="1" noTextEdit="1"/>
              </p:cNvSpPr>
              <p:nvPr>
                <p:ph sz="quarter" idx="1"/>
              </p:nvPr>
            </p:nvSpPr>
            <p:spPr>
              <a:blipFill>
                <a:blip r:embed="rId3"/>
                <a:stretch>
                  <a:fillRect/>
                </a:stretch>
              </a:blipFill>
            </p:spPr>
            <p:txBody>
              <a:bodyPr/>
              <a:lstStyle/>
              <a:p>
                <a:r>
                  <a:rPr lang="zh-CN" altLang="en-US">
                    <a:noFill/>
                  </a:rPr>
                  <a:t> </a:t>
                </a:r>
              </a:p>
            </p:txBody>
          </p:sp>
        </mc:Fallback>
      </mc:AlternateContent>
      <p:cxnSp>
        <p:nvCxnSpPr>
          <p:cNvPr id="5" name="直接连接符 4">
            <a:extLst>
              <a:ext uri="{FF2B5EF4-FFF2-40B4-BE49-F238E27FC236}">
                <a16:creationId xmlns:a16="http://schemas.microsoft.com/office/drawing/2014/main" id="{DAF3FE3F-1233-458E-99A4-C6A20E22433E}"/>
              </a:ext>
            </a:extLst>
          </p:cNvPr>
          <p:cNvCxnSpPr/>
          <p:nvPr/>
        </p:nvCxnSpPr>
        <p:spPr>
          <a:xfrm>
            <a:off x="2186434" y="4010686"/>
            <a:ext cx="418011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4CC308AA-CC16-4BDA-83B8-B0865124EB12}"/>
              </a:ext>
            </a:extLst>
          </p:cNvPr>
          <p:cNvCxnSpPr/>
          <p:nvPr/>
        </p:nvCxnSpPr>
        <p:spPr>
          <a:xfrm>
            <a:off x="1615598" y="1978415"/>
            <a:ext cx="527739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BB62933D-2B61-42BC-A723-56F17A50934D}"/>
              </a:ext>
            </a:extLst>
          </p:cNvPr>
          <p:cNvSpPr txBox="1"/>
          <p:nvPr/>
        </p:nvSpPr>
        <p:spPr>
          <a:xfrm>
            <a:off x="6997498" y="1452635"/>
            <a:ext cx="1097280" cy="584775"/>
          </a:xfrm>
          <a:prstGeom prst="rect">
            <a:avLst/>
          </a:prstGeom>
          <a:noFill/>
        </p:spPr>
        <p:txBody>
          <a:bodyPr wrap="square" rtlCol="0">
            <a:spAutoFit/>
          </a:bodyPr>
          <a:lstStyle/>
          <a:p>
            <a:r>
              <a:rPr lang="en-US" altLang="zh-CN" sz="3200" b="1" dirty="0">
                <a:solidFill>
                  <a:srgbClr val="FF0000"/>
                </a:solidFill>
                <a:latin typeface="+mn-ea"/>
              </a:rPr>
              <a:t>???</a:t>
            </a:r>
            <a:endParaRPr lang="zh-CN" altLang="en-US" b="1" dirty="0">
              <a:solidFill>
                <a:srgbClr val="FF0000"/>
              </a:solidFill>
              <a:latin typeface="+mn-ea"/>
            </a:endParaRPr>
          </a:p>
        </p:txBody>
      </p:sp>
      <p:sp>
        <p:nvSpPr>
          <p:cNvPr id="9" name="文本框 8">
            <a:extLst>
              <a:ext uri="{FF2B5EF4-FFF2-40B4-BE49-F238E27FC236}">
                <a16:creationId xmlns:a16="http://schemas.microsoft.com/office/drawing/2014/main" id="{0ACDD478-0322-6AA7-B1E8-7DE01035C7FA}"/>
              </a:ext>
            </a:extLst>
          </p:cNvPr>
          <p:cNvSpPr txBox="1"/>
          <p:nvPr/>
        </p:nvSpPr>
        <p:spPr>
          <a:xfrm>
            <a:off x="2290649" y="2424020"/>
            <a:ext cx="1906291" cy="523220"/>
          </a:xfrm>
          <a:prstGeom prst="rect">
            <a:avLst/>
          </a:prstGeom>
          <a:noFill/>
        </p:spPr>
        <p:txBody>
          <a:bodyPr wrap="none" rtlCol="0">
            <a:spAutoFit/>
          </a:bodyPr>
          <a:lstStyle/>
          <a:p>
            <a:r>
              <a:rPr kumimoji="1" lang="en-US" altLang="zh-CN" sz="2800" dirty="0"/>
              <a:t>KKT</a:t>
            </a:r>
            <a:r>
              <a:rPr kumimoji="1" lang="zh-CN" altLang="en-US" sz="2800" dirty="0"/>
              <a:t>条件：</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0E36EEF-6064-C78E-3C00-B8B8764A0B00}"/>
                  </a:ext>
                </a:extLst>
              </p:cNvPr>
              <p:cNvSpPr txBox="1"/>
              <p:nvPr/>
            </p:nvSpPr>
            <p:spPr>
              <a:xfrm>
                <a:off x="1993004" y="3494863"/>
                <a:ext cx="406790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r>
                        <a:rPr kumimoji="1" lang="en-US" altLang="zh-CN" sz="2400" b="0" i="1" smtClean="0">
                          <a:latin typeface="Cambria Math" panose="02040503050406030204" pitchFamily="18" charset="0"/>
                        </a:rPr>
                        <m:t>=0</m:t>
                      </m:r>
                    </m:oMath>
                  </m:oMathPara>
                </a14:m>
                <a:endParaRPr lang="zh-CN" altLang="en-US" sz="2400" dirty="0"/>
              </a:p>
            </p:txBody>
          </p:sp>
        </mc:Choice>
        <mc:Fallback xmlns="">
          <p:sp>
            <p:nvSpPr>
              <p:cNvPr id="10" name="文本框 9">
                <a:extLst>
                  <a:ext uri="{FF2B5EF4-FFF2-40B4-BE49-F238E27FC236}">
                    <a16:creationId xmlns:a16="http://schemas.microsoft.com/office/drawing/2014/main" id="{E0E36EEF-6064-C78E-3C00-B8B8764A0B00}"/>
                  </a:ext>
                </a:extLst>
              </p:cNvPr>
              <p:cNvSpPr txBox="1">
                <a:spLocks noRot="1" noChangeAspect="1" noMove="1" noResize="1" noEditPoints="1" noAdjustHandles="1" noChangeArrowheads="1" noChangeShapeType="1" noTextEdit="1"/>
              </p:cNvSpPr>
              <p:nvPr/>
            </p:nvSpPr>
            <p:spPr>
              <a:xfrm>
                <a:off x="1993004" y="3494863"/>
                <a:ext cx="4067907" cy="461665"/>
              </a:xfrm>
              <a:prstGeom prst="rect">
                <a:avLst/>
              </a:prstGeom>
              <a:blipFill>
                <a:blip r:embed="rId4"/>
                <a:stretch>
                  <a:fillRect b="-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A47F9BF-8408-DDBE-EC2B-498A31E094F1}"/>
                  </a:ext>
                </a:extLst>
              </p:cNvPr>
              <p:cNvSpPr txBox="1"/>
              <p:nvPr/>
            </p:nvSpPr>
            <p:spPr>
              <a:xfrm>
                <a:off x="2290649" y="2947240"/>
                <a:ext cx="3364523" cy="477888"/>
              </a:xfrm>
              <a:prstGeom prst="rect">
                <a:avLst/>
              </a:prstGeom>
              <a:noFill/>
            </p:spPr>
            <p:txBody>
              <a:bodyPr wrap="square">
                <a:spAutoFit/>
              </a:bodyPr>
              <a:lstStyle/>
              <a:p>
                <a14:m>
                  <m:oMath xmlns:m="http://schemas.openxmlformats.org/officeDocument/2006/math">
                    <m:sSub>
                      <m:sSubPr>
                        <m:ctrlPr>
                          <a:rPr kumimoji="1" lang="en-US" altLang="zh-CN" sz="2400" i="1" smtClean="0">
                            <a:latin typeface="Cambria Math" panose="02040503050406030204" pitchFamily="18" charset="0"/>
                          </a:rPr>
                        </m:ctrlPr>
                      </m:sSubPr>
                      <m:e>
                        <m:r>
                          <m:rPr>
                            <m:sty m:val="p"/>
                          </m:rPr>
                          <a:rPr kumimoji="1" lang="en-US" altLang="zh-CN" sz="2400" i="1" smtClean="0">
                            <a:latin typeface="Cambria Math" panose="02040503050406030204" pitchFamily="18" charset="0"/>
                            <a:ea typeface="Cambria Math" panose="02040503050406030204" pitchFamily="18" charset="0"/>
                          </a:rPr>
                          <m:t>∇</m:t>
                        </m:r>
                      </m:e>
                      <m:sub>
                        <m:r>
                          <a:rPr kumimoji="1" lang="en-US" altLang="zh-CN" sz="2400" b="0" i="1" smtClean="0">
                            <a:latin typeface="Cambria Math" panose="02040503050406030204" pitchFamily="18" charset="0"/>
                          </a:rPr>
                          <m:t>𝑤</m:t>
                        </m:r>
                        <m:r>
                          <a:rPr kumimoji="1" lang="en-US" altLang="zh-CN" sz="2400" b="0" i="1" smtClean="0">
                            <a:latin typeface="Cambria Math" panose="02040503050406030204" pitchFamily="18" charset="0"/>
                          </a:rPr>
                          <m:t>,</m:t>
                        </m:r>
                        <m:r>
                          <a:rPr kumimoji="1" lang="zh-CN" altLang="en-US" sz="2400" b="0" i="1" smtClean="0">
                            <a:latin typeface="Cambria Math" panose="02040503050406030204" pitchFamily="18" charset="0"/>
                          </a:rPr>
                          <m:t> </m:t>
                        </m:r>
                        <m:r>
                          <a:rPr kumimoji="1" lang="en-US" altLang="zh-CN" sz="2400" b="0" i="1" smtClean="0">
                            <a:latin typeface="Cambria Math" panose="02040503050406030204" pitchFamily="18" charset="0"/>
                          </a:rPr>
                          <m:t>𝑏</m:t>
                        </m:r>
                      </m:sub>
                    </m:sSub>
                  </m:oMath>
                </a14:m>
                <a:r>
                  <a:rPr kumimoji="1" lang="en-US" altLang="zh-CN" sz="2400" dirty="0"/>
                  <a:t> </a:t>
                </a:r>
                <a14:m>
                  <m:oMath xmlns:m="http://schemas.openxmlformats.org/officeDocument/2006/math">
                    <m:r>
                      <a:rPr kumimoji="1" lang="en-US" altLang="zh-CN" sz="2400" i="1">
                        <a:latin typeface="Cambria Math" panose="02040503050406030204" pitchFamily="18" charset="0"/>
                      </a:rPr>
                      <m:t>𝐿</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r>
                          <a:rPr kumimoji="1" lang="en-US" altLang="zh-CN" sz="2400" i="1">
                            <a:latin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𝛼</m:t>
                        </m:r>
                      </m:e>
                    </m:d>
                    <m:r>
                      <a:rPr kumimoji="1" lang="en-US" altLang="zh-CN" sz="2400" b="0" i="1" smtClean="0">
                        <a:latin typeface="Cambria Math" panose="02040503050406030204" pitchFamily="18" charset="0"/>
                        <a:ea typeface="Cambria Math" panose="02040503050406030204" pitchFamily="18" charset="0"/>
                      </a:rPr>
                      <m:t>=0</m:t>
                    </m:r>
                  </m:oMath>
                </a14:m>
                <a:endParaRPr lang="zh-CN" altLang="en-US" sz="2400" dirty="0"/>
              </a:p>
            </p:txBody>
          </p:sp>
        </mc:Choice>
        <mc:Fallback xmlns="">
          <p:sp>
            <p:nvSpPr>
              <p:cNvPr id="11" name="文本框 10">
                <a:extLst>
                  <a:ext uri="{FF2B5EF4-FFF2-40B4-BE49-F238E27FC236}">
                    <a16:creationId xmlns:a16="http://schemas.microsoft.com/office/drawing/2014/main" id="{AA47F9BF-8408-DDBE-EC2B-498A31E094F1}"/>
                  </a:ext>
                </a:extLst>
              </p:cNvPr>
              <p:cNvSpPr txBox="1">
                <a:spLocks noRot="1" noChangeAspect="1" noMove="1" noResize="1" noEditPoints="1" noAdjustHandles="1" noChangeArrowheads="1" noChangeShapeType="1" noTextEdit="1"/>
              </p:cNvSpPr>
              <p:nvPr/>
            </p:nvSpPr>
            <p:spPr>
              <a:xfrm>
                <a:off x="2290649" y="2947240"/>
                <a:ext cx="3364523" cy="477888"/>
              </a:xfrm>
              <a:prstGeom prst="rect">
                <a:avLst/>
              </a:prstGeom>
              <a:blipFill>
                <a:blip r:embed="rId5"/>
                <a:stretch>
                  <a:fillRect l="-3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396B2B5-D506-A6AD-D34C-4CBBC0FF7168}"/>
                  </a:ext>
                </a:extLst>
              </p:cNvPr>
              <p:cNvSpPr txBox="1"/>
              <p:nvPr/>
            </p:nvSpPr>
            <p:spPr>
              <a:xfrm>
                <a:off x="2204588" y="4074615"/>
                <a:ext cx="3364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sz="2400" i="1" smtClean="0">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rPr>
                        <m:t>0</m:t>
                      </m:r>
                    </m:oMath>
                  </m:oMathPara>
                </a14:m>
                <a:endParaRPr lang="zh-CN" altLang="en-US" sz="2400" dirty="0"/>
              </a:p>
            </p:txBody>
          </p:sp>
        </mc:Choice>
        <mc:Fallback xmlns="">
          <p:sp>
            <p:nvSpPr>
              <p:cNvPr id="12" name="文本框 11">
                <a:extLst>
                  <a:ext uri="{FF2B5EF4-FFF2-40B4-BE49-F238E27FC236}">
                    <a16:creationId xmlns:a16="http://schemas.microsoft.com/office/drawing/2014/main" id="{6396B2B5-D506-A6AD-D34C-4CBBC0FF7168}"/>
                  </a:ext>
                </a:extLst>
              </p:cNvPr>
              <p:cNvSpPr txBox="1">
                <a:spLocks noRot="1" noChangeAspect="1" noMove="1" noResize="1" noEditPoints="1" noAdjustHandles="1" noChangeArrowheads="1" noChangeShapeType="1" noTextEdit="1"/>
              </p:cNvSpPr>
              <p:nvPr/>
            </p:nvSpPr>
            <p:spPr>
              <a:xfrm>
                <a:off x="2204588" y="4074615"/>
                <a:ext cx="3364523" cy="461665"/>
              </a:xfrm>
              <a:prstGeom prst="rect">
                <a:avLst/>
              </a:prstGeom>
              <a:blipFill>
                <a:blip r:embed="rId6"/>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DAA698E-6888-D270-548D-CB7F3FD177B8}"/>
                  </a:ext>
                </a:extLst>
              </p:cNvPr>
              <p:cNvSpPr txBox="1"/>
              <p:nvPr/>
            </p:nvSpPr>
            <p:spPr>
              <a:xfrm>
                <a:off x="2120744" y="4595711"/>
                <a:ext cx="145366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r>
                        <a:rPr kumimoji="1" lang="en-US" altLang="zh-CN" sz="240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0</m:t>
                      </m:r>
                    </m:oMath>
                  </m:oMathPara>
                </a14:m>
                <a:endParaRPr lang="zh-CN" altLang="en-US" sz="2400" dirty="0"/>
              </a:p>
            </p:txBody>
          </p:sp>
        </mc:Choice>
        <mc:Fallback xmlns="">
          <p:sp>
            <p:nvSpPr>
              <p:cNvPr id="13" name="文本框 12">
                <a:extLst>
                  <a:ext uri="{FF2B5EF4-FFF2-40B4-BE49-F238E27FC236}">
                    <a16:creationId xmlns:a16="http://schemas.microsoft.com/office/drawing/2014/main" id="{FDAA698E-6888-D270-548D-CB7F3FD177B8}"/>
                  </a:ext>
                </a:extLst>
              </p:cNvPr>
              <p:cNvSpPr txBox="1">
                <a:spLocks noRot="1" noChangeAspect="1" noMove="1" noResize="1" noEditPoints="1" noAdjustHandles="1" noChangeArrowheads="1" noChangeShapeType="1" noTextEdit="1"/>
              </p:cNvSpPr>
              <p:nvPr/>
            </p:nvSpPr>
            <p:spPr>
              <a:xfrm>
                <a:off x="2120744" y="4595711"/>
                <a:ext cx="1453661" cy="46166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CCFA49D-D100-2C3B-9495-1DC339CF0F07}"/>
                  </a:ext>
                </a:extLst>
              </p:cNvPr>
              <p:cNvSpPr txBox="1"/>
              <p:nvPr/>
            </p:nvSpPr>
            <p:spPr>
              <a:xfrm>
                <a:off x="2039293" y="5128787"/>
                <a:ext cx="253270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Cambria Math" panose="02040503050406030204" pitchFamily="18" charset="0"/>
                        </a:rPr>
                        <m:t>𝑖</m:t>
                      </m:r>
                      <m:r>
                        <a:rPr kumimoji="1" lang="en-US" altLang="zh-CN" sz="2400" b="0" i="1" smtClean="0">
                          <a:latin typeface="Cambria Math" panose="02040503050406030204" pitchFamily="18" charset="0"/>
                          <a:ea typeface="Cambria Math" panose="02040503050406030204" pitchFamily="18" charset="0"/>
                        </a:rPr>
                        <m:t>=1,2,…,</m:t>
                      </m:r>
                      <m:r>
                        <a:rPr kumimoji="1" lang="en-US" altLang="zh-CN" sz="2400" b="0" i="1" smtClean="0">
                          <a:latin typeface="Cambria Math" panose="02040503050406030204" pitchFamily="18" charset="0"/>
                          <a:ea typeface="Cambria Math" panose="02040503050406030204" pitchFamily="18" charset="0"/>
                        </a:rPr>
                        <m:t>𝑁</m:t>
                      </m:r>
                    </m:oMath>
                  </m:oMathPara>
                </a14:m>
                <a:endParaRPr lang="zh-CN" altLang="en-US" sz="2400" dirty="0"/>
              </a:p>
            </p:txBody>
          </p:sp>
        </mc:Choice>
        <mc:Fallback xmlns="">
          <p:sp>
            <p:nvSpPr>
              <p:cNvPr id="14" name="文本框 13">
                <a:extLst>
                  <a:ext uri="{FF2B5EF4-FFF2-40B4-BE49-F238E27FC236}">
                    <a16:creationId xmlns:a16="http://schemas.microsoft.com/office/drawing/2014/main" id="{0CCFA49D-D100-2C3B-9495-1DC339CF0F07}"/>
                  </a:ext>
                </a:extLst>
              </p:cNvPr>
              <p:cNvSpPr txBox="1">
                <a:spLocks noRot="1" noChangeAspect="1" noMove="1" noResize="1" noEditPoints="1" noAdjustHandles="1" noChangeArrowheads="1" noChangeShapeType="1" noTextEdit="1"/>
              </p:cNvSpPr>
              <p:nvPr/>
            </p:nvSpPr>
            <p:spPr>
              <a:xfrm>
                <a:off x="2039293" y="5128787"/>
                <a:ext cx="2532707" cy="461665"/>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740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
          <p:cNvSpPr>
            <a:spLocks noGrp="1"/>
          </p:cNvSpPr>
          <p:nvPr>
            <p:ph idx="1"/>
          </p:nvPr>
        </p:nvSpPr>
        <p:spPr>
          <a:xfrm>
            <a:off x="685800" y="868363"/>
            <a:ext cx="7772400" cy="5227637"/>
          </a:xfrm>
        </p:spPr>
        <p:txBody>
          <a:bodyPr/>
          <a:lstStyle/>
          <a:p>
            <a:r>
              <a:rPr lang="zh-CN" altLang="en-US" sz="3200" b="1" dirty="0"/>
              <a:t>因此线性可分支持向量机就是求解如下的优化问题：</a:t>
            </a:r>
            <a:endParaRPr lang="en-US" altLang="zh-CN" sz="3200" b="1" dirty="0"/>
          </a:p>
          <a:p>
            <a:endParaRPr lang="en-US" altLang="zh-CN" sz="3200" b="1"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25604" name="灯片编号占位符 3"/>
          <p:cNvSpPr>
            <a:spLocks noGrp="1"/>
          </p:cNvSpPr>
          <p:nvPr>
            <p:ph type="sldNum" sz="quarter" idx="12"/>
          </p:nvPr>
        </p:nvSpPr>
        <p:spPr>
          <a:noFill/>
        </p:spPr>
        <p:txBody>
          <a:bodyPr/>
          <a:lstStyle/>
          <a:p>
            <a:fld id="{E045A578-6D10-4AA8-8790-8CBE1E66D92B}" type="slidenum">
              <a:rPr lang="en-US" altLang="zh-CN" smtClean="0">
                <a:ea typeface="黑体" pitchFamily="49" charset="-122"/>
              </a:rPr>
              <a:pPr/>
              <a:t>30</a:t>
            </a:fld>
            <a:endParaRPr lang="en-US" altLang="zh-CN" dirty="0">
              <a:ea typeface="黑体" pitchFamily="49" charset="-122"/>
            </a:endParaRPr>
          </a:p>
        </p:txBody>
      </p:sp>
      <mc:AlternateContent xmlns:mc="http://schemas.openxmlformats.org/markup-compatibility/2006" xmlns:a14="http://schemas.microsoft.com/office/drawing/2010/main">
        <mc:Choice Requires="a14">
          <p:sp>
            <p:nvSpPr>
              <p:cNvPr id="5" name="Object 2" descr="羊皮纸">
                <a:extLst>
                  <a:ext uri="{FF2B5EF4-FFF2-40B4-BE49-F238E27FC236}">
                    <a16:creationId xmlns:a16="http://schemas.microsoft.com/office/drawing/2014/main" id="{0D8AD71C-CDBB-43A9-84FC-27892A4E7944}"/>
                  </a:ext>
                </a:extLst>
              </p:cNvPr>
              <p:cNvSpPr txBox="1"/>
              <p:nvPr/>
            </p:nvSpPr>
            <p:spPr bwMode="auto">
              <a:xfrm>
                <a:off x="1615629" y="2629251"/>
                <a:ext cx="5738812" cy="289401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limLow>
                        <m:limLowPr>
                          <m:ctrlPr>
                            <a:rPr lang="zh-CN" altLang="en-US" sz="2400" i="1" smtClean="0">
                              <a:solidFill>
                                <a:srgbClr val="000000"/>
                              </a:solidFill>
                              <a:latin typeface="Cambria Math" panose="02040503050406030204" pitchFamily="18" charset="0"/>
                            </a:rPr>
                          </m:ctrlPr>
                        </m:limLowPr>
                        <m:e>
                          <m:r>
                            <m:rPr>
                              <m:sty m:val="p"/>
                            </m:rPr>
                            <a:rPr lang="zh-CN" altLang="en-US" sz="2400" i="0">
                              <a:solidFill>
                                <a:srgbClr val="000000"/>
                              </a:solidFill>
                              <a:latin typeface="Cambria Math" panose="02040503050406030204" pitchFamily="18" charset="0"/>
                            </a:rPr>
                            <m:t>min</m:t>
                          </m:r>
                        </m:e>
                        <m:lim>
                          <m:r>
                            <a:rPr lang="zh-CN" altLang="en-US" sz="2400" i="1">
                              <a:solidFill>
                                <a:srgbClr val="000000"/>
                              </a:solidFill>
                              <a:latin typeface="Cambria Math" panose="02040503050406030204" pitchFamily="18" charset="0"/>
                            </a:rPr>
                            <m:t>𝛼</m:t>
                          </m:r>
                        </m:lim>
                      </m:limLow>
                      <m:d>
                        <m:dPr>
                          <m:ctrlPr>
                            <a:rPr lang="en-US" altLang="zh-CN" sz="2400" i="1" smtClean="0">
                              <a:solidFill>
                                <a:srgbClr val="000000"/>
                              </a:solidFill>
                              <a:latin typeface="Cambria Math" panose="02040503050406030204" pitchFamily="18" charset="0"/>
                            </a:rPr>
                          </m:ctrlPr>
                        </m:dPr>
                        <m:e>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𝑗</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e>
                                  </m:nary>
                                </m:e>
                              </m:nary>
                            </m:e>
                          </m:nary>
                          <m:r>
                            <m:rPr>
                              <m:nor/>
                            </m:rPr>
                            <a:rPr lang="zh-CN" altLang="en-US" sz="2400" i="1" dirty="0">
                              <a:solidFill>
                                <a:srgbClr val="000000"/>
                              </a:solidFill>
                              <a:latin typeface="Cambria Math" panose="02040503050406030204" pitchFamily="18" charset="0"/>
                            </a:rPr>
                            <m:t> </m:t>
                          </m:r>
                        </m:e>
                      </m:d>
                      <m:r>
                        <a:rPr lang="zh-CN" altLang="en-US" sz="2400" i="1">
                          <a:solidFill>
                            <a:srgbClr val="000000"/>
                          </a:solidFill>
                          <a:latin typeface="Cambria Math" panose="02040503050406030204" pitchFamily="18" charset="0"/>
                        </a:rPr>
                        <m:t> </m:t>
                      </m:r>
                    </m:oMath>
                  </m:oMathPara>
                </a14:m>
                <a:endParaRPr lang="en-US" altLang="zh-CN" sz="24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.  </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𝑁</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𝑦</m:t>
                              </m:r>
                            </m:e>
                            <m:sub>
                              <m:r>
                                <a:rPr lang="zh-CN" altLang="en-US" sz="2400" i="1">
                                  <a:solidFill>
                                    <a:srgbClr val="000000"/>
                                  </a:solidFill>
                                  <a:latin typeface="Cambria Math" panose="02040503050406030204" pitchFamily="18" charset="0"/>
                                </a:rPr>
                                <m:t>𝑖</m:t>
                              </m:r>
                            </m:sub>
                          </m:sSub>
                        </m:e>
                      </m:nary>
                      <m:r>
                        <a:rPr lang="zh-CN" altLang="en-US" sz="2400" i="1">
                          <a:solidFill>
                            <a:srgbClr val="000000"/>
                          </a:solidFill>
                          <a:latin typeface="Cambria Math" panose="02040503050406030204" pitchFamily="18" charset="0"/>
                        </a:rPr>
                        <m:t>=0</m:t>
                      </m:r>
                    </m:oMath>
                    <m:oMath xmlns:m="http://schemas.openxmlformats.org/officeDocument/2006/math">
                      <m:r>
                        <a:rPr lang="zh-CN" altLang="en-US" sz="2400" i="1">
                          <a:solidFill>
                            <a:srgbClr val="000000"/>
                          </a:solidFill>
                          <a:latin typeface="Cambria Math" panose="02040503050406030204" pitchFamily="18" charset="0"/>
                        </a:rPr>
                        <m:t>      </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≥0, </m:t>
                      </m:r>
                      <m:r>
                        <a:rPr lang="zh-CN" altLang="en-US" sz="2400" i="1">
                          <a:solidFill>
                            <a:srgbClr val="000000"/>
                          </a:solidFill>
                          <a:latin typeface="Cambria Math" panose="02040503050406030204" pitchFamily="18" charset="0"/>
                        </a:rPr>
                        <m:t>𝑖</m:t>
                      </m:r>
                      <m:r>
                        <a:rPr lang="zh-CN" altLang="en-US" sz="2400" i="1">
                          <a:solidFill>
                            <a:srgbClr val="000000"/>
                          </a:solidFill>
                          <a:latin typeface="Cambria Math" panose="02040503050406030204" pitchFamily="18" charset="0"/>
                        </a:rPr>
                        <m:t>=1,2,...,</m:t>
                      </m:r>
                      <m:r>
                        <a:rPr lang="zh-CN" altLang="en-US" sz="2400" i="1">
                          <a:solidFill>
                            <a:srgbClr val="000000"/>
                          </a:solidFill>
                          <a:latin typeface="Cambria Math" panose="02040503050406030204" pitchFamily="18" charset="0"/>
                        </a:rPr>
                        <m:t>𝑁</m:t>
                      </m:r>
                    </m:oMath>
                  </m:oMathPara>
                </a14:m>
                <a:endParaRPr lang="zh-CN" altLang="en-US" sz="2400" dirty="0"/>
              </a:p>
            </p:txBody>
          </p:sp>
        </mc:Choice>
        <mc:Fallback xmlns="">
          <p:sp>
            <p:nvSpPr>
              <p:cNvPr id="5" name="Object 2" descr="羊皮纸">
                <a:extLst>
                  <a:ext uri="{FF2B5EF4-FFF2-40B4-BE49-F238E27FC236}">
                    <a16:creationId xmlns:a16="http://schemas.microsoft.com/office/drawing/2014/main" id="{0D8AD71C-CDBB-43A9-84FC-27892A4E7944}"/>
                  </a:ext>
                </a:extLst>
              </p:cNvPr>
              <p:cNvSpPr txBox="1">
                <a:spLocks noRot="1" noChangeAspect="1" noMove="1" noResize="1" noEditPoints="1" noAdjustHandles="1" noChangeArrowheads="1" noChangeShapeType="1" noTextEdit="1"/>
              </p:cNvSpPr>
              <p:nvPr/>
            </p:nvSpPr>
            <p:spPr bwMode="auto">
              <a:xfrm>
                <a:off x="1615629" y="2629251"/>
                <a:ext cx="5738812" cy="2894012"/>
              </a:xfrm>
              <a:prstGeom prst="rect">
                <a:avLst/>
              </a:prstGeom>
              <a:blipFill>
                <a:blip r:embed="rId2"/>
                <a:stretch>
                  <a:fillRect/>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
          <p:cNvSpPr>
            <a:spLocks noGrp="1"/>
          </p:cNvSpPr>
          <p:nvPr>
            <p:ph idx="1"/>
          </p:nvPr>
        </p:nvSpPr>
        <p:spPr>
          <a:xfrm>
            <a:off x="685800" y="573088"/>
            <a:ext cx="7772400" cy="5522912"/>
          </a:xfrm>
        </p:spPr>
        <p:txBody>
          <a:bodyPr/>
          <a:lstStyle/>
          <a:p>
            <a:r>
              <a:rPr lang="zh-CN" altLang="en-US" sz="3200" b="1" dirty="0"/>
              <a:t>例：设正例：</a:t>
            </a:r>
            <a:r>
              <a:rPr lang="en-US" altLang="zh-CN" sz="3200" b="1" dirty="0"/>
              <a:t>x</a:t>
            </a:r>
            <a:r>
              <a:rPr lang="en-US" altLang="zh-CN" sz="3200" b="1" baseline="-25000" dirty="0"/>
              <a:t>1</a:t>
            </a:r>
            <a:r>
              <a:rPr lang="en-US" altLang="zh-CN" sz="3200" b="1" dirty="0"/>
              <a:t>=</a:t>
            </a:r>
            <a:r>
              <a:rPr lang="en-US" altLang="zh-CN" sz="3200" b="1" dirty="0">
                <a:sym typeface="Wingdings" pitchFamily="2" charset="2"/>
              </a:rPr>
              <a:t>(3,3)</a:t>
            </a:r>
            <a:r>
              <a:rPr lang="en-US" altLang="zh-CN" sz="3200" b="1" baseline="30000" dirty="0">
                <a:sym typeface="Wingdings" pitchFamily="2" charset="2"/>
              </a:rPr>
              <a:t>T</a:t>
            </a:r>
            <a:r>
              <a:rPr lang="en-US" altLang="zh-CN" sz="3200" b="1" dirty="0">
                <a:sym typeface="Wingdings" pitchFamily="2" charset="2"/>
              </a:rPr>
              <a:t>, x</a:t>
            </a:r>
            <a:r>
              <a:rPr lang="en-US" altLang="zh-CN" sz="3200" b="1" baseline="-25000" dirty="0">
                <a:sym typeface="Wingdings" pitchFamily="2" charset="2"/>
              </a:rPr>
              <a:t>2</a:t>
            </a:r>
            <a:r>
              <a:rPr lang="en-US" altLang="zh-CN" sz="3200" b="1" dirty="0">
                <a:sym typeface="Wingdings" pitchFamily="2" charset="2"/>
              </a:rPr>
              <a:t>=(4,3)</a:t>
            </a:r>
            <a:r>
              <a:rPr lang="en-US" altLang="zh-CN" sz="3200" b="1" baseline="30000" dirty="0">
                <a:sym typeface="Wingdings" pitchFamily="2" charset="2"/>
              </a:rPr>
              <a:t>T</a:t>
            </a:r>
            <a:r>
              <a:rPr lang="en-US" altLang="zh-CN" sz="3200" b="1" dirty="0">
                <a:sym typeface="Wingdings" pitchFamily="2" charset="2"/>
              </a:rPr>
              <a:t>, </a:t>
            </a:r>
          </a:p>
          <a:p>
            <a:pPr marL="0" indent="0">
              <a:buNone/>
            </a:pPr>
            <a:r>
              <a:rPr lang="zh-CN" altLang="en-US" sz="3200" b="1" dirty="0">
                <a:sym typeface="Wingdings" pitchFamily="2" charset="2"/>
              </a:rPr>
              <a:t>     </a:t>
            </a:r>
            <a:r>
              <a:rPr lang="en-US" altLang="zh-CN" sz="3200" b="1" dirty="0">
                <a:sym typeface="Wingdings" pitchFamily="2" charset="2"/>
              </a:rPr>
              <a:t>       </a:t>
            </a:r>
            <a:r>
              <a:rPr lang="zh-CN" altLang="en-US" sz="3200" b="1" dirty="0">
                <a:sym typeface="Wingdings" pitchFamily="2" charset="2"/>
              </a:rPr>
              <a:t>负例：</a:t>
            </a:r>
            <a:r>
              <a:rPr lang="en-US" altLang="zh-CN" sz="3200" b="1" dirty="0">
                <a:sym typeface="Wingdings" pitchFamily="2" charset="2"/>
              </a:rPr>
              <a:t>x</a:t>
            </a:r>
            <a:r>
              <a:rPr lang="en-US" altLang="zh-CN" sz="3200" b="1" baseline="-25000" dirty="0">
                <a:sym typeface="Wingdings" pitchFamily="2" charset="2"/>
              </a:rPr>
              <a:t>3</a:t>
            </a:r>
            <a:r>
              <a:rPr lang="en-US" altLang="zh-CN" sz="3200" b="1" dirty="0">
                <a:sym typeface="Wingdings" pitchFamily="2" charset="2"/>
              </a:rPr>
              <a:t>=(1,1)</a:t>
            </a:r>
            <a:r>
              <a:rPr lang="en-US" altLang="zh-CN" sz="3200" b="1" baseline="30000" dirty="0">
                <a:sym typeface="Wingdings" pitchFamily="2" charset="2"/>
              </a:rPr>
              <a:t> T </a:t>
            </a:r>
            <a:r>
              <a:rPr lang="zh-CN" altLang="en-US" sz="3200" b="1" dirty="0">
                <a:sym typeface="Wingdings" pitchFamily="2" charset="2"/>
              </a:rPr>
              <a:t>，</a:t>
            </a:r>
            <a:endParaRPr lang="en-US" altLang="zh-CN" sz="3200" b="1" dirty="0">
              <a:sym typeface="Wingdings" pitchFamily="2" charset="2"/>
            </a:endParaRPr>
          </a:p>
          <a:p>
            <a:r>
              <a:rPr lang="zh-CN" altLang="en-US" sz="3200" b="1" dirty="0">
                <a:sym typeface="Wingdings" pitchFamily="2" charset="2"/>
              </a:rPr>
              <a:t>用对偶问题求线性可分支持向量机。</a:t>
            </a:r>
            <a:endParaRPr lang="zh-CN" altLang="en-US" b="1" baseline="30000" dirty="0"/>
          </a:p>
          <a:p>
            <a:endParaRPr lang="zh-CN" altLang="en-US" dirty="0"/>
          </a:p>
        </p:txBody>
      </p:sp>
      <p:sp>
        <p:nvSpPr>
          <p:cNvPr id="26628" name="灯片编号占位符 3"/>
          <p:cNvSpPr>
            <a:spLocks noGrp="1"/>
          </p:cNvSpPr>
          <p:nvPr>
            <p:ph type="sldNum" sz="quarter" idx="12"/>
          </p:nvPr>
        </p:nvSpPr>
        <p:spPr>
          <a:noFill/>
        </p:spPr>
        <p:txBody>
          <a:bodyPr/>
          <a:lstStyle/>
          <a:p>
            <a:fld id="{926AD721-8F0C-43FE-BD94-11D0689EEDB1}" type="slidenum">
              <a:rPr lang="en-US" altLang="zh-CN" smtClean="0">
                <a:ea typeface="黑体" pitchFamily="49" charset="-122"/>
              </a:rPr>
              <a:pPr/>
              <a:t>31</a:t>
            </a:fld>
            <a:endParaRPr lang="en-US" altLang="zh-CN">
              <a:ea typeface="黑体" pitchFamily="49" charset="-122"/>
            </a:endParaRPr>
          </a:p>
        </p:txBody>
      </p:sp>
      <p:graphicFrame>
        <p:nvGraphicFramePr>
          <p:cNvPr id="26626" name="Object 2" descr="羊皮纸"/>
          <p:cNvGraphicFramePr>
            <a:graphicFrameLocks noChangeAspect="1"/>
          </p:cNvGraphicFramePr>
          <p:nvPr/>
        </p:nvGraphicFramePr>
        <p:xfrm>
          <a:off x="876300" y="2360224"/>
          <a:ext cx="7359650" cy="3967163"/>
        </p:xfrm>
        <a:graphic>
          <a:graphicData uri="http://schemas.openxmlformats.org/presentationml/2006/ole">
            <mc:AlternateContent xmlns:mc="http://schemas.openxmlformats.org/markup-compatibility/2006">
              <mc:Choice xmlns:v="urn:schemas-microsoft-com:vml" Requires="v">
                <p:oleObj name="公式" r:id="rId2" imgW="2882880" imgH="1549080" progId="Equation.3">
                  <p:embed/>
                </p:oleObj>
              </mc:Choice>
              <mc:Fallback>
                <p:oleObj name="公式" r:id="rId2" imgW="2882880" imgH="154908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300" y="2360224"/>
                        <a:ext cx="7359650" cy="3967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灯片编号占位符 3"/>
          <p:cNvSpPr>
            <a:spLocks noGrp="1"/>
          </p:cNvSpPr>
          <p:nvPr>
            <p:ph type="sldNum" sz="quarter" idx="12"/>
          </p:nvPr>
        </p:nvSpPr>
        <p:spPr>
          <a:noFill/>
        </p:spPr>
        <p:txBody>
          <a:bodyPr/>
          <a:lstStyle/>
          <a:p>
            <a:fld id="{C1BF6BCC-7BE6-40BF-A5AD-18C24EC2AE43}" type="slidenum">
              <a:rPr lang="en-US" altLang="zh-CN" smtClean="0">
                <a:ea typeface="黑体" pitchFamily="49" charset="-122"/>
              </a:rPr>
              <a:pPr/>
              <a:t>32</a:t>
            </a:fld>
            <a:endParaRPr lang="en-US" altLang="zh-CN">
              <a:ea typeface="黑体" pitchFamily="49" charset="-122"/>
            </a:endParaRPr>
          </a:p>
        </p:txBody>
      </p:sp>
      <p:graphicFrame>
        <p:nvGraphicFramePr>
          <p:cNvPr id="27650" name="Object 2" descr="羊皮纸"/>
          <p:cNvGraphicFramePr>
            <a:graphicFrameLocks noChangeAspect="1"/>
          </p:cNvGraphicFramePr>
          <p:nvPr/>
        </p:nvGraphicFramePr>
        <p:xfrm>
          <a:off x="865188" y="1401763"/>
          <a:ext cx="7102475" cy="4029075"/>
        </p:xfrm>
        <a:graphic>
          <a:graphicData uri="http://schemas.openxmlformats.org/presentationml/2006/ole">
            <mc:AlternateContent xmlns:mc="http://schemas.openxmlformats.org/markup-compatibility/2006">
              <mc:Choice xmlns:v="urn:schemas-microsoft-com:vml" Requires="v">
                <p:oleObj name="公式" r:id="rId3" imgW="2781000" imgH="1574640" progId="Equation.3">
                  <p:embed/>
                </p:oleObj>
              </mc:Choice>
              <mc:Fallback>
                <p:oleObj name="公式" r:id="rId3" imgW="2781000" imgH="15746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5188" y="1401763"/>
                        <a:ext cx="7102475" cy="402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灯片编号占位符 3"/>
          <p:cNvSpPr>
            <a:spLocks noGrp="1"/>
          </p:cNvSpPr>
          <p:nvPr>
            <p:ph type="sldNum" sz="quarter" idx="12"/>
          </p:nvPr>
        </p:nvSpPr>
        <p:spPr>
          <a:noFill/>
        </p:spPr>
        <p:txBody>
          <a:bodyPr/>
          <a:lstStyle/>
          <a:p>
            <a:fld id="{E9DD78FB-F315-47C2-8F7D-E5E3B88BC3C0}" type="slidenum">
              <a:rPr lang="en-US" altLang="zh-CN" smtClean="0">
                <a:ea typeface="黑体" pitchFamily="49" charset="-122"/>
              </a:rPr>
              <a:pPr/>
              <a:t>33</a:t>
            </a:fld>
            <a:endParaRPr lang="en-US" altLang="zh-CN">
              <a:ea typeface="黑体" pitchFamily="49" charset="-122"/>
            </a:endParaRPr>
          </a:p>
        </p:txBody>
      </p:sp>
      <p:graphicFrame>
        <p:nvGraphicFramePr>
          <p:cNvPr id="28674" name="Object 2" descr="羊皮纸"/>
          <p:cNvGraphicFramePr>
            <a:graphicFrameLocks noChangeAspect="1"/>
          </p:cNvGraphicFramePr>
          <p:nvPr/>
        </p:nvGraphicFramePr>
        <p:xfrm>
          <a:off x="977900" y="931863"/>
          <a:ext cx="6875463" cy="4970462"/>
        </p:xfrm>
        <a:graphic>
          <a:graphicData uri="http://schemas.openxmlformats.org/presentationml/2006/ole">
            <mc:AlternateContent xmlns:mc="http://schemas.openxmlformats.org/markup-compatibility/2006">
              <mc:Choice xmlns:v="urn:schemas-microsoft-com:vml" Requires="v">
                <p:oleObj name="公式" r:id="rId2" imgW="2692080" imgH="1942920" progId="Equation.3">
                  <p:embed/>
                </p:oleObj>
              </mc:Choice>
              <mc:Fallback>
                <p:oleObj name="公式" r:id="rId2" imgW="2692080" imgH="194292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900" y="931863"/>
                        <a:ext cx="6875463" cy="4970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灯片编号占位符 3"/>
          <p:cNvSpPr>
            <a:spLocks noGrp="1"/>
          </p:cNvSpPr>
          <p:nvPr>
            <p:ph type="sldNum" sz="quarter" idx="12"/>
          </p:nvPr>
        </p:nvSpPr>
        <p:spPr>
          <a:noFill/>
        </p:spPr>
        <p:txBody>
          <a:bodyPr/>
          <a:lstStyle/>
          <a:p>
            <a:fld id="{897E5434-55B4-44B2-B599-45DDD17C01E3}" type="slidenum">
              <a:rPr lang="en-US" altLang="zh-CN" smtClean="0">
                <a:ea typeface="黑体" pitchFamily="49" charset="-122"/>
              </a:rPr>
              <a:pPr/>
              <a:t>34</a:t>
            </a:fld>
            <a:endParaRPr lang="en-US" altLang="zh-CN">
              <a:ea typeface="黑体" pitchFamily="49" charset="-122"/>
            </a:endParaRPr>
          </a:p>
        </p:txBody>
      </p:sp>
      <p:graphicFrame>
        <p:nvGraphicFramePr>
          <p:cNvPr id="29698" name="Object 2" descr="羊皮纸"/>
          <p:cNvGraphicFramePr>
            <a:graphicFrameLocks noChangeAspect="1"/>
          </p:cNvGraphicFramePr>
          <p:nvPr/>
        </p:nvGraphicFramePr>
        <p:xfrm>
          <a:off x="677863" y="1144588"/>
          <a:ext cx="7880350" cy="4451350"/>
        </p:xfrm>
        <a:graphic>
          <a:graphicData uri="http://schemas.openxmlformats.org/presentationml/2006/ole">
            <mc:AlternateContent xmlns:mc="http://schemas.openxmlformats.org/markup-compatibility/2006">
              <mc:Choice xmlns:v="urn:schemas-microsoft-com:vml" Requires="v">
                <p:oleObj name="公式" r:id="rId3" imgW="3085920" imgH="1739880" progId="Equation.3">
                  <p:embed/>
                </p:oleObj>
              </mc:Choice>
              <mc:Fallback>
                <p:oleObj name="公式" r:id="rId3" imgW="3085920" imgH="17398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863" y="1144588"/>
                        <a:ext cx="7880350" cy="445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3"/>
          <p:cNvSpPr>
            <a:spLocks noGrp="1"/>
          </p:cNvSpPr>
          <p:nvPr>
            <p:ph type="sldNum" sz="quarter" idx="12"/>
          </p:nvPr>
        </p:nvSpPr>
        <p:spPr>
          <a:noFill/>
        </p:spPr>
        <p:txBody>
          <a:bodyPr/>
          <a:lstStyle/>
          <a:p>
            <a:fld id="{1A236568-5701-4A04-8295-B9FF37E05F76}" type="slidenum">
              <a:rPr lang="en-US" altLang="zh-CN" smtClean="0">
                <a:ea typeface="黑体" pitchFamily="49" charset="-122"/>
              </a:rPr>
              <a:pPr/>
              <a:t>35</a:t>
            </a:fld>
            <a:endParaRPr lang="en-US" altLang="zh-CN">
              <a:ea typeface="黑体" pitchFamily="49" charset="-122"/>
            </a:endParaRPr>
          </a:p>
        </p:txBody>
      </p:sp>
      <p:sp>
        <p:nvSpPr>
          <p:cNvPr id="87043" name="灯片编号占位符 3"/>
          <p:cNvSpPr txBox="1">
            <a:spLocks/>
          </p:cNvSpPr>
          <p:nvPr/>
        </p:nvSpPr>
        <p:spPr bwMode="auto">
          <a:xfrm>
            <a:off x="6553200" y="6248400"/>
            <a:ext cx="1905000" cy="457200"/>
          </a:xfrm>
          <a:prstGeom prst="rect">
            <a:avLst/>
          </a:prstGeom>
          <a:noFill/>
          <a:ln w="9525">
            <a:noFill/>
            <a:miter lim="800000"/>
            <a:headEnd/>
            <a:tailEnd/>
          </a:ln>
        </p:spPr>
        <p:txBody>
          <a:bodyPr lIns="92075" tIns="46038" rIns="92075" bIns="46038" anchor="ctr"/>
          <a:lstStyle/>
          <a:p>
            <a:pPr algn="r"/>
            <a:fld id="{7C9D522E-0D84-4FB2-B655-4F2BF0018EB1}" type="slidenum">
              <a:rPr kumimoji="0" lang="en-US" altLang="zh-CN" sz="1400"/>
              <a:pPr algn="r"/>
              <a:t>35</a:t>
            </a:fld>
            <a:endParaRPr kumimoji="0" lang="en-US" altLang="zh-CN" sz="1400"/>
          </a:p>
        </p:txBody>
      </p:sp>
      <p:sp>
        <p:nvSpPr>
          <p:cNvPr id="87044" name="灯片编号占位符 3"/>
          <p:cNvSpPr txBox="1">
            <a:spLocks/>
          </p:cNvSpPr>
          <p:nvPr/>
        </p:nvSpPr>
        <p:spPr bwMode="auto">
          <a:xfrm>
            <a:off x="6553200" y="6248400"/>
            <a:ext cx="1905000" cy="457200"/>
          </a:xfrm>
          <a:prstGeom prst="rect">
            <a:avLst/>
          </a:prstGeom>
          <a:noFill/>
          <a:ln w="9525">
            <a:noFill/>
            <a:miter lim="800000"/>
            <a:headEnd/>
            <a:tailEnd/>
          </a:ln>
        </p:spPr>
        <p:txBody>
          <a:bodyPr lIns="92075" tIns="46038" rIns="92075" bIns="46038" anchor="ctr"/>
          <a:lstStyle/>
          <a:p>
            <a:pPr algn="r"/>
            <a:fld id="{0D995B94-25E9-4CC7-A8D0-1F1A0BAB70CD}" type="slidenum">
              <a:rPr kumimoji="0" lang="en-US" altLang="zh-CN" sz="1400"/>
              <a:pPr algn="r"/>
              <a:t>35</a:t>
            </a:fld>
            <a:endParaRPr kumimoji="0" lang="en-US" altLang="zh-CN" sz="1400"/>
          </a:p>
        </p:txBody>
      </p:sp>
      <p:cxnSp>
        <p:nvCxnSpPr>
          <p:cNvPr id="87045" name="直接箭头连接符 5"/>
          <p:cNvCxnSpPr>
            <a:cxnSpLocks noChangeShapeType="1"/>
          </p:cNvCxnSpPr>
          <p:nvPr/>
        </p:nvCxnSpPr>
        <p:spPr bwMode="auto">
          <a:xfrm>
            <a:off x="1439863" y="5872163"/>
            <a:ext cx="7210425" cy="6350"/>
          </a:xfrm>
          <a:prstGeom prst="straightConnector1">
            <a:avLst/>
          </a:prstGeom>
          <a:noFill/>
          <a:ln w="38100" algn="ctr">
            <a:solidFill>
              <a:schemeClr val="tx1"/>
            </a:solidFill>
            <a:round/>
            <a:headEnd/>
            <a:tailEnd type="arrow" w="med" len="med"/>
          </a:ln>
        </p:spPr>
      </p:cxnSp>
      <p:cxnSp>
        <p:nvCxnSpPr>
          <p:cNvPr id="87046" name="直接箭头连接符 6"/>
          <p:cNvCxnSpPr>
            <a:cxnSpLocks noChangeShapeType="1"/>
          </p:cNvCxnSpPr>
          <p:nvPr/>
        </p:nvCxnSpPr>
        <p:spPr bwMode="auto">
          <a:xfrm flipV="1">
            <a:off x="1841500" y="754063"/>
            <a:ext cx="60325" cy="5653087"/>
          </a:xfrm>
          <a:prstGeom prst="straightConnector1">
            <a:avLst/>
          </a:prstGeom>
          <a:noFill/>
          <a:ln w="38100" algn="ctr">
            <a:solidFill>
              <a:schemeClr val="tx1"/>
            </a:solidFill>
            <a:round/>
            <a:headEnd/>
            <a:tailEnd type="arrow" w="med" len="med"/>
          </a:ln>
        </p:spPr>
      </p:cxnSp>
      <p:sp>
        <p:nvSpPr>
          <p:cNvPr id="87047" name="椭圆 10"/>
          <p:cNvSpPr>
            <a:spLocks noChangeArrowheads="1"/>
          </p:cNvSpPr>
          <p:nvPr/>
        </p:nvSpPr>
        <p:spPr bwMode="auto">
          <a:xfrm>
            <a:off x="3248025" y="47355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7048" name="矩形 17"/>
          <p:cNvSpPr>
            <a:spLocks noChangeArrowheads="1"/>
          </p:cNvSpPr>
          <p:nvPr/>
        </p:nvSpPr>
        <p:spPr bwMode="auto">
          <a:xfrm>
            <a:off x="6102350" y="2578100"/>
            <a:ext cx="138113"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7049" name="矩形 23"/>
          <p:cNvSpPr>
            <a:spLocks noChangeArrowheads="1"/>
          </p:cNvSpPr>
          <p:nvPr/>
        </p:nvSpPr>
        <p:spPr bwMode="auto">
          <a:xfrm>
            <a:off x="7283450" y="2630488"/>
            <a:ext cx="138113"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26" name="直接连接符 25"/>
          <p:cNvCxnSpPr/>
          <p:nvPr/>
        </p:nvCxnSpPr>
        <p:spPr bwMode="auto">
          <a:xfrm>
            <a:off x="1901825" y="1684338"/>
            <a:ext cx="5557838" cy="4222750"/>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27" name="直接连接符 26"/>
          <p:cNvCxnSpPr/>
          <p:nvPr/>
        </p:nvCxnSpPr>
        <p:spPr bwMode="auto">
          <a:xfrm>
            <a:off x="4021138" y="1001713"/>
            <a:ext cx="3797300" cy="2935287"/>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28" name="直接连接符 27"/>
          <p:cNvCxnSpPr/>
          <p:nvPr/>
        </p:nvCxnSpPr>
        <p:spPr bwMode="auto">
          <a:xfrm>
            <a:off x="1727200" y="3598863"/>
            <a:ext cx="3208338" cy="2438400"/>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87053" name="直接连接符 49"/>
          <p:cNvCxnSpPr>
            <a:cxnSpLocks noChangeShapeType="1"/>
          </p:cNvCxnSpPr>
          <p:nvPr/>
        </p:nvCxnSpPr>
        <p:spPr bwMode="auto">
          <a:xfrm>
            <a:off x="3381375" y="5819775"/>
            <a:ext cx="0" cy="174625"/>
          </a:xfrm>
          <a:prstGeom prst="line">
            <a:avLst/>
          </a:prstGeom>
          <a:noFill/>
          <a:ln w="38100" algn="ctr">
            <a:solidFill>
              <a:schemeClr val="tx1"/>
            </a:solidFill>
            <a:round/>
            <a:headEnd/>
            <a:tailEnd/>
          </a:ln>
        </p:spPr>
      </p:cxnSp>
      <p:cxnSp>
        <p:nvCxnSpPr>
          <p:cNvPr id="87054" name="直接连接符 58"/>
          <p:cNvCxnSpPr>
            <a:cxnSpLocks noChangeShapeType="1"/>
          </p:cNvCxnSpPr>
          <p:nvPr/>
        </p:nvCxnSpPr>
        <p:spPr bwMode="auto">
          <a:xfrm>
            <a:off x="6270625" y="5834063"/>
            <a:ext cx="0" cy="174625"/>
          </a:xfrm>
          <a:prstGeom prst="line">
            <a:avLst/>
          </a:prstGeom>
          <a:noFill/>
          <a:ln w="38100" algn="ctr">
            <a:solidFill>
              <a:schemeClr val="tx1"/>
            </a:solidFill>
            <a:round/>
            <a:headEnd/>
            <a:tailEnd/>
          </a:ln>
        </p:spPr>
      </p:cxnSp>
      <p:cxnSp>
        <p:nvCxnSpPr>
          <p:cNvPr id="87055" name="直接连接符 59"/>
          <p:cNvCxnSpPr>
            <a:cxnSpLocks noChangeShapeType="1"/>
          </p:cNvCxnSpPr>
          <p:nvPr/>
        </p:nvCxnSpPr>
        <p:spPr bwMode="auto">
          <a:xfrm>
            <a:off x="7459663" y="5819775"/>
            <a:ext cx="0" cy="174625"/>
          </a:xfrm>
          <a:prstGeom prst="line">
            <a:avLst/>
          </a:prstGeom>
          <a:noFill/>
          <a:ln w="38100" algn="ctr">
            <a:solidFill>
              <a:schemeClr val="tx1"/>
            </a:solidFill>
            <a:round/>
            <a:headEnd/>
            <a:tailEnd/>
          </a:ln>
        </p:spPr>
      </p:cxnSp>
      <p:cxnSp>
        <p:nvCxnSpPr>
          <p:cNvPr id="87056" name="直接连接符 60"/>
          <p:cNvCxnSpPr>
            <a:cxnSpLocks noChangeShapeType="1"/>
          </p:cNvCxnSpPr>
          <p:nvPr/>
        </p:nvCxnSpPr>
        <p:spPr bwMode="auto">
          <a:xfrm>
            <a:off x="4919663" y="5819775"/>
            <a:ext cx="0" cy="174625"/>
          </a:xfrm>
          <a:prstGeom prst="line">
            <a:avLst/>
          </a:prstGeom>
          <a:noFill/>
          <a:ln w="38100" algn="ctr">
            <a:solidFill>
              <a:schemeClr val="tx1"/>
            </a:solidFill>
            <a:round/>
            <a:headEnd/>
            <a:tailEnd/>
          </a:ln>
        </p:spPr>
      </p:cxnSp>
      <p:cxnSp>
        <p:nvCxnSpPr>
          <p:cNvPr id="87058" name="直接连接符 63"/>
          <p:cNvCxnSpPr>
            <a:cxnSpLocks noChangeShapeType="1"/>
          </p:cNvCxnSpPr>
          <p:nvPr/>
        </p:nvCxnSpPr>
        <p:spPr bwMode="auto">
          <a:xfrm flipH="1">
            <a:off x="1800225" y="1684338"/>
            <a:ext cx="173038" cy="0"/>
          </a:xfrm>
          <a:prstGeom prst="line">
            <a:avLst/>
          </a:prstGeom>
          <a:noFill/>
          <a:ln w="38100" algn="ctr">
            <a:solidFill>
              <a:schemeClr val="tx1"/>
            </a:solidFill>
            <a:round/>
            <a:headEnd/>
            <a:tailEnd/>
          </a:ln>
        </p:spPr>
      </p:cxnSp>
      <p:cxnSp>
        <p:nvCxnSpPr>
          <p:cNvPr id="87059" name="直接连接符 64"/>
          <p:cNvCxnSpPr>
            <a:cxnSpLocks noChangeShapeType="1"/>
          </p:cNvCxnSpPr>
          <p:nvPr/>
        </p:nvCxnSpPr>
        <p:spPr bwMode="auto">
          <a:xfrm flipH="1">
            <a:off x="1800225" y="3629025"/>
            <a:ext cx="173038" cy="0"/>
          </a:xfrm>
          <a:prstGeom prst="line">
            <a:avLst/>
          </a:prstGeom>
          <a:noFill/>
          <a:ln w="38100" algn="ctr">
            <a:solidFill>
              <a:schemeClr val="tx1"/>
            </a:solidFill>
            <a:round/>
            <a:headEnd/>
            <a:tailEnd/>
          </a:ln>
        </p:spPr>
      </p:cxnSp>
      <p:cxnSp>
        <p:nvCxnSpPr>
          <p:cNvPr id="87060" name="直接连接符 65"/>
          <p:cNvCxnSpPr>
            <a:cxnSpLocks noChangeShapeType="1"/>
          </p:cNvCxnSpPr>
          <p:nvPr/>
        </p:nvCxnSpPr>
        <p:spPr bwMode="auto">
          <a:xfrm flipH="1">
            <a:off x="1800225" y="2582863"/>
            <a:ext cx="173038" cy="0"/>
          </a:xfrm>
          <a:prstGeom prst="line">
            <a:avLst/>
          </a:prstGeom>
          <a:noFill/>
          <a:ln w="38100" algn="ctr">
            <a:solidFill>
              <a:schemeClr val="tx1"/>
            </a:solidFill>
            <a:round/>
            <a:headEnd/>
            <a:tailEnd/>
          </a:ln>
        </p:spPr>
      </p:cxnSp>
      <p:cxnSp>
        <p:nvCxnSpPr>
          <p:cNvPr id="87061" name="直接连接符 66"/>
          <p:cNvCxnSpPr>
            <a:cxnSpLocks noChangeShapeType="1"/>
          </p:cNvCxnSpPr>
          <p:nvPr/>
        </p:nvCxnSpPr>
        <p:spPr bwMode="auto">
          <a:xfrm flipH="1">
            <a:off x="1785938" y="4760913"/>
            <a:ext cx="173037" cy="0"/>
          </a:xfrm>
          <a:prstGeom prst="line">
            <a:avLst/>
          </a:prstGeom>
          <a:noFill/>
          <a:ln w="38100" algn="ctr">
            <a:solidFill>
              <a:schemeClr val="tx1"/>
            </a:solidFill>
            <a:round/>
            <a:headEnd/>
            <a:tailEnd/>
          </a:ln>
        </p:spPr>
      </p:cxnSp>
    </p:spTree>
    <p:extLst>
      <p:ext uri="{BB962C8B-B14F-4D97-AF65-F5344CB8AC3E}">
        <p14:creationId xmlns:p14="http://schemas.microsoft.com/office/powerpoint/2010/main" val="22151129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线性支持向量机</a:t>
            </a:r>
          </a:p>
        </p:txBody>
      </p:sp>
      <p:sp>
        <p:nvSpPr>
          <p:cNvPr id="89091" name="灯片编号占位符 3"/>
          <p:cNvSpPr>
            <a:spLocks noGrp="1"/>
          </p:cNvSpPr>
          <p:nvPr>
            <p:ph type="sldNum" sz="quarter" idx="12"/>
          </p:nvPr>
        </p:nvSpPr>
        <p:spPr>
          <a:xfrm>
            <a:off x="6553200" y="5783263"/>
            <a:ext cx="1905000" cy="457200"/>
          </a:xfrm>
          <a:noFill/>
        </p:spPr>
        <p:txBody>
          <a:bodyPr/>
          <a:lstStyle/>
          <a:p>
            <a:fld id="{39E421F9-E618-4F0E-A104-91D499B13212}" type="slidenum">
              <a:rPr lang="en-US" altLang="zh-CN" smtClean="0">
                <a:ea typeface="黑体" pitchFamily="49" charset="-122"/>
              </a:rPr>
              <a:pPr/>
              <a:t>36</a:t>
            </a:fld>
            <a:endParaRPr lang="en-US" altLang="zh-CN">
              <a:ea typeface="黑体" pitchFamily="49" charset="-122"/>
            </a:endParaRPr>
          </a:p>
        </p:txBody>
      </p:sp>
      <p:cxnSp>
        <p:nvCxnSpPr>
          <p:cNvPr id="89092" name="直接箭头连接符 4"/>
          <p:cNvCxnSpPr>
            <a:cxnSpLocks noChangeShapeType="1"/>
          </p:cNvCxnSpPr>
          <p:nvPr/>
        </p:nvCxnSpPr>
        <p:spPr bwMode="auto">
          <a:xfrm flipV="1">
            <a:off x="1316038" y="5999163"/>
            <a:ext cx="6511925" cy="25400"/>
          </a:xfrm>
          <a:prstGeom prst="straightConnector1">
            <a:avLst/>
          </a:prstGeom>
          <a:noFill/>
          <a:ln w="38100" algn="ctr">
            <a:solidFill>
              <a:schemeClr val="tx1"/>
            </a:solidFill>
            <a:round/>
            <a:headEnd/>
            <a:tailEnd type="arrow" w="med" len="med"/>
          </a:ln>
        </p:spPr>
      </p:cxnSp>
      <p:cxnSp>
        <p:nvCxnSpPr>
          <p:cNvPr id="89093" name="直接箭头连接符 5"/>
          <p:cNvCxnSpPr>
            <a:cxnSpLocks noChangeShapeType="1"/>
          </p:cNvCxnSpPr>
          <p:nvPr/>
        </p:nvCxnSpPr>
        <p:spPr bwMode="auto">
          <a:xfrm flipV="1">
            <a:off x="1614488" y="2633663"/>
            <a:ext cx="50800" cy="3608387"/>
          </a:xfrm>
          <a:prstGeom prst="straightConnector1">
            <a:avLst/>
          </a:prstGeom>
          <a:noFill/>
          <a:ln w="38100" algn="ctr">
            <a:solidFill>
              <a:schemeClr val="tx1"/>
            </a:solidFill>
            <a:round/>
            <a:headEnd/>
            <a:tailEnd type="arrow" w="med" len="med"/>
          </a:ln>
        </p:spPr>
      </p:cxnSp>
      <p:sp>
        <p:nvSpPr>
          <p:cNvPr id="89094" name="椭圆 6"/>
          <p:cNvSpPr>
            <a:spLocks noChangeArrowheads="1"/>
          </p:cNvSpPr>
          <p:nvPr/>
        </p:nvSpPr>
        <p:spPr bwMode="auto">
          <a:xfrm>
            <a:off x="3357563" y="430847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5" name="椭圆 7"/>
          <p:cNvSpPr>
            <a:spLocks noChangeArrowheads="1"/>
          </p:cNvSpPr>
          <p:nvPr/>
        </p:nvSpPr>
        <p:spPr bwMode="auto">
          <a:xfrm>
            <a:off x="2205038" y="37322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6" name="椭圆 8"/>
          <p:cNvSpPr>
            <a:spLocks noChangeArrowheads="1"/>
          </p:cNvSpPr>
          <p:nvPr/>
        </p:nvSpPr>
        <p:spPr bwMode="auto">
          <a:xfrm>
            <a:off x="3455988" y="497205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7" name="椭圆 9"/>
          <p:cNvSpPr>
            <a:spLocks noChangeArrowheads="1"/>
          </p:cNvSpPr>
          <p:nvPr/>
        </p:nvSpPr>
        <p:spPr bwMode="auto">
          <a:xfrm>
            <a:off x="2630488" y="45974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8" name="椭圆 10"/>
          <p:cNvSpPr>
            <a:spLocks noChangeArrowheads="1"/>
          </p:cNvSpPr>
          <p:nvPr/>
        </p:nvSpPr>
        <p:spPr bwMode="auto">
          <a:xfrm>
            <a:off x="3970338" y="41830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9" name="椭圆 11"/>
          <p:cNvSpPr>
            <a:spLocks noChangeArrowheads="1"/>
          </p:cNvSpPr>
          <p:nvPr/>
        </p:nvSpPr>
        <p:spPr bwMode="auto">
          <a:xfrm>
            <a:off x="2851195" y="320675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0" name="椭圆 12"/>
          <p:cNvSpPr>
            <a:spLocks noChangeArrowheads="1"/>
          </p:cNvSpPr>
          <p:nvPr/>
        </p:nvSpPr>
        <p:spPr bwMode="auto">
          <a:xfrm>
            <a:off x="2767013" y="4157663"/>
            <a:ext cx="187325"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1" name="椭圆 13"/>
          <p:cNvSpPr>
            <a:spLocks noChangeArrowheads="1"/>
          </p:cNvSpPr>
          <p:nvPr/>
        </p:nvSpPr>
        <p:spPr bwMode="auto">
          <a:xfrm>
            <a:off x="2116138" y="44719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2" name="椭圆 14"/>
          <p:cNvSpPr>
            <a:spLocks noChangeArrowheads="1"/>
          </p:cNvSpPr>
          <p:nvPr/>
        </p:nvSpPr>
        <p:spPr bwMode="auto">
          <a:xfrm>
            <a:off x="2916238" y="4922838"/>
            <a:ext cx="190500"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3" name="矩形 15"/>
          <p:cNvSpPr>
            <a:spLocks noChangeArrowheads="1"/>
          </p:cNvSpPr>
          <p:nvPr/>
        </p:nvSpPr>
        <p:spPr bwMode="auto">
          <a:xfrm>
            <a:off x="4659313" y="286861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4" name="矩形 16"/>
          <p:cNvSpPr>
            <a:spLocks noChangeArrowheads="1"/>
          </p:cNvSpPr>
          <p:nvPr/>
        </p:nvSpPr>
        <p:spPr bwMode="auto">
          <a:xfrm>
            <a:off x="5497513" y="2366963"/>
            <a:ext cx="139700"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5" name="矩形 17"/>
          <p:cNvSpPr>
            <a:spLocks noChangeArrowheads="1"/>
          </p:cNvSpPr>
          <p:nvPr/>
        </p:nvSpPr>
        <p:spPr bwMode="auto">
          <a:xfrm>
            <a:off x="5888038" y="3130550"/>
            <a:ext cx="136525"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6" name="矩形 18"/>
          <p:cNvSpPr>
            <a:spLocks noChangeArrowheads="1"/>
          </p:cNvSpPr>
          <p:nvPr/>
        </p:nvSpPr>
        <p:spPr bwMode="auto">
          <a:xfrm>
            <a:off x="5221288" y="2843213"/>
            <a:ext cx="139700"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7" name="矩形 19"/>
          <p:cNvSpPr>
            <a:spLocks noChangeArrowheads="1"/>
          </p:cNvSpPr>
          <p:nvPr/>
        </p:nvSpPr>
        <p:spPr bwMode="auto">
          <a:xfrm>
            <a:off x="5722938" y="3806825"/>
            <a:ext cx="139700"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8" name="矩形 20"/>
          <p:cNvSpPr>
            <a:spLocks noChangeArrowheads="1"/>
          </p:cNvSpPr>
          <p:nvPr/>
        </p:nvSpPr>
        <p:spPr bwMode="auto">
          <a:xfrm>
            <a:off x="5135563" y="330676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9" name="矩形 21"/>
          <p:cNvSpPr>
            <a:spLocks noChangeArrowheads="1"/>
          </p:cNvSpPr>
          <p:nvPr/>
        </p:nvSpPr>
        <p:spPr bwMode="auto">
          <a:xfrm>
            <a:off x="6573838" y="3557588"/>
            <a:ext cx="139700"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0" name="矩形 22"/>
          <p:cNvSpPr>
            <a:spLocks noChangeArrowheads="1"/>
          </p:cNvSpPr>
          <p:nvPr/>
        </p:nvSpPr>
        <p:spPr bwMode="auto">
          <a:xfrm>
            <a:off x="6373813" y="2667000"/>
            <a:ext cx="139700"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2" name="椭圆 32"/>
          <p:cNvSpPr>
            <a:spLocks noChangeArrowheads="1"/>
          </p:cNvSpPr>
          <p:nvPr/>
        </p:nvSpPr>
        <p:spPr bwMode="auto">
          <a:xfrm>
            <a:off x="2870998" y="254567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13" name="矩形 15"/>
          <p:cNvSpPr>
            <a:spLocks noChangeArrowheads="1"/>
          </p:cNvSpPr>
          <p:nvPr/>
        </p:nvSpPr>
        <p:spPr bwMode="auto">
          <a:xfrm>
            <a:off x="3556000" y="362426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4" name="椭圆 10"/>
          <p:cNvSpPr>
            <a:spLocks noChangeArrowheads="1"/>
          </p:cNvSpPr>
          <p:nvPr/>
        </p:nvSpPr>
        <p:spPr bwMode="auto">
          <a:xfrm>
            <a:off x="4466107" y="330077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15" name="矩形 15"/>
          <p:cNvSpPr>
            <a:spLocks noChangeArrowheads="1"/>
          </p:cNvSpPr>
          <p:nvPr/>
        </p:nvSpPr>
        <p:spPr bwMode="auto">
          <a:xfrm>
            <a:off x="5008461" y="3915101"/>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grpSp>
        <p:nvGrpSpPr>
          <p:cNvPr id="4" name="组合 23">
            <a:extLst>
              <a:ext uri="{FF2B5EF4-FFF2-40B4-BE49-F238E27FC236}">
                <a16:creationId xmlns:a16="http://schemas.microsoft.com/office/drawing/2014/main" id="{A613F9EB-1447-C576-CDF2-2CACEFE76293}"/>
              </a:ext>
            </a:extLst>
          </p:cNvPr>
          <p:cNvGrpSpPr>
            <a:grpSpLocks/>
          </p:cNvGrpSpPr>
          <p:nvPr/>
        </p:nvGrpSpPr>
        <p:grpSpPr bwMode="auto">
          <a:xfrm>
            <a:off x="2033453" y="1889921"/>
            <a:ext cx="4659176" cy="3898105"/>
            <a:chOff x="2259895" y="2027723"/>
            <a:chExt cx="4658738" cy="3898431"/>
          </a:xfrm>
        </p:grpSpPr>
        <p:cxnSp>
          <p:nvCxnSpPr>
            <p:cNvPr id="6" name="直接连接符 24">
              <a:extLst>
                <a:ext uri="{FF2B5EF4-FFF2-40B4-BE49-F238E27FC236}">
                  <a16:creationId xmlns:a16="http://schemas.microsoft.com/office/drawing/2014/main" id="{B5D7BAE2-3F0F-0403-CBFC-3230C92A98E3}"/>
                </a:ext>
              </a:extLst>
            </p:cNvPr>
            <p:cNvCxnSpPr/>
            <p:nvPr/>
          </p:nvCxnSpPr>
          <p:spPr bwMode="auto">
            <a:xfrm>
              <a:off x="2848388" y="2466702"/>
              <a:ext cx="3493759" cy="294505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8" name="直接连接符 29">
              <a:extLst>
                <a:ext uri="{FF2B5EF4-FFF2-40B4-BE49-F238E27FC236}">
                  <a16:creationId xmlns:a16="http://schemas.microsoft.com/office/drawing/2014/main" id="{C4D316EF-4D9A-9B12-DB3A-7BF7D10C649D}"/>
                </a:ext>
              </a:extLst>
            </p:cNvPr>
            <p:cNvCxnSpPr/>
            <p:nvPr/>
          </p:nvCxnSpPr>
          <p:spPr bwMode="auto">
            <a:xfrm>
              <a:off x="3424874" y="2027723"/>
              <a:ext cx="3493759" cy="294505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cxnSp>
          <p:nvCxnSpPr>
            <p:cNvPr id="9" name="直接连接符 30">
              <a:extLst>
                <a:ext uri="{FF2B5EF4-FFF2-40B4-BE49-F238E27FC236}">
                  <a16:creationId xmlns:a16="http://schemas.microsoft.com/office/drawing/2014/main" id="{4EB2E027-D3E5-EA9A-1C41-980307649254}"/>
                </a:ext>
              </a:extLst>
            </p:cNvPr>
            <p:cNvCxnSpPr/>
            <p:nvPr/>
          </p:nvCxnSpPr>
          <p:spPr bwMode="auto">
            <a:xfrm>
              <a:off x="2259895" y="2981095"/>
              <a:ext cx="3493759" cy="294505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grpSp>
    </p:spTree>
    <p:extLst>
      <p:ext uri="{BB962C8B-B14F-4D97-AF65-F5344CB8AC3E}">
        <p14:creationId xmlns:p14="http://schemas.microsoft.com/office/powerpoint/2010/main" val="377447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线性支持向量机</a:t>
            </a:r>
          </a:p>
        </p:txBody>
      </p:sp>
      <p:sp>
        <p:nvSpPr>
          <p:cNvPr id="89091" name="灯片编号占位符 3"/>
          <p:cNvSpPr>
            <a:spLocks noGrp="1"/>
          </p:cNvSpPr>
          <p:nvPr>
            <p:ph type="sldNum" sz="quarter" idx="12"/>
          </p:nvPr>
        </p:nvSpPr>
        <p:spPr>
          <a:xfrm>
            <a:off x="6553200" y="5783263"/>
            <a:ext cx="1905000" cy="457200"/>
          </a:xfrm>
          <a:noFill/>
        </p:spPr>
        <p:txBody>
          <a:bodyPr/>
          <a:lstStyle/>
          <a:p>
            <a:fld id="{39E421F9-E618-4F0E-A104-91D499B13212}" type="slidenum">
              <a:rPr lang="en-US" altLang="zh-CN" smtClean="0">
                <a:ea typeface="黑体" pitchFamily="49" charset="-122"/>
              </a:rPr>
              <a:pPr/>
              <a:t>37</a:t>
            </a:fld>
            <a:endParaRPr lang="en-US" altLang="zh-CN">
              <a:ea typeface="黑体" pitchFamily="49" charset="-122"/>
            </a:endParaRPr>
          </a:p>
        </p:txBody>
      </p:sp>
      <p:cxnSp>
        <p:nvCxnSpPr>
          <p:cNvPr id="89092" name="直接箭头连接符 4"/>
          <p:cNvCxnSpPr>
            <a:cxnSpLocks noChangeShapeType="1"/>
          </p:cNvCxnSpPr>
          <p:nvPr/>
        </p:nvCxnSpPr>
        <p:spPr bwMode="auto">
          <a:xfrm flipV="1">
            <a:off x="1316038" y="5999163"/>
            <a:ext cx="6511925" cy="25400"/>
          </a:xfrm>
          <a:prstGeom prst="straightConnector1">
            <a:avLst/>
          </a:prstGeom>
          <a:noFill/>
          <a:ln w="38100" algn="ctr">
            <a:solidFill>
              <a:schemeClr val="tx1"/>
            </a:solidFill>
            <a:round/>
            <a:headEnd/>
            <a:tailEnd type="arrow" w="med" len="med"/>
          </a:ln>
        </p:spPr>
      </p:cxnSp>
      <p:cxnSp>
        <p:nvCxnSpPr>
          <p:cNvPr id="89093" name="直接箭头连接符 5"/>
          <p:cNvCxnSpPr>
            <a:cxnSpLocks noChangeShapeType="1"/>
          </p:cNvCxnSpPr>
          <p:nvPr/>
        </p:nvCxnSpPr>
        <p:spPr bwMode="auto">
          <a:xfrm flipV="1">
            <a:off x="1614488" y="2633663"/>
            <a:ext cx="50800" cy="3608387"/>
          </a:xfrm>
          <a:prstGeom prst="straightConnector1">
            <a:avLst/>
          </a:prstGeom>
          <a:noFill/>
          <a:ln w="38100" algn="ctr">
            <a:solidFill>
              <a:schemeClr val="tx1"/>
            </a:solidFill>
            <a:round/>
            <a:headEnd/>
            <a:tailEnd type="arrow" w="med" len="med"/>
          </a:ln>
        </p:spPr>
      </p:cxnSp>
      <p:sp>
        <p:nvSpPr>
          <p:cNvPr id="89094" name="椭圆 6"/>
          <p:cNvSpPr>
            <a:spLocks noChangeArrowheads="1"/>
          </p:cNvSpPr>
          <p:nvPr/>
        </p:nvSpPr>
        <p:spPr bwMode="auto">
          <a:xfrm>
            <a:off x="3357563" y="430847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5" name="椭圆 7"/>
          <p:cNvSpPr>
            <a:spLocks noChangeArrowheads="1"/>
          </p:cNvSpPr>
          <p:nvPr/>
        </p:nvSpPr>
        <p:spPr bwMode="auto">
          <a:xfrm>
            <a:off x="2205038" y="37322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6" name="椭圆 8"/>
          <p:cNvSpPr>
            <a:spLocks noChangeArrowheads="1"/>
          </p:cNvSpPr>
          <p:nvPr/>
        </p:nvSpPr>
        <p:spPr bwMode="auto">
          <a:xfrm>
            <a:off x="3455988" y="497205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7" name="椭圆 9"/>
          <p:cNvSpPr>
            <a:spLocks noChangeArrowheads="1"/>
          </p:cNvSpPr>
          <p:nvPr/>
        </p:nvSpPr>
        <p:spPr bwMode="auto">
          <a:xfrm>
            <a:off x="2630488" y="45974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8" name="椭圆 10"/>
          <p:cNvSpPr>
            <a:spLocks noChangeArrowheads="1"/>
          </p:cNvSpPr>
          <p:nvPr/>
        </p:nvSpPr>
        <p:spPr bwMode="auto">
          <a:xfrm>
            <a:off x="3970338" y="41830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9" name="椭圆 11"/>
          <p:cNvSpPr>
            <a:spLocks noChangeArrowheads="1"/>
          </p:cNvSpPr>
          <p:nvPr/>
        </p:nvSpPr>
        <p:spPr bwMode="auto">
          <a:xfrm>
            <a:off x="2851195" y="320675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0" name="椭圆 12"/>
          <p:cNvSpPr>
            <a:spLocks noChangeArrowheads="1"/>
          </p:cNvSpPr>
          <p:nvPr/>
        </p:nvSpPr>
        <p:spPr bwMode="auto">
          <a:xfrm>
            <a:off x="2767013" y="4157663"/>
            <a:ext cx="187325"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1" name="椭圆 13"/>
          <p:cNvSpPr>
            <a:spLocks noChangeArrowheads="1"/>
          </p:cNvSpPr>
          <p:nvPr/>
        </p:nvSpPr>
        <p:spPr bwMode="auto">
          <a:xfrm>
            <a:off x="2116138" y="44719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2" name="椭圆 14"/>
          <p:cNvSpPr>
            <a:spLocks noChangeArrowheads="1"/>
          </p:cNvSpPr>
          <p:nvPr/>
        </p:nvSpPr>
        <p:spPr bwMode="auto">
          <a:xfrm>
            <a:off x="2916238" y="4922838"/>
            <a:ext cx="190500"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3" name="矩形 15"/>
          <p:cNvSpPr>
            <a:spLocks noChangeArrowheads="1"/>
          </p:cNvSpPr>
          <p:nvPr/>
        </p:nvSpPr>
        <p:spPr bwMode="auto">
          <a:xfrm>
            <a:off x="4659313" y="286861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4" name="矩形 16"/>
          <p:cNvSpPr>
            <a:spLocks noChangeArrowheads="1"/>
          </p:cNvSpPr>
          <p:nvPr/>
        </p:nvSpPr>
        <p:spPr bwMode="auto">
          <a:xfrm>
            <a:off x="5497513" y="2366963"/>
            <a:ext cx="139700"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5" name="矩形 17"/>
          <p:cNvSpPr>
            <a:spLocks noChangeArrowheads="1"/>
          </p:cNvSpPr>
          <p:nvPr/>
        </p:nvSpPr>
        <p:spPr bwMode="auto">
          <a:xfrm>
            <a:off x="5888038" y="3130550"/>
            <a:ext cx="136525"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6" name="矩形 18"/>
          <p:cNvSpPr>
            <a:spLocks noChangeArrowheads="1"/>
          </p:cNvSpPr>
          <p:nvPr/>
        </p:nvSpPr>
        <p:spPr bwMode="auto">
          <a:xfrm>
            <a:off x="5221288" y="2843213"/>
            <a:ext cx="139700"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7" name="矩形 19"/>
          <p:cNvSpPr>
            <a:spLocks noChangeArrowheads="1"/>
          </p:cNvSpPr>
          <p:nvPr/>
        </p:nvSpPr>
        <p:spPr bwMode="auto">
          <a:xfrm>
            <a:off x="5722938" y="3806825"/>
            <a:ext cx="139700"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8" name="矩形 20"/>
          <p:cNvSpPr>
            <a:spLocks noChangeArrowheads="1"/>
          </p:cNvSpPr>
          <p:nvPr/>
        </p:nvSpPr>
        <p:spPr bwMode="auto">
          <a:xfrm>
            <a:off x="5135563" y="330676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9" name="矩形 21"/>
          <p:cNvSpPr>
            <a:spLocks noChangeArrowheads="1"/>
          </p:cNvSpPr>
          <p:nvPr/>
        </p:nvSpPr>
        <p:spPr bwMode="auto">
          <a:xfrm>
            <a:off x="6573838" y="3557588"/>
            <a:ext cx="139700"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0" name="矩形 22"/>
          <p:cNvSpPr>
            <a:spLocks noChangeArrowheads="1"/>
          </p:cNvSpPr>
          <p:nvPr/>
        </p:nvSpPr>
        <p:spPr bwMode="auto">
          <a:xfrm>
            <a:off x="6373813" y="2667000"/>
            <a:ext cx="139700"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grpSp>
        <p:nvGrpSpPr>
          <p:cNvPr id="3" name="组合 23"/>
          <p:cNvGrpSpPr>
            <a:grpSpLocks/>
          </p:cNvGrpSpPr>
          <p:nvPr/>
        </p:nvGrpSpPr>
        <p:grpSpPr bwMode="auto">
          <a:xfrm>
            <a:off x="1727795" y="1383657"/>
            <a:ext cx="5147725" cy="4238903"/>
            <a:chOff x="1954266" y="1521417"/>
            <a:chExt cx="5147237" cy="4239252"/>
          </a:xfrm>
        </p:grpSpPr>
        <p:cxnSp>
          <p:nvCxnSpPr>
            <p:cNvPr id="25" name="直接连接符 24"/>
            <p:cNvCxnSpPr/>
            <p:nvPr/>
          </p:nvCxnSpPr>
          <p:spPr bwMode="auto">
            <a:xfrm>
              <a:off x="2961591" y="2362185"/>
              <a:ext cx="3493759" cy="294505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sp>
          <p:nvSpPr>
            <p:cNvPr id="89117" name="TextBox 62"/>
            <p:cNvSpPr txBox="1">
              <a:spLocks noChangeArrowheads="1"/>
            </p:cNvSpPr>
            <p:nvPr/>
          </p:nvSpPr>
          <p:spPr bwMode="auto">
            <a:xfrm>
              <a:off x="2442575" y="2079320"/>
              <a:ext cx="388306" cy="461704"/>
            </a:xfrm>
            <a:prstGeom prst="rect">
              <a:avLst/>
            </a:prstGeom>
            <a:noFill/>
            <a:ln w="9525">
              <a:noFill/>
              <a:miter lim="800000"/>
              <a:headEnd/>
              <a:tailEnd/>
            </a:ln>
          </p:spPr>
          <p:txBody>
            <a:bodyPr>
              <a:spAutoFit/>
            </a:bodyPr>
            <a:lstStyle/>
            <a:p>
              <a:r>
                <a:rPr lang="en-US" altLang="zh-CN" sz="2400" b="1" dirty="0"/>
                <a:t>B</a:t>
              </a:r>
              <a:endParaRPr lang="zh-CN" altLang="en-US" sz="2400" b="1" dirty="0"/>
            </a:p>
          </p:txBody>
        </p:sp>
        <p:cxnSp>
          <p:nvCxnSpPr>
            <p:cNvPr id="30" name="直接连接符 29"/>
            <p:cNvCxnSpPr/>
            <p:nvPr/>
          </p:nvCxnSpPr>
          <p:spPr bwMode="auto">
            <a:xfrm>
              <a:off x="3607744" y="1975465"/>
              <a:ext cx="3493759" cy="2945059"/>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31" name="直接连接符 30"/>
            <p:cNvCxnSpPr/>
            <p:nvPr/>
          </p:nvCxnSpPr>
          <p:spPr bwMode="auto">
            <a:xfrm>
              <a:off x="2390518" y="2815610"/>
              <a:ext cx="3493759" cy="2945059"/>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sp>
          <p:nvSpPr>
            <p:cNvPr id="32" name="TextBox 62"/>
            <p:cNvSpPr txBox="1">
              <a:spLocks noChangeArrowheads="1"/>
            </p:cNvSpPr>
            <p:nvPr/>
          </p:nvSpPr>
          <p:spPr bwMode="auto">
            <a:xfrm>
              <a:off x="3142597" y="1521417"/>
              <a:ext cx="388306" cy="461704"/>
            </a:xfrm>
            <a:prstGeom prst="rect">
              <a:avLst/>
            </a:prstGeom>
            <a:noFill/>
            <a:ln w="9525">
              <a:noFill/>
              <a:miter lim="800000"/>
              <a:headEnd/>
              <a:tailEnd/>
            </a:ln>
          </p:spPr>
          <p:txBody>
            <a:bodyPr>
              <a:spAutoFit/>
            </a:bodyPr>
            <a:lstStyle/>
            <a:p>
              <a:r>
                <a:rPr lang="en-US" altLang="zh-CN" sz="2400" b="1" dirty="0"/>
                <a:t>C</a:t>
              </a:r>
              <a:endParaRPr lang="zh-CN" altLang="en-US" sz="2400" b="1" dirty="0"/>
            </a:p>
          </p:txBody>
        </p:sp>
        <p:sp>
          <p:nvSpPr>
            <p:cNvPr id="33" name="TextBox 62"/>
            <p:cNvSpPr txBox="1">
              <a:spLocks noChangeArrowheads="1"/>
            </p:cNvSpPr>
            <p:nvPr/>
          </p:nvSpPr>
          <p:spPr bwMode="auto">
            <a:xfrm>
              <a:off x="1954266" y="2481798"/>
              <a:ext cx="388306" cy="461704"/>
            </a:xfrm>
            <a:prstGeom prst="rect">
              <a:avLst/>
            </a:prstGeom>
            <a:noFill/>
            <a:ln w="9525">
              <a:noFill/>
              <a:miter lim="800000"/>
              <a:headEnd/>
              <a:tailEnd/>
            </a:ln>
          </p:spPr>
          <p:txBody>
            <a:bodyPr>
              <a:spAutoFit/>
            </a:bodyPr>
            <a:lstStyle/>
            <a:p>
              <a:r>
                <a:rPr lang="en-US" altLang="zh-CN" sz="2400" b="1" dirty="0"/>
                <a:t>A</a:t>
              </a:r>
              <a:endParaRPr lang="zh-CN" altLang="en-US" sz="2400" b="1" dirty="0"/>
            </a:p>
          </p:txBody>
        </p:sp>
      </p:grpSp>
      <p:sp>
        <p:nvSpPr>
          <p:cNvPr id="89112" name="椭圆 32"/>
          <p:cNvSpPr>
            <a:spLocks noChangeArrowheads="1"/>
          </p:cNvSpPr>
          <p:nvPr/>
        </p:nvSpPr>
        <p:spPr bwMode="auto">
          <a:xfrm>
            <a:off x="2870998" y="254567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13" name="矩形 15"/>
          <p:cNvSpPr>
            <a:spLocks noChangeArrowheads="1"/>
          </p:cNvSpPr>
          <p:nvPr/>
        </p:nvSpPr>
        <p:spPr bwMode="auto">
          <a:xfrm>
            <a:off x="3556000" y="362426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4" name="椭圆 10"/>
          <p:cNvSpPr>
            <a:spLocks noChangeArrowheads="1"/>
          </p:cNvSpPr>
          <p:nvPr/>
        </p:nvSpPr>
        <p:spPr bwMode="auto">
          <a:xfrm>
            <a:off x="4466107" y="330077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15" name="矩形 15"/>
          <p:cNvSpPr>
            <a:spLocks noChangeArrowheads="1"/>
          </p:cNvSpPr>
          <p:nvPr/>
        </p:nvSpPr>
        <p:spPr bwMode="auto">
          <a:xfrm>
            <a:off x="5008461" y="3915101"/>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5" name="直接箭头连接符 4"/>
          <p:cNvCxnSpPr>
            <a:endCxn id="89112" idx="3"/>
          </p:cNvCxnSpPr>
          <p:nvPr/>
        </p:nvCxnSpPr>
        <p:spPr>
          <a:xfrm flipV="1">
            <a:off x="2630488" y="2727250"/>
            <a:ext cx="267943" cy="2540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89114" idx="3"/>
          </p:cNvCxnSpPr>
          <p:nvPr/>
        </p:nvCxnSpPr>
        <p:spPr>
          <a:xfrm flipV="1">
            <a:off x="3894979" y="3482350"/>
            <a:ext cx="598561" cy="56791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a:off x="3692526" y="2812869"/>
            <a:ext cx="801097" cy="8055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H="1">
            <a:off x="5136153" y="3601337"/>
            <a:ext cx="312913" cy="3298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49" name="Object 2" descr="羊皮纸"/>
          <p:cNvGraphicFramePr>
            <a:graphicFrameLocks noChangeAspect="1"/>
          </p:cNvGraphicFramePr>
          <p:nvPr/>
        </p:nvGraphicFramePr>
        <p:xfrm>
          <a:off x="2436019" y="2318817"/>
          <a:ext cx="388938" cy="585787"/>
        </p:xfrm>
        <a:graphic>
          <a:graphicData uri="http://schemas.openxmlformats.org/presentationml/2006/ole">
            <mc:AlternateContent xmlns:mc="http://schemas.openxmlformats.org/markup-compatibility/2006">
              <mc:Choice xmlns:v="urn:schemas-microsoft-com:vml" Requires="v">
                <p:oleObj name="公式" r:id="rId3" imgW="152280" imgH="228600" progId="Equation.3">
                  <p:embed/>
                </p:oleObj>
              </mc:Choice>
              <mc:Fallback>
                <p:oleObj name="公式" r:id="rId3" imgW="152280" imgH="228600" progId="Equation.3">
                  <p:embed/>
                  <p:pic>
                    <p:nvPicPr>
                      <p:cNvPr id="49" name="Object 2" descr="羊皮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6019" y="2318817"/>
                        <a:ext cx="388938" cy="585787"/>
                      </a:xfrm>
                      <a:prstGeom prst="rect">
                        <a:avLst/>
                      </a:prstGeom>
                      <a:noFill/>
                      <a:ln>
                        <a:noFill/>
                      </a:ln>
                    </p:spPr>
                  </p:pic>
                </p:oleObj>
              </mc:Fallback>
            </mc:AlternateContent>
          </a:graphicData>
        </a:graphic>
      </p:graphicFrame>
      <p:graphicFrame>
        <p:nvGraphicFramePr>
          <p:cNvPr id="50" name="Object 2" descr="羊皮纸"/>
          <p:cNvGraphicFramePr>
            <a:graphicFrameLocks noChangeAspect="1"/>
          </p:cNvGraphicFramePr>
          <p:nvPr/>
        </p:nvGraphicFramePr>
        <p:xfrm>
          <a:off x="3881907" y="2620963"/>
          <a:ext cx="388938" cy="585787"/>
        </p:xfrm>
        <a:graphic>
          <a:graphicData uri="http://schemas.openxmlformats.org/presentationml/2006/ole">
            <mc:AlternateContent xmlns:mc="http://schemas.openxmlformats.org/markup-compatibility/2006">
              <mc:Choice xmlns:v="urn:schemas-microsoft-com:vml" Requires="v">
                <p:oleObj name="公式" r:id="rId3" imgW="152280" imgH="228600" progId="Equation.3">
                  <p:embed/>
                </p:oleObj>
              </mc:Choice>
              <mc:Fallback>
                <p:oleObj name="公式" r:id="rId3" imgW="152280" imgH="228600" progId="Equation.3">
                  <p:embed/>
                  <p:pic>
                    <p:nvPicPr>
                      <p:cNvPr id="50" name="Object 2" descr="羊皮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1907" y="2620963"/>
                        <a:ext cx="388938" cy="58578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31665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回顾：线性可分支持向量机</a:t>
            </a:r>
          </a:p>
        </p:txBody>
      </p:sp>
      <p:sp>
        <p:nvSpPr>
          <p:cNvPr id="30726" name="内容占位符 2"/>
          <p:cNvSpPr>
            <a:spLocks noGrp="1"/>
          </p:cNvSpPr>
          <p:nvPr>
            <p:ph idx="1"/>
          </p:nvPr>
        </p:nvSpPr>
        <p:spPr>
          <a:xfrm>
            <a:off x="685800" y="3751263"/>
            <a:ext cx="7772400" cy="2665412"/>
          </a:xfrm>
        </p:spPr>
        <p:txBody>
          <a:bodyPr>
            <a:normAutofit/>
          </a:bodyPr>
          <a:lstStyle/>
          <a:p>
            <a:r>
              <a:rPr lang="zh-CN" altLang="en-US" sz="3200" b="1" dirty="0"/>
              <a:t>某些点线性不可分，意味着这些点不满足函数间隔大于等于</a:t>
            </a:r>
            <a:r>
              <a:rPr lang="en-US" altLang="zh-CN" sz="3200" b="1" dirty="0"/>
              <a:t>1</a:t>
            </a:r>
            <a:r>
              <a:rPr lang="zh-CN" altLang="en-US" sz="3200" b="1" dirty="0"/>
              <a:t>的条件。</a:t>
            </a:r>
            <a:endParaRPr lang="en-US" altLang="zh-CN" sz="3200" b="1" dirty="0"/>
          </a:p>
          <a:p>
            <a:r>
              <a:rPr lang="zh-CN" altLang="en-US" sz="3200" b="1" dirty="0"/>
              <a:t>为此引入松弛变量      ，使得：</a:t>
            </a:r>
          </a:p>
        </p:txBody>
      </p:sp>
      <p:sp>
        <p:nvSpPr>
          <p:cNvPr id="30727" name="灯片编号占位符 3"/>
          <p:cNvSpPr>
            <a:spLocks noGrp="1"/>
          </p:cNvSpPr>
          <p:nvPr>
            <p:ph type="sldNum" sz="quarter" idx="12"/>
          </p:nvPr>
        </p:nvSpPr>
        <p:spPr>
          <a:noFill/>
        </p:spPr>
        <p:txBody>
          <a:bodyPr/>
          <a:lstStyle/>
          <a:p>
            <a:fld id="{9C588B49-02F5-427E-9BAD-02DBCF8E7FED}" type="slidenum">
              <a:rPr lang="en-US" altLang="zh-CN" smtClean="0">
                <a:ea typeface="黑体" pitchFamily="49" charset="-122"/>
              </a:rPr>
              <a:pPr/>
              <a:t>38</a:t>
            </a:fld>
            <a:endParaRPr lang="en-US" altLang="zh-CN">
              <a:ea typeface="黑体" pitchFamily="49" charset="-122"/>
            </a:endParaRPr>
          </a:p>
        </p:txBody>
      </p:sp>
      <p:graphicFrame>
        <p:nvGraphicFramePr>
          <p:cNvPr id="30723" name="Object 2" descr="羊皮纸"/>
          <p:cNvGraphicFramePr>
            <a:graphicFrameLocks noChangeAspect="1"/>
          </p:cNvGraphicFramePr>
          <p:nvPr/>
        </p:nvGraphicFramePr>
        <p:xfrm>
          <a:off x="4378325" y="4783465"/>
          <a:ext cx="388938" cy="585787"/>
        </p:xfrm>
        <a:graphic>
          <a:graphicData uri="http://schemas.openxmlformats.org/presentationml/2006/ole">
            <mc:AlternateContent xmlns:mc="http://schemas.openxmlformats.org/markup-compatibility/2006">
              <mc:Choice xmlns:v="urn:schemas-microsoft-com:vml" Requires="v">
                <p:oleObj name="公式" r:id="rId3" imgW="152280" imgH="228600" progId="Equation.3">
                  <p:embed/>
                </p:oleObj>
              </mc:Choice>
              <mc:Fallback>
                <p:oleObj name="公式" r:id="rId3" imgW="152280" imgH="22860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8325" y="4783465"/>
                        <a:ext cx="388938" cy="585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4" name="Object 2" descr="羊皮纸"/>
          <p:cNvGraphicFramePr>
            <a:graphicFrameLocks noChangeAspect="1"/>
          </p:cNvGraphicFramePr>
          <p:nvPr/>
        </p:nvGraphicFramePr>
        <p:xfrm>
          <a:off x="1195388" y="5548142"/>
          <a:ext cx="6227762" cy="584200"/>
        </p:xfrm>
        <a:graphic>
          <a:graphicData uri="http://schemas.openxmlformats.org/presentationml/2006/ole">
            <mc:AlternateContent xmlns:mc="http://schemas.openxmlformats.org/markup-compatibility/2006">
              <mc:Choice xmlns:v="urn:schemas-microsoft-com:vml" Requires="v">
                <p:oleObj name="公式" r:id="rId5" imgW="2438280" imgH="228600" progId="Equation.3">
                  <p:embed/>
                </p:oleObj>
              </mc:Choice>
              <mc:Fallback>
                <p:oleObj name="公式" r:id="rId5" imgW="2438280" imgH="22860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5388" y="5548142"/>
                        <a:ext cx="6227762"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组合 2">
            <a:extLst>
              <a:ext uri="{FF2B5EF4-FFF2-40B4-BE49-F238E27FC236}">
                <a16:creationId xmlns:a16="http://schemas.microsoft.com/office/drawing/2014/main" id="{AB03FED1-9064-7079-7F23-53E3BA3C82DD}"/>
              </a:ext>
            </a:extLst>
          </p:cNvPr>
          <p:cNvGrpSpPr/>
          <p:nvPr/>
        </p:nvGrpSpPr>
        <p:grpSpPr>
          <a:xfrm>
            <a:off x="1350284" y="1771157"/>
            <a:ext cx="6443431" cy="1626586"/>
            <a:chOff x="1327113" y="3745112"/>
            <a:chExt cx="6443431" cy="1626586"/>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D0A24D7-8062-1519-9E86-A47311F09736}"/>
                    </a:ext>
                  </a:extLst>
                </p:cNvPr>
                <p:cNvSpPr txBox="1"/>
                <p:nvPr/>
              </p:nvSpPr>
              <p:spPr>
                <a:xfrm>
                  <a:off x="1327113" y="3745112"/>
                  <a:ext cx="1818383" cy="819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lim>
                            </m:limLow>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e>
                        </m:func>
                      </m:oMath>
                    </m:oMathPara>
                  </a14:m>
                  <a:endParaRPr kumimoji="1" lang="zh-CN" altLang="en-US" sz="2800" dirty="0"/>
                </a:p>
              </p:txBody>
            </p:sp>
          </mc:Choice>
          <mc:Fallback xmlns="">
            <p:sp>
              <p:nvSpPr>
                <p:cNvPr id="4" name="文本框 3">
                  <a:extLst>
                    <a:ext uri="{FF2B5EF4-FFF2-40B4-BE49-F238E27FC236}">
                      <a16:creationId xmlns:a16="http://schemas.microsoft.com/office/drawing/2014/main" id="{8D0A24D7-8062-1519-9E86-A47311F09736}"/>
                    </a:ext>
                  </a:extLst>
                </p:cNvPr>
                <p:cNvSpPr txBox="1">
                  <a:spLocks noRot="1" noChangeAspect="1" noMove="1" noResize="1" noEditPoints="1" noAdjustHandles="1" noChangeArrowheads="1" noChangeShapeType="1" noTextEdit="1"/>
                </p:cNvSpPr>
                <p:nvPr/>
              </p:nvSpPr>
              <p:spPr>
                <a:xfrm>
                  <a:off x="1327113" y="3745112"/>
                  <a:ext cx="1818383" cy="819199"/>
                </a:xfrm>
                <a:prstGeom prst="rect">
                  <a:avLst/>
                </a:prstGeom>
                <a:blipFill>
                  <a:blip r:embed="rId7"/>
                  <a:stretch>
                    <a:fillRect l="-4167" t="-1515" r="-1389"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10F9553-B0FF-AF87-7D43-5EA7B596AFE3}"/>
                    </a:ext>
                  </a:extLst>
                </p:cNvPr>
                <p:cNvSpPr txBox="1"/>
                <p:nvPr/>
              </p:nvSpPr>
              <p:spPr>
                <a:xfrm>
                  <a:off x="1327113" y="4940811"/>
                  <a:ext cx="644343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𝑠</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𝑡</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≥1,</m:t>
                        </m:r>
                        <m:r>
                          <a:rPr kumimoji="1" lang="zh-CN" altLang="en-US" sz="2800" b="0" i="1" smtClean="0">
                            <a:latin typeface="Cambria Math" panose="02040503050406030204" pitchFamily="18" charset="0"/>
                            <a:ea typeface="Cambria Math" panose="02040503050406030204" pitchFamily="18" charset="0"/>
                          </a:rPr>
                          <m:t>   </m:t>
                        </m:r>
                        <m:r>
                          <a:rPr kumimoji="1" lang="en-US" altLang="zh-CN" sz="2800" b="0" i="1" smtClean="0">
                            <a:latin typeface="Cambria Math" panose="02040503050406030204" pitchFamily="18" charset="0"/>
                            <a:ea typeface="Cambria Math" panose="02040503050406030204" pitchFamily="18" charset="0"/>
                          </a:rPr>
                          <m:t>𝑖</m:t>
                        </m:r>
                        <m:r>
                          <a:rPr kumimoji="1" lang="en-US" altLang="zh-CN" sz="2800" b="0" i="1" smtClean="0">
                            <a:latin typeface="Cambria Math" panose="02040503050406030204" pitchFamily="18" charset="0"/>
                            <a:ea typeface="Cambria Math" panose="02040503050406030204" pitchFamily="18" charset="0"/>
                          </a:rPr>
                          <m:t>=1,2,…,</m:t>
                        </m:r>
                        <m:r>
                          <a:rPr kumimoji="1" lang="en-US" altLang="zh-CN" sz="2800" b="0" i="1" smtClean="0">
                            <a:latin typeface="Cambria Math" panose="02040503050406030204" pitchFamily="18" charset="0"/>
                            <a:ea typeface="Cambria Math" panose="02040503050406030204" pitchFamily="18" charset="0"/>
                          </a:rPr>
                          <m:t>𝑁</m:t>
                        </m:r>
                      </m:oMath>
                    </m:oMathPara>
                  </a14:m>
                  <a:endParaRPr kumimoji="1" lang="zh-CN" altLang="en-US" sz="2800" dirty="0"/>
                </a:p>
              </p:txBody>
            </p:sp>
          </mc:Choice>
          <mc:Fallback xmlns="">
            <p:sp>
              <p:nvSpPr>
                <p:cNvPr id="5" name="文本框 4">
                  <a:extLst>
                    <a:ext uri="{FF2B5EF4-FFF2-40B4-BE49-F238E27FC236}">
                      <a16:creationId xmlns:a16="http://schemas.microsoft.com/office/drawing/2014/main" id="{C10F9553-B0FF-AF87-7D43-5EA7B596AFE3}"/>
                    </a:ext>
                  </a:extLst>
                </p:cNvPr>
                <p:cNvSpPr txBox="1">
                  <a:spLocks noRot="1" noChangeAspect="1" noMove="1" noResize="1" noEditPoints="1" noAdjustHandles="1" noChangeArrowheads="1" noChangeShapeType="1" noTextEdit="1"/>
                </p:cNvSpPr>
                <p:nvPr/>
              </p:nvSpPr>
              <p:spPr>
                <a:xfrm>
                  <a:off x="1327113" y="4940811"/>
                  <a:ext cx="6443431" cy="430887"/>
                </a:xfrm>
                <a:prstGeom prst="rect">
                  <a:avLst/>
                </a:prstGeom>
                <a:blipFill>
                  <a:blip r:embed="rId8"/>
                  <a:stretch>
                    <a:fillRect l="-197" t="-11429" r="-787" b="-31429"/>
                  </a:stretch>
                </a:blipFill>
              </p:spPr>
              <p:txBody>
                <a:bodyPr/>
                <a:lstStyle/>
                <a:p>
                  <a:r>
                    <a:rPr lang="zh-CN" altLang="en-US">
                      <a:noFill/>
                    </a:rPr>
                    <a:t> </a:t>
                  </a:r>
                </a:p>
              </p:txBody>
            </p:sp>
          </mc:Fallback>
        </mc:AlternateContent>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内容占位符 2"/>
          <p:cNvSpPr>
            <a:spLocks noGrp="1"/>
          </p:cNvSpPr>
          <p:nvPr>
            <p:ph idx="1"/>
          </p:nvPr>
        </p:nvSpPr>
        <p:spPr>
          <a:xfrm>
            <a:off x="685800" y="758825"/>
            <a:ext cx="7772400" cy="5337175"/>
          </a:xfrm>
        </p:spPr>
        <p:txBody>
          <a:bodyPr>
            <a:noAutofit/>
          </a:bodyPr>
          <a:lstStyle/>
          <a:p>
            <a:r>
              <a:rPr lang="zh-CN" altLang="en-US" sz="3200" b="1" dirty="0"/>
              <a:t>为使    尽可能的小，优化目标增加惩罚项，变为：</a:t>
            </a:r>
            <a:endParaRPr lang="en-US" altLang="zh-CN" sz="3200" b="1" dirty="0"/>
          </a:p>
          <a:p>
            <a:endParaRPr lang="en-US" altLang="zh-CN" sz="3200" b="1" dirty="0"/>
          </a:p>
          <a:p>
            <a:endParaRPr lang="en-US" altLang="zh-CN" sz="3200" b="1" dirty="0"/>
          </a:p>
          <a:p>
            <a:endParaRPr lang="en-US" altLang="zh-CN" sz="3200" b="1" dirty="0"/>
          </a:p>
          <a:p>
            <a:r>
              <a:rPr lang="zh-CN" altLang="en-US" sz="3200" b="1" dirty="0"/>
              <a:t>称为软间隔最大化</a:t>
            </a:r>
            <a:endParaRPr lang="en-US" altLang="zh-CN" sz="3200" b="1" dirty="0"/>
          </a:p>
          <a:p>
            <a:r>
              <a:rPr lang="zh-CN" altLang="en-US" sz="3200" b="1" dirty="0"/>
              <a:t>其中</a:t>
            </a:r>
            <a:r>
              <a:rPr lang="en-US" altLang="zh-CN" sz="3200" b="1" dirty="0"/>
              <a:t>C&gt;0</a:t>
            </a:r>
            <a:r>
              <a:rPr lang="zh-CN" altLang="en-US" sz="3200" b="1" dirty="0"/>
              <a:t>为惩罚参数，</a:t>
            </a:r>
            <a:r>
              <a:rPr lang="en-US" altLang="zh-CN" sz="3200" b="1" dirty="0"/>
              <a:t>C</a:t>
            </a:r>
            <a:r>
              <a:rPr lang="zh-CN" altLang="en-US" sz="3200" b="1" dirty="0"/>
              <a:t>大时对误分类的惩罚增加，</a:t>
            </a:r>
            <a:r>
              <a:rPr lang="en-US" altLang="zh-CN" sz="3200" b="1" dirty="0"/>
              <a:t>C</a:t>
            </a:r>
            <a:r>
              <a:rPr lang="zh-CN" altLang="en-US" sz="3200" b="1" dirty="0"/>
              <a:t>小时对误分类的惩罚减少。</a:t>
            </a:r>
            <a:endParaRPr lang="en-US" altLang="zh-CN" sz="3200" b="1" dirty="0"/>
          </a:p>
          <a:p>
            <a:r>
              <a:rPr lang="zh-CN" altLang="en-US" sz="3200" b="1" dirty="0"/>
              <a:t>上式的含义：间隔尽量最大，同时误分类的点数尽可能小，二者由</a:t>
            </a:r>
            <a:r>
              <a:rPr lang="en-US" altLang="zh-CN" sz="3200" b="1" dirty="0"/>
              <a:t>C</a:t>
            </a:r>
            <a:r>
              <a:rPr lang="zh-CN" altLang="en-US" sz="3200" b="1" dirty="0"/>
              <a:t>调和。</a:t>
            </a:r>
            <a:endParaRPr lang="en-US" altLang="zh-CN" sz="3200" b="1" dirty="0"/>
          </a:p>
          <a:p>
            <a:endParaRPr lang="zh-CN" altLang="en-US" sz="3200" b="1" dirty="0"/>
          </a:p>
        </p:txBody>
      </p:sp>
      <p:sp>
        <p:nvSpPr>
          <p:cNvPr id="31749" name="灯片编号占位符 3"/>
          <p:cNvSpPr>
            <a:spLocks noGrp="1"/>
          </p:cNvSpPr>
          <p:nvPr>
            <p:ph type="sldNum" sz="quarter" idx="12"/>
          </p:nvPr>
        </p:nvSpPr>
        <p:spPr>
          <a:noFill/>
        </p:spPr>
        <p:txBody>
          <a:bodyPr/>
          <a:lstStyle/>
          <a:p>
            <a:fld id="{A1415810-7F33-4987-8BA2-F560BD944C30}" type="slidenum">
              <a:rPr lang="en-US" altLang="zh-CN" smtClean="0">
                <a:ea typeface="黑体" pitchFamily="49" charset="-122"/>
              </a:rPr>
              <a:pPr/>
              <a:t>39</a:t>
            </a:fld>
            <a:endParaRPr lang="en-US" altLang="zh-CN">
              <a:ea typeface="黑体" pitchFamily="49" charset="-122"/>
            </a:endParaRPr>
          </a:p>
        </p:txBody>
      </p:sp>
      <p:graphicFrame>
        <p:nvGraphicFramePr>
          <p:cNvPr id="31746" name="Object 2" descr="羊皮纸"/>
          <p:cNvGraphicFramePr>
            <a:graphicFrameLocks noChangeAspect="1"/>
          </p:cNvGraphicFramePr>
          <p:nvPr/>
        </p:nvGraphicFramePr>
        <p:xfrm>
          <a:off x="1881624" y="693300"/>
          <a:ext cx="388937" cy="585787"/>
        </p:xfrm>
        <a:graphic>
          <a:graphicData uri="http://schemas.openxmlformats.org/presentationml/2006/ole">
            <mc:AlternateContent xmlns:mc="http://schemas.openxmlformats.org/markup-compatibility/2006">
              <mc:Choice xmlns:v="urn:schemas-microsoft-com:vml" Requires="v">
                <p:oleObj name="公式" r:id="rId3" imgW="152280" imgH="228600" progId="Equation.3">
                  <p:embed/>
                </p:oleObj>
              </mc:Choice>
              <mc:Fallback>
                <p:oleObj name="公式" r:id="rId3" imgW="15228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1624" y="693300"/>
                        <a:ext cx="388937" cy="585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778E09B-E69F-AECF-BE1E-499291B7801E}"/>
                  </a:ext>
                </a:extLst>
              </p:cNvPr>
              <p:cNvSpPr txBox="1"/>
              <p:nvPr/>
            </p:nvSpPr>
            <p:spPr>
              <a:xfrm>
                <a:off x="2486400" y="1814773"/>
                <a:ext cx="3703386"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𝜉</m:t>
                              </m:r>
                            </m:lim>
                          </m:limLow>
                          <m:r>
                            <a:rPr kumimoji="1" lang="en-US" altLang="zh-CN" sz="2800" b="0" i="1" smtClean="0">
                              <a:latin typeface="Cambria Math" panose="02040503050406030204" pitchFamily="18" charset="0"/>
                            </a:rPr>
                            <m:t>(</m:t>
                          </m:r>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𝐶</m:t>
                          </m:r>
                          <m:nary>
                            <m:naryPr>
                              <m:chr m:val="∑"/>
                              <m:ctrlPr>
                                <a:rPr kumimoji="1" lang="en-US" altLang="zh-CN" sz="2800" b="0" i="1" smtClean="0">
                                  <a:latin typeface="Cambria Math" panose="02040503050406030204" pitchFamily="18" charset="0"/>
                                </a:rPr>
                              </m:ctrlPr>
                            </m:naryPr>
                            <m:sub>
                              <m:r>
                                <m:rPr>
                                  <m:brk m:alnAt="23"/>
                                </m:rPr>
                                <a:rPr kumimoji="1" lang="en-US" altLang="zh-CN" sz="2800" b="0" i="1" smtClean="0">
                                  <a:latin typeface="Cambria Math" panose="02040503050406030204" pitchFamily="18" charset="0"/>
                                </a:rPr>
                                <m:t>𝑖</m:t>
                              </m:r>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𝑁</m:t>
                              </m:r>
                            </m:sup>
                            <m:e>
                              <m:sSub>
                                <m:sSubPr>
                                  <m:ctrlPr>
                                    <a:rPr kumimoji="1" lang="en-US" altLang="zh-CN" sz="2800" b="0" i="1" smtClean="0">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𝜉</m:t>
                                  </m:r>
                                </m:e>
                                <m:sub>
                                  <m:r>
                                    <a:rPr kumimoji="1" lang="en-US" altLang="zh-CN" sz="2800" b="0" i="1" smtClean="0">
                                      <a:latin typeface="Cambria Math" panose="02040503050406030204" pitchFamily="18" charset="0"/>
                                    </a:rPr>
                                    <m:t>𝑖</m:t>
                                  </m:r>
                                </m:sub>
                              </m:sSub>
                            </m:e>
                          </m:nary>
                          <m:r>
                            <a:rPr kumimoji="1" lang="en-US" altLang="zh-CN" sz="2800" b="0" i="1" smtClean="0">
                              <a:latin typeface="Cambria Math" panose="02040503050406030204" pitchFamily="18" charset="0"/>
                            </a:rPr>
                            <m:t>)</m:t>
                          </m:r>
                        </m:e>
                      </m:func>
                    </m:oMath>
                  </m:oMathPara>
                </a14:m>
                <a:endParaRPr kumimoji="1" lang="zh-CN" altLang="en-US" sz="2800" dirty="0"/>
              </a:p>
            </p:txBody>
          </p:sp>
        </mc:Choice>
        <mc:Fallback xmlns="">
          <p:sp>
            <p:nvSpPr>
              <p:cNvPr id="3" name="文本框 2">
                <a:extLst>
                  <a:ext uri="{FF2B5EF4-FFF2-40B4-BE49-F238E27FC236}">
                    <a16:creationId xmlns:a16="http://schemas.microsoft.com/office/drawing/2014/main" id="{9778E09B-E69F-AECF-BE1E-499291B7801E}"/>
                  </a:ext>
                </a:extLst>
              </p:cNvPr>
              <p:cNvSpPr txBox="1">
                <a:spLocks noRot="1" noChangeAspect="1" noMove="1" noResize="1" noEditPoints="1" noAdjustHandles="1" noChangeArrowheads="1" noChangeShapeType="1" noTextEdit="1"/>
              </p:cNvSpPr>
              <p:nvPr/>
            </p:nvSpPr>
            <p:spPr>
              <a:xfrm>
                <a:off x="2486400" y="1814773"/>
                <a:ext cx="3703386" cy="1211550"/>
              </a:xfrm>
              <a:prstGeom prst="rect">
                <a:avLst/>
              </a:prstGeom>
              <a:blipFill>
                <a:blip r:embed="rId5"/>
                <a:stretch>
                  <a:fillRect l="-683" t="-113542" r="-9215" b="-175000"/>
                </a:stretch>
              </a:blipFill>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内容占位符 2"/>
          <p:cNvSpPr>
            <a:spLocks noGrp="1"/>
          </p:cNvSpPr>
          <p:nvPr>
            <p:ph idx="1"/>
          </p:nvPr>
        </p:nvSpPr>
        <p:spPr>
          <a:xfrm>
            <a:off x="685800" y="1021083"/>
            <a:ext cx="8020050" cy="5562600"/>
          </a:xfrm>
        </p:spPr>
        <p:txBody>
          <a:bodyPr>
            <a:normAutofit/>
          </a:bodyPr>
          <a:lstStyle/>
          <a:p>
            <a:pPr>
              <a:buFont typeface="Wingdings" pitchFamily="2" charset="2"/>
              <a:buNone/>
            </a:pPr>
            <a:r>
              <a:rPr lang="zh-CN" altLang="en-US" sz="3200" b="1" dirty="0"/>
              <a:t>线性支持向量机就转化为如下的优化问题</a:t>
            </a:r>
            <a:endParaRPr lang="en-US" altLang="zh-CN" sz="3200" b="1" dirty="0"/>
          </a:p>
          <a:p>
            <a:pPr>
              <a:buFont typeface="Wingdings" pitchFamily="2" charset="2"/>
              <a:buNone/>
            </a:pPr>
            <a:r>
              <a:rPr lang="zh-CN" altLang="en-US" sz="3200" b="1" dirty="0"/>
              <a:t>（原始问题）：</a:t>
            </a: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p:txBody>
      </p:sp>
      <p:sp>
        <p:nvSpPr>
          <p:cNvPr id="32772" name="灯片编号占位符 3"/>
          <p:cNvSpPr>
            <a:spLocks noGrp="1"/>
          </p:cNvSpPr>
          <p:nvPr>
            <p:ph type="sldNum" sz="quarter" idx="12"/>
          </p:nvPr>
        </p:nvSpPr>
        <p:spPr>
          <a:noFill/>
        </p:spPr>
        <p:txBody>
          <a:bodyPr/>
          <a:lstStyle/>
          <a:p>
            <a:fld id="{2555E7D6-8DBE-4327-94BF-72389A9DB891}" type="slidenum">
              <a:rPr lang="en-US" altLang="zh-CN" smtClean="0">
                <a:ea typeface="黑体" pitchFamily="49" charset="-122"/>
              </a:rPr>
              <a:pPr/>
              <a:t>40</a:t>
            </a:fld>
            <a:endParaRPr lang="en-US" altLang="zh-CN">
              <a:ea typeface="黑体" pitchFamily="49"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8095870-86C3-885C-444C-02EF7FDBC917}"/>
                  </a:ext>
                </a:extLst>
              </p:cNvPr>
              <p:cNvSpPr txBox="1"/>
              <p:nvPr/>
            </p:nvSpPr>
            <p:spPr>
              <a:xfrm>
                <a:off x="1173416" y="2342311"/>
                <a:ext cx="3703386"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𝜉</m:t>
                              </m:r>
                            </m:lim>
                          </m:limLow>
                          <m:r>
                            <a:rPr kumimoji="1" lang="en-US" altLang="zh-CN" sz="2800" b="0" i="1" smtClean="0">
                              <a:latin typeface="Cambria Math" panose="02040503050406030204" pitchFamily="18" charset="0"/>
                            </a:rPr>
                            <m:t>(</m:t>
                          </m:r>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𝐶</m:t>
                          </m:r>
                          <m:nary>
                            <m:naryPr>
                              <m:chr m:val="∑"/>
                              <m:ctrlPr>
                                <a:rPr kumimoji="1" lang="en-US" altLang="zh-CN" sz="2800" b="0" i="1" smtClean="0">
                                  <a:latin typeface="Cambria Math" panose="02040503050406030204" pitchFamily="18" charset="0"/>
                                </a:rPr>
                              </m:ctrlPr>
                            </m:naryPr>
                            <m:sub>
                              <m:r>
                                <m:rPr>
                                  <m:brk m:alnAt="23"/>
                                </m:rPr>
                                <a:rPr kumimoji="1" lang="en-US" altLang="zh-CN" sz="2800" b="0" i="1" smtClean="0">
                                  <a:latin typeface="Cambria Math" panose="02040503050406030204" pitchFamily="18" charset="0"/>
                                </a:rPr>
                                <m:t>𝑖</m:t>
                              </m:r>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𝑁</m:t>
                              </m:r>
                            </m:sup>
                            <m:e>
                              <m:sSub>
                                <m:sSubPr>
                                  <m:ctrlPr>
                                    <a:rPr kumimoji="1" lang="en-US" altLang="zh-CN" sz="2800" b="0" i="1" smtClean="0">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𝜉</m:t>
                                  </m:r>
                                </m:e>
                                <m:sub>
                                  <m:r>
                                    <a:rPr kumimoji="1" lang="en-US" altLang="zh-CN" sz="2800" b="0" i="1" smtClean="0">
                                      <a:latin typeface="Cambria Math" panose="02040503050406030204" pitchFamily="18" charset="0"/>
                                    </a:rPr>
                                    <m:t>𝑖</m:t>
                                  </m:r>
                                </m:sub>
                              </m:sSub>
                            </m:e>
                          </m:nary>
                          <m:r>
                            <a:rPr kumimoji="1" lang="en-US" altLang="zh-CN" sz="2800" b="0" i="1" smtClean="0">
                              <a:latin typeface="Cambria Math" panose="02040503050406030204" pitchFamily="18" charset="0"/>
                            </a:rPr>
                            <m:t>)</m:t>
                          </m:r>
                        </m:e>
                      </m:func>
                    </m:oMath>
                  </m:oMathPara>
                </a14:m>
                <a:endParaRPr kumimoji="1" lang="zh-CN" altLang="en-US" sz="2800" dirty="0"/>
              </a:p>
            </p:txBody>
          </p:sp>
        </mc:Choice>
        <mc:Fallback xmlns="">
          <p:sp>
            <p:nvSpPr>
              <p:cNvPr id="2" name="文本框 1">
                <a:extLst>
                  <a:ext uri="{FF2B5EF4-FFF2-40B4-BE49-F238E27FC236}">
                    <a16:creationId xmlns:a16="http://schemas.microsoft.com/office/drawing/2014/main" id="{28095870-86C3-885C-444C-02EF7FDBC917}"/>
                  </a:ext>
                </a:extLst>
              </p:cNvPr>
              <p:cNvSpPr txBox="1">
                <a:spLocks noRot="1" noChangeAspect="1" noMove="1" noResize="1" noEditPoints="1" noAdjustHandles="1" noChangeArrowheads="1" noChangeShapeType="1" noTextEdit="1"/>
              </p:cNvSpPr>
              <p:nvPr/>
            </p:nvSpPr>
            <p:spPr>
              <a:xfrm>
                <a:off x="1173416" y="2342311"/>
                <a:ext cx="3703386" cy="1211550"/>
              </a:xfrm>
              <a:prstGeom prst="rect">
                <a:avLst/>
              </a:prstGeom>
              <a:blipFill>
                <a:blip r:embed="rId2"/>
                <a:stretch>
                  <a:fillRect l="-1027" t="-112500" r="-9589" b="-17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DF750B6-E468-9CE0-034F-DE70319C766E}"/>
                  </a:ext>
                </a:extLst>
              </p:cNvPr>
              <p:cNvSpPr txBox="1"/>
              <p:nvPr/>
            </p:nvSpPr>
            <p:spPr>
              <a:xfrm>
                <a:off x="1173416" y="3802383"/>
                <a:ext cx="714702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𝑠</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𝑡</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≥1−</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𝜉</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ea typeface="Cambria Math" panose="02040503050406030204" pitchFamily="18" charset="0"/>
                        </a:rPr>
                        <m:t>,</m:t>
                      </m:r>
                      <m:r>
                        <a:rPr kumimoji="1" lang="zh-CN" altLang="en-US" sz="2800" b="0" i="1" smtClean="0">
                          <a:latin typeface="Cambria Math" panose="02040503050406030204" pitchFamily="18" charset="0"/>
                          <a:ea typeface="Cambria Math" panose="02040503050406030204" pitchFamily="18" charset="0"/>
                        </a:rPr>
                        <m:t>   </m:t>
                      </m:r>
                      <m:r>
                        <a:rPr kumimoji="1" lang="en-US" altLang="zh-CN" sz="2800" b="0" i="1" smtClean="0">
                          <a:latin typeface="Cambria Math" panose="02040503050406030204" pitchFamily="18" charset="0"/>
                          <a:ea typeface="Cambria Math" panose="02040503050406030204" pitchFamily="18" charset="0"/>
                        </a:rPr>
                        <m:t>𝑖</m:t>
                      </m:r>
                      <m:r>
                        <a:rPr kumimoji="1" lang="en-US" altLang="zh-CN" sz="2800" b="0" i="1" smtClean="0">
                          <a:latin typeface="Cambria Math" panose="02040503050406030204" pitchFamily="18" charset="0"/>
                          <a:ea typeface="Cambria Math" panose="02040503050406030204" pitchFamily="18" charset="0"/>
                        </a:rPr>
                        <m:t>=1,2,…,</m:t>
                      </m:r>
                      <m:r>
                        <a:rPr kumimoji="1" lang="en-US" altLang="zh-CN" sz="2800" b="0" i="1" smtClean="0">
                          <a:latin typeface="Cambria Math" panose="02040503050406030204" pitchFamily="18" charset="0"/>
                          <a:ea typeface="Cambria Math" panose="02040503050406030204" pitchFamily="18" charset="0"/>
                        </a:rPr>
                        <m:t>𝑁</m:t>
                      </m:r>
                    </m:oMath>
                  </m:oMathPara>
                </a14:m>
                <a:endParaRPr kumimoji="1" lang="zh-CN" altLang="en-US" sz="2800" dirty="0"/>
              </a:p>
            </p:txBody>
          </p:sp>
        </mc:Choice>
        <mc:Fallback xmlns="">
          <p:sp>
            <p:nvSpPr>
              <p:cNvPr id="3" name="文本框 2">
                <a:extLst>
                  <a:ext uri="{FF2B5EF4-FFF2-40B4-BE49-F238E27FC236}">
                    <a16:creationId xmlns:a16="http://schemas.microsoft.com/office/drawing/2014/main" id="{6DF750B6-E468-9CE0-034F-DE70319C766E}"/>
                  </a:ext>
                </a:extLst>
              </p:cNvPr>
              <p:cNvSpPr txBox="1">
                <a:spLocks noRot="1" noChangeAspect="1" noMove="1" noResize="1" noEditPoints="1" noAdjustHandles="1" noChangeArrowheads="1" noChangeShapeType="1" noTextEdit="1"/>
              </p:cNvSpPr>
              <p:nvPr/>
            </p:nvSpPr>
            <p:spPr>
              <a:xfrm>
                <a:off x="1173416" y="3802383"/>
                <a:ext cx="7147021" cy="430887"/>
              </a:xfrm>
              <a:prstGeom prst="rect">
                <a:avLst/>
              </a:prstGeom>
              <a:blipFill>
                <a:blip r:embed="rId3"/>
                <a:stretch>
                  <a:fillRect l="-177" t="-11429" r="-532" b="-3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8B59148-31EE-95E7-D241-81A04589F758}"/>
                  </a:ext>
                </a:extLst>
              </p:cNvPr>
              <p:cNvSpPr txBox="1"/>
              <p:nvPr/>
            </p:nvSpPr>
            <p:spPr>
              <a:xfrm>
                <a:off x="674077" y="4491868"/>
                <a:ext cx="45720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800" i="1" smtClean="0">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𝜉</m:t>
                          </m:r>
                        </m:e>
                        <m:sub>
                          <m:r>
                            <a:rPr kumimoji="1" lang="en-US" altLang="zh-CN" sz="2800" i="1">
                              <a:latin typeface="Cambria Math" panose="02040503050406030204" pitchFamily="18" charset="0"/>
                            </a:rPr>
                            <m:t>𝑖</m:t>
                          </m:r>
                        </m:sub>
                      </m:sSub>
                      <m:r>
                        <a:rPr lang="zh-CN" altLang="en-US" sz="2800" i="1">
                          <a:solidFill>
                            <a:srgbClr val="000000"/>
                          </a:solidFill>
                          <a:latin typeface="Cambria Math" panose="02040503050406030204" pitchFamily="18" charset="0"/>
                        </a:rPr>
                        <m:t>≥0,</m:t>
                      </m:r>
                      <m:r>
                        <a:rPr lang="zh-CN" altLang="en-US" sz="2800" b="0" i="1" smtClean="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 </m:t>
                      </m:r>
                      <m:r>
                        <a:rPr lang="zh-CN" altLang="en-US" sz="2800" b="0" i="1" smtClean="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=1,2,...,</m:t>
                      </m:r>
                      <m:r>
                        <a:rPr lang="zh-CN" altLang="en-US" sz="2800" i="1">
                          <a:solidFill>
                            <a:srgbClr val="000000"/>
                          </a:solidFill>
                          <a:latin typeface="Cambria Math" panose="02040503050406030204" pitchFamily="18" charset="0"/>
                        </a:rPr>
                        <m:t>𝑁</m:t>
                      </m:r>
                    </m:oMath>
                  </m:oMathPara>
                </a14:m>
                <a:endParaRPr lang="zh-CN" altLang="en-US" sz="2800" dirty="0"/>
              </a:p>
            </p:txBody>
          </p:sp>
        </mc:Choice>
        <mc:Fallback xmlns="">
          <p:sp>
            <p:nvSpPr>
              <p:cNvPr id="5" name="文本框 4">
                <a:extLst>
                  <a:ext uri="{FF2B5EF4-FFF2-40B4-BE49-F238E27FC236}">
                    <a16:creationId xmlns:a16="http://schemas.microsoft.com/office/drawing/2014/main" id="{18B59148-31EE-95E7-D241-81A04589F758}"/>
                  </a:ext>
                </a:extLst>
              </p:cNvPr>
              <p:cNvSpPr txBox="1">
                <a:spLocks noRot="1" noChangeAspect="1" noMove="1" noResize="1" noEditPoints="1" noAdjustHandles="1" noChangeArrowheads="1" noChangeShapeType="1" noTextEdit="1"/>
              </p:cNvSpPr>
              <p:nvPr/>
            </p:nvSpPr>
            <p:spPr>
              <a:xfrm>
                <a:off x="674077" y="4491868"/>
                <a:ext cx="4572000" cy="523220"/>
              </a:xfrm>
              <a:prstGeom prst="rect">
                <a:avLst/>
              </a:prstGeom>
              <a:blipFill>
                <a:blip r:embed="rId4"/>
                <a:stretch>
                  <a:fillRect b="-16279"/>
                </a:stretch>
              </a:blipFill>
            </p:spPr>
            <p:txBody>
              <a:bodyPr/>
              <a:lstStyle/>
              <a:p>
                <a:r>
                  <a:rPr lang="zh-CN"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内容占位符 2"/>
          <p:cNvSpPr>
            <a:spLocks noGrp="1"/>
          </p:cNvSpPr>
          <p:nvPr>
            <p:ph idx="1"/>
          </p:nvPr>
        </p:nvSpPr>
        <p:spPr>
          <a:xfrm>
            <a:off x="685800" y="879569"/>
            <a:ext cx="7772400" cy="5486400"/>
          </a:xfrm>
        </p:spPr>
        <p:txBody>
          <a:bodyPr>
            <a:normAutofit/>
          </a:bodyPr>
          <a:lstStyle/>
          <a:p>
            <a:r>
              <a:rPr lang="zh-CN" altLang="en-US" sz="3200" b="1" dirty="0"/>
              <a:t>同样，通过求解对偶问题求解原始问题</a:t>
            </a:r>
          </a:p>
        </p:txBody>
      </p:sp>
      <p:sp>
        <p:nvSpPr>
          <p:cNvPr id="33796" name="灯片编号占位符 3"/>
          <p:cNvSpPr>
            <a:spLocks noGrp="1"/>
          </p:cNvSpPr>
          <p:nvPr>
            <p:ph type="sldNum" sz="quarter" idx="12"/>
          </p:nvPr>
        </p:nvSpPr>
        <p:spPr>
          <a:noFill/>
        </p:spPr>
        <p:txBody>
          <a:bodyPr/>
          <a:lstStyle/>
          <a:p>
            <a:fld id="{1778BE81-9F06-4A5B-A4F1-126856A85D7B}" type="slidenum">
              <a:rPr lang="en-US" altLang="zh-CN" smtClean="0">
                <a:ea typeface="黑体" pitchFamily="49" charset="-122"/>
              </a:rPr>
              <a:pPr/>
              <a:t>41</a:t>
            </a:fld>
            <a:endParaRPr lang="en-US" altLang="zh-CN">
              <a:ea typeface="黑体" pitchFamily="49" charset="-122"/>
            </a:endParaRPr>
          </a:p>
        </p:txBody>
      </p:sp>
      <p:graphicFrame>
        <p:nvGraphicFramePr>
          <p:cNvPr id="33794" name="Object 2" descr="羊皮纸"/>
          <p:cNvGraphicFramePr>
            <a:graphicFrameLocks noChangeAspect="1"/>
          </p:cNvGraphicFramePr>
          <p:nvPr>
            <p:extLst>
              <p:ext uri="{D42A27DB-BD31-4B8C-83A1-F6EECF244321}">
                <p14:modId xmlns:p14="http://schemas.microsoft.com/office/powerpoint/2010/main" val="618798303"/>
              </p:ext>
            </p:extLst>
          </p:nvPr>
        </p:nvGraphicFramePr>
        <p:xfrm>
          <a:off x="1004888" y="1717755"/>
          <a:ext cx="6913562" cy="4230688"/>
        </p:xfrm>
        <a:graphic>
          <a:graphicData uri="http://schemas.openxmlformats.org/presentationml/2006/ole">
            <mc:AlternateContent xmlns:mc="http://schemas.openxmlformats.org/markup-compatibility/2006">
              <mc:Choice xmlns:v="urn:schemas-microsoft-com:vml" Requires="v">
                <p:oleObj name="公式" r:id="rId3" imgW="2247840" imgH="1371600" progId="Equation.3">
                  <p:embed/>
                </p:oleObj>
              </mc:Choice>
              <mc:Fallback>
                <p:oleObj name="公式" r:id="rId3" imgW="2247840" imgH="1371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888" y="1717755"/>
                        <a:ext cx="6913562" cy="423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p:cNvSpPr>
            <a:spLocks noGrp="1"/>
          </p:cNvSpPr>
          <p:nvPr>
            <p:ph idx="1"/>
          </p:nvPr>
        </p:nvSpPr>
        <p:spPr>
          <a:xfrm>
            <a:off x="533400" y="844733"/>
            <a:ext cx="7772400" cy="5334000"/>
          </a:xfrm>
        </p:spPr>
        <p:txBody>
          <a:bodyPr/>
          <a:lstStyle/>
          <a:p>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dirty="0"/>
          </a:p>
        </p:txBody>
      </p:sp>
      <p:sp>
        <p:nvSpPr>
          <p:cNvPr id="34820" name="灯片编号占位符 3"/>
          <p:cNvSpPr>
            <a:spLocks noGrp="1"/>
          </p:cNvSpPr>
          <p:nvPr>
            <p:ph type="sldNum" sz="quarter" idx="12"/>
          </p:nvPr>
        </p:nvSpPr>
        <p:spPr>
          <a:noFill/>
        </p:spPr>
        <p:txBody>
          <a:bodyPr/>
          <a:lstStyle/>
          <a:p>
            <a:fld id="{BA483A6F-3599-4180-99A7-D1482FD21EE2}" type="slidenum">
              <a:rPr lang="en-US" altLang="zh-CN" smtClean="0">
                <a:ea typeface="黑体" pitchFamily="49" charset="-122"/>
              </a:rPr>
              <a:pPr/>
              <a:t>42</a:t>
            </a:fld>
            <a:endParaRPr lang="en-US" altLang="zh-CN">
              <a:ea typeface="黑体" pitchFamily="49" charset="-122"/>
            </a:endParaRPr>
          </a:p>
        </p:txBody>
      </p:sp>
      <p:graphicFrame>
        <p:nvGraphicFramePr>
          <p:cNvPr id="5" name="Object 2" descr="羊皮纸"/>
          <p:cNvGraphicFramePr>
            <a:graphicFrameLocks noChangeAspect="1"/>
          </p:cNvGraphicFramePr>
          <p:nvPr>
            <p:extLst>
              <p:ext uri="{D42A27DB-BD31-4B8C-83A1-F6EECF244321}">
                <p14:modId xmlns:p14="http://schemas.microsoft.com/office/powerpoint/2010/main" val="2076062091"/>
              </p:ext>
            </p:extLst>
          </p:nvPr>
        </p:nvGraphicFramePr>
        <p:xfrm>
          <a:off x="973138" y="1071702"/>
          <a:ext cx="6989762" cy="4787900"/>
        </p:xfrm>
        <a:graphic>
          <a:graphicData uri="http://schemas.openxmlformats.org/presentationml/2006/ole">
            <mc:AlternateContent xmlns:mc="http://schemas.openxmlformats.org/markup-compatibility/2006">
              <mc:Choice xmlns:v="urn:schemas-microsoft-com:vml" Requires="v">
                <p:oleObj name="公式" r:id="rId3" imgW="2082600" imgH="1422360" progId="Equation.3">
                  <p:embed/>
                </p:oleObj>
              </mc:Choice>
              <mc:Fallback>
                <p:oleObj name="公式" r:id="rId3" imgW="2082600" imgH="14223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138" y="1071702"/>
                        <a:ext cx="6989762" cy="4787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内容占位符 2"/>
          <p:cNvSpPr>
            <a:spLocks noGrp="1"/>
          </p:cNvSpPr>
          <p:nvPr>
            <p:ph idx="1"/>
          </p:nvPr>
        </p:nvSpPr>
        <p:spPr/>
        <p:txBody>
          <a:bodyPr>
            <a:normAutofit/>
          </a:bodyPr>
          <a:lstStyle/>
          <a:p>
            <a:r>
              <a:rPr lang="zh-CN" altLang="en-US" sz="3200" b="1" dirty="0"/>
              <a:t>分类超平面：</a:t>
            </a:r>
            <a:endParaRPr lang="en-US" altLang="zh-CN" sz="3200" b="1" dirty="0"/>
          </a:p>
          <a:p>
            <a:endParaRPr lang="en-US" altLang="zh-CN" sz="3200" b="1" dirty="0"/>
          </a:p>
          <a:p>
            <a:endParaRPr lang="en-US" altLang="zh-CN" sz="3200" b="1" dirty="0"/>
          </a:p>
          <a:p>
            <a:endParaRPr lang="en-US" altLang="zh-CN" sz="3200" b="1" dirty="0"/>
          </a:p>
          <a:p>
            <a:r>
              <a:rPr lang="zh-CN" altLang="en-US" sz="3200" b="1" dirty="0"/>
              <a:t>分类决策函数为：</a:t>
            </a:r>
            <a:endParaRPr lang="en-US" altLang="zh-CN" sz="3200" b="1" dirty="0"/>
          </a:p>
          <a:p>
            <a:endParaRPr lang="zh-CN" altLang="en-US" sz="3200" b="1" dirty="0"/>
          </a:p>
        </p:txBody>
      </p:sp>
      <p:sp>
        <p:nvSpPr>
          <p:cNvPr id="35846" name="灯片编号占位符 3"/>
          <p:cNvSpPr>
            <a:spLocks noGrp="1"/>
          </p:cNvSpPr>
          <p:nvPr>
            <p:ph type="sldNum" sz="quarter" idx="12"/>
          </p:nvPr>
        </p:nvSpPr>
        <p:spPr>
          <a:noFill/>
        </p:spPr>
        <p:txBody>
          <a:bodyPr/>
          <a:lstStyle/>
          <a:p>
            <a:fld id="{610A0EDE-0B3F-46F9-8CB5-51C19494988E}" type="slidenum">
              <a:rPr lang="en-US" altLang="zh-CN" smtClean="0">
                <a:ea typeface="黑体" pitchFamily="49" charset="-122"/>
              </a:rPr>
              <a:pPr/>
              <a:t>43</a:t>
            </a:fld>
            <a:endParaRPr lang="en-US" altLang="zh-CN">
              <a:ea typeface="黑体" pitchFamily="49" charset="-122"/>
            </a:endParaRPr>
          </a:p>
        </p:txBody>
      </p:sp>
      <p:graphicFrame>
        <p:nvGraphicFramePr>
          <p:cNvPr id="35842" name="Object 5" descr="羊皮纸"/>
          <p:cNvGraphicFramePr>
            <a:graphicFrameLocks noChangeAspect="1"/>
          </p:cNvGraphicFramePr>
          <p:nvPr/>
        </p:nvGraphicFramePr>
        <p:xfrm>
          <a:off x="2105025" y="4552936"/>
          <a:ext cx="5327650" cy="835025"/>
        </p:xfrm>
        <a:graphic>
          <a:graphicData uri="http://schemas.openxmlformats.org/presentationml/2006/ole">
            <mc:AlternateContent xmlns:mc="http://schemas.openxmlformats.org/markup-compatibility/2006">
              <mc:Choice xmlns:v="urn:schemas-microsoft-com:vml" Requires="v">
                <p:oleObj name="公式" r:id="rId2" imgW="1460160" imgH="228600" progId="Equation.3">
                  <p:embed/>
                </p:oleObj>
              </mc:Choice>
              <mc:Fallback>
                <p:oleObj name="公式" r:id="rId2" imgW="1460160" imgH="228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5025" y="4552936"/>
                        <a:ext cx="5327650"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3" name="Object 5" descr="羊皮纸"/>
          <p:cNvGraphicFramePr>
            <a:graphicFrameLocks noChangeAspect="1"/>
          </p:cNvGraphicFramePr>
          <p:nvPr/>
        </p:nvGraphicFramePr>
        <p:xfrm>
          <a:off x="2133600" y="2188106"/>
          <a:ext cx="3868738" cy="911225"/>
        </p:xfrm>
        <a:graphic>
          <a:graphicData uri="http://schemas.openxmlformats.org/presentationml/2006/ole">
            <mc:AlternateContent xmlns:mc="http://schemas.openxmlformats.org/markup-compatibility/2006">
              <mc:Choice xmlns:v="urn:schemas-microsoft-com:vml" Requires="v">
                <p:oleObj name="公式" r:id="rId4" imgW="863280" imgH="203040" progId="Equation.3">
                  <p:embed/>
                </p:oleObj>
              </mc:Choice>
              <mc:Fallback>
                <p:oleObj name="公式" r:id="rId4" imgW="863280" imgH="2030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2188106"/>
                        <a:ext cx="3868738"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灯片编号占位符 3"/>
          <p:cNvSpPr>
            <a:spLocks noGrp="1"/>
          </p:cNvSpPr>
          <p:nvPr>
            <p:ph type="sldNum" sz="quarter" idx="12"/>
          </p:nvPr>
        </p:nvSpPr>
        <p:spPr>
          <a:noFill/>
        </p:spPr>
        <p:txBody>
          <a:bodyPr/>
          <a:lstStyle/>
          <a:p>
            <a:fld id="{E5899F69-A93A-4CEB-B420-E6954821A1CB}" type="slidenum">
              <a:rPr lang="en-US" altLang="zh-CN" smtClean="0">
                <a:ea typeface="黑体" pitchFamily="49" charset="-122"/>
              </a:rPr>
              <a:pPr/>
              <a:t>44</a:t>
            </a:fld>
            <a:endParaRPr lang="en-US" altLang="zh-CN">
              <a:ea typeface="黑体" pitchFamily="49" charset="-122"/>
            </a:endParaRPr>
          </a:p>
        </p:txBody>
      </p:sp>
      <p:graphicFrame>
        <p:nvGraphicFramePr>
          <p:cNvPr id="36866" name="Object 5" descr="羊皮纸"/>
          <p:cNvGraphicFramePr>
            <a:graphicFrameLocks noChangeAspect="1"/>
          </p:cNvGraphicFramePr>
          <p:nvPr>
            <p:extLst>
              <p:ext uri="{D42A27DB-BD31-4B8C-83A1-F6EECF244321}">
                <p14:modId xmlns:p14="http://schemas.microsoft.com/office/powerpoint/2010/main" val="443611130"/>
              </p:ext>
            </p:extLst>
          </p:nvPr>
        </p:nvGraphicFramePr>
        <p:xfrm>
          <a:off x="514350" y="828675"/>
          <a:ext cx="7192963" cy="5337175"/>
        </p:xfrm>
        <a:graphic>
          <a:graphicData uri="http://schemas.openxmlformats.org/presentationml/2006/ole">
            <mc:AlternateContent xmlns:mc="http://schemas.openxmlformats.org/markup-compatibility/2006">
              <mc:Choice xmlns:v="urn:schemas-microsoft-com:vml" Requires="v">
                <p:oleObj name="公式" r:id="rId3" imgW="2311200" imgH="1714320" progId="Equation.3">
                  <p:embed/>
                </p:oleObj>
              </mc:Choice>
              <mc:Fallback>
                <p:oleObj name="公式" r:id="rId3" imgW="2311200" imgH="171432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828675"/>
                        <a:ext cx="7192963" cy="5337175"/>
                      </a:xfrm>
                      <a:prstGeom prst="rect">
                        <a:avLst/>
                      </a:prstGeom>
                      <a:noFill/>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灯片编号占位符 3"/>
          <p:cNvSpPr>
            <a:spLocks noGrp="1"/>
          </p:cNvSpPr>
          <p:nvPr>
            <p:ph type="sldNum" sz="quarter" idx="12"/>
          </p:nvPr>
        </p:nvSpPr>
        <p:spPr>
          <a:noFill/>
        </p:spPr>
        <p:txBody>
          <a:bodyPr/>
          <a:lstStyle/>
          <a:p>
            <a:fld id="{19AE65D0-95F7-42F2-9E14-F8BD1C6EA711}" type="slidenum">
              <a:rPr lang="en-US" altLang="zh-CN" smtClean="0">
                <a:ea typeface="黑体" pitchFamily="49" charset="-122"/>
              </a:rPr>
              <a:pPr/>
              <a:t>45</a:t>
            </a:fld>
            <a:endParaRPr lang="en-US" altLang="zh-CN">
              <a:ea typeface="黑体" pitchFamily="49" charset="-122"/>
            </a:endParaRPr>
          </a:p>
        </p:txBody>
      </p:sp>
      <p:cxnSp>
        <p:nvCxnSpPr>
          <p:cNvPr id="37893" name="直接连接符 5"/>
          <p:cNvCxnSpPr>
            <a:cxnSpLocks noChangeShapeType="1"/>
          </p:cNvCxnSpPr>
          <p:nvPr/>
        </p:nvCxnSpPr>
        <p:spPr bwMode="auto">
          <a:xfrm>
            <a:off x="2209800" y="1905000"/>
            <a:ext cx="4838700" cy="2971800"/>
          </a:xfrm>
          <a:prstGeom prst="line">
            <a:avLst/>
          </a:prstGeom>
          <a:noFill/>
          <a:ln w="38100" algn="ctr">
            <a:solidFill>
              <a:schemeClr val="tx1"/>
            </a:solidFill>
            <a:round/>
            <a:headEnd/>
            <a:tailEnd/>
          </a:ln>
        </p:spPr>
      </p:cxnSp>
      <p:cxnSp>
        <p:nvCxnSpPr>
          <p:cNvPr id="37894" name="直接连接符 7"/>
          <p:cNvCxnSpPr>
            <a:cxnSpLocks noChangeShapeType="1"/>
          </p:cNvCxnSpPr>
          <p:nvPr/>
        </p:nvCxnSpPr>
        <p:spPr bwMode="auto">
          <a:xfrm>
            <a:off x="1562100" y="2914650"/>
            <a:ext cx="4838700" cy="2971800"/>
          </a:xfrm>
          <a:prstGeom prst="line">
            <a:avLst/>
          </a:prstGeom>
          <a:noFill/>
          <a:ln w="38100" algn="ctr">
            <a:solidFill>
              <a:schemeClr val="tx1"/>
            </a:solidFill>
            <a:prstDash val="dash"/>
            <a:round/>
            <a:headEnd/>
            <a:tailEnd/>
          </a:ln>
        </p:spPr>
      </p:cxnSp>
      <p:cxnSp>
        <p:nvCxnSpPr>
          <p:cNvPr id="37895" name="直接连接符 8"/>
          <p:cNvCxnSpPr>
            <a:cxnSpLocks noChangeShapeType="1"/>
          </p:cNvCxnSpPr>
          <p:nvPr/>
        </p:nvCxnSpPr>
        <p:spPr bwMode="auto">
          <a:xfrm>
            <a:off x="2914650" y="914400"/>
            <a:ext cx="4838700" cy="2971800"/>
          </a:xfrm>
          <a:prstGeom prst="line">
            <a:avLst/>
          </a:prstGeom>
          <a:noFill/>
          <a:ln w="38100" algn="ctr">
            <a:solidFill>
              <a:schemeClr val="tx1"/>
            </a:solidFill>
            <a:prstDash val="dash"/>
            <a:round/>
            <a:headEnd/>
            <a:tailEnd/>
          </a:ln>
        </p:spPr>
      </p:cxnSp>
      <p:grpSp>
        <p:nvGrpSpPr>
          <p:cNvPr id="2" name="组合 15"/>
          <p:cNvGrpSpPr>
            <a:grpSpLocks/>
          </p:cNvGrpSpPr>
          <p:nvPr/>
        </p:nvGrpSpPr>
        <p:grpSpPr bwMode="auto">
          <a:xfrm>
            <a:off x="2247900" y="2476500"/>
            <a:ext cx="209550" cy="247650"/>
            <a:chOff x="685800" y="2114550"/>
            <a:chExt cx="209550" cy="247650"/>
          </a:xfrm>
        </p:grpSpPr>
        <p:cxnSp>
          <p:nvCxnSpPr>
            <p:cNvPr id="37941" name="直接连接符 10"/>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42" name="直接连接符 12"/>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sp>
        <p:nvSpPr>
          <p:cNvPr id="37897" name="椭圆 16"/>
          <p:cNvSpPr>
            <a:spLocks noChangeArrowheads="1"/>
          </p:cNvSpPr>
          <p:nvPr/>
        </p:nvSpPr>
        <p:spPr bwMode="auto">
          <a:xfrm>
            <a:off x="3429000" y="11811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graphicFrame>
        <p:nvGraphicFramePr>
          <p:cNvPr id="37890" name="Object 5" descr="羊皮纸"/>
          <p:cNvGraphicFramePr>
            <a:graphicFrameLocks noChangeAspect="1"/>
          </p:cNvGraphicFramePr>
          <p:nvPr/>
        </p:nvGraphicFramePr>
        <p:xfrm>
          <a:off x="4244917" y="708137"/>
          <a:ext cx="4421187" cy="1123950"/>
        </p:xfrm>
        <a:graphic>
          <a:graphicData uri="http://schemas.openxmlformats.org/presentationml/2006/ole">
            <mc:AlternateContent xmlns:mc="http://schemas.openxmlformats.org/markup-compatibility/2006">
              <mc:Choice xmlns:v="urn:schemas-microsoft-com:vml" Requires="v">
                <p:oleObj name="公式" r:id="rId3" imgW="1600200" imgH="406080" progId="Equation.3">
                  <p:embed/>
                </p:oleObj>
              </mc:Choice>
              <mc:Fallback>
                <p:oleObj name="公式" r:id="rId3" imgW="1600200" imgH="4060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4917" y="708137"/>
                        <a:ext cx="4421187"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7898" name="直接箭头连接符 21"/>
          <p:cNvCxnSpPr>
            <a:cxnSpLocks noChangeShapeType="1"/>
          </p:cNvCxnSpPr>
          <p:nvPr/>
        </p:nvCxnSpPr>
        <p:spPr bwMode="auto">
          <a:xfrm flipV="1">
            <a:off x="1981200" y="2667000"/>
            <a:ext cx="304800" cy="457200"/>
          </a:xfrm>
          <a:prstGeom prst="straightConnector1">
            <a:avLst/>
          </a:prstGeom>
          <a:noFill/>
          <a:ln w="57150" algn="ctr">
            <a:solidFill>
              <a:schemeClr val="tx1"/>
            </a:solidFill>
            <a:round/>
            <a:headEnd/>
            <a:tailEnd type="arrow" w="med" len="med"/>
          </a:ln>
        </p:spPr>
      </p:cxnSp>
      <p:grpSp>
        <p:nvGrpSpPr>
          <p:cNvPr id="3" name="组合 22"/>
          <p:cNvGrpSpPr>
            <a:grpSpLocks/>
          </p:cNvGrpSpPr>
          <p:nvPr/>
        </p:nvGrpSpPr>
        <p:grpSpPr bwMode="auto">
          <a:xfrm>
            <a:off x="3981450" y="2171700"/>
            <a:ext cx="209550" cy="247650"/>
            <a:chOff x="685800" y="2114550"/>
            <a:chExt cx="209550" cy="247650"/>
          </a:xfrm>
        </p:grpSpPr>
        <p:cxnSp>
          <p:nvCxnSpPr>
            <p:cNvPr id="37939" name="直接连接符 23"/>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40" name="直接连接符 24"/>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cxnSp>
        <p:nvCxnSpPr>
          <p:cNvPr id="37900" name="直接箭头连接符 25"/>
          <p:cNvCxnSpPr>
            <a:cxnSpLocks noChangeShapeType="1"/>
          </p:cNvCxnSpPr>
          <p:nvPr/>
        </p:nvCxnSpPr>
        <p:spPr bwMode="auto">
          <a:xfrm flipV="1">
            <a:off x="2933700" y="2362200"/>
            <a:ext cx="1066800" cy="1390650"/>
          </a:xfrm>
          <a:prstGeom prst="straightConnector1">
            <a:avLst/>
          </a:prstGeom>
          <a:noFill/>
          <a:ln w="57150" algn="ctr">
            <a:solidFill>
              <a:schemeClr val="tx1"/>
            </a:solidFill>
            <a:round/>
            <a:headEnd/>
            <a:tailEnd type="arrow" w="med" len="med"/>
          </a:ln>
        </p:spPr>
      </p:cxnSp>
      <p:sp>
        <p:nvSpPr>
          <p:cNvPr id="37901" name="椭圆 27"/>
          <p:cNvSpPr>
            <a:spLocks noChangeArrowheads="1"/>
          </p:cNvSpPr>
          <p:nvPr/>
        </p:nvSpPr>
        <p:spPr bwMode="auto">
          <a:xfrm>
            <a:off x="4419600" y="39052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37902" name="直接箭头连接符 28"/>
          <p:cNvCxnSpPr>
            <a:cxnSpLocks noChangeShapeType="1"/>
          </p:cNvCxnSpPr>
          <p:nvPr/>
        </p:nvCxnSpPr>
        <p:spPr bwMode="auto">
          <a:xfrm flipH="1">
            <a:off x="4572000" y="2533650"/>
            <a:ext cx="876300" cy="1390650"/>
          </a:xfrm>
          <a:prstGeom prst="straightConnector1">
            <a:avLst/>
          </a:prstGeom>
          <a:noFill/>
          <a:ln w="57150" algn="ctr">
            <a:solidFill>
              <a:schemeClr val="tx1"/>
            </a:solidFill>
            <a:round/>
            <a:headEnd/>
            <a:tailEnd type="arrow" w="med" len="med"/>
          </a:ln>
        </p:spPr>
      </p:cxnSp>
      <p:sp>
        <p:nvSpPr>
          <p:cNvPr id="37903" name="椭圆 33"/>
          <p:cNvSpPr>
            <a:spLocks noChangeArrowheads="1"/>
          </p:cNvSpPr>
          <p:nvPr/>
        </p:nvSpPr>
        <p:spPr bwMode="auto">
          <a:xfrm>
            <a:off x="5791200" y="34671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37904" name="椭圆 34"/>
          <p:cNvSpPr>
            <a:spLocks noChangeArrowheads="1"/>
          </p:cNvSpPr>
          <p:nvPr/>
        </p:nvSpPr>
        <p:spPr bwMode="auto">
          <a:xfrm>
            <a:off x="5524500" y="60198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37905" name="直接箭头连接符 35"/>
          <p:cNvCxnSpPr>
            <a:cxnSpLocks noChangeShapeType="1"/>
            <a:endCxn id="37904" idx="7"/>
          </p:cNvCxnSpPr>
          <p:nvPr/>
        </p:nvCxnSpPr>
        <p:spPr bwMode="auto">
          <a:xfrm flipH="1">
            <a:off x="5703888" y="3638550"/>
            <a:ext cx="1535112" cy="2409825"/>
          </a:xfrm>
          <a:prstGeom prst="straightConnector1">
            <a:avLst/>
          </a:prstGeom>
          <a:noFill/>
          <a:ln w="57150" algn="ctr">
            <a:solidFill>
              <a:schemeClr val="tx1"/>
            </a:solidFill>
            <a:round/>
            <a:headEnd/>
            <a:tailEnd type="arrow" w="med" len="med"/>
          </a:ln>
        </p:spPr>
      </p:cxnSp>
      <p:cxnSp>
        <p:nvCxnSpPr>
          <p:cNvPr id="37906" name="直接箭头连接符 37"/>
          <p:cNvCxnSpPr>
            <a:cxnSpLocks noChangeShapeType="1"/>
            <a:endCxn id="37903" idx="7"/>
          </p:cNvCxnSpPr>
          <p:nvPr/>
        </p:nvCxnSpPr>
        <p:spPr bwMode="auto">
          <a:xfrm flipH="1">
            <a:off x="5970588" y="2990850"/>
            <a:ext cx="296862" cy="504825"/>
          </a:xfrm>
          <a:prstGeom prst="straightConnector1">
            <a:avLst/>
          </a:prstGeom>
          <a:noFill/>
          <a:ln w="57150" algn="ctr">
            <a:solidFill>
              <a:schemeClr val="tx1"/>
            </a:solidFill>
            <a:round/>
            <a:headEnd/>
            <a:tailEnd type="arrow" w="med" len="med"/>
          </a:ln>
        </p:spPr>
      </p:cxnSp>
      <p:grpSp>
        <p:nvGrpSpPr>
          <p:cNvPr id="4" name="组合 41"/>
          <p:cNvGrpSpPr>
            <a:grpSpLocks/>
          </p:cNvGrpSpPr>
          <p:nvPr/>
        </p:nvGrpSpPr>
        <p:grpSpPr bwMode="auto">
          <a:xfrm>
            <a:off x="1733550" y="4286250"/>
            <a:ext cx="209550" cy="247650"/>
            <a:chOff x="685800" y="2114550"/>
            <a:chExt cx="209550" cy="247650"/>
          </a:xfrm>
        </p:grpSpPr>
        <p:cxnSp>
          <p:nvCxnSpPr>
            <p:cNvPr id="37937" name="直接连接符 42"/>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38" name="直接连接符 43"/>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5" name="组合 44"/>
          <p:cNvGrpSpPr>
            <a:grpSpLocks/>
          </p:cNvGrpSpPr>
          <p:nvPr/>
        </p:nvGrpSpPr>
        <p:grpSpPr bwMode="auto">
          <a:xfrm>
            <a:off x="3429000" y="5353050"/>
            <a:ext cx="209550" cy="247650"/>
            <a:chOff x="685800" y="2114550"/>
            <a:chExt cx="209550" cy="247650"/>
          </a:xfrm>
        </p:grpSpPr>
        <p:cxnSp>
          <p:nvCxnSpPr>
            <p:cNvPr id="37935" name="直接连接符 45"/>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36" name="直接连接符 46"/>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6" name="组合 47"/>
          <p:cNvGrpSpPr>
            <a:grpSpLocks/>
          </p:cNvGrpSpPr>
          <p:nvPr/>
        </p:nvGrpSpPr>
        <p:grpSpPr bwMode="auto">
          <a:xfrm>
            <a:off x="2781300" y="4343400"/>
            <a:ext cx="209550" cy="247650"/>
            <a:chOff x="685800" y="2114550"/>
            <a:chExt cx="209550" cy="247650"/>
          </a:xfrm>
        </p:grpSpPr>
        <p:cxnSp>
          <p:nvCxnSpPr>
            <p:cNvPr id="37933" name="直接连接符 48"/>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34" name="直接连接符 49"/>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7" name="组合 50"/>
          <p:cNvGrpSpPr>
            <a:grpSpLocks/>
          </p:cNvGrpSpPr>
          <p:nvPr/>
        </p:nvGrpSpPr>
        <p:grpSpPr bwMode="auto">
          <a:xfrm>
            <a:off x="2571750" y="5848350"/>
            <a:ext cx="209550" cy="247650"/>
            <a:chOff x="685800" y="2114550"/>
            <a:chExt cx="209550" cy="247650"/>
          </a:xfrm>
        </p:grpSpPr>
        <p:cxnSp>
          <p:nvCxnSpPr>
            <p:cNvPr id="37931" name="直接连接符 51"/>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32" name="直接连接符 52"/>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8" name="组合 53"/>
          <p:cNvGrpSpPr>
            <a:grpSpLocks/>
          </p:cNvGrpSpPr>
          <p:nvPr/>
        </p:nvGrpSpPr>
        <p:grpSpPr bwMode="auto">
          <a:xfrm>
            <a:off x="2286000" y="4972050"/>
            <a:ext cx="209550" cy="247650"/>
            <a:chOff x="685800" y="2114550"/>
            <a:chExt cx="209550" cy="247650"/>
          </a:xfrm>
        </p:grpSpPr>
        <p:cxnSp>
          <p:nvCxnSpPr>
            <p:cNvPr id="37929" name="直接连接符 54"/>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30" name="直接连接符 55"/>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sp>
        <p:nvSpPr>
          <p:cNvPr id="37912" name="椭圆 56"/>
          <p:cNvSpPr>
            <a:spLocks noChangeArrowheads="1"/>
          </p:cNvSpPr>
          <p:nvPr/>
        </p:nvSpPr>
        <p:spPr bwMode="auto">
          <a:xfrm>
            <a:off x="6019800" y="24384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37913" name="椭圆 57"/>
          <p:cNvSpPr>
            <a:spLocks noChangeArrowheads="1"/>
          </p:cNvSpPr>
          <p:nvPr/>
        </p:nvSpPr>
        <p:spPr bwMode="auto">
          <a:xfrm>
            <a:off x="6686550" y="26479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37914" name="椭圆 58"/>
          <p:cNvSpPr>
            <a:spLocks noChangeArrowheads="1"/>
          </p:cNvSpPr>
          <p:nvPr/>
        </p:nvSpPr>
        <p:spPr bwMode="auto">
          <a:xfrm>
            <a:off x="5334000" y="19812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37915" name="椭圆 59"/>
          <p:cNvSpPr>
            <a:spLocks noChangeArrowheads="1"/>
          </p:cNvSpPr>
          <p:nvPr/>
        </p:nvSpPr>
        <p:spPr bwMode="auto">
          <a:xfrm>
            <a:off x="5257800" y="158115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37916" name="椭圆 60"/>
          <p:cNvSpPr>
            <a:spLocks noChangeArrowheads="1"/>
          </p:cNvSpPr>
          <p:nvPr/>
        </p:nvSpPr>
        <p:spPr bwMode="auto">
          <a:xfrm>
            <a:off x="6324600" y="18669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graphicFrame>
        <p:nvGraphicFramePr>
          <p:cNvPr id="37891" name="Object 5" descr="羊皮纸"/>
          <p:cNvGraphicFramePr>
            <a:graphicFrameLocks noChangeAspect="1"/>
          </p:cNvGraphicFramePr>
          <p:nvPr/>
        </p:nvGraphicFramePr>
        <p:xfrm>
          <a:off x="7591425" y="4595813"/>
          <a:ext cx="701675" cy="1230312"/>
        </p:xfrm>
        <a:graphic>
          <a:graphicData uri="http://schemas.openxmlformats.org/presentationml/2006/ole">
            <mc:AlternateContent xmlns:mc="http://schemas.openxmlformats.org/markup-compatibility/2006">
              <mc:Choice xmlns:v="urn:schemas-microsoft-com:vml" Requires="v">
                <p:oleObj name="公式" r:id="rId5" imgW="253800" imgH="444240" progId="Equation.3">
                  <p:embed/>
                </p:oleObj>
              </mc:Choice>
              <mc:Fallback>
                <p:oleObj name="公式" r:id="rId5" imgW="253800" imgH="44424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91425" y="4595813"/>
                        <a:ext cx="701675" cy="1230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7917" name="直接箭头连接符 62"/>
          <p:cNvCxnSpPr>
            <a:cxnSpLocks noChangeShapeType="1"/>
          </p:cNvCxnSpPr>
          <p:nvPr/>
        </p:nvCxnSpPr>
        <p:spPr bwMode="auto">
          <a:xfrm flipH="1">
            <a:off x="6496050" y="3886200"/>
            <a:ext cx="1200150" cy="1981200"/>
          </a:xfrm>
          <a:prstGeom prst="straightConnector1">
            <a:avLst/>
          </a:prstGeom>
          <a:noFill/>
          <a:ln w="57150" algn="ctr">
            <a:solidFill>
              <a:srgbClr val="C00000"/>
            </a:solidFill>
            <a:round/>
            <a:headEnd type="triangle" w="med" len="med"/>
            <a:tailEnd type="triangle" w="med" len="med"/>
          </a:ln>
        </p:spPr>
      </p:cxnSp>
      <p:grpSp>
        <p:nvGrpSpPr>
          <p:cNvPr id="9" name="组合 44"/>
          <p:cNvGrpSpPr>
            <a:grpSpLocks/>
          </p:cNvGrpSpPr>
          <p:nvPr/>
        </p:nvGrpSpPr>
        <p:grpSpPr bwMode="auto">
          <a:xfrm>
            <a:off x="4924425" y="4960938"/>
            <a:ext cx="209550" cy="247650"/>
            <a:chOff x="685800" y="2114550"/>
            <a:chExt cx="209550" cy="247650"/>
          </a:xfrm>
        </p:grpSpPr>
        <p:cxnSp>
          <p:nvCxnSpPr>
            <p:cNvPr id="37927" name="直接连接符 45"/>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28" name="直接连接符 46"/>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grpSp>
        <p:nvGrpSpPr>
          <p:cNvPr id="10" name="组合 47"/>
          <p:cNvGrpSpPr>
            <a:grpSpLocks/>
          </p:cNvGrpSpPr>
          <p:nvPr/>
        </p:nvGrpSpPr>
        <p:grpSpPr bwMode="auto">
          <a:xfrm>
            <a:off x="3086100" y="3821113"/>
            <a:ext cx="209550" cy="247650"/>
            <a:chOff x="685800" y="2114550"/>
            <a:chExt cx="209550" cy="247650"/>
          </a:xfrm>
        </p:grpSpPr>
        <p:cxnSp>
          <p:nvCxnSpPr>
            <p:cNvPr id="37925" name="直接连接符 48"/>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26" name="直接连接符 49"/>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sp>
        <p:nvSpPr>
          <p:cNvPr id="37920" name="椭圆 58"/>
          <p:cNvSpPr>
            <a:spLocks noChangeArrowheads="1"/>
          </p:cNvSpPr>
          <p:nvPr/>
        </p:nvSpPr>
        <p:spPr bwMode="auto">
          <a:xfrm>
            <a:off x="4970463" y="2155825"/>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grpSp>
        <p:nvGrpSpPr>
          <p:cNvPr id="11" name="组合 47"/>
          <p:cNvGrpSpPr>
            <a:grpSpLocks/>
          </p:cNvGrpSpPr>
          <p:nvPr/>
        </p:nvGrpSpPr>
        <p:grpSpPr bwMode="auto">
          <a:xfrm>
            <a:off x="2868613" y="2268538"/>
            <a:ext cx="209550" cy="247650"/>
            <a:chOff x="685800" y="2114550"/>
            <a:chExt cx="209550" cy="247650"/>
          </a:xfrm>
        </p:grpSpPr>
        <p:cxnSp>
          <p:nvCxnSpPr>
            <p:cNvPr id="37923" name="直接连接符 48"/>
            <p:cNvCxnSpPr>
              <a:cxnSpLocks noChangeShapeType="1"/>
            </p:cNvCxnSpPr>
            <p:nvPr/>
          </p:nvCxnSpPr>
          <p:spPr bwMode="auto">
            <a:xfrm>
              <a:off x="685800" y="2133600"/>
              <a:ext cx="209550" cy="190500"/>
            </a:xfrm>
            <a:prstGeom prst="line">
              <a:avLst/>
            </a:prstGeom>
            <a:noFill/>
            <a:ln w="57150" algn="ctr">
              <a:solidFill>
                <a:srgbClr val="C00000"/>
              </a:solidFill>
              <a:round/>
              <a:headEnd/>
              <a:tailEnd/>
            </a:ln>
          </p:spPr>
        </p:cxnSp>
        <p:cxnSp>
          <p:nvCxnSpPr>
            <p:cNvPr id="37924" name="直接连接符 49"/>
            <p:cNvCxnSpPr>
              <a:cxnSpLocks noChangeShapeType="1"/>
            </p:cNvCxnSpPr>
            <p:nvPr/>
          </p:nvCxnSpPr>
          <p:spPr bwMode="auto">
            <a:xfrm flipH="1">
              <a:off x="685800" y="2114550"/>
              <a:ext cx="171450" cy="247650"/>
            </a:xfrm>
            <a:prstGeom prst="line">
              <a:avLst/>
            </a:prstGeom>
            <a:noFill/>
            <a:ln w="57150" algn="ctr">
              <a:solidFill>
                <a:srgbClr val="C00000"/>
              </a:solidFill>
              <a:round/>
              <a:headEnd/>
              <a:tailEnd/>
            </a:ln>
          </p:spPr>
        </p:cxnSp>
      </p:grpSp>
      <p:sp>
        <p:nvSpPr>
          <p:cNvPr id="37922" name="椭圆 60"/>
          <p:cNvSpPr>
            <a:spLocks noChangeArrowheads="1"/>
          </p:cNvSpPr>
          <p:nvPr/>
        </p:nvSpPr>
        <p:spPr bwMode="auto">
          <a:xfrm>
            <a:off x="5351463" y="3797300"/>
            <a:ext cx="209550" cy="190500"/>
          </a:xfrm>
          <a:prstGeom prst="ellipse">
            <a:avLst/>
          </a:prstGeom>
          <a:solidFill>
            <a:srgbClr val="FF0000"/>
          </a:solidFill>
          <a:ln w="9525" algn="ctr">
            <a:solidFill>
              <a:schemeClr val="tx1"/>
            </a:solidFill>
            <a:round/>
            <a:headEnd/>
            <a:tailEnd type="triangle" w="med" len="med"/>
          </a:ln>
        </p:spPr>
        <p:txBody>
          <a:bodyPr wrap="none"/>
          <a:lstStyle/>
          <a:p>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Arrow Connector 12"/>
          <p:cNvCxnSpPr/>
          <p:nvPr/>
        </p:nvCxnSpPr>
        <p:spPr>
          <a:xfrm flipV="1">
            <a:off x="1136210" y="4390223"/>
            <a:ext cx="275068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err="1"/>
              <a:t>线性不可分问题</a:t>
            </a:r>
            <a:endParaRPr lang="en-US" dirty="0"/>
          </a:p>
        </p:txBody>
      </p:sp>
      <p:sp>
        <p:nvSpPr>
          <p:cNvPr id="3" name="Content Placeholder 2"/>
          <p:cNvSpPr>
            <a:spLocks noGrp="1"/>
          </p:cNvSpPr>
          <p:nvPr>
            <p:ph idx="1"/>
          </p:nvPr>
        </p:nvSpPr>
        <p:spPr/>
        <p:txBody>
          <a:bodyPr/>
          <a:lstStyle/>
          <a:p>
            <a:r>
              <a:rPr lang="en-US" dirty="0" err="1"/>
              <a:t>使用非线性映射</a:t>
            </a:r>
            <a:r>
              <a:rPr lang="zh-CN" altLang="en-US" dirty="0"/>
              <a:t>，在高维空间构造线性分类面</a:t>
            </a:r>
            <a:endParaRPr lang="en-US" dirty="0"/>
          </a:p>
        </p:txBody>
      </p:sp>
      <p:sp>
        <p:nvSpPr>
          <p:cNvPr id="7" name="Oval 6"/>
          <p:cNvSpPr/>
          <p:nvPr/>
        </p:nvSpPr>
        <p:spPr>
          <a:xfrm>
            <a:off x="1441761" y="4313405"/>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927792" y="4313405"/>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Rectangle 8"/>
          <p:cNvSpPr/>
          <p:nvPr/>
        </p:nvSpPr>
        <p:spPr>
          <a:xfrm>
            <a:off x="2780270" y="4313405"/>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Oval 9"/>
          <p:cNvSpPr/>
          <p:nvPr/>
        </p:nvSpPr>
        <p:spPr>
          <a:xfrm>
            <a:off x="3263418" y="4313405"/>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p:cNvSpPr txBox="1"/>
              <p:nvPr/>
            </p:nvSpPr>
            <p:spPr>
              <a:xfrm>
                <a:off x="3576569" y="4445210"/>
                <a:ext cx="2761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3576569" y="4445210"/>
                <a:ext cx="276101" cy="276999"/>
              </a:xfrm>
              <a:prstGeom prst="rect">
                <a:avLst/>
              </a:prstGeom>
              <a:blipFill rotWithShape="0">
                <a:blip r:embed="rId2"/>
                <a:stretch>
                  <a:fillRect l="-13333" r="-6667" b="-15217"/>
                </a:stretch>
              </a:blipFill>
            </p:spPr>
            <p:txBody>
              <a:bodyPr/>
              <a:lstStyle/>
              <a:p>
                <a:r>
                  <a:rPr lang="en-US">
                    <a:noFill/>
                  </a:rPr>
                  <a:t> </a:t>
                </a:r>
              </a:p>
            </p:txBody>
          </p:sp>
        </mc:Fallback>
      </mc:AlternateContent>
      <p:sp>
        <p:nvSpPr>
          <p:cNvPr id="23" name="Rectangle 22"/>
          <p:cNvSpPr/>
          <p:nvPr/>
        </p:nvSpPr>
        <p:spPr>
          <a:xfrm>
            <a:off x="2352376" y="4313405"/>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pSp>
        <p:nvGrpSpPr>
          <p:cNvPr id="12" name="Group 11"/>
          <p:cNvGrpSpPr/>
          <p:nvPr/>
        </p:nvGrpSpPr>
        <p:grpSpPr>
          <a:xfrm>
            <a:off x="3954643" y="3499354"/>
            <a:ext cx="826188" cy="814051"/>
            <a:chOff x="3954643" y="3499354"/>
            <a:chExt cx="826188" cy="814051"/>
          </a:xfrm>
        </p:grpSpPr>
        <p:sp>
          <p:nvSpPr>
            <p:cNvPr id="32" name="Right Arrow 31"/>
            <p:cNvSpPr/>
            <p:nvPr/>
          </p:nvSpPr>
          <p:spPr>
            <a:xfrm>
              <a:off x="4181594" y="3822021"/>
              <a:ext cx="510746" cy="4913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TextBox 32"/>
                <p:cNvSpPr txBox="1"/>
                <p:nvPr/>
              </p:nvSpPr>
              <p:spPr>
                <a:xfrm>
                  <a:off x="3954643" y="3499354"/>
                  <a:ext cx="826188" cy="2802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oMath>
                    </m:oMathPara>
                  </a14:m>
                  <a:endParaRPr lang="en-US" dirty="0"/>
                </a:p>
              </p:txBody>
            </p:sp>
          </mc:Choice>
          <mc:Fallback xmlns="">
            <p:sp>
              <p:nvSpPr>
                <p:cNvPr id="33" name="TextBox 32"/>
                <p:cNvSpPr txBox="1">
                  <a:spLocks noRot="1" noChangeAspect="1" noMove="1" noResize="1" noEditPoints="1" noAdjustHandles="1" noChangeArrowheads="1" noChangeShapeType="1" noTextEdit="1"/>
                </p:cNvSpPr>
                <p:nvPr/>
              </p:nvSpPr>
              <p:spPr>
                <a:xfrm>
                  <a:off x="3954643" y="3499354"/>
                  <a:ext cx="826188" cy="280205"/>
                </a:xfrm>
                <a:prstGeom prst="rect">
                  <a:avLst/>
                </a:prstGeom>
                <a:blipFill rotWithShape="0">
                  <a:blip r:embed="rId4"/>
                  <a:stretch>
                    <a:fillRect l="-3704" t="-2174" r="-2222" b="-19565"/>
                  </a:stretch>
                </a:blipFill>
              </p:spPr>
              <p:txBody>
                <a:bodyPr/>
                <a:lstStyle/>
                <a:p>
                  <a:r>
                    <a:rPr lang="en-US">
                      <a:noFill/>
                    </a:rPr>
                    <a:t> </a:t>
                  </a:r>
                </a:p>
              </p:txBody>
            </p:sp>
          </mc:Fallback>
        </mc:AlternateContent>
      </p:grpSp>
      <p:sp>
        <p:nvSpPr>
          <p:cNvPr id="34" name="TextBox 33"/>
          <p:cNvSpPr txBox="1"/>
          <p:nvPr/>
        </p:nvSpPr>
        <p:spPr>
          <a:xfrm>
            <a:off x="3597872" y="5093120"/>
            <a:ext cx="2188936" cy="370703"/>
          </a:xfrm>
          <a:prstGeom prst="rect">
            <a:avLst/>
          </a:prstGeom>
          <a:noFill/>
        </p:spPr>
        <p:txBody>
          <a:bodyPr wrap="square" rtlCol="0">
            <a:spAutoFit/>
          </a:bodyPr>
          <a:lstStyle/>
          <a:p>
            <a:r>
              <a:rPr lang="en-US" dirty="0"/>
              <a:t>Polynomial mapping</a:t>
            </a:r>
          </a:p>
        </p:txBody>
      </p:sp>
      <p:grpSp>
        <p:nvGrpSpPr>
          <p:cNvPr id="14" name="Group 13"/>
          <p:cNvGrpSpPr/>
          <p:nvPr/>
        </p:nvGrpSpPr>
        <p:grpSpPr>
          <a:xfrm>
            <a:off x="4973923" y="2856713"/>
            <a:ext cx="2750680" cy="1865496"/>
            <a:chOff x="4973923" y="2856713"/>
            <a:chExt cx="2750680" cy="1865496"/>
          </a:xfrm>
        </p:grpSpPr>
        <p:cxnSp>
          <p:nvCxnSpPr>
            <p:cNvPr id="30" name="Straight Arrow Connector 29"/>
            <p:cNvCxnSpPr/>
            <p:nvPr/>
          </p:nvCxnSpPr>
          <p:spPr>
            <a:xfrm flipV="1">
              <a:off x="4973923" y="4390223"/>
              <a:ext cx="275068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6271945" y="2982097"/>
              <a:ext cx="3228" cy="141904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5279474" y="3547284"/>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765505" y="4041551"/>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Rectangle 26"/>
            <p:cNvSpPr/>
            <p:nvPr/>
          </p:nvSpPr>
          <p:spPr>
            <a:xfrm>
              <a:off x="6617983" y="4041551"/>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8" name="Oval 27"/>
            <p:cNvSpPr/>
            <p:nvPr/>
          </p:nvSpPr>
          <p:spPr>
            <a:xfrm>
              <a:off x="7101131" y="3547284"/>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7414282" y="4445210"/>
                  <a:ext cx="2761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7414282" y="4445210"/>
                  <a:ext cx="276101" cy="276999"/>
                </a:xfrm>
                <a:prstGeom prst="rect">
                  <a:avLst/>
                </a:prstGeom>
                <a:blipFill rotWithShape="0">
                  <a:blip r:embed="rId3"/>
                  <a:stretch>
                    <a:fillRect l="-13043" r="-6522" b="-15217"/>
                  </a:stretch>
                </a:blipFill>
              </p:spPr>
              <p:txBody>
                <a:bodyPr/>
                <a:lstStyle/>
                <a:p>
                  <a:r>
                    <a:rPr lang="en-US">
                      <a:noFill/>
                    </a:rPr>
                    <a:t> </a:t>
                  </a:r>
                </a:p>
              </p:txBody>
            </p:sp>
          </mc:Fallback>
        </mc:AlternateContent>
        <p:sp>
          <p:nvSpPr>
            <p:cNvPr id="31" name="Rectangle 30"/>
            <p:cNvSpPr/>
            <p:nvPr/>
          </p:nvSpPr>
          <p:spPr>
            <a:xfrm>
              <a:off x="6190089" y="4313405"/>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Box 34"/>
                <p:cNvSpPr txBox="1"/>
                <p:nvPr/>
              </p:nvSpPr>
              <p:spPr>
                <a:xfrm>
                  <a:off x="5887060" y="2856713"/>
                  <a:ext cx="2814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p:txBody>
            </p:sp>
          </mc:Choice>
          <mc:Fallback xmlns="">
            <p:sp>
              <p:nvSpPr>
                <p:cNvPr id="35" name="TextBox 34"/>
                <p:cNvSpPr txBox="1">
                  <a:spLocks noRot="1" noChangeAspect="1" noMove="1" noResize="1" noEditPoints="1" noAdjustHandles="1" noChangeArrowheads="1" noChangeShapeType="1" noTextEdit="1"/>
                </p:cNvSpPr>
                <p:nvPr/>
              </p:nvSpPr>
              <p:spPr>
                <a:xfrm>
                  <a:off x="5887060" y="2856713"/>
                  <a:ext cx="281424" cy="276999"/>
                </a:xfrm>
                <a:prstGeom prst="rect">
                  <a:avLst/>
                </a:prstGeom>
                <a:blipFill rotWithShape="0">
                  <a:blip r:embed="rId5"/>
                  <a:stretch>
                    <a:fillRect l="-13043" r="-6522" b="-15556"/>
                  </a:stretch>
                </a:blipFill>
              </p:spPr>
              <p:txBody>
                <a:bodyPr/>
                <a:lstStyle/>
                <a:p>
                  <a:r>
                    <a:rPr lang="en-US">
                      <a:noFill/>
                    </a:rPr>
                    <a:t> </a:t>
                  </a:r>
                </a:p>
              </p:txBody>
            </p:sp>
          </mc:Fallback>
        </mc:AlternateContent>
      </p:grpSp>
      <p:cxnSp>
        <p:nvCxnSpPr>
          <p:cNvPr id="16" name="Straight Connector 15"/>
          <p:cNvCxnSpPr/>
          <p:nvPr/>
        </p:nvCxnSpPr>
        <p:spPr>
          <a:xfrm flipH="1">
            <a:off x="5029201" y="3881438"/>
            <a:ext cx="2476500" cy="14288"/>
          </a:xfrm>
          <a:prstGeom prst="line">
            <a:avLst/>
          </a:prstGeom>
          <a:ln w="28575">
            <a:solidFill>
              <a:srgbClr val="00B05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03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arn(inVertical)">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Straight Arrow Connector 29"/>
          <p:cNvCxnSpPr/>
          <p:nvPr/>
        </p:nvCxnSpPr>
        <p:spPr>
          <a:xfrm flipV="1">
            <a:off x="1077426" y="4190615"/>
            <a:ext cx="275068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err="1"/>
              <a:t>线性不可分问题</a:t>
            </a:r>
            <a:endParaRPr lang="en-US" dirty="0"/>
          </a:p>
        </p:txBody>
      </p:sp>
      <p:sp>
        <p:nvSpPr>
          <p:cNvPr id="3" name="Content Placeholder 2"/>
          <p:cNvSpPr>
            <a:spLocks noGrp="1"/>
          </p:cNvSpPr>
          <p:nvPr>
            <p:ph idx="1"/>
          </p:nvPr>
        </p:nvSpPr>
        <p:spPr/>
        <p:txBody>
          <a:bodyPr/>
          <a:lstStyle/>
          <a:p>
            <a:r>
              <a:rPr lang="en-US" dirty="0" err="1"/>
              <a:t>使用非线性映射</a:t>
            </a:r>
            <a:r>
              <a:rPr lang="zh-CN" altLang="en-US" dirty="0"/>
              <a:t>，在高维空间构造线性分类面</a:t>
            </a:r>
            <a:endParaRPr lang="en-US" dirty="0"/>
          </a:p>
        </p:txBody>
      </p:sp>
      <p:cxnSp>
        <p:nvCxnSpPr>
          <p:cNvPr id="20" name="Straight Arrow Connector 19"/>
          <p:cNvCxnSpPr/>
          <p:nvPr/>
        </p:nvCxnSpPr>
        <p:spPr>
          <a:xfrm flipV="1">
            <a:off x="2368789" y="2782489"/>
            <a:ext cx="0" cy="26256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1376630" y="4121257"/>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1955921" y="4121257"/>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Rectangle 26"/>
          <p:cNvSpPr/>
          <p:nvPr/>
        </p:nvSpPr>
        <p:spPr>
          <a:xfrm>
            <a:off x="2672851" y="4121257"/>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8" name="Oval 27"/>
          <p:cNvSpPr/>
          <p:nvPr/>
        </p:nvSpPr>
        <p:spPr>
          <a:xfrm>
            <a:off x="3179015" y="4121257"/>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3517785" y="4245602"/>
                <a:ext cx="2761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3517785" y="4245602"/>
                <a:ext cx="276101" cy="276999"/>
              </a:xfrm>
              <a:prstGeom prst="rect">
                <a:avLst/>
              </a:prstGeom>
              <a:blipFill rotWithShape="0">
                <a:blip r:embed="rId2"/>
                <a:stretch>
                  <a:fillRect l="-13333" r="-8889" b="-15217"/>
                </a:stretch>
              </a:blipFill>
            </p:spPr>
            <p:txBody>
              <a:bodyPr/>
              <a:lstStyle/>
              <a:p>
                <a:r>
                  <a:rPr lang="en-US">
                    <a:noFill/>
                  </a:rPr>
                  <a:t> </a:t>
                </a:r>
              </a:p>
            </p:txBody>
          </p:sp>
        </mc:Fallback>
      </mc:AlternateContent>
      <p:sp>
        <p:nvSpPr>
          <p:cNvPr id="31" name="Rectangle 30"/>
          <p:cNvSpPr/>
          <p:nvPr/>
        </p:nvSpPr>
        <p:spPr>
          <a:xfrm>
            <a:off x="2304700" y="3806919"/>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Box 34"/>
              <p:cNvSpPr txBox="1"/>
              <p:nvPr/>
            </p:nvSpPr>
            <p:spPr>
              <a:xfrm>
                <a:off x="1990563" y="2657105"/>
                <a:ext cx="2814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p:txBody>
          </p:sp>
        </mc:Choice>
        <mc:Fallback xmlns="">
          <p:sp>
            <p:nvSpPr>
              <p:cNvPr id="35" name="TextBox 34"/>
              <p:cNvSpPr txBox="1">
                <a:spLocks noRot="1" noChangeAspect="1" noMove="1" noResize="1" noEditPoints="1" noAdjustHandles="1" noChangeArrowheads="1" noChangeShapeType="1" noTextEdit="1"/>
              </p:cNvSpPr>
              <p:nvPr/>
            </p:nvSpPr>
            <p:spPr>
              <a:xfrm>
                <a:off x="1990563" y="2657105"/>
                <a:ext cx="281424" cy="276999"/>
              </a:xfrm>
              <a:prstGeom prst="rect">
                <a:avLst/>
              </a:prstGeom>
              <a:blipFill rotWithShape="0">
                <a:blip r:embed="rId3"/>
                <a:stretch>
                  <a:fillRect l="-13043" r="-6522" b="-15556"/>
                </a:stretch>
              </a:blipFill>
            </p:spPr>
            <p:txBody>
              <a:bodyPr/>
              <a:lstStyle/>
              <a:p>
                <a:r>
                  <a:rPr lang="en-US">
                    <a:noFill/>
                  </a:rPr>
                  <a:t> </a:t>
                </a:r>
              </a:p>
            </p:txBody>
          </p:sp>
        </mc:Fallback>
      </mc:AlternateContent>
      <p:sp>
        <p:nvSpPr>
          <p:cNvPr id="36" name="Rectangle 35"/>
          <p:cNvSpPr/>
          <p:nvPr/>
        </p:nvSpPr>
        <p:spPr>
          <a:xfrm>
            <a:off x="2295422" y="4454021"/>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7" name="Oval 36"/>
          <p:cNvSpPr/>
          <p:nvPr/>
        </p:nvSpPr>
        <p:spPr>
          <a:xfrm>
            <a:off x="2282275" y="5060547"/>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2306329" y="3197510"/>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1757199" y="3559036"/>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2895254" y="3566667"/>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1755619" y="4644987"/>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2893674" y="4652618"/>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p:nvGrpSpPr>
        <p:grpSpPr>
          <a:xfrm>
            <a:off x="3539202" y="2813765"/>
            <a:ext cx="4610348" cy="2575504"/>
            <a:chOff x="3539202" y="2813765"/>
            <a:chExt cx="4610348" cy="2575504"/>
          </a:xfrm>
        </p:grpSpPr>
        <p:sp>
          <p:nvSpPr>
            <p:cNvPr id="32" name="Right Arrow 31"/>
            <p:cNvSpPr/>
            <p:nvPr/>
          </p:nvSpPr>
          <p:spPr>
            <a:xfrm>
              <a:off x="4132167" y="3698453"/>
              <a:ext cx="510746" cy="4913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539202" y="3287061"/>
              <a:ext cx="1826077" cy="369332"/>
            </a:xfrm>
            <a:prstGeom prst="rect">
              <a:avLst/>
            </a:prstGeom>
          </p:spPr>
          <p:txBody>
            <a:bodyPr wrap="none">
              <a:spAutoFit/>
            </a:bodyPr>
            <a:lstStyle/>
            <a:p>
              <a:r>
                <a:rPr lang="en-US" dirty="0"/>
                <a:t>polar coordinates</a:t>
              </a:r>
            </a:p>
          </p:txBody>
        </p:sp>
        <p:cxnSp>
          <p:nvCxnSpPr>
            <p:cNvPr id="43" name="Straight Arrow Connector 42"/>
            <p:cNvCxnSpPr/>
            <p:nvPr/>
          </p:nvCxnSpPr>
          <p:spPr>
            <a:xfrm flipV="1">
              <a:off x="5398870" y="5057283"/>
              <a:ext cx="275068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flipV="1">
              <a:off x="5553411" y="2957477"/>
              <a:ext cx="9897" cy="22678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a:off x="7839229" y="5112270"/>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n-US" dirty="0"/>
                </a:p>
              </p:txBody>
            </p:sp>
          </mc:Choice>
          <mc:Fallback xmlns="">
            <p:sp>
              <p:nvSpPr>
                <p:cNvPr id="49" name="TextBox 48"/>
                <p:cNvSpPr txBox="1">
                  <a:spLocks noRot="1" noChangeAspect="1" noMove="1" noResize="1" noEditPoints="1" noAdjustHandles="1" noChangeArrowheads="1" noChangeShapeType="1" noTextEdit="1"/>
                </p:cNvSpPr>
                <p:nvPr/>
              </p:nvSpPr>
              <p:spPr>
                <a:xfrm>
                  <a:off x="7839229" y="5112270"/>
                  <a:ext cx="166969" cy="276999"/>
                </a:xfrm>
                <a:prstGeom prst="rect">
                  <a:avLst/>
                </a:prstGeom>
                <a:blipFill rotWithShape="0">
                  <a:blip r:embed="rId4"/>
                  <a:stretch>
                    <a:fillRect l="-22222" r="-185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5265808" y="2813765"/>
                  <a:ext cx="1894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51" name="TextBox 50"/>
                <p:cNvSpPr txBox="1">
                  <a:spLocks noRot="1" noChangeAspect="1" noMove="1" noResize="1" noEditPoints="1" noAdjustHandles="1" noChangeArrowheads="1" noChangeShapeType="1" noTextEdit="1"/>
                </p:cNvSpPr>
                <p:nvPr/>
              </p:nvSpPr>
              <p:spPr>
                <a:xfrm>
                  <a:off x="5265808" y="2813765"/>
                  <a:ext cx="189474" cy="276999"/>
                </a:xfrm>
                <a:prstGeom prst="rect">
                  <a:avLst/>
                </a:prstGeom>
                <a:blipFill rotWithShape="0">
                  <a:blip r:embed="rId5"/>
                  <a:stretch>
                    <a:fillRect l="-32258" r="-22581" b="-6667"/>
                  </a:stretch>
                </a:blipFill>
              </p:spPr>
              <p:txBody>
                <a:bodyPr/>
                <a:lstStyle/>
                <a:p>
                  <a:r>
                    <a:rPr lang="en-US">
                      <a:noFill/>
                    </a:rPr>
                    <a:t> </a:t>
                  </a:r>
                </a:p>
              </p:txBody>
            </p:sp>
          </mc:Fallback>
        </mc:AlternateContent>
        <p:grpSp>
          <p:nvGrpSpPr>
            <p:cNvPr id="18" name="Group 17"/>
            <p:cNvGrpSpPr/>
            <p:nvPr/>
          </p:nvGrpSpPr>
          <p:grpSpPr>
            <a:xfrm>
              <a:off x="5932647" y="3336350"/>
              <a:ext cx="137160" cy="1772954"/>
              <a:chOff x="6666293" y="3475699"/>
              <a:chExt cx="137160" cy="1772954"/>
            </a:xfrm>
          </p:grpSpPr>
          <p:sp>
            <p:nvSpPr>
              <p:cNvPr id="46" name="Rectangle 45"/>
              <p:cNvSpPr/>
              <p:nvPr/>
            </p:nvSpPr>
            <p:spPr>
              <a:xfrm>
                <a:off x="6666293" y="5111493"/>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7" name="Rectangle 46"/>
              <p:cNvSpPr/>
              <p:nvPr/>
            </p:nvSpPr>
            <p:spPr>
              <a:xfrm>
                <a:off x="6666293" y="3475699"/>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0" name="Rectangle 49"/>
              <p:cNvSpPr/>
              <p:nvPr/>
            </p:nvSpPr>
            <p:spPr>
              <a:xfrm>
                <a:off x="6666293" y="4566229"/>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2" name="Rectangle 51"/>
              <p:cNvSpPr/>
              <p:nvPr/>
            </p:nvSpPr>
            <p:spPr>
              <a:xfrm>
                <a:off x="6666293" y="4020964"/>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pSp>
        <p:grpSp>
          <p:nvGrpSpPr>
            <p:cNvPr id="17" name="Group 16"/>
            <p:cNvGrpSpPr/>
            <p:nvPr/>
          </p:nvGrpSpPr>
          <p:grpSpPr>
            <a:xfrm>
              <a:off x="7068011" y="3335655"/>
              <a:ext cx="140043" cy="1778720"/>
              <a:chOff x="5747501" y="3472816"/>
              <a:chExt cx="140043" cy="1778720"/>
            </a:xfrm>
          </p:grpSpPr>
          <p:sp>
            <p:nvSpPr>
              <p:cNvPr id="45" name="Oval 44"/>
              <p:cNvSpPr/>
              <p:nvPr/>
            </p:nvSpPr>
            <p:spPr>
              <a:xfrm>
                <a:off x="5747501" y="5111493"/>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5747501" y="3472816"/>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5747501" y="3706913"/>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5747501" y="4175107"/>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5747501" y="4643301"/>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5747501" y="3941010"/>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5747501" y="4877398"/>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5747501" y="4409204"/>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59" name="Straight Connector 58"/>
          <p:cNvCxnSpPr/>
          <p:nvPr/>
        </p:nvCxnSpPr>
        <p:spPr>
          <a:xfrm flipV="1">
            <a:off x="6577013" y="3148014"/>
            <a:ext cx="0" cy="2166936"/>
          </a:xfrm>
          <a:prstGeom prst="line">
            <a:avLst/>
          </a:prstGeom>
          <a:ln w="28575">
            <a:solidFill>
              <a:srgbClr val="00B05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427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6"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barn(inHorizontal)">
                                      <p:cBhvr>
                                        <p:cTn id="11"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内容占位符 2"/>
          <p:cNvSpPr>
            <a:spLocks noGrp="1"/>
          </p:cNvSpPr>
          <p:nvPr>
            <p:ph idx="1"/>
          </p:nvPr>
        </p:nvSpPr>
        <p:spPr>
          <a:xfrm>
            <a:off x="685800" y="1028700"/>
            <a:ext cx="7772400" cy="5067300"/>
          </a:xfrm>
        </p:spPr>
        <p:txBody>
          <a:bodyPr/>
          <a:lstStyle/>
          <a:p>
            <a:r>
              <a:rPr lang="zh-CN" altLang="en-US" sz="3200" b="1" dirty="0"/>
              <a:t>用线性分类的方法求解非线性分类问题</a:t>
            </a:r>
            <a:endParaRPr lang="en-US" altLang="zh-CN" sz="3200" b="1" dirty="0"/>
          </a:p>
          <a:p>
            <a:endParaRPr lang="en-US" altLang="zh-CN" sz="2800" b="1" dirty="0"/>
          </a:p>
          <a:p>
            <a:pPr lvl="1">
              <a:buFontTx/>
              <a:buNone/>
            </a:pPr>
            <a:r>
              <a:rPr lang="zh-CN" altLang="en-US" sz="2800" b="1" dirty="0"/>
              <a:t>（</a:t>
            </a:r>
            <a:r>
              <a:rPr lang="en-US" altLang="zh-CN" sz="2800" b="1" dirty="0"/>
              <a:t>1</a:t>
            </a:r>
            <a:r>
              <a:rPr lang="zh-CN" altLang="en-US" sz="2800" b="1" dirty="0"/>
              <a:t>）使用一个变换，将原空间数据映射到新空间；</a:t>
            </a:r>
            <a:endParaRPr lang="en-US" altLang="zh-CN" sz="2800" b="1" dirty="0"/>
          </a:p>
          <a:p>
            <a:endParaRPr lang="en-US" altLang="zh-CN" sz="2800" b="1" dirty="0"/>
          </a:p>
          <a:p>
            <a:pPr lvl="1">
              <a:buFontTx/>
              <a:buNone/>
            </a:pPr>
            <a:r>
              <a:rPr lang="zh-CN" altLang="en-US" sz="2800" b="1" dirty="0"/>
              <a:t>（</a:t>
            </a:r>
            <a:r>
              <a:rPr lang="en-US" altLang="zh-CN" sz="2800" b="1" dirty="0"/>
              <a:t>2</a:t>
            </a:r>
            <a:r>
              <a:rPr lang="zh-CN" altLang="en-US" sz="2800" b="1" dirty="0"/>
              <a:t>）在新空间用线性分类方法从训练数据中学习分类模型</a:t>
            </a:r>
            <a:endParaRPr lang="en-US" altLang="zh-CN" sz="2800" b="1" dirty="0"/>
          </a:p>
          <a:p>
            <a:pPr lvl="1">
              <a:buFontTx/>
              <a:buNone/>
            </a:pPr>
            <a:endParaRPr lang="en-US" altLang="zh-CN" dirty="0"/>
          </a:p>
        </p:txBody>
      </p:sp>
      <p:sp>
        <p:nvSpPr>
          <p:cNvPr id="92163" name="灯片编号占位符 3"/>
          <p:cNvSpPr>
            <a:spLocks noGrp="1"/>
          </p:cNvSpPr>
          <p:nvPr>
            <p:ph type="sldNum" sz="quarter" idx="12"/>
          </p:nvPr>
        </p:nvSpPr>
        <p:spPr>
          <a:noFill/>
        </p:spPr>
        <p:txBody>
          <a:bodyPr/>
          <a:lstStyle/>
          <a:p>
            <a:fld id="{8AB82332-8370-4E7C-8AD7-3D3354CFD34B}" type="slidenum">
              <a:rPr lang="en-US" altLang="zh-CN" smtClean="0">
                <a:ea typeface="黑体" pitchFamily="49" charset="-122"/>
              </a:rPr>
              <a:pPr/>
              <a:t>48</a:t>
            </a:fld>
            <a:endParaRPr lang="en-US" altLang="zh-CN">
              <a:ea typeface="黑体"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7310A-87FF-9BC0-F6D1-03F88E5E8979}"/>
            </a:ext>
          </a:extLst>
        </p:cNvPr>
        <p:cNvGrpSpPr/>
        <p:nvPr/>
      </p:nvGrpSpPr>
      <p:grpSpPr>
        <a:xfrm>
          <a:off x="0" y="0"/>
          <a:ext cx="0" cy="0"/>
          <a:chOff x="0" y="0"/>
          <a:chExt cx="0" cy="0"/>
        </a:xfrm>
      </p:grpSpPr>
      <p:cxnSp>
        <p:nvCxnSpPr>
          <p:cNvPr id="30" name="Straight Arrow Connector 29">
            <a:extLst>
              <a:ext uri="{FF2B5EF4-FFF2-40B4-BE49-F238E27FC236}">
                <a16:creationId xmlns:a16="http://schemas.microsoft.com/office/drawing/2014/main" id="{9F3727D6-8D1A-86D8-7C0C-5187BF4D8A7A}"/>
              </a:ext>
            </a:extLst>
          </p:cNvPr>
          <p:cNvCxnSpPr/>
          <p:nvPr/>
        </p:nvCxnSpPr>
        <p:spPr>
          <a:xfrm flipV="1">
            <a:off x="1074113" y="4044300"/>
            <a:ext cx="275068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3FB6138-1565-2599-8074-91AB7E34F62A}"/>
              </a:ext>
            </a:extLst>
          </p:cNvPr>
          <p:cNvSpPr>
            <a:spLocks noGrp="1"/>
          </p:cNvSpPr>
          <p:nvPr>
            <p:ph type="title"/>
          </p:nvPr>
        </p:nvSpPr>
        <p:spPr/>
        <p:txBody>
          <a:bodyPr/>
          <a:lstStyle/>
          <a:p>
            <a:r>
              <a:rPr lang="en-US" dirty="0" err="1">
                <a:latin typeface="Microsoft YaHei" panose="020B0503020204020204" pitchFamily="34" charset="-122"/>
                <a:ea typeface="Microsoft YaHei" panose="020B0503020204020204" pitchFamily="34" charset="-122"/>
              </a:rPr>
              <a:t>线性不可分问题</a:t>
            </a:r>
            <a:endParaRPr lang="en-US" dirty="0">
              <a:latin typeface="Microsoft YaHei" panose="020B0503020204020204" pitchFamily="34" charset="-122"/>
              <a:ea typeface="Microsoft YaHei" panose="020B0503020204020204" pitchFamily="34" charset="-122"/>
            </a:endParaRPr>
          </a:p>
        </p:txBody>
      </p:sp>
      <p:sp>
        <p:nvSpPr>
          <p:cNvPr id="3" name="Content Placeholder 2">
            <a:extLst>
              <a:ext uri="{FF2B5EF4-FFF2-40B4-BE49-F238E27FC236}">
                <a16:creationId xmlns:a16="http://schemas.microsoft.com/office/drawing/2014/main" id="{D2043B93-B907-1FE1-1CD7-9721AD7C7913}"/>
              </a:ext>
            </a:extLst>
          </p:cNvPr>
          <p:cNvSpPr>
            <a:spLocks noGrp="1"/>
          </p:cNvSpPr>
          <p:nvPr>
            <p:ph idx="1"/>
          </p:nvPr>
        </p:nvSpPr>
        <p:spPr/>
        <p:txBody>
          <a:bodyPr/>
          <a:lstStyle/>
          <a:p>
            <a:r>
              <a:rPr lang="en-US" dirty="0" err="1"/>
              <a:t>构建复杂特征映射获得可以线性分类的新空间</a:t>
            </a:r>
            <a:endParaRPr lang="en-US" dirty="0"/>
          </a:p>
        </p:txBody>
      </p:sp>
      <p:cxnSp>
        <p:nvCxnSpPr>
          <p:cNvPr id="20" name="Straight Arrow Connector 19">
            <a:extLst>
              <a:ext uri="{FF2B5EF4-FFF2-40B4-BE49-F238E27FC236}">
                <a16:creationId xmlns:a16="http://schemas.microsoft.com/office/drawing/2014/main" id="{72E894CD-AD65-8E21-D3BD-5A4E91C44EF9}"/>
              </a:ext>
            </a:extLst>
          </p:cNvPr>
          <p:cNvCxnSpPr/>
          <p:nvPr/>
        </p:nvCxnSpPr>
        <p:spPr>
          <a:xfrm flipV="1">
            <a:off x="2365476" y="2636174"/>
            <a:ext cx="0" cy="26256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968EE44D-AA5E-CC36-B728-9349489C25A0}"/>
              </a:ext>
            </a:extLst>
          </p:cNvPr>
          <p:cNvSpPr/>
          <p:nvPr/>
        </p:nvSpPr>
        <p:spPr>
          <a:xfrm>
            <a:off x="1373317" y="3974942"/>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7DA65CC-7449-BA00-1CB3-6964B4059F3A}"/>
              </a:ext>
            </a:extLst>
          </p:cNvPr>
          <p:cNvSpPr/>
          <p:nvPr/>
        </p:nvSpPr>
        <p:spPr>
          <a:xfrm>
            <a:off x="2189525" y="4134784"/>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45C47AB-0511-1486-F030-21AC18B1489E}"/>
              </a:ext>
            </a:extLst>
          </p:cNvPr>
          <p:cNvSpPr/>
          <p:nvPr/>
        </p:nvSpPr>
        <p:spPr>
          <a:xfrm>
            <a:off x="3050402" y="3667478"/>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6E0E92F-8EB4-2FD6-D72A-9B676A21661C}"/>
              </a:ext>
            </a:extLst>
          </p:cNvPr>
          <p:cNvSpPr/>
          <p:nvPr/>
        </p:nvSpPr>
        <p:spPr>
          <a:xfrm>
            <a:off x="2147851" y="3766701"/>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FE4952A-9725-7BE8-5AA2-7E57BB85BC76}"/>
                  </a:ext>
                </a:extLst>
              </p:cNvPr>
              <p:cNvSpPr txBox="1"/>
              <p:nvPr/>
            </p:nvSpPr>
            <p:spPr>
              <a:xfrm>
                <a:off x="3514472" y="4099287"/>
                <a:ext cx="2761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3514472" y="4099287"/>
                <a:ext cx="276101" cy="276999"/>
              </a:xfrm>
              <a:prstGeom prst="rect">
                <a:avLst/>
              </a:prstGeom>
              <a:blipFill>
                <a:blip r:embed="rId2"/>
                <a:stretch>
                  <a:fillRect l="-8696" r="-4348" b="-8696"/>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58DA9150-B69F-EEAF-CE73-F707DBE6800A}"/>
              </a:ext>
            </a:extLst>
          </p:cNvPr>
          <p:cNvSpPr/>
          <p:nvPr/>
        </p:nvSpPr>
        <p:spPr>
          <a:xfrm>
            <a:off x="2645669" y="3228002"/>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DEB5BEC-581D-65E8-CCB3-70A929FEE3E8}"/>
                  </a:ext>
                </a:extLst>
              </p:cNvPr>
              <p:cNvSpPr txBox="1"/>
              <p:nvPr/>
            </p:nvSpPr>
            <p:spPr>
              <a:xfrm>
                <a:off x="1987250" y="2510790"/>
                <a:ext cx="2814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p:txBody>
          </p:sp>
        </mc:Choice>
        <mc:Fallback xmlns="">
          <p:sp>
            <p:nvSpPr>
              <p:cNvPr id="35" name="TextBox 34"/>
              <p:cNvSpPr txBox="1">
                <a:spLocks noRot="1" noChangeAspect="1" noMove="1" noResize="1" noEditPoints="1" noAdjustHandles="1" noChangeArrowheads="1" noChangeShapeType="1" noTextEdit="1"/>
              </p:cNvSpPr>
              <p:nvPr/>
            </p:nvSpPr>
            <p:spPr>
              <a:xfrm>
                <a:off x="1987250" y="2510790"/>
                <a:ext cx="281424" cy="276999"/>
              </a:xfrm>
              <a:prstGeom prst="rect">
                <a:avLst/>
              </a:prstGeom>
              <a:blipFill>
                <a:blip r:embed="rId3"/>
                <a:stretch>
                  <a:fillRect l="-8696" r="-4348" b="-8696"/>
                </a:stretch>
              </a:blipFill>
            </p:spPr>
            <p:txBody>
              <a:bodyPr/>
              <a:lstStyle/>
              <a:p>
                <a:r>
                  <a:rPr lang="en-US">
                    <a:noFill/>
                  </a:rPr>
                  <a:t> </a:t>
                </a:r>
              </a:p>
            </p:txBody>
          </p:sp>
        </mc:Fallback>
      </mc:AlternateContent>
      <p:sp>
        <p:nvSpPr>
          <p:cNvPr id="36" name="Rectangle 35">
            <a:extLst>
              <a:ext uri="{FF2B5EF4-FFF2-40B4-BE49-F238E27FC236}">
                <a16:creationId xmlns:a16="http://schemas.microsoft.com/office/drawing/2014/main" id="{1809AFC8-30CB-AC5C-4143-8E23F7900F03}"/>
              </a:ext>
            </a:extLst>
          </p:cNvPr>
          <p:cNvSpPr/>
          <p:nvPr/>
        </p:nvSpPr>
        <p:spPr>
          <a:xfrm>
            <a:off x="2919427" y="4363002"/>
            <a:ext cx="137160" cy="1371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D27831A5-6ADB-1A6B-61C4-304247861A53}"/>
              </a:ext>
            </a:extLst>
          </p:cNvPr>
          <p:cNvSpPr/>
          <p:nvPr/>
        </p:nvSpPr>
        <p:spPr>
          <a:xfrm>
            <a:off x="2099116" y="3430700"/>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4C600647-C81B-F3E0-41A7-D95FF0F8E363}"/>
              </a:ext>
            </a:extLst>
          </p:cNvPr>
          <p:cNvSpPr/>
          <p:nvPr/>
        </p:nvSpPr>
        <p:spPr>
          <a:xfrm>
            <a:off x="2615013" y="3667478"/>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B43A93F-203D-27AB-2269-401E692CFA5D}"/>
              </a:ext>
            </a:extLst>
          </p:cNvPr>
          <p:cNvSpPr/>
          <p:nvPr/>
        </p:nvSpPr>
        <p:spPr>
          <a:xfrm>
            <a:off x="1753886" y="3412721"/>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D8CEBB0A-73F6-BDC4-CF90-7054B5D13C0C}"/>
              </a:ext>
            </a:extLst>
          </p:cNvPr>
          <p:cNvSpPr/>
          <p:nvPr/>
        </p:nvSpPr>
        <p:spPr>
          <a:xfrm>
            <a:off x="1227623" y="3442255"/>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27803506-49CD-41E9-DFF0-AC43310166F2}"/>
              </a:ext>
            </a:extLst>
          </p:cNvPr>
          <p:cNvSpPr/>
          <p:nvPr/>
        </p:nvSpPr>
        <p:spPr>
          <a:xfrm>
            <a:off x="1698969" y="4216559"/>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D56AA577-5501-ABAA-C4B8-1E06FE9E4301}"/>
              </a:ext>
            </a:extLst>
          </p:cNvPr>
          <p:cNvSpPr/>
          <p:nvPr/>
        </p:nvSpPr>
        <p:spPr>
          <a:xfrm>
            <a:off x="2416326" y="4431582"/>
            <a:ext cx="140043" cy="140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84111025-859D-6D3C-4204-7C8034834EA0}"/>
              </a:ext>
            </a:extLst>
          </p:cNvPr>
          <p:cNvSpPr/>
          <p:nvPr/>
        </p:nvSpPr>
        <p:spPr>
          <a:xfrm>
            <a:off x="2042280" y="2671025"/>
            <a:ext cx="895733" cy="2570205"/>
          </a:xfrm>
          <a:custGeom>
            <a:avLst/>
            <a:gdLst>
              <a:gd name="connsiteX0" fmla="*/ 442645 w 895733"/>
              <a:gd name="connsiteY0" fmla="*/ 0 h 2570205"/>
              <a:gd name="connsiteX1" fmla="*/ 549737 w 895733"/>
              <a:gd name="connsiteY1" fmla="*/ 823784 h 2570205"/>
              <a:gd name="connsiteX2" fmla="*/ 895726 w 895733"/>
              <a:gd name="connsiteY2" fmla="*/ 980303 h 2570205"/>
              <a:gd name="connsiteX3" fmla="*/ 557975 w 895733"/>
              <a:gd name="connsiteY3" fmla="*/ 1351005 h 2570205"/>
              <a:gd name="connsiteX4" fmla="*/ 55467 w 895733"/>
              <a:gd name="connsiteY4" fmla="*/ 1359243 h 2570205"/>
              <a:gd name="connsiteX5" fmla="*/ 71943 w 895733"/>
              <a:gd name="connsiteY5" fmla="*/ 1754659 h 2570205"/>
              <a:gd name="connsiteX6" fmla="*/ 582689 w 895733"/>
              <a:gd name="connsiteY6" fmla="*/ 1614616 h 2570205"/>
              <a:gd name="connsiteX7" fmla="*/ 656829 w 895733"/>
              <a:gd name="connsiteY7" fmla="*/ 2570205 h 257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5733" h="2570205">
                <a:moveTo>
                  <a:pt x="442645" y="0"/>
                </a:moveTo>
                <a:cubicBezTo>
                  <a:pt x="458434" y="330200"/>
                  <a:pt x="474224" y="660400"/>
                  <a:pt x="549737" y="823784"/>
                </a:cubicBezTo>
                <a:cubicBezTo>
                  <a:pt x="625250" y="987168"/>
                  <a:pt x="894353" y="892433"/>
                  <a:pt x="895726" y="980303"/>
                </a:cubicBezTo>
                <a:cubicBezTo>
                  <a:pt x="897099" y="1068173"/>
                  <a:pt x="698018" y="1287848"/>
                  <a:pt x="557975" y="1351005"/>
                </a:cubicBezTo>
                <a:cubicBezTo>
                  <a:pt x="417932" y="1414162"/>
                  <a:pt x="136472" y="1291967"/>
                  <a:pt x="55467" y="1359243"/>
                </a:cubicBezTo>
                <a:cubicBezTo>
                  <a:pt x="-25538" y="1426519"/>
                  <a:pt x="-15927" y="1712097"/>
                  <a:pt x="71943" y="1754659"/>
                </a:cubicBezTo>
                <a:cubicBezTo>
                  <a:pt x="159813" y="1797221"/>
                  <a:pt x="485208" y="1478692"/>
                  <a:pt x="582689" y="1614616"/>
                </a:cubicBezTo>
                <a:cubicBezTo>
                  <a:pt x="680170" y="1750540"/>
                  <a:pt x="668499" y="2160372"/>
                  <a:pt x="656829" y="2570205"/>
                </a:cubicBezTo>
              </a:path>
            </a:pathLst>
          </a:cu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6FEFAF5-5518-921D-6B72-E2EE7326BB64}"/>
                  </a:ext>
                </a:extLst>
              </p:cNvPr>
              <p:cNvSpPr txBox="1"/>
              <p:nvPr/>
            </p:nvSpPr>
            <p:spPr>
              <a:xfrm>
                <a:off x="5109782" y="3281806"/>
                <a:ext cx="78354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5109782" y="3281806"/>
                <a:ext cx="783548" cy="276999"/>
              </a:xfrm>
              <a:prstGeom prst="rect">
                <a:avLst/>
              </a:prstGeom>
              <a:blipFill>
                <a:blip r:embed="rId4"/>
                <a:stretch>
                  <a:fillRect l="-9524" t="-8696" r="-9524"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39317280-44A2-DC1C-7238-CCDE8442D895}"/>
                  </a:ext>
                </a:extLst>
              </p:cNvPr>
              <p:cNvSpPr txBox="1"/>
              <p:nvPr/>
            </p:nvSpPr>
            <p:spPr>
              <a:xfrm>
                <a:off x="4215506" y="4189948"/>
                <a:ext cx="4167551" cy="280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e>
                          </m:func>
                        </m:e>
                      </m:d>
                    </m:oMath>
                  </m:oMathPara>
                </a14:m>
                <a:endParaRPr lang="en-US" dirty="0"/>
              </a:p>
            </p:txBody>
          </p:sp>
        </mc:Choice>
        <mc:Fallback xmlns="">
          <p:sp>
            <p:nvSpPr>
              <p:cNvPr id="59" name="TextBox 58"/>
              <p:cNvSpPr txBox="1">
                <a:spLocks noRot="1" noChangeAspect="1" noMove="1" noResize="1" noEditPoints="1" noAdjustHandles="1" noChangeArrowheads="1" noChangeShapeType="1" noTextEdit="1"/>
              </p:cNvSpPr>
              <p:nvPr/>
            </p:nvSpPr>
            <p:spPr>
              <a:xfrm>
                <a:off x="4215506" y="4189948"/>
                <a:ext cx="4167551" cy="280718"/>
              </a:xfrm>
              <a:prstGeom prst="rect">
                <a:avLst/>
              </a:prstGeom>
              <a:blipFill>
                <a:blip r:embed="rId5"/>
                <a:stretch>
                  <a:fillRect l="-1220" t="-4348" b="-30435"/>
                </a:stretch>
              </a:blipFill>
            </p:spPr>
            <p:txBody>
              <a:bodyPr/>
              <a:lstStyle/>
              <a:p>
                <a:r>
                  <a:rPr lang="en-US">
                    <a:noFill/>
                  </a:rPr>
                  <a:t> </a:t>
                </a:r>
              </a:p>
            </p:txBody>
          </p:sp>
        </mc:Fallback>
      </mc:AlternateContent>
      <p:grpSp>
        <p:nvGrpSpPr>
          <p:cNvPr id="24" name="Group 23">
            <a:extLst>
              <a:ext uri="{FF2B5EF4-FFF2-40B4-BE49-F238E27FC236}">
                <a16:creationId xmlns:a16="http://schemas.microsoft.com/office/drawing/2014/main" id="{FB405E42-4056-64BF-C606-E28373C4AF01}"/>
              </a:ext>
            </a:extLst>
          </p:cNvPr>
          <p:cNvGrpSpPr/>
          <p:nvPr/>
        </p:nvGrpSpPr>
        <p:grpSpPr>
          <a:xfrm>
            <a:off x="5346080" y="3686818"/>
            <a:ext cx="2913569" cy="420164"/>
            <a:chOff x="5439598" y="4154409"/>
            <a:chExt cx="2913569" cy="420164"/>
          </a:xfrm>
        </p:grpSpPr>
        <p:sp>
          <p:nvSpPr>
            <p:cNvPr id="9" name="Down Arrow 8">
              <a:extLst>
                <a:ext uri="{FF2B5EF4-FFF2-40B4-BE49-F238E27FC236}">
                  <a16:creationId xmlns:a16="http://schemas.microsoft.com/office/drawing/2014/main" id="{12A47AB2-5430-D9B4-4EF5-BA758B774A98}"/>
                </a:ext>
              </a:extLst>
            </p:cNvPr>
            <p:cNvSpPr/>
            <p:nvPr/>
          </p:nvSpPr>
          <p:spPr>
            <a:xfrm>
              <a:off x="5439598" y="4197751"/>
              <a:ext cx="248718" cy="3768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370521F-AEF1-415F-620B-97D31F267903}"/>
                    </a:ext>
                  </a:extLst>
                </p:cNvPr>
                <p:cNvSpPr txBox="1"/>
                <p:nvPr/>
              </p:nvSpPr>
              <p:spPr>
                <a:xfrm>
                  <a:off x="5772664" y="4154409"/>
                  <a:ext cx="2580503" cy="369332"/>
                </a:xfrm>
                <a:prstGeom prst="rect">
                  <a:avLst/>
                </a:prstGeom>
                <a:noFill/>
              </p:spPr>
              <p:txBody>
                <a:bodyPr wrap="square" rtlCol="0">
                  <a:spAutoFit/>
                </a:bodyPr>
                <a:lstStyle/>
                <a:p>
                  <a:r>
                    <a:rPr lang="en-US" dirty="0"/>
                    <a:t>特征映射</a:t>
                  </a:r>
                  <a14:m>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i="1" dirty="0"/>
                    <a:t> </a:t>
                  </a:r>
                </a:p>
              </p:txBody>
            </p:sp>
          </mc:Choice>
          <mc:Fallback xmlns="">
            <p:sp>
              <p:nvSpPr>
                <p:cNvPr id="10" name="TextBox 9"/>
                <p:cNvSpPr txBox="1">
                  <a:spLocks noRot="1" noChangeAspect="1" noMove="1" noResize="1" noEditPoints="1" noAdjustHandles="1" noChangeArrowheads="1" noChangeShapeType="1" noTextEdit="1"/>
                </p:cNvSpPr>
                <p:nvPr/>
              </p:nvSpPr>
              <p:spPr>
                <a:xfrm>
                  <a:off x="5772664" y="4154409"/>
                  <a:ext cx="2580503" cy="369332"/>
                </a:xfrm>
                <a:prstGeom prst="rect">
                  <a:avLst/>
                </a:prstGeom>
                <a:blipFill>
                  <a:blip r:embed="rId6"/>
                  <a:stretch>
                    <a:fillRect l="-1961" t="-16667" b="-13333"/>
                  </a:stretch>
                </a:blipFill>
              </p:spPr>
              <p:txBody>
                <a:bodyPr/>
                <a:lstStyle/>
                <a:p>
                  <a:r>
                    <a:rPr lang="en-US">
                      <a:noFill/>
                    </a:rPr>
                    <a:t> </a:t>
                  </a:r>
                </a:p>
              </p:txBody>
            </p:sp>
          </mc:Fallback>
        </mc:AlternateContent>
      </p:grpSp>
      <p:grpSp>
        <p:nvGrpSpPr>
          <p:cNvPr id="34" name="Group 33">
            <a:extLst>
              <a:ext uri="{FF2B5EF4-FFF2-40B4-BE49-F238E27FC236}">
                <a16:creationId xmlns:a16="http://schemas.microsoft.com/office/drawing/2014/main" id="{D875908B-6E10-665D-253D-94509DFFCF8E}"/>
              </a:ext>
            </a:extLst>
          </p:cNvPr>
          <p:cNvGrpSpPr/>
          <p:nvPr/>
        </p:nvGrpSpPr>
        <p:grpSpPr>
          <a:xfrm>
            <a:off x="2591870" y="2305671"/>
            <a:ext cx="4202126" cy="603630"/>
            <a:chOff x="2685388" y="2773262"/>
            <a:chExt cx="4202126" cy="60363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2ECCC36-2AA3-0E13-6008-544FD6843365}"/>
                    </a:ext>
                  </a:extLst>
                </p:cNvPr>
                <p:cNvSpPr txBox="1"/>
                <p:nvPr/>
              </p:nvSpPr>
              <p:spPr>
                <a:xfrm>
                  <a:off x="3205206" y="2773262"/>
                  <a:ext cx="3682308" cy="369332"/>
                </a:xfrm>
                <a:prstGeom prst="rect">
                  <a:avLst/>
                </a:prstGeom>
                <a:noFill/>
              </p:spPr>
              <p:txBody>
                <a:bodyPr wrap="square" rtlCol="0">
                  <a:spAutoFit/>
                </a:bodyPr>
                <a:lstStyle/>
                <a:p>
                  <a:r>
                    <a:rPr lang="en-US" dirty="0" err="1"/>
                    <a:t>经过</a:t>
                  </a:r>
                  <a14:m>
                    <m:oMath xmlns:m="http://schemas.openxmlformats.org/officeDocument/2006/math">
                      <m:r>
                        <m:rPr>
                          <m:sty m:val="p"/>
                        </m:rPr>
                        <a:rPr lang="en-US" i="0">
                          <a:latin typeface="Cambria Math" panose="02040503050406030204" pitchFamily="18" charset="0"/>
                        </a:rPr>
                        <m:t>ϕ</m:t>
                      </m:r>
                      <m:r>
                        <a:rPr lang="en-US" i="0">
                          <a:latin typeface="Cambria Math" panose="02040503050406030204" pitchFamily="18" charset="0"/>
                        </a:rPr>
                        <m:t>(</m:t>
                      </m:r>
                      <m:r>
                        <m:rPr>
                          <m:sty m:val="p"/>
                        </m:rPr>
                        <a:rPr lang="en-US" i="0">
                          <a:latin typeface="Cambria Math" panose="02040503050406030204" pitchFamily="18" charset="0"/>
                        </a:rPr>
                        <m:t>x</m:t>
                      </m:r>
                      <m:r>
                        <a:rPr lang="en-US" i="0">
                          <a:latin typeface="Cambria Math" panose="02040503050406030204" pitchFamily="18" charset="0"/>
                        </a:rPr>
                        <m:t>)</m:t>
                      </m:r>
                    </m:oMath>
                  </a14:m>
                  <a:r>
                    <a:rPr lang="en-US" dirty="0"/>
                    <a:t>映射后的分类面</a:t>
                  </a:r>
                </a:p>
              </p:txBody>
            </p:sp>
          </mc:Choice>
          <mc:Fallback xmlns="">
            <p:sp>
              <p:nvSpPr>
                <p:cNvPr id="11" name="TextBox 10"/>
                <p:cNvSpPr txBox="1">
                  <a:spLocks noRot="1" noChangeAspect="1" noMove="1" noResize="1" noEditPoints="1" noAdjustHandles="1" noChangeArrowheads="1" noChangeShapeType="1" noTextEdit="1"/>
                </p:cNvSpPr>
                <p:nvPr/>
              </p:nvSpPr>
              <p:spPr>
                <a:xfrm>
                  <a:off x="3205206" y="2773262"/>
                  <a:ext cx="3682308" cy="369332"/>
                </a:xfrm>
                <a:prstGeom prst="rect">
                  <a:avLst/>
                </a:prstGeom>
                <a:blipFill>
                  <a:blip r:embed="rId7"/>
                  <a:stretch>
                    <a:fillRect l="-1370" t="-16667" b="-16667"/>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80EC5848-7638-D93F-98CA-650007B3DAC6}"/>
                </a:ext>
              </a:extLst>
            </p:cNvPr>
            <p:cNvCxnSpPr>
              <a:stCxn id="11" idx="1"/>
            </p:cNvCxnSpPr>
            <p:nvPr/>
          </p:nvCxnSpPr>
          <p:spPr>
            <a:xfrm flipH="1">
              <a:off x="2685388" y="2957928"/>
              <a:ext cx="519818" cy="41896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5FB5F8E0-61B5-A3EC-7B37-8AD21FF24238}"/>
              </a:ext>
            </a:extLst>
          </p:cNvPr>
          <p:cNvGrpSpPr/>
          <p:nvPr/>
        </p:nvGrpSpPr>
        <p:grpSpPr>
          <a:xfrm>
            <a:off x="4256934" y="5076950"/>
            <a:ext cx="4260294" cy="469120"/>
            <a:chOff x="4350452" y="5544541"/>
            <a:chExt cx="4260294" cy="469120"/>
          </a:xfrm>
        </p:grpSpPr>
        <p:sp>
          <p:nvSpPr>
            <p:cNvPr id="16" name="TextBox 15">
              <a:extLst>
                <a:ext uri="{FF2B5EF4-FFF2-40B4-BE49-F238E27FC236}">
                  <a16:creationId xmlns:a16="http://schemas.microsoft.com/office/drawing/2014/main" id="{081E75C6-888A-93CB-9728-D61BD44F7CD8}"/>
                </a:ext>
              </a:extLst>
            </p:cNvPr>
            <p:cNvSpPr txBox="1"/>
            <p:nvPr/>
          </p:nvSpPr>
          <p:spPr>
            <a:xfrm>
              <a:off x="4743081" y="5644329"/>
              <a:ext cx="3867665" cy="369332"/>
            </a:xfrm>
            <a:prstGeom prst="rect">
              <a:avLst/>
            </a:prstGeom>
            <a:noFill/>
          </p:spPr>
          <p:txBody>
            <a:bodyPr wrap="square" rtlCol="0">
              <a:spAutoFit/>
            </a:bodyPr>
            <a:lstStyle/>
            <a:p>
              <a:r>
                <a:rPr lang="en-US" dirty="0" err="1"/>
                <a:t>带来特征空间维度迅速增加</a:t>
              </a:r>
              <a:r>
                <a:rPr lang="en-US" dirty="0"/>
                <a:t>!</a:t>
              </a:r>
            </a:p>
          </p:txBody>
        </p:sp>
        <p:pic>
          <p:nvPicPr>
            <p:cNvPr id="61" name="Picture 8" descr="Image">
              <a:extLst>
                <a:ext uri="{FF2B5EF4-FFF2-40B4-BE49-F238E27FC236}">
                  <a16:creationId xmlns:a16="http://schemas.microsoft.com/office/drawing/2014/main" id="{5E13D2F9-DA0B-D537-A99C-A607A6BF46D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50452" y="5544541"/>
              <a:ext cx="389476" cy="389476"/>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extBox 18">
            <a:extLst>
              <a:ext uri="{FF2B5EF4-FFF2-40B4-BE49-F238E27FC236}">
                <a16:creationId xmlns:a16="http://schemas.microsoft.com/office/drawing/2014/main" id="{4D596ABC-F44D-0C9B-884A-F2BC5401BC94}"/>
              </a:ext>
            </a:extLst>
          </p:cNvPr>
          <p:cNvSpPr txBox="1"/>
          <p:nvPr/>
        </p:nvSpPr>
        <p:spPr>
          <a:xfrm>
            <a:off x="4021282" y="2506268"/>
            <a:ext cx="65" cy="276999"/>
          </a:xfrm>
          <a:prstGeom prst="rect">
            <a:avLst/>
          </a:prstGeom>
          <a:noFill/>
        </p:spPr>
        <p:txBody>
          <a:bodyPr wrap="none" lIns="0" tIns="0" rIns="0" bIns="0" rtlCol="0">
            <a:spAutoFit/>
          </a:bodyPr>
          <a:lstStyle/>
          <a:p>
            <a:endParaRPr lang="en-US" dirty="0"/>
          </a:p>
        </p:txBody>
      </p:sp>
      <p:grpSp>
        <p:nvGrpSpPr>
          <p:cNvPr id="23" name="Group 22">
            <a:extLst>
              <a:ext uri="{FF2B5EF4-FFF2-40B4-BE49-F238E27FC236}">
                <a16:creationId xmlns:a16="http://schemas.microsoft.com/office/drawing/2014/main" id="{2B1933F4-CBF3-5F33-F6C2-AE5DAA9FCB32}"/>
              </a:ext>
            </a:extLst>
          </p:cNvPr>
          <p:cNvGrpSpPr/>
          <p:nvPr/>
        </p:nvGrpSpPr>
        <p:grpSpPr>
          <a:xfrm>
            <a:off x="5346080" y="4554515"/>
            <a:ext cx="3253041" cy="651269"/>
            <a:chOff x="5439598" y="5022106"/>
            <a:chExt cx="3253041" cy="651269"/>
          </a:xfrm>
        </p:grpSpPr>
        <p:sp>
          <p:nvSpPr>
            <p:cNvPr id="60" name="Down Arrow 59">
              <a:extLst>
                <a:ext uri="{FF2B5EF4-FFF2-40B4-BE49-F238E27FC236}">
                  <a16:creationId xmlns:a16="http://schemas.microsoft.com/office/drawing/2014/main" id="{00C1747B-F526-ED6D-3D4C-B0F075A348C4}"/>
                </a:ext>
              </a:extLst>
            </p:cNvPr>
            <p:cNvSpPr/>
            <p:nvPr/>
          </p:nvSpPr>
          <p:spPr>
            <a:xfrm>
              <a:off x="5439598" y="5151388"/>
              <a:ext cx="248718" cy="3768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97EECD5-7F3D-6133-A91B-0A33400FDC6E}"/>
                    </a:ext>
                  </a:extLst>
                </p:cNvPr>
                <p:cNvSpPr txBox="1"/>
                <p:nvPr/>
              </p:nvSpPr>
              <p:spPr>
                <a:xfrm>
                  <a:off x="5780563" y="5022106"/>
                  <a:ext cx="2912076" cy="651269"/>
                </a:xfrm>
                <a:prstGeom prst="rect">
                  <a:avLst/>
                </a:prstGeom>
                <a:noFill/>
              </p:spPr>
              <p:txBody>
                <a:bodyPr wrap="square" rtlCol="0">
                  <a:spAutoFit/>
                </a:bodyPr>
                <a:lstStyle/>
                <a:p>
                  <a:r>
                    <a:rPr lang="en-US" dirty="0" err="1"/>
                    <a:t>例如枚举所有多项式映射</a:t>
                  </a:r>
                  <a:r>
                    <a:rPr lang="en-US" dirty="0"/>
                    <a:t>:</a:t>
                  </a:r>
                  <a:r>
                    <a:rPr lang="en-US" i="1" dirty="0"/>
                    <a:t> #features</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𝑑</m:t>
                          </m:r>
                        </m:sup>
                      </m:sSup>
                      <m:r>
                        <a:rPr lang="en-US" b="0" i="1" smtClean="0">
                          <a:latin typeface="Cambria Math" panose="02040503050406030204" pitchFamily="18" charset="0"/>
                        </a:rPr>
                        <m:t>)</m:t>
                      </m:r>
                    </m:oMath>
                  </a14:m>
                  <a:r>
                    <a:rPr lang="en-US" i="1" dirty="0"/>
                    <a:t> </a:t>
                  </a:r>
                </a:p>
              </p:txBody>
            </p:sp>
          </mc:Choice>
          <mc:Fallback xmlns="">
            <p:sp>
              <p:nvSpPr>
                <p:cNvPr id="22" name="TextBox 21"/>
                <p:cNvSpPr txBox="1">
                  <a:spLocks noRot="1" noChangeAspect="1" noMove="1" noResize="1" noEditPoints="1" noAdjustHandles="1" noChangeArrowheads="1" noChangeShapeType="1" noTextEdit="1"/>
                </p:cNvSpPr>
                <p:nvPr/>
              </p:nvSpPr>
              <p:spPr>
                <a:xfrm>
                  <a:off x="5780563" y="5022106"/>
                  <a:ext cx="2912076" cy="651269"/>
                </a:xfrm>
                <a:prstGeom prst="rect">
                  <a:avLst/>
                </a:prstGeom>
                <a:blipFill>
                  <a:blip r:embed="rId9"/>
                  <a:stretch>
                    <a:fillRect l="-1732" t="-9615" b="-15385"/>
                  </a:stretch>
                </a:blipFill>
              </p:spPr>
              <p:txBody>
                <a:bodyPr/>
                <a:lstStyle/>
                <a:p>
                  <a:r>
                    <a:rPr lang="en-US">
                      <a:noFill/>
                    </a:rPr>
                    <a:t> </a:t>
                  </a:r>
                </a:p>
              </p:txBody>
            </p:sp>
          </mc:Fallback>
        </mc:AlternateContent>
      </p:grpSp>
    </p:spTree>
    <p:extLst>
      <p:ext uri="{BB962C8B-B14F-4D97-AF65-F5344CB8AC3E}">
        <p14:creationId xmlns:p14="http://schemas.microsoft.com/office/powerpoint/2010/main" val="2752909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5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B9843-E821-2195-1D27-8E5447A5D9C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7A41BDC-EDF6-7826-9BFA-F1F89BBF50B3}"/>
              </a:ext>
            </a:extLst>
          </p:cNvPr>
          <p:cNvSpPr>
            <a:spLocks noGrp="1"/>
          </p:cNvSpPr>
          <p:nvPr>
            <p:ph type="title"/>
          </p:nvPr>
        </p:nvSpPr>
        <p:spPr/>
        <p:txBody>
          <a:bodyPr/>
          <a:lstStyle/>
          <a:p>
            <a:pPr>
              <a:defRPr/>
            </a:pPr>
            <a:r>
              <a:rPr lang="zh-CN" altLang="en-US" dirty="0"/>
              <a:t>前情回顾：最大间隔分类器</a:t>
            </a:r>
          </a:p>
        </p:txBody>
      </p:sp>
      <mc:AlternateContent xmlns:mc="http://schemas.openxmlformats.org/markup-compatibility/2006" xmlns:a14="http://schemas.microsoft.com/office/drawing/2010/main">
        <mc:Choice Requires="a14">
          <p:sp>
            <p:nvSpPr>
              <p:cNvPr id="20485" name="内容占位符 2">
                <a:extLst>
                  <a:ext uri="{FF2B5EF4-FFF2-40B4-BE49-F238E27FC236}">
                    <a16:creationId xmlns:a16="http://schemas.microsoft.com/office/drawing/2014/main" id="{347F8400-7D3C-6AEA-83FE-A0C642422E44}"/>
                  </a:ext>
                </a:extLst>
              </p:cNvPr>
              <p:cNvSpPr>
                <a:spLocks noGrp="1"/>
              </p:cNvSpPr>
              <p:nvPr>
                <p:ph idx="1"/>
              </p:nvPr>
            </p:nvSpPr>
            <p:spPr>
              <a:xfrm>
                <a:off x="685799" y="1552524"/>
                <a:ext cx="8165123" cy="4848271"/>
              </a:xfrm>
            </p:spPr>
            <p:txBody>
              <a:bodyPr>
                <a:normAutofit/>
              </a:bodyPr>
              <a:lstStyle/>
              <a:p>
                <a:r>
                  <a:rPr lang="zh-CN" altLang="en-US" sz="3200" b="1" dirty="0"/>
                  <a:t>原始问题：</a:t>
                </a:r>
                <a:endParaRPr lang="en-US" altLang="zh-CN" sz="3200" b="1" dirty="0"/>
              </a:p>
              <a:p>
                <a:endParaRPr lang="en-US" altLang="zh-CN" sz="3200" b="1" dirty="0"/>
              </a:p>
              <a:p>
                <a:endParaRPr lang="en-US" altLang="zh-CN" sz="3200" b="1" dirty="0"/>
              </a:p>
              <a:p>
                <a:endParaRPr lang="en-US" altLang="zh-CN" sz="3200" b="1" dirty="0"/>
              </a:p>
              <a:p>
                <a:endParaRPr lang="en-US" altLang="zh-CN" sz="2800" b="1" dirty="0"/>
              </a:p>
              <a:p>
                <a:r>
                  <a:rPr lang="zh-CN" altLang="en-US" sz="3200" b="1" dirty="0"/>
                  <a:t>定义拉格朗日函数</a:t>
                </a:r>
                <a:r>
                  <a:rPr lang="zh-CN" altLang="en-US" dirty="0"/>
                  <a:t>：</a:t>
                </a:r>
                <a:endParaRPr lang="en-US" altLang="zh-CN" dirty="0"/>
              </a:p>
              <a:p>
                <a:endParaRPr lang="en-US" altLang="zh-CN" dirty="0"/>
              </a:p>
              <a:p>
                <a:endParaRPr lang="en-US" altLang="zh-CN" dirty="0"/>
              </a:p>
              <a:p>
                <a:pPr marL="0" indent="0">
                  <a:buNone/>
                </a:pPr>
                <a:r>
                  <a:rPr lang="zh-CN" altLang="en-US" dirty="0"/>
                  <a:t>其中</a:t>
                </a:r>
                <a14:m>
                  <m:oMath xmlns:m="http://schemas.openxmlformats.org/officeDocument/2006/math">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rPr>
                          <m:t>𝑖</m:t>
                        </m:r>
                      </m:sub>
                    </m:sSub>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0,</m:t>
                    </m:r>
                    <m:r>
                      <a:rPr kumimoji="1" lang="zh-CN" altLang="en-US" sz="2800" b="0" i="1" smtClean="0">
                        <a:latin typeface="Cambria Math" panose="02040503050406030204" pitchFamily="18" charset="0"/>
                        <a:ea typeface="Cambria Math" panose="02040503050406030204" pitchFamily="18" charset="0"/>
                      </a:rPr>
                      <m:t> </m:t>
                    </m:r>
                    <m:r>
                      <a:rPr kumimoji="1" lang="zh-CN" altLang="en-US" sz="2800" b="0" i="1" smtClean="0">
                        <a:latin typeface="Cambria Math" panose="02040503050406030204" pitchFamily="18" charset="0"/>
                        <a:ea typeface="Cambria Math" panose="02040503050406030204" pitchFamily="18" charset="0"/>
                      </a:rPr>
                      <m:t>𝛼</m:t>
                    </m:r>
                    <m:r>
                      <a:rPr kumimoji="1" lang="en-US" altLang="zh-CN" sz="2800" b="0" i="1" smtClean="0">
                        <a:latin typeface="Cambria Math" panose="02040503050406030204" pitchFamily="18" charset="0"/>
                        <a:ea typeface="Cambria Math" panose="02040503050406030204" pitchFamily="18" charset="0"/>
                      </a:rPr>
                      <m:t>=</m:t>
                    </m:r>
                    <m:sSup>
                      <m:sSupPr>
                        <m:ctrlPr>
                          <a:rPr kumimoji="1" lang="en-US" altLang="zh-CN" sz="2800" b="0" i="1" smtClean="0">
                            <a:latin typeface="Cambria Math" panose="02040503050406030204" pitchFamily="18" charset="0"/>
                            <a:ea typeface="Cambria Math" panose="02040503050406030204" pitchFamily="18" charset="0"/>
                          </a:rPr>
                        </m:ctrlPr>
                      </m:sSupPr>
                      <m:e>
                        <m:r>
                          <a:rPr kumimoji="1" lang="en-US" altLang="zh-CN" sz="2800" i="1">
                            <a:latin typeface="Cambria Math" panose="02040503050406030204" pitchFamily="18" charset="0"/>
                            <a:ea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ea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ea typeface="Cambria Math" panose="02040503050406030204" pitchFamily="18" charset="0"/>
                              </a:rPr>
                              <m:t>2</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ea typeface="Cambria Math" panose="02040503050406030204" pitchFamily="18" charset="0"/>
                              </a:rPr>
                              <m:t>𝑁</m:t>
                            </m:r>
                          </m:sub>
                        </m:sSub>
                        <m:r>
                          <a:rPr kumimoji="1" lang="en-US" altLang="zh-CN" sz="2800" i="1">
                            <a:latin typeface="Cambria Math" panose="02040503050406030204" pitchFamily="18" charset="0"/>
                            <a:ea typeface="Cambria Math" panose="02040503050406030204" pitchFamily="18" charset="0"/>
                          </a:rPr>
                          <m:t>)</m:t>
                        </m:r>
                      </m:e>
                      <m:sup>
                        <m:r>
                          <a:rPr kumimoji="1" lang="en-US" altLang="zh-CN" sz="2800" b="0" i="1" smtClean="0">
                            <a:latin typeface="Cambria Math" panose="02040503050406030204" pitchFamily="18" charset="0"/>
                            <a:ea typeface="Cambria Math" panose="02040503050406030204" pitchFamily="18" charset="0"/>
                          </a:rPr>
                          <m:t>𝑇</m:t>
                        </m:r>
                      </m:sup>
                    </m:sSup>
                  </m:oMath>
                </a14:m>
                <a:r>
                  <a:rPr lang="zh-CN" altLang="en-US" dirty="0"/>
                  <a:t>为拉格朗日乘子向量</a:t>
                </a:r>
              </a:p>
            </p:txBody>
          </p:sp>
        </mc:Choice>
        <mc:Fallback xmlns="">
          <p:sp>
            <p:nvSpPr>
              <p:cNvPr id="20485" name="内容占位符 2"/>
              <p:cNvSpPr>
                <a:spLocks noGrp="1" noRot="1" noChangeAspect="1" noMove="1" noResize="1" noEditPoints="1" noAdjustHandles="1" noChangeArrowheads="1" noChangeShapeType="1" noTextEdit="1"/>
              </p:cNvSpPr>
              <p:nvPr>
                <p:ph idx="1"/>
              </p:nvPr>
            </p:nvSpPr>
            <p:spPr>
              <a:xfrm>
                <a:off x="685799" y="1552524"/>
                <a:ext cx="8165123" cy="4848271"/>
              </a:xfrm>
              <a:blipFill>
                <a:blip r:embed="rId3"/>
                <a:stretch>
                  <a:fillRect l="-1242" t="-2611" b="-522"/>
                </a:stretch>
              </a:blipFill>
            </p:spPr>
            <p:txBody>
              <a:bodyPr/>
              <a:lstStyle/>
              <a:p>
                <a:r>
                  <a:rPr lang="zh-CN" altLang="en-US">
                    <a:noFill/>
                  </a:rPr>
                  <a:t> </a:t>
                </a:r>
              </a:p>
            </p:txBody>
          </p:sp>
        </mc:Fallback>
      </mc:AlternateContent>
      <p:sp>
        <p:nvSpPr>
          <p:cNvPr id="20486" name="灯片编号占位符 3">
            <a:extLst>
              <a:ext uri="{FF2B5EF4-FFF2-40B4-BE49-F238E27FC236}">
                <a16:creationId xmlns:a16="http://schemas.microsoft.com/office/drawing/2014/main" id="{D341C328-3C60-D8CC-9DE7-33A9A62CA9D3}"/>
              </a:ext>
            </a:extLst>
          </p:cNvPr>
          <p:cNvSpPr>
            <a:spLocks noGrp="1"/>
          </p:cNvSpPr>
          <p:nvPr>
            <p:ph type="sldNum" sz="quarter" idx="12"/>
          </p:nvPr>
        </p:nvSpPr>
        <p:spPr>
          <a:noFill/>
        </p:spPr>
        <p:txBody>
          <a:bodyPr/>
          <a:lstStyle/>
          <a:p>
            <a:fld id="{C6AB7A8A-36FD-4A37-841F-0A1946F753A2}" type="slidenum">
              <a:rPr lang="en-US" altLang="zh-CN" smtClean="0">
                <a:ea typeface="黑体" pitchFamily="49" charset="-122"/>
              </a:rPr>
              <a:pPr/>
              <a:t>50</a:t>
            </a:fld>
            <a:endParaRPr lang="en-US" altLang="zh-CN">
              <a:ea typeface="黑体" pitchFamily="49" charset="-122"/>
            </a:endParaRPr>
          </a:p>
        </p:txBody>
      </p:sp>
      <p:cxnSp>
        <p:nvCxnSpPr>
          <p:cNvPr id="10" name="直接箭头连接符 9">
            <a:extLst>
              <a:ext uri="{FF2B5EF4-FFF2-40B4-BE49-F238E27FC236}">
                <a16:creationId xmlns:a16="http://schemas.microsoft.com/office/drawing/2014/main" id="{DFE97614-A807-F646-C143-33BBC86AA954}"/>
              </a:ext>
            </a:extLst>
          </p:cNvPr>
          <p:cNvCxnSpPr/>
          <p:nvPr/>
        </p:nvCxnSpPr>
        <p:spPr>
          <a:xfrm flipH="1">
            <a:off x="3692435" y="2878632"/>
            <a:ext cx="1254034" cy="517711"/>
          </a:xfrm>
          <a:prstGeom prst="straightConnector1">
            <a:avLst/>
          </a:prstGeom>
          <a:ln w="5715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F3F65F2-9C97-5E1F-B7C0-7EB70D414E41}"/>
                  </a:ext>
                </a:extLst>
              </p:cNvPr>
              <p:cNvSpPr txBox="1"/>
              <p:nvPr/>
            </p:nvSpPr>
            <p:spPr>
              <a:xfrm>
                <a:off x="1010590" y="2313384"/>
                <a:ext cx="1818383" cy="819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lim>
                          </m:limLow>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e>
                      </m:func>
                    </m:oMath>
                  </m:oMathPara>
                </a14:m>
                <a:endParaRPr kumimoji="1" lang="zh-CN" altLang="en-US" sz="2800" dirty="0"/>
              </a:p>
            </p:txBody>
          </p:sp>
        </mc:Choice>
        <mc:Fallback xmlns="">
          <p:sp>
            <p:nvSpPr>
              <p:cNvPr id="3" name="文本框 2">
                <a:extLst>
                  <a:ext uri="{FF2B5EF4-FFF2-40B4-BE49-F238E27FC236}">
                    <a16:creationId xmlns:a16="http://schemas.microsoft.com/office/drawing/2014/main" id="{FCA9D92E-75E7-42E2-A38C-7686DAE834B5}"/>
                  </a:ext>
                </a:extLst>
              </p:cNvPr>
              <p:cNvSpPr txBox="1">
                <a:spLocks noRot="1" noChangeAspect="1" noMove="1" noResize="1" noEditPoints="1" noAdjustHandles="1" noChangeArrowheads="1" noChangeShapeType="1" noTextEdit="1"/>
              </p:cNvSpPr>
              <p:nvPr/>
            </p:nvSpPr>
            <p:spPr>
              <a:xfrm>
                <a:off x="1010590" y="2313384"/>
                <a:ext cx="1818383" cy="819199"/>
              </a:xfrm>
              <a:prstGeom prst="rect">
                <a:avLst/>
              </a:prstGeom>
              <a:blipFill>
                <a:blip r:embed="rId4"/>
                <a:stretch>
                  <a:fillRect l="-4167" t="-1515" r="-1389"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632470B-34A4-EE69-E9AF-11C343E998A1}"/>
                  </a:ext>
                </a:extLst>
              </p:cNvPr>
              <p:cNvSpPr txBox="1"/>
              <p:nvPr/>
            </p:nvSpPr>
            <p:spPr>
              <a:xfrm>
                <a:off x="1010590" y="3509083"/>
                <a:ext cx="644343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𝑠</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𝑡</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≥1,</m:t>
                      </m:r>
                      <m:r>
                        <a:rPr kumimoji="1" lang="zh-CN" altLang="en-US" sz="2800" b="0" i="1" smtClean="0">
                          <a:latin typeface="Cambria Math" panose="02040503050406030204" pitchFamily="18" charset="0"/>
                          <a:ea typeface="Cambria Math" panose="02040503050406030204" pitchFamily="18" charset="0"/>
                        </a:rPr>
                        <m:t>   </m:t>
                      </m:r>
                      <m:r>
                        <a:rPr kumimoji="1" lang="en-US" altLang="zh-CN" sz="2800" b="0" i="1" smtClean="0">
                          <a:latin typeface="Cambria Math" panose="02040503050406030204" pitchFamily="18" charset="0"/>
                          <a:ea typeface="Cambria Math" panose="02040503050406030204" pitchFamily="18" charset="0"/>
                        </a:rPr>
                        <m:t>𝑖</m:t>
                      </m:r>
                      <m:r>
                        <a:rPr kumimoji="1" lang="en-US" altLang="zh-CN" sz="2800" b="0" i="1" smtClean="0">
                          <a:latin typeface="Cambria Math" panose="02040503050406030204" pitchFamily="18" charset="0"/>
                          <a:ea typeface="Cambria Math" panose="02040503050406030204" pitchFamily="18" charset="0"/>
                        </a:rPr>
                        <m:t>=1,2,…,</m:t>
                      </m:r>
                      <m:r>
                        <a:rPr kumimoji="1" lang="en-US" altLang="zh-CN" sz="2800" b="0" i="1" smtClean="0">
                          <a:latin typeface="Cambria Math" panose="02040503050406030204" pitchFamily="18" charset="0"/>
                          <a:ea typeface="Cambria Math" panose="02040503050406030204" pitchFamily="18" charset="0"/>
                        </a:rPr>
                        <m:t>𝑁</m:t>
                      </m:r>
                    </m:oMath>
                  </m:oMathPara>
                </a14:m>
                <a:endParaRPr kumimoji="1" lang="zh-CN" altLang="en-US" sz="2800" dirty="0"/>
              </a:p>
            </p:txBody>
          </p:sp>
        </mc:Choice>
        <mc:Fallback xmlns="">
          <p:sp>
            <p:nvSpPr>
              <p:cNvPr id="4" name="文本框 3">
                <a:extLst>
                  <a:ext uri="{FF2B5EF4-FFF2-40B4-BE49-F238E27FC236}">
                    <a16:creationId xmlns:a16="http://schemas.microsoft.com/office/drawing/2014/main" id="{3A735D07-44F7-3DDB-BB07-BDB1DD2C71A2}"/>
                  </a:ext>
                </a:extLst>
              </p:cNvPr>
              <p:cNvSpPr txBox="1">
                <a:spLocks noRot="1" noChangeAspect="1" noMove="1" noResize="1" noEditPoints="1" noAdjustHandles="1" noChangeArrowheads="1" noChangeShapeType="1" noTextEdit="1"/>
              </p:cNvSpPr>
              <p:nvPr/>
            </p:nvSpPr>
            <p:spPr>
              <a:xfrm>
                <a:off x="1010590" y="3509083"/>
                <a:ext cx="6443431" cy="430887"/>
              </a:xfrm>
              <a:prstGeom prst="rect">
                <a:avLst/>
              </a:prstGeom>
              <a:blipFill>
                <a:blip r:embed="rId5"/>
                <a:stretch>
                  <a:fillRect l="-196" t="-11429" r="-589" b="-31429"/>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867ADEE0-72EA-499C-AD7A-784EB65AB74D}"/>
              </a:ext>
            </a:extLst>
          </p:cNvPr>
          <p:cNvSpPr txBox="1"/>
          <p:nvPr/>
        </p:nvSpPr>
        <p:spPr>
          <a:xfrm>
            <a:off x="4114800" y="2971800"/>
            <a:ext cx="65" cy="276999"/>
          </a:xfrm>
          <a:prstGeom prst="rect">
            <a:avLst/>
          </a:prstGeom>
          <a:noFill/>
        </p:spPr>
        <p:txBody>
          <a:bodyPr wrap="none" lIns="0" tIns="0" rIns="0" bIns="0" rtlCol="0">
            <a:spAutoFit/>
          </a:bodyPr>
          <a:lstStyle/>
          <a:p>
            <a:endParaRPr kumimoji="1"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F496D8B-1942-6397-0D72-DCD70B03D277}"/>
                  </a:ext>
                </a:extLst>
              </p:cNvPr>
              <p:cNvSpPr txBox="1"/>
              <p:nvPr/>
            </p:nvSpPr>
            <p:spPr>
              <a:xfrm>
                <a:off x="4114800" y="2093040"/>
                <a:ext cx="3442224" cy="430887"/>
              </a:xfrm>
              <a:prstGeom prst="rect">
                <a:avLst/>
              </a:prstGeom>
              <a:solidFill>
                <a:srgbClr val="F4B39B">
                  <a:alpha val="40167"/>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1−</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≤0</m:t>
                      </m:r>
                    </m:oMath>
                  </m:oMathPara>
                </a14:m>
                <a:endParaRPr kumimoji="1" lang="zh-CN" altLang="en-US" sz="2800" dirty="0"/>
              </a:p>
            </p:txBody>
          </p:sp>
        </mc:Choice>
        <mc:Fallback xmlns="">
          <p:sp>
            <p:nvSpPr>
              <p:cNvPr id="6" name="文本框 5">
                <a:extLst>
                  <a:ext uri="{FF2B5EF4-FFF2-40B4-BE49-F238E27FC236}">
                    <a16:creationId xmlns:a16="http://schemas.microsoft.com/office/drawing/2014/main" id="{A9D7D49E-7088-E465-716B-57939CA4F8A5}"/>
                  </a:ext>
                </a:extLst>
              </p:cNvPr>
              <p:cNvSpPr txBox="1">
                <a:spLocks noRot="1" noChangeAspect="1" noMove="1" noResize="1" noEditPoints="1" noAdjustHandles="1" noChangeArrowheads="1" noChangeShapeType="1" noTextEdit="1"/>
              </p:cNvSpPr>
              <p:nvPr/>
            </p:nvSpPr>
            <p:spPr>
              <a:xfrm>
                <a:off x="4114800" y="2093040"/>
                <a:ext cx="3442224" cy="430887"/>
              </a:xfrm>
              <a:prstGeom prst="rect">
                <a:avLst/>
              </a:prstGeom>
              <a:blipFill>
                <a:blip r:embed="rId6"/>
                <a:stretch>
                  <a:fillRect l="-3676" t="-11429" r="-1838" b="-3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EE475BE-8CA1-5E39-6A0A-457E523244DE}"/>
                  </a:ext>
                </a:extLst>
              </p:cNvPr>
              <p:cNvSpPr txBox="1"/>
              <p:nvPr/>
            </p:nvSpPr>
            <p:spPr>
              <a:xfrm>
                <a:off x="685799" y="4833657"/>
                <a:ext cx="6219138"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rPr>
                        <m:t>𝐿</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𝑤</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𝑏</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𝛼</m:t>
                          </m:r>
                        </m:e>
                      </m:d>
                      <m:r>
                        <a:rPr kumimoji="1" lang="en-US" altLang="zh-CN" sz="2400" b="0" i="1" smtClean="0">
                          <a:latin typeface="Cambria Math" panose="02040503050406030204" pitchFamily="18" charset="0"/>
                        </a:rPr>
                        <m:t>=</m:t>
                      </m:r>
                      <m:f>
                        <m:fPr>
                          <m:ctrlPr>
                            <a:rPr kumimoji="1" lang="en-US" altLang="zh-CN" sz="2400" i="1" smtClean="0">
                              <a:latin typeface="Cambria Math" panose="02040503050406030204" pitchFamily="18" charset="0"/>
                            </a:rPr>
                          </m:ctrlPr>
                        </m:fPr>
                        <m:num>
                          <m:r>
                            <a:rPr kumimoji="1" lang="en-US" altLang="zh-CN" sz="2400" i="1">
                              <a:latin typeface="Cambria Math" panose="02040503050406030204" pitchFamily="18" charset="0"/>
                            </a:rPr>
                            <m:t>1</m:t>
                          </m:r>
                        </m:num>
                        <m:den>
                          <m:r>
                            <a:rPr kumimoji="1" lang="en-US" altLang="zh-CN" sz="2400" i="1">
                              <a:latin typeface="Cambria Math" panose="02040503050406030204" pitchFamily="18" charset="0"/>
                            </a:rPr>
                            <m:t>2</m:t>
                          </m:r>
                        </m:den>
                      </m:f>
                      <m:sSup>
                        <m:sSupPr>
                          <m:ctrlPr>
                            <a:rPr kumimoji="1" lang="en-US" altLang="zh-CN" sz="2400" i="1">
                              <a:latin typeface="Cambria Math" panose="02040503050406030204" pitchFamily="18" charset="0"/>
                            </a:rPr>
                          </m:ctrlPr>
                        </m:sSupPr>
                        <m:e>
                          <m:d>
                            <m:dPr>
                              <m:begChr m:val="‖"/>
                              <m:endChr m:val="‖"/>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e>
                          </m:d>
                        </m:e>
                        <m:sup>
                          <m:r>
                            <a:rPr kumimoji="1" lang="en-US" altLang="zh-CN" sz="2400" i="1">
                              <a:latin typeface="Cambria Math" panose="02040503050406030204" pitchFamily="18" charset="0"/>
                            </a:rPr>
                            <m:t>2</m:t>
                          </m:r>
                        </m:sup>
                      </m:sSup>
                      <m:r>
                        <a:rPr kumimoji="1" lang="en-US" altLang="zh-CN" sz="2400" b="0" i="1" smtClean="0">
                          <a:latin typeface="Cambria Math" panose="02040503050406030204" pitchFamily="18" charset="0"/>
                        </a:rPr>
                        <m:t>+</m:t>
                      </m:r>
                      <m:nary>
                        <m:naryPr>
                          <m:chr m:val="∑"/>
                          <m:ctrlPr>
                            <a:rPr kumimoji="1" lang="en-US" altLang="zh-CN" sz="2400" b="0" i="1" smtClean="0">
                              <a:latin typeface="Cambria Math" panose="02040503050406030204" pitchFamily="18" charset="0"/>
                            </a:rPr>
                          </m:ctrlPr>
                        </m:naryPr>
                        <m:sub>
                          <m:r>
                            <m:rPr>
                              <m:brk m:alnAt="23"/>
                            </m:rPr>
                            <a:rPr kumimoji="1" lang="en-US" altLang="zh-CN" sz="2400" b="0" i="1" smtClean="0">
                              <a:latin typeface="Cambria Math" panose="02040503050406030204" pitchFamily="18" charset="0"/>
                            </a:rPr>
                            <m:t>𝑖</m:t>
                          </m:r>
                        </m:sub>
                        <m:sup>
                          <m:r>
                            <a:rPr kumimoji="1" lang="en-US" altLang="zh-CN" sz="2400" b="0" i="1" smtClean="0">
                              <a:latin typeface="Cambria Math" panose="02040503050406030204" pitchFamily="18" charset="0"/>
                            </a:rPr>
                            <m:t>𝑁</m:t>
                          </m:r>
                        </m:sup>
                        <m:e>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ea typeface="Cambria Math" panose="02040503050406030204" pitchFamily="18" charset="0"/>
                                </a:rPr>
                                <m:t>𝛼</m:t>
                              </m:r>
                            </m:e>
                            <m:sub>
                              <m:r>
                                <a:rPr kumimoji="1" lang="en-US" altLang="zh-CN" sz="2400" b="0" i="1" smtClean="0">
                                  <a:latin typeface="Cambria Math" panose="02040503050406030204" pitchFamily="18" charset="0"/>
                                </a:rPr>
                                <m:t>𝑖</m:t>
                              </m:r>
                            </m:sub>
                          </m:sSub>
                          <m:d>
                            <m:dPr>
                              <m:begChr m:val="["/>
                              <m:endChr m:val="]"/>
                              <m:ctrlPr>
                                <a:rPr kumimoji="1" lang="en-US" altLang="zh-CN" sz="2400" b="0" i="1" smtClean="0">
                                  <a:latin typeface="Cambria Math" panose="02040503050406030204" pitchFamily="18" charset="0"/>
                                </a:rPr>
                              </m:ctrlPr>
                            </m:dPr>
                            <m:e>
                              <m:r>
                                <a:rPr kumimoji="1" lang="en-US" altLang="zh-CN" sz="2400" i="1">
                                  <a:latin typeface="Cambria Math" panose="02040503050406030204" pitchFamily="18" charset="0"/>
                                </a:rPr>
                                <m:t>1−</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𝑦</m:t>
                                  </m:r>
                                </m:e>
                                <m:sub>
                                  <m:r>
                                    <a:rPr kumimoji="1" lang="en-US" altLang="zh-CN" sz="2400" i="1">
                                      <a:latin typeface="Cambria Math" panose="02040503050406030204" pitchFamily="18" charset="0"/>
                                    </a:rPr>
                                    <m:t>𝑖</m:t>
                                  </m:r>
                                </m:sub>
                              </m:sSub>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𝑤</m:t>
                                  </m:r>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𝑥</m:t>
                                      </m:r>
                                    </m:e>
                                    <m:sub>
                                      <m:r>
                                        <a:rPr kumimoji="1" lang="en-US" altLang="zh-CN" sz="2400" i="1">
                                          <a:latin typeface="Cambria Math" panose="02040503050406030204" pitchFamily="18" charset="0"/>
                                        </a:rPr>
                                        <m:t>𝑖</m:t>
                                      </m:r>
                                    </m:sub>
                                  </m:sSub>
                                  <m:r>
                                    <a:rPr kumimoji="1" lang="en-US" altLang="zh-CN" sz="2400" i="1">
                                      <a:latin typeface="Cambria Math" panose="02040503050406030204" pitchFamily="18" charset="0"/>
                                    </a:rPr>
                                    <m:t>+</m:t>
                                  </m:r>
                                  <m:r>
                                    <a:rPr kumimoji="1" lang="en-US" altLang="zh-CN" sz="2400" i="1">
                                      <a:latin typeface="Cambria Math" panose="02040503050406030204" pitchFamily="18" charset="0"/>
                                    </a:rPr>
                                    <m:t>𝑏</m:t>
                                  </m:r>
                                </m:e>
                              </m:d>
                            </m:e>
                          </m:d>
                        </m:e>
                      </m:nary>
                    </m:oMath>
                  </m:oMathPara>
                </a14:m>
                <a:endParaRPr kumimoji="1" lang="zh-CN" altLang="en-US" sz="2400" dirty="0"/>
              </a:p>
            </p:txBody>
          </p:sp>
        </mc:Choice>
        <mc:Fallback xmlns="">
          <p:sp>
            <p:nvSpPr>
              <p:cNvPr id="8" name="文本框 7">
                <a:extLst>
                  <a:ext uri="{FF2B5EF4-FFF2-40B4-BE49-F238E27FC236}">
                    <a16:creationId xmlns:a16="http://schemas.microsoft.com/office/drawing/2014/main" id="{B78DC57F-2BD3-ECD8-C85E-38BDC02BEBF1}"/>
                  </a:ext>
                </a:extLst>
              </p:cNvPr>
              <p:cNvSpPr txBox="1">
                <a:spLocks noRot="1" noChangeAspect="1" noMove="1" noResize="1" noEditPoints="1" noAdjustHandles="1" noChangeArrowheads="1" noChangeShapeType="1" noTextEdit="1"/>
              </p:cNvSpPr>
              <p:nvPr/>
            </p:nvSpPr>
            <p:spPr>
              <a:xfrm>
                <a:off x="685799" y="4833657"/>
                <a:ext cx="6219138" cy="1038489"/>
              </a:xfrm>
              <a:prstGeom prst="rect">
                <a:avLst/>
              </a:prstGeom>
              <a:blipFill>
                <a:blip r:embed="rId7"/>
                <a:stretch>
                  <a:fillRect l="-611" t="-114458" b="-17469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835200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C3508-F896-FF63-01E8-9E2570A0756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263C1D5-8BD8-38DC-EB73-5EC73DF5F761}"/>
              </a:ext>
            </a:extLst>
          </p:cNvPr>
          <p:cNvSpPr>
            <a:spLocks noGrp="1"/>
          </p:cNvSpPr>
          <p:nvPr>
            <p:ph type="title"/>
          </p:nvPr>
        </p:nvSpPr>
        <p:spPr/>
        <p:txBody>
          <a:bodyPr/>
          <a:lstStyle/>
          <a:p>
            <a:pPr>
              <a:defRPr/>
            </a:pPr>
            <a:r>
              <a:rPr lang="zh-CN" altLang="en-US" dirty="0"/>
              <a:t>前情回顾：线性支持向量机</a:t>
            </a:r>
          </a:p>
        </p:txBody>
      </p:sp>
      <p:sp>
        <p:nvSpPr>
          <p:cNvPr id="89091" name="灯片编号占位符 3">
            <a:extLst>
              <a:ext uri="{FF2B5EF4-FFF2-40B4-BE49-F238E27FC236}">
                <a16:creationId xmlns:a16="http://schemas.microsoft.com/office/drawing/2014/main" id="{BF8B2717-D4B4-B480-01F5-DCA404E6C5B5}"/>
              </a:ext>
            </a:extLst>
          </p:cNvPr>
          <p:cNvSpPr>
            <a:spLocks noGrp="1"/>
          </p:cNvSpPr>
          <p:nvPr>
            <p:ph type="sldNum" sz="quarter" idx="12"/>
          </p:nvPr>
        </p:nvSpPr>
        <p:spPr>
          <a:xfrm>
            <a:off x="6553200" y="5783263"/>
            <a:ext cx="1905000" cy="457200"/>
          </a:xfrm>
          <a:noFill/>
        </p:spPr>
        <p:txBody>
          <a:bodyPr/>
          <a:lstStyle/>
          <a:p>
            <a:fld id="{39E421F9-E618-4F0E-A104-91D499B13212}" type="slidenum">
              <a:rPr lang="en-US" altLang="zh-CN" smtClean="0">
                <a:ea typeface="黑体" pitchFamily="49" charset="-122"/>
              </a:rPr>
              <a:pPr/>
              <a:t>51</a:t>
            </a:fld>
            <a:endParaRPr lang="en-US" altLang="zh-CN">
              <a:ea typeface="黑体" pitchFamily="49" charset="-122"/>
            </a:endParaRPr>
          </a:p>
        </p:txBody>
      </p:sp>
      <p:cxnSp>
        <p:nvCxnSpPr>
          <p:cNvPr id="89092" name="直接箭头连接符 4">
            <a:extLst>
              <a:ext uri="{FF2B5EF4-FFF2-40B4-BE49-F238E27FC236}">
                <a16:creationId xmlns:a16="http://schemas.microsoft.com/office/drawing/2014/main" id="{1303972F-B044-78F6-A0BE-29315B1FE83B}"/>
              </a:ext>
            </a:extLst>
          </p:cNvPr>
          <p:cNvCxnSpPr>
            <a:cxnSpLocks noChangeShapeType="1"/>
          </p:cNvCxnSpPr>
          <p:nvPr/>
        </p:nvCxnSpPr>
        <p:spPr bwMode="auto">
          <a:xfrm flipV="1">
            <a:off x="1316038" y="5999163"/>
            <a:ext cx="6511925" cy="25400"/>
          </a:xfrm>
          <a:prstGeom prst="straightConnector1">
            <a:avLst/>
          </a:prstGeom>
          <a:noFill/>
          <a:ln w="38100" algn="ctr">
            <a:solidFill>
              <a:schemeClr val="tx1"/>
            </a:solidFill>
            <a:round/>
            <a:headEnd/>
            <a:tailEnd type="arrow" w="med" len="med"/>
          </a:ln>
        </p:spPr>
      </p:cxnSp>
      <p:cxnSp>
        <p:nvCxnSpPr>
          <p:cNvPr id="89093" name="直接箭头连接符 5">
            <a:extLst>
              <a:ext uri="{FF2B5EF4-FFF2-40B4-BE49-F238E27FC236}">
                <a16:creationId xmlns:a16="http://schemas.microsoft.com/office/drawing/2014/main" id="{51C19B5A-CBE3-1361-3049-83457A74D7EC}"/>
              </a:ext>
            </a:extLst>
          </p:cNvPr>
          <p:cNvCxnSpPr>
            <a:cxnSpLocks noChangeShapeType="1"/>
          </p:cNvCxnSpPr>
          <p:nvPr/>
        </p:nvCxnSpPr>
        <p:spPr bwMode="auto">
          <a:xfrm flipV="1">
            <a:off x="1614488" y="2633663"/>
            <a:ext cx="50800" cy="3608387"/>
          </a:xfrm>
          <a:prstGeom prst="straightConnector1">
            <a:avLst/>
          </a:prstGeom>
          <a:noFill/>
          <a:ln w="38100" algn="ctr">
            <a:solidFill>
              <a:schemeClr val="tx1"/>
            </a:solidFill>
            <a:round/>
            <a:headEnd/>
            <a:tailEnd type="arrow" w="med" len="med"/>
          </a:ln>
        </p:spPr>
      </p:cxnSp>
      <p:sp>
        <p:nvSpPr>
          <p:cNvPr id="89094" name="椭圆 6">
            <a:extLst>
              <a:ext uri="{FF2B5EF4-FFF2-40B4-BE49-F238E27FC236}">
                <a16:creationId xmlns:a16="http://schemas.microsoft.com/office/drawing/2014/main" id="{56FEF87A-61EC-C8ED-F00D-686F01A1DBF2}"/>
              </a:ext>
            </a:extLst>
          </p:cNvPr>
          <p:cNvSpPr>
            <a:spLocks noChangeArrowheads="1"/>
          </p:cNvSpPr>
          <p:nvPr/>
        </p:nvSpPr>
        <p:spPr bwMode="auto">
          <a:xfrm>
            <a:off x="3357563" y="4308475"/>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5" name="椭圆 7">
            <a:extLst>
              <a:ext uri="{FF2B5EF4-FFF2-40B4-BE49-F238E27FC236}">
                <a16:creationId xmlns:a16="http://schemas.microsoft.com/office/drawing/2014/main" id="{849EE638-C708-AC27-40C7-CED10B3AA52E}"/>
              </a:ext>
            </a:extLst>
          </p:cNvPr>
          <p:cNvSpPr>
            <a:spLocks noChangeArrowheads="1"/>
          </p:cNvSpPr>
          <p:nvPr/>
        </p:nvSpPr>
        <p:spPr bwMode="auto">
          <a:xfrm>
            <a:off x="2205038" y="373221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6" name="椭圆 8">
            <a:extLst>
              <a:ext uri="{FF2B5EF4-FFF2-40B4-BE49-F238E27FC236}">
                <a16:creationId xmlns:a16="http://schemas.microsoft.com/office/drawing/2014/main" id="{B619E80A-1D0D-DDD2-30CA-9A302B8A5D30}"/>
              </a:ext>
            </a:extLst>
          </p:cNvPr>
          <p:cNvSpPr>
            <a:spLocks noChangeArrowheads="1"/>
          </p:cNvSpPr>
          <p:nvPr/>
        </p:nvSpPr>
        <p:spPr bwMode="auto">
          <a:xfrm>
            <a:off x="3455988" y="497205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7" name="椭圆 9">
            <a:extLst>
              <a:ext uri="{FF2B5EF4-FFF2-40B4-BE49-F238E27FC236}">
                <a16:creationId xmlns:a16="http://schemas.microsoft.com/office/drawing/2014/main" id="{A0257624-692D-FBC4-9117-E8F8E7591506}"/>
              </a:ext>
            </a:extLst>
          </p:cNvPr>
          <p:cNvSpPr>
            <a:spLocks noChangeArrowheads="1"/>
          </p:cNvSpPr>
          <p:nvPr/>
        </p:nvSpPr>
        <p:spPr bwMode="auto">
          <a:xfrm>
            <a:off x="2630488" y="459740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8" name="椭圆 10">
            <a:extLst>
              <a:ext uri="{FF2B5EF4-FFF2-40B4-BE49-F238E27FC236}">
                <a16:creationId xmlns:a16="http://schemas.microsoft.com/office/drawing/2014/main" id="{156DB750-1D1A-5DC2-0B4C-EF581AC2049F}"/>
              </a:ext>
            </a:extLst>
          </p:cNvPr>
          <p:cNvSpPr>
            <a:spLocks noChangeArrowheads="1"/>
          </p:cNvSpPr>
          <p:nvPr/>
        </p:nvSpPr>
        <p:spPr bwMode="auto">
          <a:xfrm>
            <a:off x="3970338" y="4183063"/>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099" name="椭圆 11">
            <a:extLst>
              <a:ext uri="{FF2B5EF4-FFF2-40B4-BE49-F238E27FC236}">
                <a16:creationId xmlns:a16="http://schemas.microsoft.com/office/drawing/2014/main" id="{5FA15426-A5AB-A4DF-A5C9-BA26179B4FE0}"/>
              </a:ext>
            </a:extLst>
          </p:cNvPr>
          <p:cNvSpPr>
            <a:spLocks noChangeArrowheads="1"/>
          </p:cNvSpPr>
          <p:nvPr/>
        </p:nvSpPr>
        <p:spPr bwMode="auto">
          <a:xfrm>
            <a:off x="2851195" y="3206750"/>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0" name="椭圆 12">
            <a:extLst>
              <a:ext uri="{FF2B5EF4-FFF2-40B4-BE49-F238E27FC236}">
                <a16:creationId xmlns:a16="http://schemas.microsoft.com/office/drawing/2014/main" id="{20903E53-3CAC-623A-A52B-2D4618931876}"/>
              </a:ext>
            </a:extLst>
          </p:cNvPr>
          <p:cNvSpPr>
            <a:spLocks noChangeArrowheads="1"/>
          </p:cNvSpPr>
          <p:nvPr/>
        </p:nvSpPr>
        <p:spPr bwMode="auto">
          <a:xfrm>
            <a:off x="2767013" y="4157663"/>
            <a:ext cx="187325" cy="214312"/>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1" name="椭圆 13">
            <a:extLst>
              <a:ext uri="{FF2B5EF4-FFF2-40B4-BE49-F238E27FC236}">
                <a16:creationId xmlns:a16="http://schemas.microsoft.com/office/drawing/2014/main" id="{E287A33D-5A3F-9DB1-024E-1A8108D81E1A}"/>
              </a:ext>
            </a:extLst>
          </p:cNvPr>
          <p:cNvSpPr>
            <a:spLocks noChangeArrowheads="1"/>
          </p:cNvSpPr>
          <p:nvPr/>
        </p:nvSpPr>
        <p:spPr bwMode="auto">
          <a:xfrm>
            <a:off x="2116138" y="447198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2" name="椭圆 14">
            <a:extLst>
              <a:ext uri="{FF2B5EF4-FFF2-40B4-BE49-F238E27FC236}">
                <a16:creationId xmlns:a16="http://schemas.microsoft.com/office/drawing/2014/main" id="{311BB8AA-D3A8-7829-BE60-CAA99E43D5E1}"/>
              </a:ext>
            </a:extLst>
          </p:cNvPr>
          <p:cNvSpPr>
            <a:spLocks noChangeArrowheads="1"/>
          </p:cNvSpPr>
          <p:nvPr/>
        </p:nvSpPr>
        <p:spPr bwMode="auto">
          <a:xfrm>
            <a:off x="2916238" y="4922838"/>
            <a:ext cx="190500"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03" name="矩形 15">
            <a:extLst>
              <a:ext uri="{FF2B5EF4-FFF2-40B4-BE49-F238E27FC236}">
                <a16:creationId xmlns:a16="http://schemas.microsoft.com/office/drawing/2014/main" id="{99953702-B0D9-0420-A19B-3DFEBB53816B}"/>
              </a:ext>
            </a:extLst>
          </p:cNvPr>
          <p:cNvSpPr>
            <a:spLocks noChangeArrowheads="1"/>
          </p:cNvSpPr>
          <p:nvPr/>
        </p:nvSpPr>
        <p:spPr bwMode="auto">
          <a:xfrm>
            <a:off x="4659313" y="286861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4" name="矩形 16">
            <a:extLst>
              <a:ext uri="{FF2B5EF4-FFF2-40B4-BE49-F238E27FC236}">
                <a16:creationId xmlns:a16="http://schemas.microsoft.com/office/drawing/2014/main" id="{52385B94-D7DD-E54D-4CFF-94D3A14092F9}"/>
              </a:ext>
            </a:extLst>
          </p:cNvPr>
          <p:cNvSpPr>
            <a:spLocks noChangeArrowheads="1"/>
          </p:cNvSpPr>
          <p:nvPr/>
        </p:nvSpPr>
        <p:spPr bwMode="auto">
          <a:xfrm>
            <a:off x="5497513" y="2366963"/>
            <a:ext cx="139700" cy="163512"/>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5" name="矩形 17">
            <a:extLst>
              <a:ext uri="{FF2B5EF4-FFF2-40B4-BE49-F238E27FC236}">
                <a16:creationId xmlns:a16="http://schemas.microsoft.com/office/drawing/2014/main" id="{C8786A58-B338-3B8C-D10C-FD4A239271AF}"/>
              </a:ext>
            </a:extLst>
          </p:cNvPr>
          <p:cNvSpPr>
            <a:spLocks noChangeArrowheads="1"/>
          </p:cNvSpPr>
          <p:nvPr/>
        </p:nvSpPr>
        <p:spPr bwMode="auto">
          <a:xfrm>
            <a:off x="5888038" y="3130550"/>
            <a:ext cx="136525"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6" name="矩形 18">
            <a:extLst>
              <a:ext uri="{FF2B5EF4-FFF2-40B4-BE49-F238E27FC236}">
                <a16:creationId xmlns:a16="http://schemas.microsoft.com/office/drawing/2014/main" id="{10FD8FAD-D623-BD14-E990-6694C6213FBF}"/>
              </a:ext>
            </a:extLst>
          </p:cNvPr>
          <p:cNvSpPr>
            <a:spLocks noChangeArrowheads="1"/>
          </p:cNvSpPr>
          <p:nvPr/>
        </p:nvSpPr>
        <p:spPr bwMode="auto">
          <a:xfrm>
            <a:off x="5221288" y="2843213"/>
            <a:ext cx="139700"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7" name="矩形 19">
            <a:extLst>
              <a:ext uri="{FF2B5EF4-FFF2-40B4-BE49-F238E27FC236}">
                <a16:creationId xmlns:a16="http://schemas.microsoft.com/office/drawing/2014/main" id="{B270436F-02C2-CCD8-50EF-F8490F78E91C}"/>
              </a:ext>
            </a:extLst>
          </p:cNvPr>
          <p:cNvSpPr>
            <a:spLocks noChangeArrowheads="1"/>
          </p:cNvSpPr>
          <p:nvPr/>
        </p:nvSpPr>
        <p:spPr bwMode="auto">
          <a:xfrm>
            <a:off x="5722938" y="3806825"/>
            <a:ext cx="139700"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8" name="矩形 20">
            <a:extLst>
              <a:ext uri="{FF2B5EF4-FFF2-40B4-BE49-F238E27FC236}">
                <a16:creationId xmlns:a16="http://schemas.microsoft.com/office/drawing/2014/main" id="{56DDB6B7-BEDF-26CE-0B20-18F09E7312A3}"/>
              </a:ext>
            </a:extLst>
          </p:cNvPr>
          <p:cNvSpPr>
            <a:spLocks noChangeArrowheads="1"/>
          </p:cNvSpPr>
          <p:nvPr/>
        </p:nvSpPr>
        <p:spPr bwMode="auto">
          <a:xfrm>
            <a:off x="5135563" y="330676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09" name="矩形 21">
            <a:extLst>
              <a:ext uri="{FF2B5EF4-FFF2-40B4-BE49-F238E27FC236}">
                <a16:creationId xmlns:a16="http://schemas.microsoft.com/office/drawing/2014/main" id="{8903D708-7874-9684-A602-DE1232157BD0}"/>
              </a:ext>
            </a:extLst>
          </p:cNvPr>
          <p:cNvSpPr>
            <a:spLocks noChangeArrowheads="1"/>
          </p:cNvSpPr>
          <p:nvPr/>
        </p:nvSpPr>
        <p:spPr bwMode="auto">
          <a:xfrm>
            <a:off x="6573838" y="3557588"/>
            <a:ext cx="139700"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0" name="矩形 22">
            <a:extLst>
              <a:ext uri="{FF2B5EF4-FFF2-40B4-BE49-F238E27FC236}">
                <a16:creationId xmlns:a16="http://schemas.microsoft.com/office/drawing/2014/main" id="{37A10F39-8AF7-EA4E-8ED6-6B2CF6A128CC}"/>
              </a:ext>
            </a:extLst>
          </p:cNvPr>
          <p:cNvSpPr>
            <a:spLocks noChangeArrowheads="1"/>
          </p:cNvSpPr>
          <p:nvPr/>
        </p:nvSpPr>
        <p:spPr bwMode="auto">
          <a:xfrm>
            <a:off x="6373813" y="2667000"/>
            <a:ext cx="139700" cy="163513"/>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grpSp>
        <p:nvGrpSpPr>
          <p:cNvPr id="3" name="组合 23">
            <a:extLst>
              <a:ext uri="{FF2B5EF4-FFF2-40B4-BE49-F238E27FC236}">
                <a16:creationId xmlns:a16="http://schemas.microsoft.com/office/drawing/2014/main" id="{38AB79E1-6B8D-A747-0ED6-7D7F0C0EA8DA}"/>
              </a:ext>
            </a:extLst>
          </p:cNvPr>
          <p:cNvGrpSpPr>
            <a:grpSpLocks/>
          </p:cNvGrpSpPr>
          <p:nvPr/>
        </p:nvGrpSpPr>
        <p:grpSpPr bwMode="auto">
          <a:xfrm>
            <a:off x="1727795" y="1383657"/>
            <a:ext cx="5147725" cy="4238903"/>
            <a:chOff x="1954266" y="1521417"/>
            <a:chExt cx="5147237" cy="4239252"/>
          </a:xfrm>
        </p:grpSpPr>
        <p:cxnSp>
          <p:nvCxnSpPr>
            <p:cNvPr id="25" name="直接连接符 24">
              <a:extLst>
                <a:ext uri="{FF2B5EF4-FFF2-40B4-BE49-F238E27FC236}">
                  <a16:creationId xmlns:a16="http://schemas.microsoft.com/office/drawing/2014/main" id="{007B43E4-BA95-709D-92FB-0B73D376CCC4}"/>
                </a:ext>
              </a:extLst>
            </p:cNvPr>
            <p:cNvCxnSpPr/>
            <p:nvPr/>
          </p:nvCxnSpPr>
          <p:spPr bwMode="auto">
            <a:xfrm>
              <a:off x="2961591" y="2362185"/>
              <a:ext cx="3493759" cy="2945059"/>
            </a:xfrm>
            <a:prstGeom prst="line">
              <a:avLst/>
            </a:prstGeom>
            <a:solidFill>
              <a:schemeClr val="accent1"/>
            </a:solidFill>
            <a:ln w="38100" cap="flat" cmpd="sng" algn="ctr">
              <a:solidFill>
                <a:schemeClr val="accent5"/>
              </a:solidFill>
              <a:prstDash val="solid"/>
              <a:round/>
              <a:headEnd type="none" w="med" len="med"/>
              <a:tailEnd type="none" w="med" len="med"/>
            </a:ln>
            <a:effectLst/>
          </p:spPr>
        </p:cxnSp>
        <p:sp>
          <p:nvSpPr>
            <p:cNvPr id="89117" name="TextBox 62">
              <a:extLst>
                <a:ext uri="{FF2B5EF4-FFF2-40B4-BE49-F238E27FC236}">
                  <a16:creationId xmlns:a16="http://schemas.microsoft.com/office/drawing/2014/main" id="{A62CB84D-579D-47DF-19BB-91AC0107545B}"/>
                </a:ext>
              </a:extLst>
            </p:cNvPr>
            <p:cNvSpPr txBox="1">
              <a:spLocks noChangeArrowheads="1"/>
            </p:cNvSpPr>
            <p:nvPr/>
          </p:nvSpPr>
          <p:spPr bwMode="auto">
            <a:xfrm>
              <a:off x="2442575" y="2079320"/>
              <a:ext cx="388306" cy="461704"/>
            </a:xfrm>
            <a:prstGeom prst="rect">
              <a:avLst/>
            </a:prstGeom>
            <a:noFill/>
            <a:ln w="9525">
              <a:noFill/>
              <a:miter lim="800000"/>
              <a:headEnd/>
              <a:tailEnd/>
            </a:ln>
          </p:spPr>
          <p:txBody>
            <a:bodyPr>
              <a:spAutoFit/>
            </a:bodyPr>
            <a:lstStyle/>
            <a:p>
              <a:r>
                <a:rPr lang="en-US" altLang="zh-CN" sz="2400" b="1" dirty="0"/>
                <a:t>B</a:t>
              </a:r>
              <a:endParaRPr lang="zh-CN" altLang="en-US" sz="2400" b="1" dirty="0"/>
            </a:p>
          </p:txBody>
        </p:sp>
        <p:cxnSp>
          <p:nvCxnSpPr>
            <p:cNvPr id="30" name="直接连接符 29">
              <a:extLst>
                <a:ext uri="{FF2B5EF4-FFF2-40B4-BE49-F238E27FC236}">
                  <a16:creationId xmlns:a16="http://schemas.microsoft.com/office/drawing/2014/main" id="{D79FDB2B-7532-9033-43E9-4F9289A1759F}"/>
                </a:ext>
              </a:extLst>
            </p:cNvPr>
            <p:cNvCxnSpPr/>
            <p:nvPr/>
          </p:nvCxnSpPr>
          <p:spPr bwMode="auto">
            <a:xfrm>
              <a:off x="3607744" y="1975465"/>
              <a:ext cx="3493759" cy="2945059"/>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cxnSp>
          <p:nvCxnSpPr>
            <p:cNvPr id="31" name="直接连接符 30">
              <a:extLst>
                <a:ext uri="{FF2B5EF4-FFF2-40B4-BE49-F238E27FC236}">
                  <a16:creationId xmlns:a16="http://schemas.microsoft.com/office/drawing/2014/main" id="{E1D0C061-887A-E21C-ABC9-D15CCAC7BE1F}"/>
                </a:ext>
              </a:extLst>
            </p:cNvPr>
            <p:cNvCxnSpPr/>
            <p:nvPr/>
          </p:nvCxnSpPr>
          <p:spPr bwMode="auto">
            <a:xfrm>
              <a:off x="2390518" y="2815610"/>
              <a:ext cx="3493759" cy="2945059"/>
            </a:xfrm>
            <a:prstGeom prst="line">
              <a:avLst/>
            </a:prstGeom>
            <a:solidFill>
              <a:schemeClr val="accent1"/>
            </a:solidFill>
            <a:ln w="38100" cap="flat" cmpd="sng" algn="ctr">
              <a:solidFill>
                <a:schemeClr val="accent5"/>
              </a:solidFill>
              <a:prstDash val="dash"/>
              <a:round/>
              <a:headEnd type="none" w="med" len="med"/>
              <a:tailEnd type="none" w="med" len="med"/>
            </a:ln>
            <a:effectLst/>
          </p:spPr>
        </p:cxnSp>
        <p:sp>
          <p:nvSpPr>
            <p:cNvPr id="32" name="TextBox 62">
              <a:extLst>
                <a:ext uri="{FF2B5EF4-FFF2-40B4-BE49-F238E27FC236}">
                  <a16:creationId xmlns:a16="http://schemas.microsoft.com/office/drawing/2014/main" id="{A6F4307B-3DD7-984B-4A95-AF81D8C0982C}"/>
                </a:ext>
              </a:extLst>
            </p:cNvPr>
            <p:cNvSpPr txBox="1">
              <a:spLocks noChangeArrowheads="1"/>
            </p:cNvSpPr>
            <p:nvPr/>
          </p:nvSpPr>
          <p:spPr bwMode="auto">
            <a:xfrm>
              <a:off x="3142597" y="1521417"/>
              <a:ext cx="388306" cy="461704"/>
            </a:xfrm>
            <a:prstGeom prst="rect">
              <a:avLst/>
            </a:prstGeom>
            <a:noFill/>
            <a:ln w="9525">
              <a:noFill/>
              <a:miter lim="800000"/>
              <a:headEnd/>
              <a:tailEnd/>
            </a:ln>
          </p:spPr>
          <p:txBody>
            <a:bodyPr>
              <a:spAutoFit/>
            </a:bodyPr>
            <a:lstStyle/>
            <a:p>
              <a:r>
                <a:rPr lang="en-US" altLang="zh-CN" sz="2400" b="1" dirty="0"/>
                <a:t>C</a:t>
              </a:r>
              <a:endParaRPr lang="zh-CN" altLang="en-US" sz="2400" b="1" dirty="0"/>
            </a:p>
          </p:txBody>
        </p:sp>
        <p:sp>
          <p:nvSpPr>
            <p:cNvPr id="33" name="TextBox 62">
              <a:extLst>
                <a:ext uri="{FF2B5EF4-FFF2-40B4-BE49-F238E27FC236}">
                  <a16:creationId xmlns:a16="http://schemas.microsoft.com/office/drawing/2014/main" id="{25DEE124-276B-4BCA-EAF9-680E10FB012A}"/>
                </a:ext>
              </a:extLst>
            </p:cNvPr>
            <p:cNvSpPr txBox="1">
              <a:spLocks noChangeArrowheads="1"/>
            </p:cNvSpPr>
            <p:nvPr/>
          </p:nvSpPr>
          <p:spPr bwMode="auto">
            <a:xfrm>
              <a:off x="1954266" y="2481798"/>
              <a:ext cx="388306" cy="461704"/>
            </a:xfrm>
            <a:prstGeom prst="rect">
              <a:avLst/>
            </a:prstGeom>
            <a:noFill/>
            <a:ln w="9525">
              <a:noFill/>
              <a:miter lim="800000"/>
              <a:headEnd/>
              <a:tailEnd/>
            </a:ln>
          </p:spPr>
          <p:txBody>
            <a:bodyPr>
              <a:spAutoFit/>
            </a:bodyPr>
            <a:lstStyle/>
            <a:p>
              <a:r>
                <a:rPr lang="en-US" altLang="zh-CN" sz="2400" b="1" dirty="0"/>
                <a:t>A</a:t>
              </a:r>
              <a:endParaRPr lang="zh-CN" altLang="en-US" sz="2400" b="1" dirty="0"/>
            </a:p>
          </p:txBody>
        </p:sp>
      </p:grpSp>
      <p:sp>
        <p:nvSpPr>
          <p:cNvPr id="89112" name="椭圆 32">
            <a:extLst>
              <a:ext uri="{FF2B5EF4-FFF2-40B4-BE49-F238E27FC236}">
                <a16:creationId xmlns:a16="http://schemas.microsoft.com/office/drawing/2014/main" id="{3F2553DF-E84E-A08A-FEE4-C4847B25E8D1}"/>
              </a:ext>
            </a:extLst>
          </p:cNvPr>
          <p:cNvSpPr>
            <a:spLocks noChangeArrowheads="1"/>
          </p:cNvSpPr>
          <p:nvPr/>
        </p:nvSpPr>
        <p:spPr bwMode="auto">
          <a:xfrm>
            <a:off x="2870998" y="254567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13" name="矩形 15">
            <a:extLst>
              <a:ext uri="{FF2B5EF4-FFF2-40B4-BE49-F238E27FC236}">
                <a16:creationId xmlns:a16="http://schemas.microsoft.com/office/drawing/2014/main" id="{FCA1F6BA-919F-E4C6-0DDF-66F4407B421A}"/>
              </a:ext>
            </a:extLst>
          </p:cNvPr>
          <p:cNvSpPr>
            <a:spLocks noChangeArrowheads="1"/>
          </p:cNvSpPr>
          <p:nvPr/>
        </p:nvSpPr>
        <p:spPr bwMode="auto">
          <a:xfrm>
            <a:off x="3556000" y="3624263"/>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sp>
        <p:nvSpPr>
          <p:cNvPr id="89114" name="椭圆 10">
            <a:extLst>
              <a:ext uri="{FF2B5EF4-FFF2-40B4-BE49-F238E27FC236}">
                <a16:creationId xmlns:a16="http://schemas.microsoft.com/office/drawing/2014/main" id="{85F62CFA-FCA3-70A6-D5FF-3E26A4004658}"/>
              </a:ext>
            </a:extLst>
          </p:cNvPr>
          <p:cNvSpPr>
            <a:spLocks noChangeArrowheads="1"/>
          </p:cNvSpPr>
          <p:nvPr/>
        </p:nvSpPr>
        <p:spPr bwMode="auto">
          <a:xfrm>
            <a:off x="4466107" y="3300778"/>
            <a:ext cx="187325" cy="212725"/>
          </a:xfrm>
          <a:prstGeom prst="ellipse">
            <a:avLst/>
          </a:prstGeom>
          <a:solidFill>
            <a:srgbClr val="FFC000"/>
          </a:solidFill>
          <a:ln w="9525" algn="ctr">
            <a:solidFill>
              <a:schemeClr val="tx1"/>
            </a:solidFill>
            <a:round/>
            <a:headEnd/>
            <a:tailEnd type="triangle" w="med" len="med"/>
          </a:ln>
        </p:spPr>
        <p:txBody>
          <a:bodyPr wrap="none"/>
          <a:lstStyle/>
          <a:p>
            <a:endParaRPr lang="zh-CN" altLang="en-US"/>
          </a:p>
        </p:txBody>
      </p:sp>
      <p:sp>
        <p:nvSpPr>
          <p:cNvPr id="89115" name="矩形 15">
            <a:extLst>
              <a:ext uri="{FF2B5EF4-FFF2-40B4-BE49-F238E27FC236}">
                <a16:creationId xmlns:a16="http://schemas.microsoft.com/office/drawing/2014/main" id="{1E7BB514-10E2-DC40-7E78-22EE4D423F71}"/>
              </a:ext>
            </a:extLst>
          </p:cNvPr>
          <p:cNvSpPr>
            <a:spLocks noChangeArrowheads="1"/>
          </p:cNvSpPr>
          <p:nvPr/>
        </p:nvSpPr>
        <p:spPr bwMode="auto">
          <a:xfrm>
            <a:off x="5008461" y="3915101"/>
            <a:ext cx="136525" cy="161925"/>
          </a:xfrm>
          <a:prstGeom prst="rect">
            <a:avLst/>
          </a:prstGeom>
          <a:solidFill>
            <a:srgbClr val="FF0000"/>
          </a:solidFill>
          <a:ln w="9525" algn="ctr">
            <a:solidFill>
              <a:schemeClr val="tx1"/>
            </a:solidFill>
            <a:round/>
            <a:headEnd/>
            <a:tailEnd type="triangle" w="med" len="med"/>
          </a:ln>
        </p:spPr>
        <p:txBody>
          <a:bodyPr wrap="none"/>
          <a:lstStyle/>
          <a:p>
            <a:endParaRPr lang="zh-CN" altLang="en-US"/>
          </a:p>
        </p:txBody>
      </p:sp>
      <p:cxnSp>
        <p:nvCxnSpPr>
          <p:cNvPr id="5" name="直接箭头连接符 4">
            <a:extLst>
              <a:ext uri="{FF2B5EF4-FFF2-40B4-BE49-F238E27FC236}">
                <a16:creationId xmlns:a16="http://schemas.microsoft.com/office/drawing/2014/main" id="{A6C87943-0A9F-23EC-A22A-020DAA99740A}"/>
              </a:ext>
            </a:extLst>
          </p:cNvPr>
          <p:cNvCxnSpPr>
            <a:endCxn id="89112" idx="3"/>
          </p:cNvCxnSpPr>
          <p:nvPr/>
        </p:nvCxnSpPr>
        <p:spPr>
          <a:xfrm flipV="1">
            <a:off x="2630488" y="2727250"/>
            <a:ext cx="267943" cy="2540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E3ADC1B9-E98B-5BA5-2CFB-929DC72A0129}"/>
              </a:ext>
            </a:extLst>
          </p:cNvPr>
          <p:cNvCxnSpPr>
            <a:endCxn id="89114" idx="3"/>
          </p:cNvCxnSpPr>
          <p:nvPr/>
        </p:nvCxnSpPr>
        <p:spPr>
          <a:xfrm flipV="1">
            <a:off x="3894979" y="3482350"/>
            <a:ext cx="598561" cy="56791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96BAA53F-8D35-3C00-8FC8-DC8E07581981}"/>
              </a:ext>
            </a:extLst>
          </p:cNvPr>
          <p:cNvCxnSpPr/>
          <p:nvPr/>
        </p:nvCxnSpPr>
        <p:spPr>
          <a:xfrm flipH="1">
            <a:off x="3692526" y="2812869"/>
            <a:ext cx="801097" cy="8055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87CAB123-0E8A-D62D-F8B7-E55747459C4B}"/>
              </a:ext>
            </a:extLst>
          </p:cNvPr>
          <p:cNvCxnSpPr/>
          <p:nvPr/>
        </p:nvCxnSpPr>
        <p:spPr>
          <a:xfrm flipH="1">
            <a:off x="5136153" y="3601337"/>
            <a:ext cx="312913" cy="3298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49" name="Object 2" descr="羊皮纸">
            <a:extLst>
              <a:ext uri="{FF2B5EF4-FFF2-40B4-BE49-F238E27FC236}">
                <a16:creationId xmlns:a16="http://schemas.microsoft.com/office/drawing/2014/main" id="{8145443B-7F92-A871-2E55-5541AC187CED}"/>
              </a:ext>
            </a:extLst>
          </p:cNvPr>
          <p:cNvGraphicFramePr>
            <a:graphicFrameLocks noChangeAspect="1"/>
          </p:cNvGraphicFramePr>
          <p:nvPr/>
        </p:nvGraphicFramePr>
        <p:xfrm>
          <a:off x="2436019" y="2318817"/>
          <a:ext cx="388938" cy="585787"/>
        </p:xfrm>
        <a:graphic>
          <a:graphicData uri="http://schemas.openxmlformats.org/presentationml/2006/ole">
            <mc:AlternateContent xmlns:mc="http://schemas.openxmlformats.org/markup-compatibility/2006">
              <mc:Choice xmlns:v="urn:schemas-microsoft-com:vml" Requires="v">
                <p:oleObj name="公式" r:id="rId3" imgW="152280" imgH="228600" progId="Equation.3">
                  <p:embed/>
                </p:oleObj>
              </mc:Choice>
              <mc:Fallback>
                <p:oleObj name="公式" r:id="rId3" imgW="152280" imgH="228600" progId="Equation.3">
                  <p:embed/>
                  <p:pic>
                    <p:nvPicPr>
                      <p:cNvPr id="49" name="Object 2" descr="羊皮纸">
                        <a:extLst>
                          <a:ext uri="{FF2B5EF4-FFF2-40B4-BE49-F238E27FC236}">
                            <a16:creationId xmlns:a16="http://schemas.microsoft.com/office/drawing/2014/main" id="{8145443B-7F92-A871-2E55-5541AC187C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6019" y="2318817"/>
                        <a:ext cx="388938" cy="585787"/>
                      </a:xfrm>
                      <a:prstGeom prst="rect">
                        <a:avLst/>
                      </a:prstGeom>
                      <a:noFill/>
                      <a:ln>
                        <a:noFill/>
                      </a:ln>
                    </p:spPr>
                  </p:pic>
                </p:oleObj>
              </mc:Fallback>
            </mc:AlternateContent>
          </a:graphicData>
        </a:graphic>
      </p:graphicFrame>
      <p:graphicFrame>
        <p:nvGraphicFramePr>
          <p:cNvPr id="50" name="Object 2" descr="羊皮纸">
            <a:extLst>
              <a:ext uri="{FF2B5EF4-FFF2-40B4-BE49-F238E27FC236}">
                <a16:creationId xmlns:a16="http://schemas.microsoft.com/office/drawing/2014/main" id="{BCAB8370-72FB-AA34-0473-B8F2978A949A}"/>
              </a:ext>
            </a:extLst>
          </p:cNvPr>
          <p:cNvGraphicFramePr>
            <a:graphicFrameLocks noChangeAspect="1"/>
          </p:cNvGraphicFramePr>
          <p:nvPr/>
        </p:nvGraphicFramePr>
        <p:xfrm>
          <a:off x="3881907" y="2620963"/>
          <a:ext cx="388938" cy="585787"/>
        </p:xfrm>
        <a:graphic>
          <a:graphicData uri="http://schemas.openxmlformats.org/presentationml/2006/ole">
            <mc:AlternateContent xmlns:mc="http://schemas.openxmlformats.org/markup-compatibility/2006">
              <mc:Choice xmlns:v="urn:schemas-microsoft-com:vml" Requires="v">
                <p:oleObj name="公式" r:id="rId3" imgW="152280" imgH="228600" progId="Equation.3">
                  <p:embed/>
                </p:oleObj>
              </mc:Choice>
              <mc:Fallback>
                <p:oleObj name="公式" r:id="rId3" imgW="152280" imgH="228600" progId="Equation.3">
                  <p:embed/>
                  <p:pic>
                    <p:nvPicPr>
                      <p:cNvPr id="50" name="Object 2" descr="羊皮纸">
                        <a:extLst>
                          <a:ext uri="{FF2B5EF4-FFF2-40B4-BE49-F238E27FC236}">
                            <a16:creationId xmlns:a16="http://schemas.microsoft.com/office/drawing/2014/main" id="{BCAB8370-72FB-AA34-0473-B8F2978A94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1907" y="2620963"/>
                        <a:ext cx="388938" cy="58578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2279954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39080-8A75-359D-ACBF-5A6801CA9726}"/>
            </a:ext>
          </a:extLst>
        </p:cNvPr>
        <p:cNvGrpSpPr/>
        <p:nvPr/>
      </p:nvGrpSpPr>
      <p:grpSpPr>
        <a:xfrm>
          <a:off x="0" y="0"/>
          <a:ext cx="0" cy="0"/>
          <a:chOff x="0" y="0"/>
          <a:chExt cx="0" cy="0"/>
        </a:xfrm>
      </p:grpSpPr>
      <p:sp>
        <p:nvSpPr>
          <p:cNvPr id="32771" name="内容占位符 2">
            <a:extLst>
              <a:ext uri="{FF2B5EF4-FFF2-40B4-BE49-F238E27FC236}">
                <a16:creationId xmlns:a16="http://schemas.microsoft.com/office/drawing/2014/main" id="{96E6549A-BABB-46C2-BA58-B27A58E66AE5}"/>
              </a:ext>
            </a:extLst>
          </p:cNvPr>
          <p:cNvSpPr>
            <a:spLocks noGrp="1"/>
          </p:cNvSpPr>
          <p:nvPr>
            <p:ph idx="1"/>
          </p:nvPr>
        </p:nvSpPr>
        <p:spPr>
          <a:xfrm>
            <a:off x="685800" y="1502229"/>
            <a:ext cx="8020050" cy="5081454"/>
          </a:xfrm>
        </p:spPr>
        <p:txBody>
          <a:bodyPr>
            <a:normAutofit/>
          </a:bodyPr>
          <a:lstStyle/>
          <a:p>
            <a:pPr>
              <a:buFont typeface="Wingdings" pitchFamily="2" charset="2"/>
              <a:buNone/>
            </a:pPr>
            <a:r>
              <a:rPr lang="zh-CN" altLang="en-US" sz="3200" b="1" dirty="0"/>
              <a:t>线性支持向量机就转化为如下的优化问题</a:t>
            </a:r>
            <a:endParaRPr lang="en-US" altLang="zh-CN" sz="3200" b="1" dirty="0"/>
          </a:p>
          <a:p>
            <a:pPr>
              <a:buFont typeface="Wingdings" pitchFamily="2" charset="2"/>
              <a:buNone/>
            </a:pPr>
            <a:r>
              <a:rPr lang="zh-CN" altLang="en-US" sz="3200" b="1" dirty="0"/>
              <a:t>（原始问题）：</a:t>
            </a: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a:p>
            <a:pPr>
              <a:buFont typeface="Wingdings" pitchFamily="2" charset="2"/>
              <a:buNone/>
            </a:pPr>
            <a:endParaRPr lang="en-US" altLang="zh-CN" sz="3200" b="1" dirty="0"/>
          </a:p>
        </p:txBody>
      </p:sp>
      <p:sp>
        <p:nvSpPr>
          <p:cNvPr id="32772" name="灯片编号占位符 3">
            <a:extLst>
              <a:ext uri="{FF2B5EF4-FFF2-40B4-BE49-F238E27FC236}">
                <a16:creationId xmlns:a16="http://schemas.microsoft.com/office/drawing/2014/main" id="{C5A73CEA-C688-82F2-D33C-BDBA5217C5E2}"/>
              </a:ext>
            </a:extLst>
          </p:cNvPr>
          <p:cNvSpPr>
            <a:spLocks noGrp="1"/>
          </p:cNvSpPr>
          <p:nvPr>
            <p:ph type="sldNum" sz="quarter" idx="12"/>
          </p:nvPr>
        </p:nvSpPr>
        <p:spPr>
          <a:noFill/>
        </p:spPr>
        <p:txBody>
          <a:bodyPr/>
          <a:lstStyle/>
          <a:p>
            <a:fld id="{2555E7D6-8DBE-4327-94BF-72389A9DB891}" type="slidenum">
              <a:rPr lang="en-US" altLang="zh-CN" smtClean="0">
                <a:ea typeface="黑体" pitchFamily="49" charset="-122"/>
              </a:rPr>
              <a:pPr/>
              <a:t>52</a:t>
            </a:fld>
            <a:endParaRPr lang="en-US" altLang="zh-CN">
              <a:ea typeface="黑体" pitchFamily="49" charset="-122"/>
            </a:endParaRPr>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2EBCE77C-C454-3EFA-98A1-E6E3F4BB9739}"/>
                  </a:ext>
                </a:extLst>
              </p:cNvPr>
              <p:cNvSpPr txBox="1"/>
              <p:nvPr/>
            </p:nvSpPr>
            <p:spPr>
              <a:xfrm>
                <a:off x="2034507" y="2748615"/>
                <a:ext cx="3703386"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800" i="1" smtClean="0">
                              <a:latin typeface="Cambria Math" panose="02040503050406030204" pitchFamily="18" charset="0"/>
                            </a:rPr>
                          </m:ctrlPr>
                        </m:funcPr>
                        <m:fName>
                          <m:limLow>
                            <m:limLowPr>
                              <m:ctrlPr>
                                <a:rPr kumimoji="1" lang="en-US" altLang="zh-CN" sz="2800" i="1" smtClean="0">
                                  <a:latin typeface="Cambria Math" panose="02040503050406030204" pitchFamily="18" charset="0"/>
                                </a:rPr>
                              </m:ctrlPr>
                            </m:limLowPr>
                            <m:e>
                              <m:r>
                                <m:rPr>
                                  <m:sty m:val="p"/>
                                </m:rPr>
                                <a:rPr kumimoji="1" lang="en-US" altLang="zh-CN" sz="2800" i="0" smtClean="0">
                                  <a:latin typeface="Cambria Math" panose="02040503050406030204" pitchFamily="18" charset="0"/>
                                </a:rPr>
                                <m:t>min</m:t>
                              </m:r>
                            </m:e>
                            <m:lim>
                              <m:r>
                                <m:rPr>
                                  <m:sty m:val="p"/>
                                </m:rPr>
                                <a:rPr kumimoji="1" lang="en-US" altLang="zh-CN" sz="2800" i="1">
                                  <a:latin typeface="Cambria Math" panose="02040503050406030204" pitchFamily="18" charset="0"/>
                                </a:rPr>
                                <m:t>w</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kumimoji="1" lang="en-US" altLang="zh-CN" sz="2800" b="0" i="1" smtClean="0">
                                  <a:latin typeface="Cambria Math" panose="02040503050406030204" pitchFamily="18" charset="0"/>
                                </a:rPr>
                                <m:t>𝑏</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𝜉</m:t>
                              </m:r>
                            </m:lim>
                          </m:limLow>
                          <m:r>
                            <a:rPr kumimoji="1" lang="en-US" altLang="zh-CN" sz="2800" b="0" i="1" smtClean="0">
                              <a:latin typeface="Cambria Math" panose="02040503050406030204" pitchFamily="18" charset="0"/>
                            </a:rPr>
                            <m:t>(</m:t>
                          </m:r>
                        </m:fName>
                        <m:e>
                          <m:f>
                            <m:fPr>
                              <m:ctrlPr>
                                <a:rPr kumimoji="1" lang="en-US" altLang="zh-CN" sz="2800" i="1" smtClean="0">
                                  <a:latin typeface="Cambria Math" panose="02040503050406030204" pitchFamily="18" charset="0"/>
                                </a:rPr>
                              </m:ctrlPr>
                            </m:fPr>
                            <m:num>
                              <m:r>
                                <a:rPr kumimoji="1" lang="en-US" altLang="zh-CN" sz="2800" b="0" i="1" smtClean="0">
                                  <a:latin typeface="Cambria Math" panose="02040503050406030204" pitchFamily="18" charset="0"/>
                                </a:rPr>
                                <m:t>1</m:t>
                              </m:r>
                            </m:num>
                            <m:den>
                              <m:r>
                                <a:rPr kumimoji="1" lang="en-US" altLang="zh-CN" sz="2800" b="0" i="1" smtClean="0">
                                  <a:latin typeface="Cambria Math" panose="02040503050406030204" pitchFamily="18" charset="0"/>
                                </a:rPr>
                                <m:t>2</m:t>
                              </m:r>
                            </m:den>
                          </m:f>
                          <m:sSup>
                            <m:sSupPr>
                              <m:ctrlPr>
                                <a:rPr kumimoji="1" lang="en-US" altLang="zh-CN" sz="2800" i="1" smtClean="0">
                                  <a:latin typeface="Cambria Math" panose="02040503050406030204" pitchFamily="18" charset="0"/>
                                </a:rPr>
                              </m:ctrlPr>
                            </m:sSupPr>
                            <m:e>
                              <m:d>
                                <m:dPr>
                                  <m:begChr m:val="‖"/>
                                  <m:endChr m:val="‖"/>
                                  <m:ctrlPr>
                                    <a:rPr kumimoji="1" lang="en-US" altLang="zh-CN" sz="2800" i="1">
                                      <a:latin typeface="Cambria Math" panose="02040503050406030204" pitchFamily="18" charset="0"/>
                                    </a:rPr>
                                  </m:ctrlPr>
                                </m:dPr>
                                <m:e>
                                  <m:r>
                                    <a:rPr kumimoji="1" lang="en-US" altLang="zh-CN" sz="2800" i="1">
                                      <a:latin typeface="Cambria Math" panose="02040503050406030204" pitchFamily="18" charset="0"/>
                                    </a:rPr>
                                    <m:t>𝑤</m:t>
                                  </m:r>
                                </m:e>
                              </m:d>
                            </m:e>
                            <m:sup>
                              <m:r>
                                <a:rPr kumimoji="1" lang="en-US" altLang="zh-CN" sz="2800" b="0" i="1" smtClean="0">
                                  <a:latin typeface="Cambria Math" panose="02040503050406030204" pitchFamily="18" charset="0"/>
                                </a:rPr>
                                <m:t>2</m:t>
                              </m:r>
                            </m:sup>
                          </m:sSup>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𝐶</m:t>
                          </m:r>
                          <m:nary>
                            <m:naryPr>
                              <m:chr m:val="∑"/>
                              <m:ctrlPr>
                                <a:rPr kumimoji="1" lang="en-US" altLang="zh-CN" sz="2800" b="0" i="1" smtClean="0">
                                  <a:latin typeface="Cambria Math" panose="02040503050406030204" pitchFamily="18" charset="0"/>
                                </a:rPr>
                              </m:ctrlPr>
                            </m:naryPr>
                            <m:sub>
                              <m:r>
                                <m:rPr>
                                  <m:brk m:alnAt="23"/>
                                </m:rPr>
                                <a:rPr kumimoji="1" lang="en-US" altLang="zh-CN" sz="2800" b="0" i="1" smtClean="0">
                                  <a:latin typeface="Cambria Math" panose="02040503050406030204" pitchFamily="18" charset="0"/>
                                </a:rPr>
                                <m:t>𝑖</m:t>
                              </m:r>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𝑁</m:t>
                              </m:r>
                            </m:sup>
                            <m:e>
                              <m:sSub>
                                <m:sSubPr>
                                  <m:ctrlPr>
                                    <a:rPr kumimoji="1" lang="en-US" altLang="zh-CN" sz="2800" b="0" i="1" smtClean="0">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𝜉</m:t>
                                  </m:r>
                                </m:e>
                                <m:sub>
                                  <m:r>
                                    <a:rPr kumimoji="1" lang="en-US" altLang="zh-CN" sz="2800" b="0" i="1" smtClean="0">
                                      <a:latin typeface="Cambria Math" panose="02040503050406030204" pitchFamily="18" charset="0"/>
                                    </a:rPr>
                                    <m:t>𝑖</m:t>
                                  </m:r>
                                </m:sub>
                              </m:sSub>
                            </m:e>
                          </m:nary>
                          <m:r>
                            <a:rPr kumimoji="1" lang="en-US" altLang="zh-CN" sz="2800" b="0" i="1" smtClean="0">
                              <a:latin typeface="Cambria Math" panose="02040503050406030204" pitchFamily="18" charset="0"/>
                            </a:rPr>
                            <m:t>)</m:t>
                          </m:r>
                        </m:e>
                      </m:func>
                    </m:oMath>
                  </m:oMathPara>
                </a14:m>
                <a:endParaRPr kumimoji="1" lang="zh-CN" altLang="en-US" sz="2800" dirty="0"/>
              </a:p>
            </p:txBody>
          </p:sp>
        </mc:Choice>
        <mc:Fallback>
          <p:sp>
            <p:nvSpPr>
              <p:cNvPr id="2" name="文本框 1">
                <a:extLst>
                  <a:ext uri="{FF2B5EF4-FFF2-40B4-BE49-F238E27FC236}">
                    <a16:creationId xmlns:a16="http://schemas.microsoft.com/office/drawing/2014/main" id="{2EBCE77C-C454-3EFA-98A1-E6E3F4BB9739}"/>
                  </a:ext>
                </a:extLst>
              </p:cNvPr>
              <p:cNvSpPr txBox="1">
                <a:spLocks noRot="1" noChangeAspect="1" noMove="1" noResize="1" noEditPoints="1" noAdjustHandles="1" noChangeArrowheads="1" noChangeShapeType="1" noTextEdit="1"/>
              </p:cNvSpPr>
              <p:nvPr/>
            </p:nvSpPr>
            <p:spPr>
              <a:xfrm>
                <a:off x="2034507" y="2748615"/>
                <a:ext cx="3703386" cy="1211550"/>
              </a:xfrm>
              <a:prstGeom prst="rect">
                <a:avLst/>
              </a:prstGeom>
              <a:blipFill>
                <a:blip r:embed="rId2"/>
                <a:stretch>
                  <a:fillRect l="-1027" t="-112500" r="-9589" b="-17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F08234EE-FF99-0D10-1BB4-1C4F1F37C747}"/>
                  </a:ext>
                </a:extLst>
              </p:cNvPr>
              <p:cNvSpPr txBox="1"/>
              <p:nvPr/>
            </p:nvSpPr>
            <p:spPr>
              <a:xfrm>
                <a:off x="1676877" y="4180914"/>
                <a:ext cx="441864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𝑠</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𝑡</m:t>
                      </m:r>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𝑦</m:t>
                          </m:r>
                        </m:e>
                        <m:sub>
                          <m:r>
                            <a:rPr kumimoji="1" lang="en-US" altLang="zh-CN" sz="2800" b="0" i="1" smtClean="0">
                              <a:latin typeface="Cambria Math" panose="02040503050406030204" pitchFamily="18" charset="0"/>
                            </a:rPr>
                            <m:t>𝑖</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𝑤</m:t>
                          </m:r>
                          <m:sSub>
                            <m:sSubPr>
                              <m:ctrlPr>
                                <a:rPr kumimoji="1" lang="en-US" altLang="zh-CN" sz="2800" i="1">
                                  <a:latin typeface="Cambria Math" panose="02040503050406030204" pitchFamily="18" charset="0"/>
                                </a:rPr>
                              </m:ctrlPr>
                            </m:sSubPr>
                            <m:e>
                              <m:r>
                                <a:rPr kumimoji="1" lang="en-US" altLang="zh-CN" sz="280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𝑥</m:t>
                              </m:r>
                            </m:e>
                            <m:sub>
                              <m:r>
                                <a:rPr kumimoji="1" lang="en-US" altLang="zh-CN" sz="2800" i="1">
                                  <a:latin typeface="Cambria Math" panose="02040503050406030204" pitchFamily="18" charset="0"/>
                                </a:rPr>
                                <m:t>𝑖</m:t>
                              </m:r>
                            </m:sub>
                          </m:sSub>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𝑏</m:t>
                          </m:r>
                        </m:e>
                      </m:d>
                      <m:r>
                        <a:rPr kumimoji="1" lang="en-US" altLang="zh-CN" sz="2800" b="0" i="1" smtClean="0">
                          <a:latin typeface="Cambria Math" panose="02040503050406030204" pitchFamily="18" charset="0"/>
                          <a:ea typeface="Cambria Math" panose="02040503050406030204" pitchFamily="18" charset="0"/>
                        </a:rPr>
                        <m:t>≥1−</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𝜉</m:t>
                          </m:r>
                        </m:e>
                        <m:sub>
                          <m:r>
                            <a:rPr kumimoji="1" lang="en-US" altLang="zh-CN" sz="2800" i="1">
                              <a:latin typeface="Cambria Math" panose="02040503050406030204" pitchFamily="18" charset="0"/>
                            </a:rPr>
                            <m:t>𝑖</m:t>
                          </m:r>
                        </m:sub>
                      </m:sSub>
                    </m:oMath>
                  </m:oMathPara>
                </a14:m>
                <a:endParaRPr kumimoji="1" lang="zh-CN" altLang="en-US" sz="2800" dirty="0"/>
              </a:p>
            </p:txBody>
          </p:sp>
        </mc:Choice>
        <mc:Fallback>
          <p:sp>
            <p:nvSpPr>
              <p:cNvPr id="3" name="文本框 2">
                <a:extLst>
                  <a:ext uri="{FF2B5EF4-FFF2-40B4-BE49-F238E27FC236}">
                    <a16:creationId xmlns:a16="http://schemas.microsoft.com/office/drawing/2014/main" id="{F08234EE-FF99-0D10-1BB4-1C4F1F37C747}"/>
                  </a:ext>
                </a:extLst>
              </p:cNvPr>
              <p:cNvSpPr txBox="1">
                <a:spLocks noRot="1" noChangeAspect="1" noMove="1" noResize="1" noEditPoints="1" noAdjustHandles="1" noChangeArrowheads="1" noChangeShapeType="1" noTextEdit="1"/>
              </p:cNvSpPr>
              <p:nvPr/>
            </p:nvSpPr>
            <p:spPr>
              <a:xfrm>
                <a:off x="1676877" y="4180914"/>
                <a:ext cx="4418646" cy="430887"/>
              </a:xfrm>
              <a:prstGeom prst="rect">
                <a:avLst/>
              </a:prstGeom>
              <a:blipFill>
                <a:blip r:embed="rId3"/>
                <a:stretch>
                  <a:fillRect t="-14286" b="-314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D9A6E0EE-E8DA-C37F-9F5D-333B2B377D4D}"/>
                  </a:ext>
                </a:extLst>
              </p:cNvPr>
              <p:cNvSpPr txBox="1"/>
              <p:nvPr/>
            </p:nvSpPr>
            <p:spPr>
              <a:xfrm>
                <a:off x="2034507" y="4832551"/>
                <a:ext cx="45720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800" i="1" smtClean="0">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𝜉</m:t>
                          </m:r>
                        </m:e>
                        <m:sub>
                          <m:r>
                            <a:rPr kumimoji="1" lang="en-US" altLang="zh-CN" sz="2800" i="1">
                              <a:latin typeface="Cambria Math" panose="02040503050406030204" pitchFamily="18" charset="0"/>
                            </a:rPr>
                            <m:t>𝑖</m:t>
                          </m:r>
                        </m:sub>
                      </m:sSub>
                      <m:r>
                        <a:rPr lang="zh-CN" altLang="en-US" sz="2800" i="1">
                          <a:solidFill>
                            <a:srgbClr val="000000"/>
                          </a:solidFill>
                          <a:latin typeface="Cambria Math" panose="02040503050406030204" pitchFamily="18" charset="0"/>
                        </a:rPr>
                        <m:t>≥0,</m:t>
                      </m:r>
                      <m:r>
                        <a:rPr lang="zh-CN" altLang="en-US" sz="2800" b="0" i="1" smtClean="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 </m:t>
                      </m:r>
                      <m:r>
                        <a:rPr lang="zh-CN" altLang="en-US" sz="2800" b="0" i="1" smtClean="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=1,2,...,</m:t>
                      </m:r>
                      <m:r>
                        <a:rPr lang="zh-CN" altLang="en-US" sz="2800" i="1">
                          <a:solidFill>
                            <a:srgbClr val="000000"/>
                          </a:solidFill>
                          <a:latin typeface="Cambria Math" panose="02040503050406030204" pitchFamily="18" charset="0"/>
                        </a:rPr>
                        <m:t>𝑁</m:t>
                      </m:r>
                    </m:oMath>
                  </m:oMathPara>
                </a14:m>
                <a:endParaRPr lang="zh-CN" altLang="en-US" sz="2800" dirty="0"/>
              </a:p>
            </p:txBody>
          </p:sp>
        </mc:Choice>
        <mc:Fallback>
          <p:sp>
            <p:nvSpPr>
              <p:cNvPr id="5" name="文本框 4">
                <a:extLst>
                  <a:ext uri="{FF2B5EF4-FFF2-40B4-BE49-F238E27FC236}">
                    <a16:creationId xmlns:a16="http://schemas.microsoft.com/office/drawing/2014/main" id="{D9A6E0EE-E8DA-C37F-9F5D-333B2B377D4D}"/>
                  </a:ext>
                </a:extLst>
              </p:cNvPr>
              <p:cNvSpPr txBox="1">
                <a:spLocks noRot="1" noChangeAspect="1" noMove="1" noResize="1" noEditPoints="1" noAdjustHandles="1" noChangeArrowheads="1" noChangeShapeType="1" noTextEdit="1"/>
              </p:cNvSpPr>
              <p:nvPr/>
            </p:nvSpPr>
            <p:spPr>
              <a:xfrm>
                <a:off x="2034507" y="4832551"/>
                <a:ext cx="4572000" cy="523220"/>
              </a:xfrm>
              <a:prstGeom prst="rect">
                <a:avLst/>
              </a:prstGeom>
              <a:blipFill>
                <a:blip r:embed="rId4"/>
                <a:stretch>
                  <a:fillRect b="-19048"/>
                </a:stretch>
              </a:blipFill>
            </p:spPr>
            <p:txBody>
              <a:bodyPr/>
              <a:lstStyle/>
              <a:p>
                <a:r>
                  <a:rPr lang="en-US">
                    <a:noFill/>
                  </a:rPr>
                  <a:t> </a:t>
                </a:r>
              </a:p>
            </p:txBody>
          </p:sp>
        </mc:Fallback>
      </mc:AlternateContent>
      <p:sp>
        <p:nvSpPr>
          <p:cNvPr id="4" name="标题 1">
            <a:extLst>
              <a:ext uri="{FF2B5EF4-FFF2-40B4-BE49-F238E27FC236}">
                <a16:creationId xmlns:a16="http://schemas.microsoft.com/office/drawing/2014/main" id="{814A727F-7F25-435C-660D-95E5F385DF5A}"/>
              </a:ext>
            </a:extLst>
          </p:cNvPr>
          <p:cNvSpPr>
            <a:spLocks noGrp="1"/>
          </p:cNvSpPr>
          <p:nvPr>
            <p:ph type="title"/>
          </p:nvPr>
        </p:nvSpPr>
        <p:spPr>
          <a:xfrm>
            <a:off x="914400" y="274638"/>
            <a:ext cx="7772400" cy="1143000"/>
          </a:xfrm>
        </p:spPr>
        <p:txBody>
          <a:bodyPr/>
          <a:lstStyle/>
          <a:p>
            <a:pPr>
              <a:defRPr/>
            </a:pPr>
            <a:r>
              <a:rPr lang="zh-CN" altLang="en-US" dirty="0"/>
              <a:t>前情回顾：线性支持向量机</a:t>
            </a:r>
          </a:p>
        </p:txBody>
      </p:sp>
    </p:spTree>
    <p:extLst>
      <p:ext uri="{BB962C8B-B14F-4D97-AF65-F5344CB8AC3E}">
        <p14:creationId xmlns:p14="http://schemas.microsoft.com/office/powerpoint/2010/main" val="8306057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icrosoft YaHei" panose="020B0503020204020204" pitchFamily="34" charset="-122"/>
                <a:ea typeface="Microsoft YaHei" panose="020B0503020204020204" pitchFamily="34" charset="-122"/>
              </a:rPr>
              <a:t>在对偶空间探索特征映射</a:t>
            </a:r>
            <a:endParaRPr 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mc:Choice xmlns:a14="http://schemas.microsoft.com/office/drawing/2010/main" Requires="a14">
          <p:sp>
            <p:nvSpPr>
              <p:cNvPr id="7" name="TextBox 6"/>
              <p:cNvSpPr txBox="1"/>
              <p:nvPr/>
            </p:nvSpPr>
            <p:spPr>
              <a:xfrm>
                <a:off x="2139546" y="2895136"/>
                <a:ext cx="4688976" cy="11868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rPr>
                        <m:t>𝑠</m:t>
                      </m:r>
                      <m:r>
                        <a:rPr lang="en-US" sz="2600" b="0" i="1" smtClean="0">
                          <a:latin typeface="Cambria Math" panose="02040503050406030204" pitchFamily="18" charset="0"/>
                        </a:rPr>
                        <m:t>.</m:t>
                      </m:r>
                      <m:r>
                        <a:rPr lang="en-US" sz="2600" b="0" i="1" smtClean="0">
                          <a:latin typeface="Cambria Math" panose="02040503050406030204" pitchFamily="18" charset="0"/>
                        </a:rPr>
                        <m:t>𝑡</m:t>
                      </m:r>
                      <m:r>
                        <a:rPr lang="en-US" sz="2600" b="0" i="1" smtClean="0">
                          <a:latin typeface="Cambria Math" panose="02040503050406030204" pitchFamily="18" charset="0"/>
                        </a:rPr>
                        <m:t>.</m:t>
                      </m:r>
                      <m:nary>
                        <m:naryPr>
                          <m:chr m:val="∑"/>
                          <m:ctrlPr>
                            <a:rPr kumimoji="1" lang="en-US" altLang="zh-CN" sz="2800" i="1">
                              <a:latin typeface="Cambria Math" panose="02040503050406030204" pitchFamily="18" charset="0"/>
                            </a:rPr>
                          </m:ctrlPr>
                        </m:naryPr>
                        <m:sub>
                          <m:r>
                            <m:rPr>
                              <m:brk m:alnAt="23"/>
                            </m:rPr>
                            <a:rPr kumimoji="1" lang="en-US" altLang="zh-CN" sz="2800" i="1">
                              <a:latin typeface="Cambria Math" panose="02040503050406030204" pitchFamily="18" charset="0"/>
                            </a:rPr>
                            <m:t>𝑖</m:t>
                          </m:r>
                          <m:r>
                            <a:rPr kumimoji="1" lang="en-US" altLang="zh-CN" sz="2800" i="1">
                              <a:latin typeface="Cambria Math" panose="02040503050406030204" pitchFamily="18" charset="0"/>
                            </a:rPr>
                            <m:t>=1</m:t>
                          </m:r>
                        </m:sub>
                        <m:sup>
                          <m:r>
                            <a:rPr kumimoji="1" lang="en-US" altLang="zh-CN" sz="2800" i="1">
                              <a:latin typeface="Cambria Math" panose="02040503050406030204" pitchFamily="18" charset="0"/>
                            </a:rPr>
                            <m:t>𝑁</m:t>
                          </m:r>
                        </m:sup>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ea typeface="Cambria Math" panose="02040503050406030204" pitchFamily="18" charset="0"/>
                                </a:rPr>
                                <m:t>𝛼</m:t>
                              </m:r>
                            </m:e>
                            <m:sub>
                              <m:r>
                                <a:rPr kumimoji="1" lang="en-US" altLang="zh-CN" sz="2800" i="1">
                                  <a:latin typeface="Cambria Math" panose="02040503050406030204" pitchFamily="18" charset="0"/>
                                </a:rPr>
                                <m:t>𝑖</m:t>
                              </m:r>
                            </m:sub>
                          </m:sSub>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𝑦</m:t>
                              </m:r>
                            </m:e>
                            <m:sub>
                              <m:r>
                                <a:rPr kumimoji="1" lang="en-US" altLang="zh-CN" sz="2800" i="1">
                                  <a:latin typeface="Cambria Math" panose="02040503050406030204" pitchFamily="18" charset="0"/>
                                </a:rPr>
                                <m:t>𝑖</m:t>
                              </m:r>
                            </m:sub>
                          </m:sSub>
                          <m:r>
                            <a:rPr kumimoji="1" lang="en-US" altLang="zh-CN" sz="2800" i="1">
                              <a:latin typeface="Cambria Math" panose="02040503050406030204" pitchFamily="18" charset="0"/>
                            </a:rPr>
                            <m:t>=0</m:t>
                          </m:r>
                        </m:e>
                      </m:nary>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a:rPr lang="en-US" sz="2600" b="0" i="1" smtClean="0">
                          <a:latin typeface="Cambria Math" panose="02040503050406030204" pitchFamily="18" charset="0"/>
                        </a:rPr>
                        <m:t>∀</m:t>
                      </m:r>
                      <m:r>
                        <a:rPr lang="en-US" sz="2600" b="0" i="1" smtClean="0">
                          <a:latin typeface="Cambria Math" panose="02040503050406030204" pitchFamily="18" charset="0"/>
                        </a:rPr>
                        <m:t>𝑖</m:t>
                      </m:r>
                      <m:r>
                        <a:rPr lang="en-US" sz="2600" b="0" i="1" smtClean="0">
                          <a:latin typeface="Cambria Math" panose="02040503050406030204" pitchFamily="18" charset="0"/>
                        </a:rPr>
                        <m:t>,</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0≤</m:t>
                          </m:r>
                          <m:r>
                            <a:rPr lang="en-US" sz="2600" b="0" i="1" smtClean="0">
                              <a:latin typeface="Cambria Math" panose="02040503050406030204" pitchFamily="18" charset="0"/>
                            </a:rPr>
                            <m:t>𝛼</m:t>
                          </m:r>
                        </m:e>
                        <m:sub>
                          <m:r>
                            <a:rPr lang="en-US" sz="2600" b="0" i="1" smtClean="0">
                              <a:latin typeface="Cambria Math" panose="02040503050406030204" pitchFamily="18" charset="0"/>
                            </a:rPr>
                            <m:t>𝑖</m:t>
                          </m:r>
                        </m:sub>
                      </m:sSub>
                      <m:r>
                        <a:rPr lang="en-US" sz="2600" b="0" i="1" smtClean="0">
                          <a:latin typeface="Cambria Math" panose="02040503050406030204" pitchFamily="18" charset="0"/>
                        </a:rPr>
                        <m:t>≤</m:t>
                      </m:r>
                      <m:r>
                        <a:rPr lang="en-US" sz="2600" b="0" i="1" smtClean="0">
                          <a:latin typeface="Cambria Math" panose="02040503050406030204" pitchFamily="18" charset="0"/>
                        </a:rPr>
                        <m:t>𝐶</m:t>
                      </m:r>
                    </m:oMath>
                  </m:oMathPara>
                </a14:m>
                <a:endParaRPr lang="en-US" sz="2600" dirty="0"/>
              </a:p>
            </p:txBody>
          </p:sp>
        </mc:Choice>
        <mc:Fallback>
          <p:sp>
            <p:nvSpPr>
              <p:cNvPr id="7" name="TextBox 6"/>
              <p:cNvSpPr txBox="1">
                <a:spLocks noRot="1" noChangeAspect="1" noMove="1" noResize="1" noEditPoints="1" noAdjustHandles="1" noChangeArrowheads="1" noChangeShapeType="1" noTextEdit="1"/>
              </p:cNvSpPr>
              <p:nvPr/>
            </p:nvSpPr>
            <p:spPr>
              <a:xfrm>
                <a:off x="2139546" y="2895136"/>
                <a:ext cx="4688976" cy="1186800"/>
              </a:xfrm>
              <a:prstGeom prst="rect">
                <a:avLst/>
              </a:prstGeom>
              <a:blipFill>
                <a:blip r:embed="rId2"/>
                <a:stretch>
                  <a:fillRect l="-15946" t="-117021" r="-811" b="-1787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938700" y="1779239"/>
                <a:ext cx="4288995" cy="10161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2600" b="0" i="1" smtClean="0">
                              <a:latin typeface="Cambria Math" panose="02040503050406030204" pitchFamily="18" charset="0"/>
                            </a:rPr>
                          </m:ctrlPr>
                        </m:funcPr>
                        <m:fName>
                          <m:limLow>
                            <m:limLowPr>
                              <m:ctrlPr>
                                <a:rPr lang="en-US" sz="2600" b="0" i="1" smtClean="0">
                                  <a:latin typeface="Cambria Math" panose="02040503050406030204" pitchFamily="18" charset="0"/>
                                </a:rPr>
                              </m:ctrlPr>
                            </m:limLowPr>
                            <m:e>
                              <m:r>
                                <m:rPr>
                                  <m:sty m:val="p"/>
                                </m:rPr>
                                <a:rPr lang="en-US" sz="2600" b="0" i="0" smtClean="0">
                                  <a:latin typeface="Cambria Math" panose="02040503050406030204" pitchFamily="18" charset="0"/>
                                </a:rPr>
                                <m:t>m</m:t>
                              </m:r>
                              <m:r>
                                <m:rPr>
                                  <m:sty m:val="p"/>
                                </m:rPr>
                                <a:rPr lang="en-US" altLang="zh-CN" sz="2600" b="0" i="1" smtClean="0">
                                  <a:latin typeface="Cambria Math" panose="02040503050406030204" pitchFamily="18" charset="0"/>
                                </a:rPr>
                                <m:t>in</m:t>
                              </m:r>
                            </m:e>
                            <m:lim>
                              <m:r>
                                <a:rPr lang="en-US" sz="2600" b="0" i="1" smtClean="0">
                                  <a:latin typeface="Cambria Math" panose="02040503050406030204" pitchFamily="18" charset="0"/>
                                </a:rPr>
                                <m:t>𝛼</m:t>
                              </m:r>
                            </m:lim>
                          </m:limLow>
                        </m:fName>
                        <m:e>
                          <m:f>
                            <m:fPr>
                              <m:ctrlPr>
                                <a:rPr lang="en-US" sz="2600" i="1">
                                  <a:latin typeface="Cambria Math" panose="02040503050406030204" pitchFamily="18" charset="0"/>
                                </a:rPr>
                              </m:ctrlPr>
                            </m:fPr>
                            <m:num>
                              <m:r>
                                <a:rPr lang="en-US" sz="2600" i="1">
                                  <a:latin typeface="Cambria Math" panose="02040503050406030204" pitchFamily="18" charset="0"/>
                                </a:rPr>
                                <m:t>1</m:t>
                              </m:r>
                            </m:num>
                            <m:den>
                              <m:r>
                                <a:rPr lang="en-US" sz="2600" i="1">
                                  <a:latin typeface="Cambria Math" panose="02040503050406030204" pitchFamily="18" charset="0"/>
                                </a:rPr>
                                <m:t>2</m:t>
                              </m:r>
                            </m:den>
                          </m:f>
                          <m:nary>
                            <m:naryPr>
                              <m:chr m:val="∑"/>
                              <m:supHide m:val="on"/>
                              <m:ctrlPr>
                                <a:rPr lang="en-US" sz="2600" i="1">
                                  <a:latin typeface="Cambria Math" panose="02040503050406030204" pitchFamily="18" charset="0"/>
                                </a:rPr>
                              </m:ctrlPr>
                            </m:naryPr>
                            <m:sub>
                              <m:r>
                                <a:rPr lang="en-US" sz="2600" i="1">
                                  <a:latin typeface="Cambria Math" panose="02040503050406030204" pitchFamily="18" charset="0"/>
                                </a:rPr>
                                <m:t>𝑖</m:t>
                              </m:r>
                              <m:r>
                                <a:rPr lang="en-US" sz="2600" i="1">
                                  <a:latin typeface="Cambria Math" panose="02040503050406030204" pitchFamily="18" charset="0"/>
                                </a:rPr>
                                <m:t>,</m:t>
                              </m:r>
                              <m:r>
                                <a:rPr lang="en-US" sz="2600" i="1">
                                  <a:latin typeface="Cambria Math" panose="02040503050406030204" pitchFamily="18" charset="0"/>
                                </a:rPr>
                                <m:t>𝑗</m:t>
                              </m:r>
                            </m:sub>
                            <m:sup/>
                            <m:e>
                              <m:sSub>
                                <m:sSubPr>
                                  <m:ctrlPr>
                                    <a:rPr lang="en-US" sz="2600" i="1">
                                      <a:latin typeface="Cambria Math" panose="02040503050406030204" pitchFamily="18" charset="0"/>
                                    </a:rPr>
                                  </m:ctrlPr>
                                </m:sSubPr>
                                <m:e>
                                  <m:r>
                                    <a:rPr lang="en-US" sz="2600" i="1">
                                      <a:latin typeface="Cambria Math" panose="02040503050406030204" pitchFamily="18" charset="0"/>
                                    </a:rPr>
                                    <m:t>𝛼</m:t>
                                  </m:r>
                                </m:e>
                                <m:sub>
                                  <m:r>
                                    <a:rPr lang="en-US" sz="2600" i="1">
                                      <a:latin typeface="Cambria Math" panose="02040503050406030204" pitchFamily="18" charset="0"/>
                                    </a:rPr>
                                    <m:t>𝑖</m:t>
                                  </m:r>
                                </m:sub>
                              </m:sSub>
                              <m:sSub>
                                <m:sSubPr>
                                  <m:ctrlPr>
                                    <a:rPr lang="en-US" sz="2600" i="1">
                                      <a:latin typeface="Cambria Math" panose="02040503050406030204" pitchFamily="18" charset="0"/>
                                    </a:rPr>
                                  </m:ctrlPr>
                                </m:sSubPr>
                                <m:e>
                                  <m:sSub>
                                    <m:sSubPr>
                                      <m:ctrlPr>
                                        <a:rPr lang="en-US" sz="2600" i="1">
                                          <a:latin typeface="Cambria Math" panose="02040503050406030204" pitchFamily="18" charset="0"/>
                                        </a:rPr>
                                      </m:ctrlPr>
                                    </m:sSubPr>
                                    <m:e>
                                      <m:r>
                                        <a:rPr lang="en-US" sz="2600" i="1">
                                          <a:latin typeface="Cambria Math" panose="02040503050406030204" pitchFamily="18" charset="0"/>
                                        </a:rPr>
                                        <m:t>𝛼</m:t>
                                      </m:r>
                                    </m:e>
                                    <m:sub>
                                      <m:r>
                                        <a:rPr lang="en-US" sz="2600" i="1">
                                          <a:latin typeface="Cambria Math" panose="02040503050406030204" pitchFamily="18" charset="0"/>
                                        </a:rPr>
                                        <m:t>𝑗</m:t>
                                      </m:r>
                                    </m:sub>
                                  </m:sSub>
                                  <m:r>
                                    <a:rPr lang="en-US" sz="2600" i="1">
                                      <a:latin typeface="Cambria Math" panose="02040503050406030204" pitchFamily="18" charset="0"/>
                                    </a:rPr>
                                    <m:t>𝑦</m:t>
                                  </m:r>
                                </m:e>
                                <m:sub>
                                  <m:r>
                                    <a:rPr lang="en-US" sz="2600" i="1">
                                      <a:latin typeface="Cambria Math" panose="02040503050406030204" pitchFamily="18" charset="0"/>
                                    </a:rPr>
                                    <m:t>𝑖</m:t>
                                  </m:r>
                                </m:sub>
                              </m:sSub>
                              <m:sSub>
                                <m:sSubPr>
                                  <m:ctrlPr>
                                    <a:rPr lang="en-US" sz="2600" i="1">
                                      <a:latin typeface="Cambria Math" panose="02040503050406030204" pitchFamily="18" charset="0"/>
                                    </a:rPr>
                                  </m:ctrlPr>
                                </m:sSubPr>
                                <m:e>
                                  <m:r>
                                    <a:rPr lang="en-US" sz="2600" i="1">
                                      <a:latin typeface="Cambria Math" panose="02040503050406030204" pitchFamily="18" charset="0"/>
                                    </a:rPr>
                                    <m:t>𝑦</m:t>
                                  </m:r>
                                </m:e>
                                <m:sub>
                                  <m:r>
                                    <a:rPr lang="en-US" sz="2600" i="1">
                                      <a:latin typeface="Cambria Math" panose="02040503050406030204" pitchFamily="18" charset="0"/>
                                    </a:rPr>
                                    <m:t>𝑗</m:t>
                                  </m:r>
                                </m:sub>
                              </m:sSub>
                              <m:sSubSup>
                                <m:sSubSupPr>
                                  <m:ctrlPr>
                                    <a:rPr lang="en-US" sz="2600" i="1">
                                      <a:latin typeface="Cambria Math" panose="02040503050406030204" pitchFamily="18" charset="0"/>
                                    </a:rPr>
                                  </m:ctrlPr>
                                </m:sSubSupPr>
                                <m:e>
                                  <m:r>
                                    <a:rPr lang="en-US" sz="2600" i="1">
                                      <a:latin typeface="Cambria Math" panose="02040503050406030204" pitchFamily="18" charset="0"/>
                                    </a:rPr>
                                    <m:t>𝑥</m:t>
                                  </m:r>
                                </m:e>
                                <m:sub>
                                  <m:r>
                                    <a:rPr lang="en-US" sz="2600" i="1">
                                      <a:latin typeface="Cambria Math" panose="02040503050406030204" pitchFamily="18" charset="0"/>
                                    </a:rPr>
                                    <m:t>𝑖</m:t>
                                  </m:r>
                                </m:sub>
                                <m:sup>
                                  <m:r>
                                    <a:rPr lang="en-US" sz="2600" i="1">
                                      <a:latin typeface="Cambria Math" panose="02040503050406030204" pitchFamily="18" charset="0"/>
                                    </a:rPr>
                                    <m:t>𝑇</m:t>
                                  </m:r>
                                </m:sup>
                              </m:sSubSup>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𝑗</m:t>
                                  </m:r>
                                </m:sub>
                              </m:sSub>
                            </m:e>
                          </m:nary>
                          <m:r>
                            <a:rPr lang="en-US" altLang="zh-CN" sz="2600" b="0" i="1" smtClean="0">
                              <a:latin typeface="Cambria Math" panose="02040503050406030204" pitchFamily="18" charset="0"/>
                            </a:rPr>
                            <m:t>−</m:t>
                          </m:r>
                          <m:nary>
                            <m:naryPr>
                              <m:chr m:val="∑"/>
                              <m:supHide m:val="on"/>
                              <m:ctrlPr>
                                <a:rPr lang="en-US" sz="2600" i="1">
                                  <a:latin typeface="Cambria Math" panose="02040503050406030204" pitchFamily="18" charset="0"/>
                                </a:rPr>
                              </m:ctrlPr>
                            </m:naryPr>
                            <m:sub>
                              <m:r>
                                <a:rPr lang="en-US" sz="2600" i="1">
                                  <a:latin typeface="Cambria Math" panose="02040503050406030204" pitchFamily="18" charset="0"/>
                                </a:rPr>
                                <m:t>𝑖</m:t>
                              </m:r>
                            </m:sub>
                            <m:sup/>
                            <m:e>
                              <m:sSub>
                                <m:sSubPr>
                                  <m:ctrlPr>
                                    <a:rPr lang="en-US" sz="2600" i="1">
                                      <a:latin typeface="Cambria Math" panose="02040503050406030204" pitchFamily="18" charset="0"/>
                                    </a:rPr>
                                  </m:ctrlPr>
                                </m:sSubPr>
                                <m:e>
                                  <m:r>
                                    <a:rPr lang="en-US" sz="2600" i="1">
                                      <a:latin typeface="Cambria Math" panose="02040503050406030204" pitchFamily="18" charset="0"/>
                                    </a:rPr>
                                    <m:t>𝛼</m:t>
                                  </m:r>
                                </m:e>
                                <m:sub>
                                  <m:r>
                                    <a:rPr lang="en-US" sz="2600" i="1">
                                      <a:latin typeface="Cambria Math" panose="02040503050406030204" pitchFamily="18" charset="0"/>
                                    </a:rPr>
                                    <m:t>𝑖</m:t>
                                  </m:r>
                                </m:sub>
                              </m:sSub>
                            </m:e>
                          </m:nary>
                        </m:e>
                      </m:func>
                    </m:oMath>
                  </m:oMathPara>
                </a14:m>
                <a:endParaRPr lang="en-US" sz="2600" dirty="0"/>
              </a:p>
            </p:txBody>
          </p:sp>
        </mc:Choice>
        <mc:Fallback xmlns="">
          <p:sp>
            <p:nvSpPr>
              <p:cNvPr id="8" name="TextBox 7"/>
              <p:cNvSpPr txBox="1">
                <a:spLocks noRot="1" noChangeAspect="1" noMove="1" noResize="1" noEditPoints="1" noAdjustHandles="1" noChangeArrowheads="1" noChangeShapeType="1" noTextEdit="1"/>
              </p:cNvSpPr>
              <p:nvPr/>
            </p:nvSpPr>
            <p:spPr>
              <a:xfrm>
                <a:off x="1938700" y="1779239"/>
                <a:ext cx="4288995" cy="1016176"/>
              </a:xfrm>
              <a:prstGeom prst="rect">
                <a:avLst/>
              </a:prstGeom>
              <a:blipFill>
                <a:blip r:embed="rId3"/>
                <a:stretch>
                  <a:fillRect l="-8555" t="-143210" r="-9735" b="-191358"/>
                </a:stretch>
              </a:blipFill>
            </p:spPr>
            <p:txBody>
              <a:bodyPr/>
              <a:lstStyle/>
              <a:p>
                <a:r>
                  <a:rPr lang="en-US">
                    <a:noFill/>
                  </a:rPr>
                  <a:t> </a:t>
                </a:r>
              </a:p>
            </p:txBody>
          </p:sp>
        </mc:Fallback>
      </mc:AlternateContent>
      <p:sp>
        <p:nvSpPr>
          <p:cNvPr id="9" name="Rectangle 8"/>
          <p:cNvSpPr/>
          <p:nvPr/>
        </p:nvSpPr>
        <p:spPr>
          <a:xfrm>
            <a:off x="4410362" y="1953305"/>
            <a:ext cx="745837" cy="5289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p:cNvGrpSpPr/>
          <p:nvPr/>
        </p:nvGrpSpPr>
        <p:grpSpPr>
          <a:xfrm>
            <a:off x="5074267" y="2444616"/>
            <a:ext cx="3973141" cy="923330"/>
            <a:chOff x="5025387" y="3361595"/>
            <a:chExt cx="3973141" cy="923330"/>
          </a:xfrm>
        </p:grpSpPr>
        <p:grpSp>
          <p:nvGrpSpPr>
            <p:cNvPr id="12" name="Group 11"/>
            <p:cNvGrpSpPr/>
            <p:nvPr/>
          </p:nvGrpSpPr>
          <p:grpSpPr>
            <a:xfrm>
              <a:off x="6218744" y="3361595"/>
              <a:ext cx="2779784" cy="923330"/>
              <a:chOff x="6218744" y="3347945"/>
              <a:chExt cx="2779784" cy="923330"/>
            </a:xfrm>
          </p:grpSpPr>
          <p:sp>
            <p:nvSpPr>
              <p:cNvPr id="10" name="TextBox 9"/>
              <p:cNvSpPr txBox="1"/>
              <p:nvPr/>
            </p:nvSpPr>
            <p:spPr>
              <a:xfrm>
                <a:off x="6800335" y="3347945"/>
                <a:ext cx="2198193" cy="923330"/>
              </a:xfrm>
              <a:prstGeom prst="rect">
                <a:avLst/>
              </a:prstGeom>
              <a:noFill/>
            </p:spPr>
            <p:txBody>
              <a:bodyPr wrap="square" rtlCol="0">
                <a:spAutoFit/>
              </a:bodyPr>
              <a:lstStyle/>
              <a:p>
                <a:r>
                  <a:rPr lang="en-US" dirty="0" err="1">
                    <a:solidFill>
                      <a:srgbClr val="FF0000"/>
                    </a:solidFill>
                  </a:rPr>
                  <a:t>只需直接定义内积</a:t>
                </a:r>
                <a:r>
                  <a:rPr lang="zh-CN" altLang="en-US" dirty="0">
                    <a:solidFill>
                      <a:srgbClr val="FF0000"/>
                    </a:solidFill>
                  </a:rPr>
                  <a:t>，可跳过特征映射的具体定义</a:t>
                </a:r>
                <a:endParaRPr lang="en-US" dirty="0">
                  <a:solidFill>
                    <a:srgbClr val="FF0000"/>
                  </a:solidFill>
                </a:endParaRPr>
              </a:p>
            </p:txBody>
          </p:sp>
          <p:pic>
            <p:nvPicPr>
              <p:cNvPr id="11" name="Picture 2" descr="http://farm8.staticflickr.com/7097/7351445490_74a0f14219_b.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18744" y="3435724"/>
                <a:ext cx="581591" cy="726989"/>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4" name="Straight Arrow Connector 13"/>
            <p:cNvCxnSpPr>
              <a:cxnSpLocks/>
            </p:cNvCxnSpPr>
            <p:nvPr/>
          </p:nvCxnSpPr>
          <p:spPr>
            <a:xfrm flipH="1" flipV="1">
              <a:off x="5025387" y="3471253"/>
              <a:ext cx="1022890" cy="35171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502362" y="4225224"/>
            <a:ext cx="4300151" cy="720461"/>
            <a:chOff x="812935" y="3828060"/>
            <a:chExt cx="4300151" cy="720461"/>
          </a:xfrm>
        </p:grpSpPr>
        <p:sp>
          <p:nvSpPr>
            <p:cNvPr id="16" name="TextBox 15"/>
            <p:cNvSpPr txBox="1"/>
            <p:nvPr/>
          </p:nvSpPr>
          <p:spPr>
            <a:xfrm>
              <a:off x="812935" y="3828060"/>
              <a:ext cx="4300151" cy="369332"/>
            </a:xfrm>
            <a:prstGeom prst="rect">
              <a:avLst/>
            </a:prstGeom>
            <a:noFill/>
          </p:spPr>
          <p:txBody>
            <a:bodyPr wrap="square" rtlCol="0">
              <a:spAutoFit/>
            </a:bodyPr>
            <a:lstStyle/>
            <a:p>
              <a:r>
                <a:rPr lang="en-US" dirty="0" err="1"/>
                <a:t>以二次函数映射为例</a:t>
              </a:r>
              <a:r>
                <a:rPr lang="en-US" dirty="0"/>
                <a:t>:</a:t>
              </a:r>
            </a:p>
          </p:txBody>
        </p:sp>
        <mc:AlternateContent xmlns:mc="http://schemas.openxmlformats.org/markup-compatibility/2006" xmlns:a14="http://schemas.microsoft.com/office/drawing/2010/main">
          <mc:Choice Requires="a14">
            <p:sp>
              <p:nvSpPr>
                <p:cNvPr id="19" name="TextBox 18"/>
                <p:cNvSpPr txBox="1"/>
                <p:nvPr/>
              </p:nvSpPr>
              <p:spPr>
                <a:xfrm>
                  <a:off x="1701293" y="4238884"/>
                  <a:ext cx="2449388"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2</m:t>
                            </m:r>
                          </m:sup>
                        </m:sSup>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r>
                          <a:rPr lang="en-US" b="0" i="1" smtClean="0">
                            <a:latin typeface="Cambria Math" panose="02040503050406030204" pitchFamily="18" charset="0"/>
                          </a:rPr>
                          <m:t>𝑎𝑏</m:t>
                        </m:r>
                        <m:r>
                          <a:rPr lang="en-US" b="0" i="1" smtClean="0">
                            <a:latin typeface="Cambria Math" panose="02040503050406030204" pitchFamily="18" charset="0"/>
                          </a:rPr>
                          <m:t>)</m:t>
                        </m:r>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1701293" y="4238884"/>
                  <a:ext cx="2449388" cy="309637"/>
                </a:xfrm>
                <a:prstGeom prst="rect">
                  <a:avLst/>
                </a:prstGeom>
                <a:blipFill>
                  <a:blip r:embed="rId5"/>
                  <a:stretch>
                    <a:fillRect l="-2488" r="-2736" b="-31373"/>
                  </a:stretch>
                </a:blipFill>
              </p:spPr>
              <p:txBody>
                <a:bodyPr/>
                <a:lstStyle/>
                <a:p>
                  <a:r>
                    <a:rPr lang="en-US">
                      <a:noFill/>
                    </a:rPr>
                    <a:t> </a:t>
                  </a:r>
                </a:p>
              </p:txBody>
            </p:sp>
          </mc:Fallback>
        </mc:AlternateContent>
      </p:grpSp>
      <p:grpSp>
        <p:nvGrpSpPr>
          <p:cNvPr id="34" name="Group 33"/>
          <p:cNvGrpSpPr/>
          <p:nvPr/>
        </p:nvGrpSpPr>
        <p:grpSpPr>
          <a:xfrm>
            <a:off x="560030" y="5001488"/>
            <a:ext cx="5595937" cy="860207"/>
            <a:chOff x="870603" y="4604324"/>
            <a:chExt cx="5595937" cy="860207"/>
          </a:xfrm>
        </p:grpSpPr>
        <mc:AlternateContent xmlns:mc="http://schemas.openxmlformats.org/markup-compatibility/2006" xmlns:a14="http://schemas.microsoft.com/office/drawing/2010/main">
          <mc:Choice Requires="a14">
            <p:sp>
              <p:nvSpPr>
                <p:cNvPr id="20" name="Rectangle 19"/>
                <p:cNvSpPr/>
                <p:nvPr/>
              </p:nvSpPr>
              <p:spPr>
                <a:xfrm>
                  <a:off x="1432534" y="5084234"/>
                  <a:ext cx="5034006" cy="3802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𝜙</m:t>
                        </m:r>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e>
                            </m:d>
                          </m:e>
                          <m:sup>
                            <m:r>
                              <a:rPr lang="en-US" b="0" i="1" smtClean="0">
                                <a:latin typeface="Cambria Math" panose="02040503050406030204" pitchFamily="18" charset="0"/>
                              </a:rPr>
                              <m:t>𝑇</m:t>
                            </m:r>
                          </m:sup>
                        </m:sSup>
                        <m:r>
                          <a:rPr lang="en-US" i="1">
                            <a:latin typeface="Cambria Math" panose="02040503050406030204" pitchFamily="18" charset="0"/>
                          </a:rPr>
                          <m:t>𝜙</m:t>
                        </m:r>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2</m:t>
                            </m:r>
                          </m:sub>
                          <m:sup>
                            <m:r>
                              <a:rPr lang="en-US" i="1">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1</m:t>
                            </m:r>
                          </m:sub>
                          <m:sup>
                            <m:r>
                              <a:rPr lang="en-US" i="1">
                                <a:latin typeface="Cambria Math" panose="02040503050406030204" pitchFamily="18" charset="0"/>
                              </a:rPr>
                              <m:t>2</m:t>
                            </m:r>
                          </m:sup>
                        </m:sSubSup>
                        <m:sSubSup>
                          <m:sSubSupPr>
                            <m:ctrlPr>
                              <a:rPr lang="en-US" i="1">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2</m:t>
                            </m:r>
                          </m:sub>
                          <m:sup>
                            <m:r>
                              <a:rPr lang="en-US" i="1">
                                <a:latin typeface="Cambria Math" panose="02040503050406030204" pitchFamily="18" charset="0"/>
                              </a:rPr>
                              <m:t>2</m:t>
                            </m:r>
                          </m:sup>
                        </m:sSubSup>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1432534" y="5084234"/>
                  <a:ext cx="5034006" cy="380297"/>
                </a:xfrm>
                <a:prstGeom prst="rect">
                  <a:avLst/>
                </a:prstGeom>
                <a:blipFill>
                  <a:blip r:embed="rId6"/>
                  <a:stretch>
                    <a:fillRect b="-6452"/>
                  </a:stretch>
                </a:blipFill>
              </p:spPr>
              <p:txBody>
                <a:bodyPr/>
                <a:lstStyle/>
                <a:p>
                  <a:r>
                    <a:rPr lang="en-US">
                      <a:noFill/>
                    </a:rPr>
                    <a:t> </a:t>
                  </a:r>
                </a:p>
              </p:txBody>
            </p:sp>
          </mc:Fallback>
        </mc:AlternateContent>
        <p:sp>
          <p:nvSpPr>
            <p:cNvPr id="21" name="TextBox 20"/>
            <p:cNvSpPr txBox="1"/>
            <p:nvPr/>
          </p:nvSpPr>
          <p:spPr>
            <a:xfrm>
              <a:off x="870603" y="4604324"/>
              <a:ext cx="3676687" cy="369332"/>
            </a:xfrm>
            <a:prstGeom prst="rect">
              <a:avLst/>
            </a:prstGeom>
            <a:noFill/>
          </p:spPr>
          <p:txBody>
            <a:bodyPr wrap="square" rtlCol="0">
              <a:spAutoFit/>
            </a:bodyPr>
            <a:lstStyle/>
            <a:p>
              <a:r>
                <a:rPr lang="en-US" dirty="0" err="1"/>
                <a:t>先完成特征映射</a:t>
              </a:r>
              <a:r>
                <a:rPr lang="zh-CN" altLang="en-US" dirty="0"/>
                <a:t>，后计算内积</a:t>
              </a:r>
              <a:r>
                <a:rPr lang="en-US" dirty="0"/>
                <a:t>:</a:t>
              </a:r>
            </a:p>
          </p:txBody>
        </p:sp>
      </p:grpSp>
      <p:grpSp>
        <p:nvGrpSpPr>
          <p:cNvPr id="35" name="Group 34"/>
          <p:cNvGrpSpPr/>
          <p:nvPr/>
        </p:nvGrpSpPr>
        <p:grpSpPr>
          <a:xfrm>
            <a:off x="560030" y="5868386"/>
            <a:ext cx="5567783" cy="725350"/>
            <a:chOff x="870603" y="5471222"/>
            <a:chExt cx="5567783" cy="725350"/>
          </a:xfrm>
        </p:grpSpPr>
        <p:sp>
          <p:nvSpPr>
            <p:cNvPr id="22" name="TextBox 21"/>
            <p:cNvSpPr txBox="1"/>
            <p:nvPr/>
          </p:nvSpPr>
          <p:spPr>
            <a:xfrm>
              <a:off x="870603" y="5471222"/>
              <a:ext cx="3896497" cy="369332"/>
            </a:xfrm>
            <a:prstGeom prst="rect">
              <a:avLst/>
            </a:prstGeom>
            <a:noFill/>
          </p:spPr>
          <p:txBody>
            <a:bodyPr wrap="square" rtlCol="0">
              <a:spAutoFit/>
            </a:bodyPr>
            <a:lstStyle/>
            <a:p>
              <a:r>
                <a:rPr lang="en-US" dirty="0" err="1"/>
                <a:t>先计算内积</a:t>
              </a:r>
              <a:r>
                <a:rPr lang="zh-CN" altLang="en-US" dirty="0"/>
                <a:t>：</a:t>
              </a:r>
              <a:endParaRPr lang="en-US" dirty="0"/>
            </a:p>
          </p:txBody>
        </p:sp>
        <mc:AlternateContent xmlns:mc="http://schemas.openxmlformats.org/markup-compatibility/2006" xmlns:a14="http://schemas.microsoft.com/office/drawing/2010/main">
          <mc:Choice Requires="a14">
            <p:sp>
              <p:nvSpPr>
                <p:cNvPr id="23" name="Rectangle 22"/>
                <p:cNvSpPr/>
                <p:nvPr/>
              </p:nvSpPr>
              <p:spPr>
                <a:xfrm>
                  <a:off x="1492673" y="5823521"/>
                  <a:ext cx="4945713" cy="3730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e>
                                    </m:d>
                                  </m:e>
                                  <m:sup>
                                    <m:r>
                                      <a:rPr lang="en-US" b="0" i="1" smtClean="0">
                                        <a:latin typeface="Cambria Math" panose="02040503050406030204" pitchFamily="18" charset="0"/>
                                      </a:rPr>
                                      <m:t>𝑇</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e>
                                </m:d>
                              </m:e>
                            </m:d>
                          </m:e>
                          <m:sup>
                            <m:r>
                              <a:rPr lang="en-US" b="0" i="1" smtClean="0">
                                <a:latin typeface="Cambria Math" panose="02040503050406030204" pitchFamily="18" charset="0"/>
                              </a:rPr>
                              <m:t>2</m:t>
                            </m:r>
                          </m:sup>
                        </m:s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1</m:t>
                            </m:r>
                          </m:sub>
                          <m:sup>
                            <m:r>
                              <a:rPr lang="en-US" i="1">
                                <a:latin typeface="Cambria Math" panose="02040503050406030204" pitchFamily="18" charset="0"/>
                              </a:rPr>
                              <m:t>2</m:t>
                            </m:r>
                          </m:sup>
                        </m:sSubSup>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2</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1</m:t>
                            </m:r>
                          </m:sub>
                          <m:sup>
                            <m:r>
                              <a:rPr lang="en-US" i="1">
                                <a:latin typeface="Cambria Math" panose="02040503050406030204" pitchFamily="18" charset="0"/>
                              </a:rPr>
                              <m:t>2</m:t>
                            </m:r>
                          </m:sup>
                        </m:sSubSup>
                        <m:sSubSup>
                          <m:sSubSupPr>
                            <m:ctrlPr>
                              <a:rPr lang="en-US"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rPr>
                              <m:t>2</m:t>
                            </m:r>
                          </m:sub>
                          <m:sup>
                            <m:r>
                              <a:rPr lang="en-US" i="1">
                                <a:latin typeface="Cambria Math" panose="02040503050406030204" pitchFamily="18" charset="0"/>
                              </a:rPr>
                              <m:t>2</m:t>
                            </m:r>
                          </m:sup>
                        </m:sSubSup>
                        <m:r>
                          <a:rPr lang="en-US" i="1">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2</m:t>
                            </m:r>
                          </m:sub>
                        </m:sSub>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1492673" y="5823521"/>
                  <a:ext cx="4945713" cy="373051"/>
                </a:xfrm>
                <a:prstGeom prst="rect">
                  <a:avLst/>
                </a:prstGeom>
                <a:blipFill>
                  <a:blip r:embed="rId7"/>
                  <a:stretch>
                    <a:fillRect b="-1639"/>
                  </a:stretch>
                </a:blipFill>
              </p:spPr>
              <p:txBody>
                <a:bodyPr/>
                <a:lstStyle/>
                <a:p>
                  <a:r>
                    <a:rPr lang="en-US">
                      <a:noFill/>
                    </a:rPr>
                    <a:t> </a:t>
                  </a:r>
                </a:p>
              </p:txBody>
            </p:sp>
          </mc:Fallback>
        </mc:AlternateContent>
      </p:grpSp>
      <p:grpSp>
        <p:nvGrpSpPr>
          <p:cNvPr id="30" name="Group 29"/>
          <p:cNvGrpSpPr/>
          <p:nvPr/>
        </p:nvGrpSpPr>
        <p:grpSpPr>
          <a:xfrm>
            <a:off x="6174649" y="5804985"/>
            <a:ext cx="2716014" cy="646331"/>
            <a:chOff x="6434164" y="5450760"/>
            <a:chExt cx="2716014" cy="646331"/>
          </a:xfrm>
        </p:grpSpPr>
        <p:sp>
          <p:nvSpPr>
            <p:cNvPr id="24" name="TextBox 23"/>
            <p:cNvSpPr txBox="1"/>
            <p:nvPr/>
          </p:nvSpPr>
          <p:spPr>
            <a:xfrm>
              <a:off x="6800335" y="5450760"/>
              <a:ext cx="2349843" cy="646331"/>
            </a:xfrm>
            <a:prstGeom prst="rect">
              <a:avLst/>
            </a:prstGeom>
            <a:noFill/>
          </p:spPr>
          <p:txBody>
            <a:bodyPr wrap="square" rtlCol="0">
              <a:spAutoFit/>
            </a:bodyPr>
            <a:lstStyle/>
            <a:p>
              <a:r>
                <a:rPr lang="en-US" dirty="0" err="1"/>
                <a:t>并不需要显式定义的特征映射</a:t>
              </a:r>
              <a:endParaRPr lang="en-US" dirty="0"/>
            </a:p>
          </p:txBody>
        </p:sp>
        <p:grpSp>
          <p:nvGrpSpPr>
            <p:cNvPr id="29" name="Group 28"/>
            <p:cNvGrpSpPr/>
            <p:nvPr/>
          </p:nvGrpSpPr>
          <p:grpSpPr>
            <a:xfrm>
              <a:off x="6434164" y="5512786"/>
              <a:ext cx="366171" cy="551906"/>
              <a:chOff x="6434164" y="5512786"/>
              <a:chExt cx="366171" cy="551906"/>
            </a:xfrm>
          </p:grpSpPr>
          <p:cxnSp>
            <p:nvCxnSpPr>
              <p:cNvPr id="26" name="Straight Arrow Connector 25"/>
              <p:cNvCxnSpPr>
                <a:stCxn id="24" idx="1"/>
              </p:cNvCxnSpPr>
              <p:nvPr/>
            </p:nvCxnSpPr>
            <p:spPr>
              <a:xfrm flipH="1" flipV="1">
                <a:off x="6434164" y="5512786"/>
                <a:ext cx="366171" cy="2611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4" idx="1"/>
              </p:cNvCxnSpPr>
              <p:nvPr/>
            </p:nvCxnSpPr>
            <p:spPr>
              <a:xfrm flipH="1">
                <a:off x="6434165" y="5773926"/>
                <a:ext cx="366170" cy="29076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4146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核技巧应用于支持向量机</a:t>
            </a:r>
          </a:p>
        </p:txBody>
      </p:sp>
      <p:sp>
        <p:nvSpPr>
          <p:cNvPr id="93187" name="内容占位符 2"/>
          <p:cNvSpPr>
            <a:spLocks noGrp="1"/>
          </p:cNvSpPr>
          <p:nvPr>
            <p:ph idx="1"/>
          </p:nvPr>
        </p:nvSpPr>
        <p:spPr>
          <a:xfrm>
            <a:off x="914400" y="1860330"/>
            <a:ext cx="7772400" cy="4159469"/>
          </a:xfrm>
        </p:spPr>
        <p:txBody>
          <a:bodyPr>
            <a:normAutofit/>
          </a:bodyPr>
          <a:lstStyle/>
          <a:p>
            <a:r>
              <a:rPr lang="zh-CN" altLang="en-US" sz="3200" b="1" dirty="0"/>
              <a:t>通过一个非线性变换将输入空间</a:t>
            </a:r>
            <a:r>
              <a:rPr lang="en-US" altLang="zh-CN" sz="3200" b="1" dirty="0"/>
              <a:t>X</a:t>
            </a:r>
            <a:r>
              <a:rPr lang="zh-CN" altLang="en-US" sz="3200" b="1" dirty="0"/>
              <a:t>（欧式空间或者离散集合）对应于一个特征空间</a:t>
            </a:r>
            <a:r>
              <a:rPr lang="en-US" altLang="zh-CN" sz="3200" b="1" dirty="0"/>
              <a:t>H</a:t>
            </a:r>
            <a:r>
              <a:rPr lang="zh-CN" altLang="en-US" sz="3200" b="1" dirty="0"/>
              <a:t>（希尔伯特空间），使得在输入空间</a:t>
            </a:r>
            <a:r>
              <a:rPr lang="en-US" altLang="zh-CN" sz="3200" b="1" dirty="0"/>
              <a:t>X</a:t>
            </a:r>
            <a:r>
              <a:rPr lang="zh-CN" altLang="en-US" sz="3200" b="1" dirty="0"/>
              <a:t>的超曲面模型对应于特征空间</a:t>
            </a:r>
            <a:r>
              <a:rPr lang="en-US" altLang="zh-CN" sz="3200" b="1" dirty="0"/>
              <a:t>H</a:t>
            </a:r>
            <a:r>
              <a:rPr lang="zh-CN" altLang="en-US" sz="3200" b="1" dirty="0"/>
              <a:t>中的超平面模型（支持向量机）。</a:t>
            </a:r>
            <a:endParaRPr lang="en-US" altLang="zh-CN" sz="3200" b="1" dirty="0"/>
          </a:p>
          <a:p>
            <a:r>
              <a:rPr lang="zh-CN" altLang="en-US" sz="3200" b="1" dirty="0"/>
              <a:t>分类问题的学习就可以通过在</a:t>
            </a:r>
            <a:r>
              <a:rPr lang="en-US" altLang="zh-CN" sz="3200" b="1" dirty="0"/>
              <a:t>H</a:t>
            </a:r>
            <a:r>
              <a:rPr lang="zh-CN" altLang="en-US" sz="3200" b="1" dirty="0"/>
              <a:t>空间中求解线性支持向量机完成</a:t>
            </a:r>
          </a:p>
        </p:txBody>
      </p:sp>
      <p:sp>
        <p:nvSpPr>
          <p:cNvPr id="93188" name="灯片编号占位符 3"/>
          <p:cNvSpPr>
            <a:spLocks noGrp="1"/>
          </p:cNvSpPr>
          <p:nvPr>
            <p:ph type="sldNum" sz="quarter" idx="12"/>
          </p:nvPr>
        </p:nvSpPr>
        <p:spPr>
          <a:noFill/>
        </p:spPr>
        <p:txBody>
          <a:bodyPr/>
          <a:lstStyle/>
          <a:p>
            <a:fld id="{D2211485-B7A8-43D7-8619-8041C247AB95}" type="slidenum">
              <a:rPr lang="en-US" altLang="zh-CN" smtClean="0">
                <a:ea typeface="黑体" pitchFamily="49" charset="-122"/>
              </a:rPr>
              <a:pPr/>
              <a:t>54</a:t>
            </a:fld>
            <a:endParaRPr lang="en-US" altLang="zh-CN">
              <a:ea typeface="黑体"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核函数</a:t>
            </a:r>
          </a:p>
        </p:txBody>
      </p:sp>
      <p:sp>
        <p:nvSpPr>
          <p:cNvPr id="40965" name="灯片编号占位符 3"/>
          <p:cNvSpPr>
            <a:spLocks noGrp="1"/>
          </p:cNvSpPr>
          <p:nvPr>
            <p:ph type="sldNum" sz="quarter" idx="12"/>
          </p:nvPr>
        </p:nvSpPr>
        <p:spPr>
          <a:noFill/>
        </p:spPr>
        <p:txBody>
          <a:bodyPr/>
          <a:lstStyle/>
          <a:p>
            <a:fld id="{DE549B96-B3F7-45F2-859C-CF129E8A53B9}" type="slidenum">
              <a:rPr lang="en-US" altLang="zh-CN" smtClean="0">
                <a:ea typeface="黑体" pitchFamily="49" charset="-122"/>
              </a:rPr>
              <a:pPr/>
              <a:t>55</a:t>
            </a:fld>
            <a:endParaRPr lang="en-US" altLang="zh-CN">
              <a:ea typeface="黑体" pitchFamily="49" charset="-122"/>
            </a:endParaRPr>
          </a:p>
        </p:txBody>
      </p:sp>
      <p:graphicFrame>
        <p:nvGraphicFramePr>
          <p:cNvPr id="40962" name="Object 5" descr="羊皮纸"/>
          <p:cNvGraphicFramePr>
            <a:graphicFrameLocks noChangeAspect="1"/>
          </p:cNvGraphicFramePr>
          <p:nvPr/>
        </p:nvGraphicFramePr>
        <p:xfrm>
          <a:off x="852488" y="2153897"/>
          <a:ext cx="7893050" cy="3198812"/>
        </p:xfrm>
        <a:graphic>
          <a:graphicData uri="http://schemas.openxmlformats.org/presentationml/2006/ole">
            <mc:AlternateContent xmlns:mc="http://schemas.openxmlformats.org/markup-compatibility/2006">
              <mc:Choice xmlns:v="urn:schemas-microsoft-com:vml" Requires="v">
                <p:oleObj name="公式" r:id="rId3" imgW="2857320" imgH="1155600" progId="Equation.3">
                  <p:embed/>
                </p:oleObj>
              </mc:Choice>
              <mc:Fallback>
                <p:oleObj name="公式" r:id="rId3" imgW="2857320" imgH="1155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488" y="2153897"/>
                        <a:ext cx="7893050" cy="3198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8" name="灯片编号占位符 3"/>
          <p:cNvSpPr>
            <a:spLocks noGrp="1"/>
          </p:cNvSpPr>
          <p:nvPr>
            <p:ph type="sldNum" sz="quarter" idx="12"/>
          </p:nvPr>
        </p:nvSpPr>
        <p:spPr>
          <a:noFill/>
        </p:spPr>
        <p:txBody>
          <a:bodyPr/>
          <a:lstStyle/>
          <a:p>
            <a:fld id="{7E0E0AB9-A00B-4D51-BAE6-45FD92FE27CD}" type="slidenum">
              <a:rPr lang="en-US" altLang="zh-CN" smtClean="0">
                <a:ea typeface="黑体" pitchFamily="49" charset="-122"/>
              </a:rPr>
              <a:pPr/>
              <a:t>56</a:t>
            </a:fld>
            <a:endParaRPr lang="en-US" altLang="zh-CN">
              <a:ea typeface="黑体" pitchFamily="49" charset="-122"/>
            </a:endParaRPr>
          </a:p>
        </p:txBody>
      </p:sp>
      <p:graphicFrame>
        <p:nvGraphicFramePr>
          <p:cNvPr id="41986" name="Object 5" descr="羊皮纸"/>
          <p:cNvGraphicFramePr>
            <a:graphicFrameLocks noChangeAspect="1"/>
          </p:cNvGraphicFramePr>
          <p:nvPr/>
        </p:nvGraphicFramePr>
        <p:xfrm>
          <a:off x="469900" y="863600"/>
          <a:ext cx="8180388" cy="5214938"/>
        </p:xfrm>
        <a:graphic>
          <a:graphicData uri="http://schemas.openxmlformats.org/presentationml/2006/ole">
            <mc:AlternateContent xmlns:mc="http://schemas.openxmlformats.org/markup-compatibility/2006">
              <mc:Choice xmlns:v="urn:schemas-microsoft-com:vml" Requires="v">
                <p:oleObj name="公式" r:id="rId3" imgW="3454200" imgH="2197080" progId="Equation.3">
                  <p:embed/>
                </p:oleObj>
              </mc:Choice>
              <mc:Fallback>
                <p:oleObj name="公式" r:id="rId3" imgW="3454200" imgH="21970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900" y="863600"/>
                        <a:ext cx="8180388" cy="5214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010" name="Object 5" descr="羊皮纸"/>
              <p:cNvSpPr txBox="1"/>
              <p:nvPr/>
            </p:nvSpPr>
            <p:spPr bwMode="auto">
              <a:xfrm>
                <a:off x="1071173" y="859772"/>
                <a:ext cx="6548438" cy="478541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非线性支持向量机算法：</m:t>
                      </m:r>
                    </m:oMath>
                    <m:oMath xmlns:m="http://schemas.openxmlformats.org/officeDocument/2006/math">
                      <m:limLow>
                        <m:limLowPr>
                          <m:ctrlPr>
                            <a:rPr lang="zh-CN" altLang="en-US" sz="2800" i="1">
                              <a:solidFill>
                                <a:srgbClr val="000000"/>
                              </a:solidFill>
                              <a:latin typeface="Cambria Math" panose="02040503050406030204" pitchFamily="18" charset="0"/>
                            </a:rPr>
                          </m:ctrlPr>
                        </m:limLowPr>
                        <m:e>
                          <m:r>
                            <m:rPr>
                              <m:sty m:val="p"/>
                            </m:rPr>
                            <a:rPr lang="zh-CN" altLang="en-US" sz="2800" i="0">
                              <a:solidFill>
                                <a:srgbClr val="000000"/>
                              </a:solidFill>
                              <a:latin typeface="Cambria Math" panose="02040503050406030204" pitchFamily="18" charset="0"/>
                            </a:rPr>
                            <m:t>min</m:t>
                          </m:r>
                        </m:e>
                        <m:lim>
                          <m:r>
                            <a:rPr lang="zh-CN" altLang="en-US" sz="2800" i="1">
                              <a:solidFill>
                                <a:srgbClr val="000000"/>
                              </a:solidFill>
                              <a:latin typeface="Cambria Math" panose="02040503050406030204" pitchFamily="18" charset="0"/>
                            </a:rPr>
                            <m:t>𝛼</m:t>
                          </m:r>
                        </m:lim>
                      </m:limLow>
                      <m:r>
                        <a:rPr lang="zh-CN" altLang="en-US" sz="2800" i="1">
                          <a:solidFill>
                            <a:srgbClr val="000000"/>
                          </a:solidFill>
                          <a:latin typeface="Cambria Math" panose="02040503050406030204" pitchFamily="18" charset="0"/>
                        </a:rPr>
                        <m:t> </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𝑁</m:t>
                          </m:r>
                        </m:sup>
                        <m:e>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𝑗</m:t>
                              </m:r>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𝑁</m:t>
                              </m:r>
                            </m:sup>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𝑖</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𝑗</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𝑖</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𝑗</m:t>
                                  </m:r>
                                </m:sub>
                              </m:sSub>
                              <m:r>
                                <a:rPr lang="zh-CN" altLang="en-US" sz="2800" i="1">
                                  <a:solidFill>
                                    <a:srgbClr val="000000"/>
                                  </a:solidFill>
                                  <a:latin typeface="Cambria Math" panose="02040503050406030204" pitchFamily="18" charset="0"/>
                                </a:rPr>
                                <m:t>𝐾</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𝑗</m:t>
                                  </m:r>
                                </m:sub>
                              </m:sSub>
                              <m:r>
                                <a:rPr lang="zh-CN" altLang="en-US" sz="2800" i="1">
                                  <a:solidFill>
                                    <a:srgbClr val="000000"/>
                                  </a:solidFill>
                                  <a:latin typeface="Cambria Math" panose="02040503050406030204" pitchFamily="18" charset="0"/>
                                </a:rPr>
                                <m:t>)−</m:t>
                              </m:r>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𝑁</m:t>
                                  </m:r>
                                </m:sup>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𝑖</m:t>
                                      </m:r>
                                    </m:sub>
                                  </m:sSub>
                                </m:e>
                              </m:nary>
                            </m:e>
                          </m:nary>
                        </m:e>
                      </m:nary>
                    </m:oMath>
                    <m:oMath xmlns:m="http://schemas.openxmlformats.org/officeDocument/2006/math">
                      <m:r>
                        <a:rPr lang="zh-CN" altLang="en-US" sz="2800" i="1">
                          <a:solidFill>
                            <a:srgbClr val="000000"/>
                          </a:solidFill>
                          <a:latin typeface="Cambria Math" panose="02040503050406030204" pitchFamily="18" charset="0"/>
                        </a:rPr>
                        <m:t>𝑠</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.  </m:t>
                      </m:r>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𝑁</m:t>
                          </m:r>
                        </m:sup>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𝑖</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𝑖</m:t>
                              </m:r>
                            </m:sub>
                          </m:sSub>
                        </m:e>
                      </m:nary>
                      <m:r>
                        <a:rPr lang="zh-CN" altLang="en-US" sz="2800" i="1">
                          <a:solidFill>
                            <a:srgbClr val="000000"/>
                          </a:solidFill>
                          <a:latin typeface="Cambria Math" panose="02040503050406030204" pitchFamily="18" charset="0"/>
                        </a:rPr>
                        <m:t>=0</m:t>
                      </m:r>
                    </m:oMath>
                    <m:oMath xmlns:m="http://schemas.openxmlformats.org/officeDocument/2006/math">
                      <m:r>
                        <a:rPr lang="zh-CN" altLang="en-US" sz="2800" i="1">
                          <a:solidFill>
                            <a:srgbClr val="000000"/>
                          </a:solidFill>
                          <a:latin typeface="Cambria Math" panose="02040503050406030204" pitchFamily="18" charset="0"/>
                        </a:rPr>
                        <m:t>      0≤</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m:rPr>
                          <m:sty m:val="p"/>
                        </m:rPr>
                        <a:rPr lang="zh-CN" altLang="en-US" sz="2800" i="0">
                          <a:solidFill>
                            <a:srgbClr val="000000"/>
                          </a:solidFill>
                          <a:latin typeface="Cambria Math" panose="02040503050406030204" pitchFamily="18" charset="0"/>
                        </a:rPr>
                        <m:t>C</m:t>
                      </m:r>
                      <m:r>
                        <a:rPr lang="zh-CN" altLang="en-US" sz="2800" i="1">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=1,2,...,</m:t>
                      </m:r>
                      <m:r>
                        <a:rPr lang="zh-CN" altLang="en-US" sz="2800" i="1">
                          <a:solidFill>
                            <a:srgbClr val="000000"/>
                          </a:solidFill>
                          <a:latin typeface="Cambria Math" panose="02040503050406030204" pitchFamily="18" charset="0"/>
                        </a:rPr>
                        <m:t>𝑁</m:t>
                      </m:r>
                    </m:oMath>
                  </m:oMathPara>
                </a14:m>
                <a:br>
                  <a:rPr lang="zh-CN" altLang="en-US" sz="2800" i="1" dirty="0">
                    <a:solidFill>
                      <a:srgbClr val="000000"/>
                    </a:solidFill>
                    <a:latin typeface="Cambria Math" panose="02040503050406030204" pitchFamily="18" charset="0"/>
                  </a:rPr>
                </a:br>
                <a:endParaRPr lang="en-US" altLang="zh-CN" sz="2800" i="1" dirty="0">
                  <a:solidFill>
                    <a:srgbClr val="000000"/>
                  </a:solidFill>
                  <a:latin typeface="Cambria Math" panose="02040503050406030204" pitchFamily="18" charset="0"/>
                </a:endParaRPr>
              </a:p>
              <a:p>
                <a:endParaRPr lang="en-US" altLang="zh-CN" sz="28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求得最优解：</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𝛼</m:t>
                          </m:r>
                        </m:e>
                        <m:sup>
                          <m:r>
                            <a:rPr lang="zh-CN" altLang="en-US" sz="2800" i="0">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1</m:t>
                          </m:r>
                        </m:sub>
                        <m:sup>
                          <m:r>
                            <a:rPr lang="zh-CN" altLang="en-US" sz="2800" i="0">
                              <a:solidFill>
                                <a:srgbClr val="000000"/>
                              </a:solidFill>
                              <a:latin typeface="Cambria Math" panose="02040503050406030204" pitchFamily="18" charset="0"/>
                            </a:rPr>
                            <m:t>∗</m:t>
                          </m:r>
                        </m:sup>
                      </m:sSubSup>
                      <m:r>
                        <a:rPr lang="zh-CN" altLang="en-US" sz="2800"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2</m:t>
                          </m:r>
                        </m:sub>
                        <m:sup>
                          <m:r>
                            <a:rPr lang="zh-CN" altLang="en-US" sz="2800" i="0">
                              <a:solidFill>
                                <a:srgbClr val="000000"/>
                              </a:solidFill>
                              <a:latin typeface="Cambria Math" panose="02040503050406030204" pitchFamily="18" charset="0"/>
                            </a:rPr>
                            <m:t>∗</m:t>
                          </m:r>
                        </m:sup>
                      </m:sSubSup>
                      <m:r>
                        <a:rPr lang="zh-CN" altLang="en-US" sz="2800"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i="1">
                              <a:solidFill>
                                <a:srgbClr val="000000"/>
                              </a:solidFill>
                              <a:latin typeface="Cambria Math" panose="02040503050406030204" pitchFamily="18" charset="0"/>
                            </a:rPr>
                            <m:t>𝛼</m:t>
                          </m:r>
                        </m:e>
                        <m:sub>
                          <m:r>
                            <a:rPr lang="zh-CN" altLang="en-US" sz="2800" i="1">
                              <a:solidFill>
                                <a:srgbClr val="000000"/>
                              </a:solidFill>
                              <a:latin typeface="Cambria Math" panose="02040503050406030204" pitchFamily="18" charset="0"/>
                            </a:rPr>
                            <m:t>𝑁</m:t>
                          </m:r>
                        </m:sub>
                        <m:sup>
                          <m:r>
                            <a:rPr lang="zh-CN" altLang="en-US" sz="2800" i="1">
                              <a:solidFill>
                                <a:srgbClr val="000000"/>
                              </a:solidFill>
                              <a:latin typeface="Cambria Math" panose="02040503050406030204" pitchFamily="18" charset="0"/>
                            </a:rPr>
                            <m:t>∗</m:t>
                          </m:r>
                        </m:sup>
                      </m:sSubSup>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𝑇</m:t>
                          </m:r>
                        </m:sup>
                      </m:sSup>
                    </m:oMath>
                  </m:oMathPara>
                </a14:m>
                <a:br>
                  <a:rPr lang="zh-CN" altLang="en-US" sz="2800" i="1" dirty="0">
                    <a:solidFill>
                      <a:srgbClr val="000000"/>
                    </a:solidFill>
                    <a:latin typeface="Cambria Math" panose="02040503050406030204" pitchFamily="18" charset="0"/>
                  </a:rPr>
                </a:br>
                <a:endParaRPr lang="zh-CN" altLang="en-US" sz="2800" dirty="0"/>
              </a:p>
            </p:txBody>
          </p:sp>
        </mc:Choice>
        <mc:Fallback xmlns="">
          <p:sp>
            <p:nvSpPr>
              <p:cNvPr id="43010" name="Object 5" descr="羊皮纸"/>
              <p:cNvSpPr txBox="1">
                <a:spLocks noRot="1" noChangeAspect="1" noMove="1" noResize="1" noEditPoints="1" noAdjustHandles="1" noChangeArrowheads="1" noChangeShapeType="1" noTextEdit="1"/>
              </p:cNvSpPr>
              <p:nvPr/>
            </p:nvSpPr>
            <p:spPr bwMode="auto">
              <a:xfrm>
                <a:off x="1071173" y="859772"/>
                <a:ext cx="6548438" cy="4785415"/>
              </a:xfrm>
              <a:prstGeom prst="rect">
                <a:avLst/>
              </a:prstGeom>
              <a:blipFill>
                <a:blip r:embed="rId2"/>
                <a:stretch>
                  <a:fillRect/>
                </a:stretch>
              </a:blipFill>
            </p:spPr>
            <p:txBody>
              <a:bodyPr/>
              <a:lstStyle/>
              <a:p>
                <a:r>
                  <a:rPr lang="zh-CN" altLang="en-US">
                    <a:noFill/>
                  </a:rPr>
                  <a:t> </a:t>
                </a:r>
              </a:p>
            </p:txBody>
          </p:sp>
        </mc:Fallback>
      </mc:AlternateContent>
      <p:sp>
        <p:nvSpPr>
          <p:cNvPr id="43013" name="灯片编号占位符 3"/>
          <p:cNvSpPr>
            <a:spLocks noGrp="1"/>
          </p:cNvSpPr>
          <p:nvPr>
            <p:ph type="sldNum" sz="quarter" idx="12"/>
          </p:nvPr>
        </p:nvSpPr>
        <p:spPr>
          <a:noFill/>
        </p:spPr>
        <p:txBody>
          <a:bodyPr/>
          <a:lstStyle/>
          <a:p>
            <a:fld id="{C70CA52E-37C3-4A44-AAA5-3CCB045D6B06}" type="slidenum">
              <a:rPr lang="en-US" altLang="zh-CN" smtClean="0">
                <a:ea typeface="黑体" pitchFamily="49" charset="-122"/>
              </a:rPr>
              <a:pPr/>
              <a:t>57</a:t>
            </a:fld>
            <a:endParaRPr lang="en-US" altLang="zh-CN">
              <a:ea typeface="黑体"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D554A9-E7F9-E47D-604E-7A77EE2F4072}"/>
              </a:ext>
            </a:extLst>
          </p:cNvPr>
          <p:cNvSpPr>
            <a:spLocks noGrp="1"/>
          </p:cNvSpPr>
          <p:nvPr>
            <p:ph idx="1"/>
          </p:nvPr>
        </p:nvSpPr>
        <p:spPr>
          <a:xfrm>
            <a:off x="914400" y="1447800"/>
            <a:ext cx="7772400" cy="4572000"/>
          </a:xfrm>
        </p:spPr>
        <p:txBody>
          <a:bodyPr/>
          <a:lstStyle/>
          <a:p>
            <a:r>
              <a:rPr lang="en-US" dirty="0" err="1"/>
              <a:t>构造分类边界</a:t>
            </a:r>
            <a:endParaRPr lang="en-US" dirty="0"/>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E8418D3F-8DF7-4841-9E81-06B82D686D8F}"/>
                  </a:ext>
                </a:extLst>
              </p:cNvPr>
              <p:cNvSpPr txBox="1"/>
              <p:nvPr/>
            </p:nvSpPr>
            <p:spPr>
              <a:xfrm>
                <a:off x="1420878" y="1991015"/>
                <a:ext cx="7723122" cy="459234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CN" altLang="en-US" sz="2000" i="1" smtClean="0">
                          <a:solidFill>
                            <a:srgbClr val="000000"/>
                          </a:solidFill>
                          <a:latin typeface="Cambria Math" panose="02040503050406030204" pitchFamily="18" charset="0"/>
                        </a:rPr>
                        <m:t>选择一个</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𝛼</m:t>
                          </m:r>
                        </m:e>
                        <m:sup>
                          <m:r>
                            <a:rPr lang="zh-CN" altLang="en-US" sz="2000" i="0">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的分量</m:t>
                      </m:r>
                      <m:r>
                        <a:rPr lang="zh-CN" altLang="en-US" sz="2000" i="1">
                          <a:solidFill>
                            <a:srgbClr val="000000"/>
                          </a:solidFill>
                          <a:latin typeface="Cambria Math" panose="02040503050406030204" pitchFamily="18" charset="0"/>
                        </a:rPr>
                        <m:t>0&lt;</m:t>
                      </m:r>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𝛼</m:t>
                          </m:r>
                        </m:e>
                        <m:sub>
                          <m:r>
                            <a:rPr lang="zh-CN" altLang="en-US" sz="2000" i="1">
                              <a:solidFill>
                                <a:srgbClr val="000000"/>
                              </a:solidFill>
                              <a:latin typeface="Cambria Math" panose="02040503050406030204" pitchFamily="18" charset="0"/>
                            </a:rPr>
                            <m:t>𝑗</m:t>
                          </m:r>
                        </m:sub>
                        <m:sup>
                          <m:r>
                            <a:rPr lang="zh-CN" altLang="en-US" sz="2000" i="1">
                              <a:solidFill>
                                <a:srgbClr val="000000"/>
                              </a:solidFill>
                              <a:latin typeface="Cambria Math" panose="02040503050406030204" pitchFamily="18" charset="0"/>
                            </a:rPr>
                            <m:t>∗</m:t>
                          </m:r>
                        </m:sup>
                      </m:sSubSup>
                      <m:r>
                        <a:rPr lang="zh-CN" altLang="en-US" sz="2000" i="1">
                          <a:solidFill>
                            <a:srgbClr val="000000"/>
                          </a:solidFill>
                          <a:latin typeface="Cambria Math" panose="02040503050406030204" pitchFamily="18" charset="0"/>
                        </a:rPr>
                        <m:t>&lt;</m:t>
                      </m:r>
                      <m:r>
                        <a:rPr lang="zh-CN" altLang="en-US" sz="2000" i="1">
                          <a:solidFill>
                            <a:srgbClr val="000000"/>
                          </a:solidFill>
                          <a:latin typeface="Cambria Math" panose="02040503050406030204" pitchFamily="18" charset="0"/>
                        </a:rPr>
                        <m:t>𝐶</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计算：</m:t>
                      </m:r>
                    </m:oMath>
                    <m:oMath xmlns:m="http://schemas.openxmlformats.org/officeDocument/2006/math">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𝑏</m:t>
                          </m:r>
                        </m:e>
                        <m:sup>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𝑗</m:t>
                          </m:r>
                        </m:sub>
                      </m:sSub>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𝑖</m:t>
                          </m:r>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𝑁</m:t>
                          </m:r>
                        </m:sup>
                        <m:e>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𝛼</m:t>
                              </m:r>
                            </m:e>
                            <m:sub>
                              <m:r>
                                <a:rPr lang="zh-CN" altLang="en-US" sz="2000" i="1">
                                  <a:solidFill>
                                    <a:srgbClr val="000000"/>
                                  </a:solidFill>
                                  <a:latin typeface="Cambria Math" panose="02040503050406030204" pitchFamily="18" charset="0"/>
                                </a:rPr>
                                <m:t>𝑖</m:t>
                              </m:r>
                            </m:sub>
                            <m:sup>
                              <m:r>
                                <a:rPr lang="zh-CN" altLang="en-US" sz="2000" i="1">
                                  <a:solidFill>
                                    <a:srgbClr val="000000"/>
                                  </a:solidFill>
                                  <a:latin typeface="Cambria Math" panose="02040503050406030204" pitchFamily="18" charset="0"/>
                                </a:rPr>
                                <m:t>∗</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𝐾</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𝑗</m:t>
                              </m:r>
                            </m:sub>
                          </m:sSub>
                          <m:r>
                            <a:rPr lang="zh-CN" altLang="en-US" sz="2000" i="1">
                              <a:solidFill>
                                <a:srgbClr val="000000"/>
                              </a:solidFill>
                              <a:latin typeface="Cambria Math" panose="02040503050406030204" pitchFamily="18" charset="0"/>
                            </a:rPr>
                            <m:t>)</m:t>
                          </m:r>
                        </m:e>
                      </m:nary>
                    </m:oMath>
                  </m:oMathPara>
                </a14:m>
                <a:endParaRPr lang="en-US" altLang="zh-CN" sz="2000"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altLang="zh-CN" sz="2000" i="1" smtClean="0">
                              <a:solidFill>
                                <a:srgbClr val="000000"/>
                              </a:solidFill>
                              <a:latin typeface="Cambria Math" panose="02040503050406030204" pitchFamily="18" charset="0"/>
                            </a:rPr>
                          </m:ctrlPr>
                        </m:sSupPr>
                        <m:e>
                          <m:r>
                            <a:rPr lang="en-US" altLang="zh-CN" sz="2000" b="0" i="1" smtClean="0">
                              <a:solidFill>
                                <a:srgbClr val="000000"/>
                              </a:solidFill>
                              <a:latin typeface="Cambria Math" panose="02040503050406030204" pitchFamily="18" charset="0"/>
                            </a:rPr>
                            <m:t>𝑤</m:t>
                          </m:r>
                        </m:e>
                        <m:sup>
                          <m:r>
                            <a:rPr lang="en-US" altLang="zh-CN" sz="2000" b="0" i="1" smtClean="0">
                              <a:solidFill>
                                <a:srgbClr val="000000"/>
                              </a:solidFill>
                              <a:latin typeface="Cambria Math" panose="02040503050406030204" pitchFamily="18" charset="0"/>
                            </a:rPr>
                            <m:t>∗</m:t>
                          </m:r>
                        </m:sup>
                      </m:sSup>
                      <m:r>
                        <a:rPr lang="en-US" altLang="zh-CN" sz="2000" b="0" i="1" smtClean="0">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𝑖</m:t>
                          </m:r>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𝑁</m:t>
                          </m:r>
                        </m:sup>
                        <m:e>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𝛼</m:t>
                              </m:r>
                            </m:e>
                            <m:sub>
                              <m:r>
                                <a:rPr lang="zh-CN" altLang="en-US" sz="2000" i="1">
                                  <a:solidFill>
                                    <a:srgbClr val="000000"/>
                                  </a:solidFill>
                                  <a:latin typeface="Cambria Math" panose="02040503050406030204" pitchFamily="18" charset="0"/>
                                </a:rPr>
                                <m:t>𝑖</m:t>
                              </m:r>
                            </m:sub>
                            <m:sup>
                              <m:r>
                                <a:rPr lang="zh-CN" altLang="en-US" sz="2000" i="1">
                                  <a:solidFill>
                                    <a:srgbClr val="000000"/>
                                  </a:solidFill>
                                  <a:latin typeface="Cambria Math" panose="02040503050406030204" pitchFamily="18" charset="0"/>
                                </a:rPr>
                                <m:t>∗</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𝑖</m:t>
                              </m:r>
                            </m:sub>
                          </m:sSub>
                          <m:r>
                            <a:rPr lang="zh-CN" altLang="en-US" sz="2000" i="1" smtClean="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e>
                      </m:nary>
                    </m:oMath>
                  </m:oMathPara>
                </a14:m>
                <a:endParaRPr lang="en-US" altLang="zh-CN" sz="2000" i="1" dirty="0">
                  <a:solidFill>
                    <a:srgbClr val="000000"/>
                  </a:solidFill>
                  <a:latin typeface="Cambria Math" panose="02040503050406030204" pitchFamily="18" charset="0"/>
                </a:endParaRPr>
              </a:p>
              <a:p>
                <a:endParaRPr lang="en-US" altLang="zh-CN" sz="2000" i="1" dirty="0">
                  <a:solidFill>
                    <a:srgbClr val="000000"/>
                  </a:solidFill>
                  <a:latin typeface="Cambria Math" panose="02040503050406030204" pitchFamily="18" charset="0"/>
                </a:endParaRPr>
              </a:p>
              <a:p>
                <a:pPr/>
                <a14:m>
                  <m:oMath xmlns:m="http://schemas.openxmlformats.org/officeDocument/2006/math">
                    <m:r>
                      <a:rPr lang="zh-CN" altLang="en-US" sz="2000" i="1" smtClean="0">
                        <a:solidFill>
                          <a:srgbClr val="000000"/>
                        </a:solidFill>
                        <a:latin typeface="Cambria Math" panose="02040503050406030204" pitchFamily="18" charset="0"/>
                      </a:rPr>
                      <m:t>决策函数：</m:t>
                    </m:r>
                    <m:r>
                      <a:rPr lang="zh-CN" altLang="en-US" sz="2000" i="1" smtClean="0">
                        <a:solidFill>
                          <a:srgbClr val="000000"/>
                        </a:solidFill>
                        <a:latin typeface="Cambria Math" panose="02040503050406030204" pitchFamily="18" charset="0"/>
                      </a:rPr>
                      <m:t>𝑓</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𝑥</m:t>
                        </m:r>
                      </m:e>
                    </m:d>
                    <m:r>
                      <a:rPr lang="zh-CN" altLang="en-US" sz="2000" i="1">
                        <a:solidFill>
                          <a:srgbClr val="000000"/>
                        </a:solidFill>
                        <a:latin typeface="Cambria Math" panose="02040503050406030204" pitchFamily="18" charset="0"/>
                      </a:rPr>
                      <m:t>=</m:t>
                    </m:r>
                  </m:oMath>
                </a14:m>
                <a:r>
                  <a:rPr lang="en-US" altLang="zh-CN" sz="2000" dirty="0">
                    <a:solidFill>
                      <a:srgbClr val="000000"/>
                    </a:solidFill>
                    <a:latin typeface="Cambria Math" panose="02040503050406030204" pitchFamily="18" charset="0"/>
                  </a:rPr>
                  <a:t>sign(</a:t>
                </a:r>
                <a14:m>
                  <m:oMath xmlns:m="http://schemas.openxmlformats.org/officeDocument/2006/math">
                    <m:sSup>
                      <m:sSupPr>
                        <m:ctrlPr>
                          <a:rPr lang="zh-CN" altLang="en-US" sz="2000" smtClean="0">
                            <a:solidFill>
                              <a:srgbClr val="000000"/>
                            </a:solidFill>
                            <a:latin typeface="Cambria Math" panose="02040503050406030204" pitchFamily="18" charset="0"/>
                          </a:rPr>
                        </m:ctrlPr>
                      </m:sSupPr>
                      <m:e>
                        <m:r>
                          <m:rPr>
                            <m:sty m:val="p"/>
                          </m:rPr>
                          <a:rPr lang="en-US" altLang="zh-CN" sz="2000" i="0">
                            <a:solidFill>
                              <a:srgbClr val="000000"/>
                            </a:solidFill>
                            <a:latin typeface="Cambria Math" panose="02040503050406030204" pitchFamily="18" charset="0"/>
                          </a:rPr>
                          <m:t>w</m:t>
                        </m:r>
                      </m:e>
                      <m:sup>
                        <m:r>
                          <a:rPr lang="zh-CN" altLang="en-US" sz="2000" i="0">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r>
                      <a:rPr lang="en-US" altLang="zh-CN" sz="2000" b="0" i="0" smtClean="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𝑥</m:t>
                    </m:r>
                    <m:r>
                      <a:rPr lang="en-US" altLang="zh-CN" sz="2000">
                        <a:solidFill>
                          <a:srgbClr val="000000"/>
                        </a:solidFill>
                        <a:latin typeface="Cambria Math" panose="02040503050406030204" pitchFamily="18" charset="0"/>
                      </a:rPr>
                      <m:t>)</m:t>
                    </m:r>
                    <m:r>
                      <a:rPr lang="en-US" altLang="zh-CN" sz="2000" b="0" i="0" smtClean="0">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𝑏</m:t>
                        </m:r>
                      </m:e>
                      <m:sup>
                        <m:r>
                          <a:rPr lang="zh-CN" altLang="en-US" sz="2000" i="1">
                            <a:solidFill>
                              <a:srgbClr val="000000"/>
                            </a:solidFill>
                            <a:latin typeface="Cambria Math" panose="02040503050406030204" pitchFamily="18" charset="0"/>
                          </a:rPr>
                          <m:t>∗</m:t>
                        </m:r>
                      </m:sup>
                    </m:sSup>
                  </m:oMath>
                </a14:m>
                <a:r>
                  <a:rPr lang="en-US" altLang="zh-CN" sz="2000" dirty="0">
                    <a:solidFill>
                      <a:srgbClr val="000000"/>
                    </a:solidFill>
                    <a:latin typeface="Cambria Math" panose="02040503050406030204" pitchFamily="18" charset="0"/>
                  </a:rPr>
                  <a:t>)</a:t>
                </a:r>
                <a:r>
                  <a:rPr lang="en-US" altLang="zh-CN" sz="2000" dirty="0">
                    <a:solidFill>
                      <a:srgbClr val="000000"/>
                    </a:solidFill>
                  </a:rPr>
                  <a:t> </a:t>
                </a:r>
                <a:endParaRPr lang="en-US" altLang="zh-CN" sz="2000"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CN" altLang="en-US" sz="2000" b="0" i="0" smtClean="0">
                          <a:solidFill>
                            <a:srgbClr val="000000"/>
                          </a:solidFill>
                          <a:latin typeface="Cambria Math" panose="02040503050406030204" pitchFamily="18" charset="0"/>
                        </a:rPr>
                        <m:t>                                 </m:t>
                      </m:r>
                      <m:r>
                        <a:rPr lang="en-US" altLang="zh-CN" sz="2000">
                          <a:solidFill>
                            <a:srgbClr val="000000"/>
                          </a:solidFill>
                          <a:latin typeface="Cambria Math" panose="02040503050406030204" pitchFamily="18" charset="0"/>
                        </a:rPr>
                        <m:t>=</m:t>
                      </m:r>
                      <m:r>
                        <m:rPr>
                          <m:sty m:val="p"/>
                        </m:rPr>
                        <a:rPr lang="zh-CN" altLang="en-US" sz="2000" i="0">
                          <a:solidFill>
                            <a:srgbClr val="000000"/>
                          </a:solidFill>
                          <a:latin typeface="Cambria Math" panose="02040503050406030204" pitchFamily="18" charset="0"/>
                        </a:rPr>
                        <m:t>sign</m:t>
                      </m:r>
                      <m:d>
                        <m:dPr>
                          <m:ctrlPr>
                            <a:rPr lang="zh-CN" altLang="en-US" sz="2000" i="1">
                              <a:solidFill>
                                <a:srgbClr val="000000"/>
                              </a:solidFill>
                              <a:latin typeface="Cambria Math" panose="02040503050406030204" pitchFamily="18" charset="0"/>
                            </a:rPr>
                          </m:ctrlPr>
                        </m:dPr>
                        <m:e>
                          <m:nary>
                            <m:naryPr>
                              <m:chr m:val="∑"/>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𝑖</m:t>
                              </m:r>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𝑁</m:t>
                              </m:r>
                            </m:sup>
                            <m:e>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𝛼</m:t>
                                  </m:r>
                                </m:e>
                                <m:sub>
                                  <m:r>
                                    <a:rPr lang="zh-CN" altLang="en-US" sz="2000" i="1">
                                      <a:solidFill>
                                        <a:srgbClr val="000000"/>
                                      </a:solidFill>
                                      <a:latin typeface="Cambria Math" panose="02040503050406030204" pitchFamily="18" charset="0"/>
                                    </a:rPr>
                                    <m:t>𝑖</m:t>
                                  </m:r>
                                </m:sub>
                                <m:sup>
                                  <m:r>
                                    <a:rPr lang="zh-CN" altLang="en-US" sz="2000" i="1">
                                      <a:solidFill>
                                        <a:srgbClr val="000000"/>
                                      </a:solidFill>
                                      <a:latin typeface="Cambria Math" panose="02040503050406030204" pitchFamily="18" charset="0"/>
                                    </a:rPr>
                                    <m:t>∗</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𝑖</m:t>
                                  </m:r>
                                </m:sub>
                              </m:sSub>
                              <m:sSup>
                                <m:sSupPr>
                                  <m:ctrlPr>
                                    <a:rPr lang="zh-CN" altLang="en-US" sz="2000" i="1" smtClean="0">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d>
                                    <m:dPr>
                                      <m:ctrlPr>
                                        <a:rPr lang="en-US" altLang="zh-CN" sz="2000">
                                          <a:solidFill>
                                            <a:srgbClr val="000000"/>
                                          </a:solidFill>
                                          <a:latin typeface="Cambria Math" panose="02040503050406030204" pitchFamily="18" charset="0"/>
                                        </a:rPr>
                                      </m:ctrlPr>
                                    </m:dPr>
                                    <m:e>
                                      <m:sSub>
                                        <m:sSubPr>
                                          <m:ctrlPr>
                                            <a:rPr lang="en-US" altLang="zh-CN" sz="2000" i="1" smtClean="0">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m:rPr>
                                              <m:sty m:val="p"/>
                                            </m:rPr>
                                            <a:rPr lang="en-US" altLang="zh-CN" sz="2000" b="0" i="1" smtClean="0">
                                              <a:solidFill>
                                                <a:srgbClr val="000000"/>
                                              </a:solidFill>
                                              <a:latin typeface="Cambria Math" panose="02040503050406030204" pitchFamily="18" charset="0"/>
                                            </a:rPr>
                                            <m:t>i</m:t>
                                          </m:r>
                                        </m:sub>
                                      </m:sSub>
                                    </m:e>
                                  </m:d>
                                </m:e>
                                <m:sup>
                                  <m:r>
                                    <m:rPr>
                                      <m:sty m:val="p"/>
                                    </m:rPr>
                                    <a:rPr lang="en-US" altLang="zh-CN" sz="2000" b="0" i="1" smtClean="0">
                                      <a:solidFill>
                                        <a:srgbClr val="000000"/>
                                      </a:solidFill>
                                      <a:latin typeface="Cambria Math" panose="02040503050406030204" pitchFamily="18" charset="0"/>
                                    </a:rPr>
                                    <m:t>T</m:t>
                                  </m:r>
                                </m:sup>
                              </m:sSup>
                              <m:r>
                                <a:rPr lang="zh-CN" altLang="en-US" sz="2000" i="1">
                                  <a:solidFill>
                                    <a:srgbClr val="000000"/>
                                  </a:solidFill>
                                  <a:latin typeface="Cambria Math" panose="02040503050406030204" pitchFamily="18" charset="0"/>
                                </a:rPr>
                                <m:t>∅</m:t>
                              </m:r>
                              <m:d>
                                <m:dPr>
                                  <m:ctrlPr>
                                    <a:rPr lang="en-US" altLang="zh-CN" sz="2000" i="1" smtClean="0">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𝑥</m:t>
                                  </m:r>
                                </m:e>
                              </m:d>
                            </m:e>
                          </m:nary>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𝑏</m:t>
                              </m:r>
                            </m:e>
                            <m:sup>
                              <m:r>
                                <a:rPr lang="zh-CN" altLang="en-US" sz="2000" i="1">
                                  <a:solidFill>
                                    <a:srgbClr val="000000"/>
                                  </a:solidFill>
                                  <a:latin typeface="Cambria Math" panose="02040503050406030204" pitchFamily="18" charset="0"/>
                                </a:rPr>
                                <m:t>∗</m:t>
                              </m:r>
                            </m:sup>
                          </m:sSup>
                        </m:e>
                      </m:d>
                    </m:oMath>
                  </m:oMathPara>
                </a14:m>
                <a:endParaRPr lang="en-US" altLang="zh-CN" sz="2000" b="0" i="0"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CN" altLang="en-US" sz="2000" b="0" i="0" smtClean="0">
                          <a:solidFill>
                            <a:srgbClr val="000000"/>
                          </a:solidFill>
                          <a:latin typeface="Cambria Math" panose="02040503050406030204" pitchFamily="18" charset="0"/>
                        </a:rPr>
                        <m:t>                                 </m:t>
                      </m:r>
                      <m:r>
                        <a:rPr lang="en-US" altLang="zh-CN" sz="2000" b="0" i="0" smtClean="0">
                          <a:solidFill>
                            <a:srgbClr val="000000"/>
                          </a:solidFill>
                          <a:latin typeface="Cambria Math" panose="02040503050406030204" pitchFamily="18" charset="0"/>
                        </a:rPr>
                        <m:t>=</m:t>
                      </m:r>
                      <m:r>
                        <m:rPr>
                          <m:sty m:val="p"/>
                        </m:rPr>
                        <a:rPr lang="zh-CN" altLang="en-US" sz="2000" i="0">
                          <a:solidFill>
                            <a:srgbClr val="000000"/>
                          </a:solidFill>
                          <a:latin typeface="Cambria Math" panose="02040503050406030204" pitchFamily="18" charset="0"/>
                        </a:rPr>
                        <m:t>sign</m:t>
                      </m:r>
                      <m:d>
                        <m:dPr>
                          <m:ctrlPr>
                            <a:rPr lang="zh-CN" altLang="en-US" sz="2000" i="1">
                              <a:solidFill>
                                <a:srgbClr val="000000"/>
                              </a:solidFill>
                              <a:latin typeface="Cambria Math" panose="02040503050406030204" pitchFamily="18" charset="0"/>
                            </a:rPr>
                          </m:ctrlPr>
                        </m:dPr>
                        <m:e>
                          <m:nary>
                            <m:naryPr>
                              <m:chr m:val="∑"/>
                              <m:ctrlPr>
                                <a:rPr lang="zh-CN" altLang="en-US" sz="2000" i="1" smtClean="0">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𝑖</m:t>
                              </m:r>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𝑁</m:t>
                              </m:r>
                            </m:sup>
                            <m:e>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𝛼</m:t>
                                  </m:r>
                                </m:e>
                                <m:sub>
                                  <m:r>
                                    <a:rPr lang="zh-CN" altLang="en-US" sz="2000" i="1">
                                      <a:solidFill>
                                        <a:srgbClr val="000000"/>
                                      </a:solidFill>
                                      <a:latin typeface="Cambria Math" panose="02040503050406030204" pitchFamily="18" charset="0"/>
                                    </a:rPr>
                                    <m:t>𝑖</m:t>
                                  </m:r>
                                </m:sub>
                                <m:sup>
                                  <m:r>
                                    <a:rPr lang="zh-CN" altLang="en-US" sz="2000" i="1">
                                      <a:solidFill>
                                        <a:srgbClr val="000000"/>
                                      </a:solidFill>
                                      <a:latin typeface="Cambria Math" panose="02040503050406030204" pitchFamily="18" charset="0"/>
                                    </a:rPr>
                                    <m:t>∗</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𝐾</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𝑥</m:t>
                              </m:r>
                              <m:r>
                                <a:rPr lang="zh-CN" altLang="en-US" sz="2000" i="1">
                                  <a:solidFill>
                                    <a:srgbClr val="000000"/>
                                  </a:solidFill>
                                  <a:latin typeface="Cambria Math" panose="02040503050406030204" pitchFamily="18" charset="0"/>
                                </a:rPr>
                                <m:t>)</m:t>
                              </m:r>
                            </m:e>
                          </m:nary>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𝑏</m:t>
                              </m:r>
                            </m:e>
                            <m:sup>
                              <m:r>
                                <a:rPr lang="zh-CN" altLang="en-US" sz="2000" i="1">
                                  <a:solidFill>
                                    <a:srgbClr val="000000"/>
                                  </a:solidFill>
                                  <a:latin typeface="Cambria Math" panose="02040503050406030204" pitchFamily="18" charset="0"/>
                                </a:rPr>
                                <m:t>∗</m:t>
                              </m:r>
                            </m:sup>
                          </m:sSup>
                        </m:e>
                      </m:d>
                    </m:oMath>
                  </m:oMathPara>
                </a14:m>
                <a:br>
                  <a:rPr lang="zh-CN" altLang="en-US" sz="2000" i="1" dirty="0">
                    <a:solidFill>
                      <a:srgbClr val="000000"/>
                    </a:solidFill>
                    <a:latin typeface="Cambria Math" panose="02040503050406030204" pitchFamily="18" charset="0"/>
                  </a:rPr>
                </a:br>
                <a:endParaRPr lang="zh-CN" altLang="en-US" sz="2000" dirty="0"/>
              </a:p>
            </p:txBody>
          </p:sp>
        </mc:Choice>
        <mc:Fallback>
          <p:sp>
            <p:nvSpPr>
              <p:cNvPr id="5" name="文本框 4">
                <a:extLst>
                  <a:ext uri="{FF2B5EF4-FFF2-40B4-BE49-F238E27FC236}">
                    <a16:creationId xmlns:a16="http://schemas.microsoft.com/office/drawing/2014/main" id="{E8418D3F-8DF7-4841-9E81-06B82D686D8F}"/>
                  </a:ext>
                </a:extLst>
              </p:cNvPr>
              <p:cNvSpPr txBox="1">
                <a:spLocks noRot="1" noChangeAspect="1" noMove="1" noResize="1" noEditPoints="1" noAdjustHandles="1" noChangeArrowheads="1" noChangeShapeType="1" noTextEdit="1"/>
              </p:cNvSpPr>
              <p:nvPr/>
            </p:nvSpPr>
            <p:spPr>
              <a:xfrm>
                <a:off x="1420878" y="1991015"/>
                <a:ext cx="7723122" cy="4592347"/>
              </a:xfrm>
              <a:prstGeom prst="rect">
                <a:avLst/>
              </a:prstGeom>
              <a:blipFill>
                <a:blip r:embed="rId3"/>
                <a:stretch>
                  <a:fillRect l="-3120" t="-13223" b="-29477"/>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A23B0460-A27D-C969-0138-E8D55D359DA1}"/>
              </a:ext>
            </a:extLst>
          </p:cNvPr>
          <p:cNvSpPr>
            <a:spLocks noGrp="1"/>
          </p:cNvSpPr>
          <p:nvPr>
            <p:ph type="title"/>
          </p:nvPr>
        </p:nvSpPr>
        <p:spPr>
          <a:xfrm>
            <a:off x="914400" y="274638"/>
            <a:ext cx="7772400" cy="1143000"/>
          </a:xfrm>
        </p:spPr>
        <p:txBody>
          <a:bodyPr/>
          <a:lstStyle/>
          <a:p>
            <a:r>
              <a:rPr lang="en-US" dirty="0" err="1">
                <a:latin typeface="Microsoft YaHei" panose="020B0503020204020204" pitchFamily="34" charset="-122"/>
                <a:ea typeface="Microsoft YaHei" panose="020B0503020204020204" pitchFamily="34" charset="-122"/>
              </a:rPr>
              <a:t>基于核方法的非线性支持向量机</a:t>
            </a:r>
            <a:endParaRPr lang="en-US" dirty="0">
              <a:latin typeface="Microsoft YaHei" panose="020B0503020204020204" pitchFamily="34" charset="-122"/>
              <a:ea typeface="Microsoft YaHei" panose="020B0503020204020204" pitchFamily="34" charset="-122"/>
            </a:endParaRPr>
          </a:p>
        </p:txBody>
      </p:sp>
      <p:sp>
        <p:nvSpPr>
          <p:cNvPr id="4" name="Rectangle 3">
            <a:extLst>
              <a:ext uri="{FF2B5EF4-FFF2-40B4-BE49-F238E27FC236}">
                <a16:creationId xmlns:a16="http://schemas.microsoft.com/office/drawing/2014/main" id="{F7E9527D-EA76-7137-942C-F3BE5CD643F1}"/>
              </a:ext>
            </a:extLst>
          </p:cNvPr>
          <p:cNvSpPr/>
          <p:nvPr/>
        </p:nvSpPr>
        <p:spPr>
          <a:xfrm>
            <a:off x="1506682" y="4270664"/>
            <a:ext cx="4156363" cy="4987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6B4D3B-5AED-34A2-D6CE-DE343F8A08DB}"/>
              </a:ext>
            </a:extLst>
          </p:cNvPr>
          <p:cNvSpPr/>
          <p:nvPr/>
        </p:nvSpPr>
        <p:spPr>
          <a:xfrm>
            <a:off x="3363191" y="4690487"/>
            <a:ext cx="4156363" cy="9309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B9B650A-C979-6138-B694-DA125FCFCEC0}"/>
              </a:ext>
            </a:extLst>
          </p:cNvPr>
          <p:cNvSpPr/>
          <p:nvPr/>
        </p:nvSpPr>
        <p:spPr>
          <a:xfrm>
            <a:off x="3363191" y="5587567"/>
            <a:ext cx="4156363" cy="9309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094C406C-6ADF-EFD8-F0ED-EC33E0C2881E}"/>
              </a:ext>
            </a:extLst>
          </p:cNvPr>
          <p:cNvGrpSpPr/>
          <p:nvPr/>
        </p:nvGrpSpPr>
        <p:grpSpPr>
          <a:xfrm>
            <a:off x="3626427" y="3522436"/>
            <a:ext cx="3447473" cy="369332"/>
            <a:chOff x="3626427" y="3522436"/>
            <a:chExt cx="3447473" cy="369332"/>
          </a:xfrm>
        </p:grpSpPr>
        <p:sp>
          <p:nvSpPr>
            <p:cNvPr id="8" name="TextBox 7">
              <a:extLst>
                <a:ext uri="{FF2B5EF4-FFF2-40B4-BE49-F238E27FC236}">
                  <a16:creationId xmlns:a16="http://schemas.microsoft.com/office/drawing/2014/main" id="{8E81DFD6-0F9A-EFED-2267-53A8BAD207AF}"/>
                </a:ext>
              </a:extLst>
            </p:cNvPr>
            <p:cNvSpPr txBox="1"/>
            <p:nvPr/>
          </p:nvSpPr>
          <p:spPr>
            <a:xfrm>
              <a:off x="4021282" y="3522436"/>
              <a:ext cx="3052618" cy="369332"/>
            </a:xfrm>
            <a:prstGeom prst="rect">
              <a:avLst/>
            </a:prstGeom>
            <a:noFill/>
          </p:spPr>
          <p:txBody>
            <a:bodyPr wrap="square" rtlCol="0">
              <a:spAutoFit/>
            </a:bodyPr>
            <a:lstStyle/>
            <a:p>
              <a:r>
                <a:rPr lang="en-US" dirty="0" err="1">
                  <a:solidFill>
                    <a:srgbClr val="FF0000"/>
                  </a:solidFill>
                </a:rPr>
                <a:t>依旧需要特征映射</a:t>
              </a:r>
              <a:r>
                <a:rPr lang="zh-CN" altLang="en-US" dirty="0">
                  <a:solidFill>
                    <a:srgbClr val="FF0000"/>
                  </a:solidFill>
                </a:rPr>
                <a:t>？！</a:t>
              </a:r>
              <a:endParaRPr lang="en-US" dirty="0">
                <a:solidFill>
                  <a:srgbClr val="FF0000"/>
                </a:solidFill>
              </a:endParaRPr>
            </a:p>
          </p:txBody>
        </p:sp>
        <p:cxnSp>
          <p:nvCxnSpPr>
            <p:cNvPr id="10" name="Straight Arrow Connector 9">
              <a:extLst>
                <a:ext uri="{FF2B5EF4-FFF2-40B4-BE49-F238E27FC236}">
                  <a16:creationId xmlns:a16="http://schemas.microsoft.com/office/drawing/2014/main" id="{FC6206E4-2E57-0342-A88A-130FFC3D1269}"/>
                </a:ext>
              </a:extLst>
            </p:cNvPr>
            <p:cNvCxnSpPr/>
            <p:nvPr/>
          </p:nvCxnSpPr>
          <p:spPr>
            <a:xfrm flipH="1">
              <a:off x="3626427" y="3707102"/>
              <a:ext cx="39485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8651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6" name="灯片编号占位符 3"/>
          <p:cNvSpPr>
            <a:spLocks noGrp="1"/>
          </p:cNvSpPr>
          <p:nvPr>
            <p:ph type="sldNum" sz="quarter" idx="12"/>
          </p:nvPr>
        </p:nvSpPr>
        <p:spPr>
          <a:noFill/>
        </p:spPr>
        <p:txBody>
          <a:bodyPr/>
          <a:lstStyle/>
          <a:p>
            <a:fld id="{2C020BFA-C796-4A1F-A9A2-95AD1C34E4BF}" type="slidenum">
              <a:rPr lang="en-US" altLang="zh-CN" smtClean="0">
                <a:ea typeface="黑体" pitchFamily="49" charset="-122"/>
              </a:rPr>
              <a:pPr/>
              <a:t>59</a:t>
            </a:fld>
            <a:endParaRPr lang="en-US" altLang="zh-CN">
              <a:ea typeface="黑体" pitchFamily="49" charset="-122"/>
            </a:endParaRPr>
          </a:p>
        </p:txBody>
      </p:sp>
      <p:graphicFrame>
        <p:nvGraphicFramePr>
          <p:cNvPr id="44034" name="Object 5" descr="羊皮纸"/>
          <p:cNvGraphicFramePr>
            <a:graphicFrameLocks noChangeAspect="1"/>
          </p:cNvGraphicFramePr>
          <p:nvPr>
            <p:extLst>
              <p:ext uri="{D42A27DB-BD31-4B8C-83A1-F6EECF244321}">
                <p14:modId xmlns:p14="http://schemas.microsoft.com/office/powerpoint/2010/main" val="1667191896"/>
              </p:ext>
            </p:extLst>
          </p:nvPr>
        </p:nvGraphicFramePr>
        <p:xfrm>
          <a:off x="1038933" y="1133041"/>
          <a:ext cx="7501981" cy="4958222"/>
        </p:xfrm>
        <a:graphic>
          <a:graphicData uri="http://schemas.openxmlformats.org/presentationml/2006/ole">
            <mc:AlternateContent xmlns:mc="http://schemas.openxmlformats.org/markup-compatibility/2006">
              <mc:Choice xmlns:v="urn:schemas-microsoft-com:vml" Requires="v">
                <p:oleObj name="公式" r:id="rId3" imgW="3238200" imgH="2133360" progId="Equation.3">
                  <p:embed/>
                </p:oleObj>
              </mc:Choice>
              <mc:Fallback>
                <p:oleObj name="公式" r:id="rId3" imgW="3238200" imgH="213336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933" y="1133041"/>
                        <a:ext cx="7501981" cy="4958222"/>
                      </a:xfrm>
                      <a:prstGeom prst="rect">
                        <a:avLst/>
                      </a:prstGeom>
                      <a:noFill/>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常用的核函数</a:t>
            </a:r>
          </a:p>
        </p:txBody>
      </p:sp>
      <p:sp>
        <p:nvSpPr>
          <p:cNvPr id="45061" name="灯片编号占位符 3"/>
          <p:cNvSpPr>
            <a:spLocks noGrp="1"/>
          </p:cNvSpPr>
          <p:nvPr>
            <p:ph type="sldNum" sz="quarter" idx="12"/>
          </p:nvPr>
        </p:nvSpPr>
        <p:spPr>
          <a:noFill/>
        </p:spPr>
        <p:txBody>
          <a:bodyPr/>
          <a:lstStyle/>
          <a:p>
            <a:fld id="{A5CBAF39-FA4E-495E-8DB5-09E325D6593E}" type="slidenum">
              <a:rPr lang="en-US" altLang="zh-CN" smtClean="0">
                <a:ea typeface="黑体" pitchFamily="49" charset="-122"/>
              </a:rPr>
              <a:pPr/>
              <a:t>60</a:t>
            </a:fld>
            <a:endParaRPr lang="en-US" altLang="zh-CN">
              <a:ea typeface="黑体" pitchFamily="49" charset="-122"/>
            </a:endParaRPr>
          </a:p>
        </p:txBody>
      </p:sp>
      <p:graphicFrame>
        <p:nvGraphicFramePr>
          <p:cNvPr id="45058" name="Object 5" descr="羊皮纸"/>
          <p:cNvGraphicFramePr>
            <a:graphicFrameLocks noChangeAspect="1"/>
          </p:cNvGraphicFramePr>
          <p:nvPr>
            <p:extLst>
              <p:ext uri="{D42A27DB-BD31-4B8C-83A1-F6EECF244321}">
                <p14:modId xmlns:p14="http://schemas.microsoft.com/office/powerpoint/2010/main" val="1490737389"/>
              </p:ext>
            </p:extLst>
          </p:nvPr>
        </p:nvGraphicFramePr>
        <p:xfrm>
          <a:off x="1510643" y="1566480"/>
          <a:ext cx="5464923" cy="4438037"/>
        </p:xfrm>
        <a:graphic>
          <a:graphicData uri="http://schemas.openxmlformats.org/presentationml/2006/ole">
            <mc:AlternateContent xmlns:mc="http://schemas.openxmlformats.org/markup-compatibility/2006">
              <mc:Choice xmlns:v="urn:schemas-microsoft-com:vml" Requires="v">
                <p:oleObj name="公式" r:id="rId2" imgW="1866600" imgH="1511280" progId="Equation.3">
                  <p:embed/>
                </p:oleObj>
              </mc:Choice>
              <mc:Fallback>
                <p:oleObj name="公式" r:id="rId2" imgW="1866600" imgH="151128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0643" y="1566480"/>
                        <a:ext cx="5464923" cy="4438037"/>
                      </a:xfrm>
                      <a:prstGeom prst="rect">
                        <a:avLst/>
                      </a:prstGeom>
                      <a:noFill/>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一个非线性分类的例子</a:t>
            </a:r>
          </a:p>
        </p:txBody>
      </p:sp>
      <p:sp>
        <p:nvSpPr>
          <p:cNvPr id="94211" name="内容占位符 2"/>
          <p:cNvSpPr>
            <a:spLocks noGrp="1"/>
          </p:cNvSpPr>
          <p:nvPr>
            <p:ph idx="1"/>
          </p:nvPr>
        </p:nvSpPr>
        <p:spPr/>
        <p:txBody>
          <a:bodyPr/>
          <a:lstStyle/>
          <a:p>
            <a:endParaRPr lang="zh-CN" altLang="en-US" dirty="0"/>
          </a:p>
        </p:txBody>
      </p:sp>
      <p:sp>
        <p:nvSpPr>
          <p:cNvPr id="94212" name="灯片编号占位符 3"/>
          <p:cNvSpPr>
            <a:spLocks noGrp="1"/>
          </p:cNvSpPr>
          <p:nvPr>
            <p:ph type="sldNum" sz="quarter" idx="12"/>
          </p:nvPr>
        </p:nvSpPr>
        <p:spPr>
          <a:noFill/>
        </p:spPr>
        <p:txBody>
          <a:bodyPr/>
          <a:lstStyle/>
          <a:p>
            <a:fld id="{4AFEB721-F933-4F0D-A1E0-EF43D190DECF}" type="slidenum">
              <a:rPr lang="en-US" altLang="zh-CN" smtClean="0">
                <a:ea typeface="黑体" pitchFamily="49" charset="-122"/>
              </a:rPr>
              <a:pPr/>
              <a:t>61</a:t>
            </a:fld>
            <a:endParaRPr lang="en-US" altLang="zh-CN">
              <a:ea typeface="黑体" pitchFamily="49" charset="-122"/>
            </a:endParaRPr>
          </a:p>
        </p:txBody>
      </p:sp>
      <p:pic>
        <p:nvPicPr>
          <p:cNvPr id="94213" name="Picture 2" descr="C:\Users\defaultstr\Documents\GitHub\mySVM\report\rbfc=4.png"/>
          <p:cNvPicPr>
            <a:picLocks noChangeAspect="1" noChangeArrowheads="1"/>
          </p:cNvPicPr>
          <p:nvPr/>
        </p:nvPicPr>
        <p:blipFill>
          <a:blip r:embed="rId2" cstate="print"/>
          <a:srcRect/>
          <a:stretch>
            <a:fillRect/>
          </a:stretch>
        </p:blipFill>
        <p:spPr bwMode="auto">
          <a:xfrm>
            <a:off x="987097" y="1495262"/>
            <a:ext cx="6565900" cy="4916487"/>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序列最小最优化算法</a:t>
            </a:r>
            <a:r>
              <a:rPr lang="en-US" altLang="zh-CN" dirty="0"/>
              <a:t>SMO</a:t>
            </a:r>
            <a:endParaRPr lang="zh-CN" altLang="en-US" dirty="0"/>
          </a:p>
        </p:txBody>
      </p:sp>
      <p:sp>
        <p:nvSpPr>
          <p:cNvPr id="95235" name="内容占位符 2"/>
          <p:cNvSpPr>
            <a:spLocks noGrp="1"/>
          </p:cNvSpPr>
          <p:nvPr>
            <p:ph idx="1"/>
          </p:nvPr>
        </p:nvSpPr>
        <p:spPr>
          <a:xfrm>
            <a:off x="914400" y="1765738"/>
            <a:ext cx="7772400" cy="4254062"/>
          </a:xfrm>
        </p:spPr>
        <p:txBody>
          <a:bodyPr/>
          <a:lstStyle/>
          <a:p>
            <a:r>
              <a:rPr lang="zh-CN" altLang="en-US" sz="3200" b="1" dirty="0"/>
              <a:t>支持向量机的学习问题是一个凸二次规划问题，具有全局最优解。</a:t>
            </a:r>
            <a:endParaRPr lang="en-US" altLang="zh-CN" sz="3200" b="1" dirty="0"/>
          </a:p>
          <a:p>
            <a:r>
              <a:rPr lang="zh-CN" altLang="en-US" sz="3200" b="1" dirty="0"/>
              <a:t>有很多算法可以求解这类问题，但是当样本数多时，往往非常低效，以致无法使用。</a:t>
            </a:r>
            <a:endParaRPr lang="en-US" altLang="zh-CN" sz="3200" b="1" dirty="0"/>
          </a:p>
          <a:p>
            <a:r>
              <a:rPr lang="zh-CN" altLang="en-US" sz="3200" b="1" dirty="0"/>
              <a:t>为此，提出了许多快速算法，</a:t>
            </a:r>
            <a:r>
              <a:rPr lang="en-US" altLang="zh-CN" sz="3200" b="1" dirty="0"/>
              <a:t>SMO </a:t>
            </a:r>
            <a:r>
              <a:rPr lang="zh-CN" altLang="en-US" sz="3200" b="1" dirty="0"/>
              <a:t>由微软的</a:t>
            </a:r>
            <a:r>
              <a:rPr lang="en-US" altLang="zh-CN" sz="3200" b="1" dirty="0"/>
              <a:t>Platt</a:t>
            </a:r>
            <a:r>
              <a:rPr lang="zh-CN" altLang="en-US" sz="3200" b="1" dirty="0"/>
              <a:t>与</a:t>
            </a:r>
            <a:r>
              <a:rPr lang="en-US" altLang="zh-CN" sz="3200" b="1" dirty="0"/>
              <a:t>1998</a:t>
            </a:r>
            <a:r>
              <a:rPr lang="zh-CN" altLang="en-US" sz="3200" b="1" dirty="0"/>
              <a:t>年提出，当时最快。</a:t>
            </a:r>
            <a:endParaRPr lang="en-US" altLang="zh-CN" sz="3200" b="1" dirty="0"/>
          </a:p>
          <a:p>
            <a:endParaRPr lang="en-US" altLang="zh-CN" dirty="0"/>
          </a:p>
          <a:p>
            <a:endParaRPr lang="zh-CN" altLang="en-US" dirty="0"/>
          </a:p>
        </p:txBody>
      </p:sp>
      <p:sp>
        <p:nvSpPr>
          <p:cNvPr id="95236" name="灯片编号占位符 3"/>
          <p:cNvSpPr>
            <a:spLocks noGrp="1"/>
          </p:cNvSpPr>
          <p:nvPr>
            <p:ph type="sldNum" sz="quarter" idx="12"/>
          </p:nvPr>
        </p:nvSpPr>
        <p:spPr>
          <a:noFill/>
        </p:spPr>
        <p:txBody>
          <a:bodyPr/>
          <a:lstStyle/>
          <a:p>
            <a:fld id="{E3B3A0A0-8DDF-4FF8-9AB5-363EFD0DF86E}" type="slidenum">
              <a:rPr lang="en-US" altLang="zh-CN" smtClean="0">
                <a:ea typeface="黑体" pitchFamily="49" charset="-122"/>
              </a:rPr>
              <a:pPr/>
              <a:t>62</a:t>
            </a:fld>
            <a:endParaRPr lang="en-US" altLang="zh-CN">
              <a:ea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SVM</a:t>
            </a:r>
            <a:r>
              <a:rPr lang="zh-CN" altLang="en-US" dirty="0"/>
              <a:t>用于求解多类问题</a:t>
            </a:r>
          </a:p>
        </p:txBody>
      </p:sp>
      <p:sp>
        <p:nvSpPr>
          <p:cNvPr id="3" name="内容占位符 2"/>
          <p:cNvSpPr>
            <a:spLocks noGrp="1"/>
          </p:cNvSpPr>
          <p:nvPr>
            <p:ph idx="1"/>
          </p:nvPr>
        </p:nvSpPr>
        <p:spPr>
          <a:xfrm>
            <a:off x="914400" y="1844566"/>
            <a:ext cx="7772400" cy="4175234"/>
          </a:xfrm>
        </p:spPr>
        <p:txBody>
          <a:bodyPr/>
          <a:lstStyle/>
          <a:p>
            <a:pPr>
              <a:defRPr/>
            </a:pPr>
            <a:r>
              <a:rPr lang="zh-CN" altLang="en-US" sz="3200" b="1" dirty="0"/>
              <a:t>一对多</a:t>
            </a:r>
            <a:endParaRPr lang="en-US" altLang="zh-CN" sz="3200" b="1" dirty="0"/>
          </a:p>
          <a:p>
            <a:pPr lvl="1">
              <a:defRPr/>
            </a:pPr>
            <a:r>
              <a:rPr lang="zh-CN" altLang="en-US" sz="2800" b="1" dirty="0"/>
              <a:t>某类为正例，其余类为负例。分类时将未知样本分类为具有最大分类函数值的那类</a:t>
            </a:r>
            <a:endParaRPr lang="en-US" altLang="zh-CN" sz="2800" b="1" dirty="0"/>
          </a:p>
          <a:p>
            <a:pPr marL="274320" lvl="1" indent="-274320">
              <a:spcBef>
                <a:spcPts val="580"/>
              </a:spcBef>
              <a:buClr>
                <a:schemeClr val="accent1"/>
              </a:buClr>
              <a:buSzPct val="85000"/>
              <a:buBlip>
                <a:blip r:embed="rId3"/>
              </a:buBlip>
              <a:defRPr/>
            </a:pPr>
            <a:r>
              <a:rPr lang="zh-CN" altLang="en-US" sz="3200" b="1" dirty="0"/>
              <a:t>一对一</a:t>
            </a:r>
            <a:endParaRPr lang="en-US" altLang="zh-CN" sz="3200" b="1" dirty="0"/>
          </a:p>
          <a:p>
            <a:pPr lvl="1">
              <a:defRPr/>
            </a:pPr>
            <a:r>
              <a:rPr lang="zh-CN" altLang="en-US" sz="2800" b="1" dirty="0"/>
              <a:t>任意两类构造一个</a:t>
            </a:r>
            <a:r>
              <a:rPr lang="en-US" altLang="zh-CN" sz="2800" b="1" dirty="0"/>
              <a:t>SVM</a:t>
            </a:r>
            <a:r>
              <a:rPr lang="zh-CN" altLang="en-US" sz="2800" b="1" dirty="0"/>
              <a:t>，分类时采取投票法决定类别</a:t>
            </a:r>
            <a:endParaRPr lang="en-US" altLang="zh-CN" sz="2800" b="1" dirty="0"/>
          </a:p>
          <a:p>
            <a:pPr>
              <a:defRPr/>
            </a:pPr>
            <a:r>
              <a:rPr lang="zh-CN" altLang="en-US" sz="3200" b="1" dirty="0"/>
              <a:t>层次法</a:t>
            </a:r>
            <a:endParaRPr lang="en-US" altLang="zh-CN" sz="3200" b="1" dirty="0"/>
          </a:p>
          <a:p>
            <a:pPr lvl="1">
              <a:defRPr/>
            </a:pPr>
            <a:r>
              <a:rPr lang="zh-CN" altLang="en-US" sz="2800" b="1" dirty="0"/>
              <a:t>所有类先分成两类，每类再分为两类</a:t>
            </a:r>
            <a:r>
              <a:rPr lang="en-US" altLang="zh-CN" sz="2800" b="1" dirty="0"/>
              <a:t>……</a:t>
            </a:r>
          </a:p>
          <a:p>
            <a:pPr lvl="2">
              <a:buFont typeface="Wingdings" pitchFamily="2" charset="2"/>
              <a:buNone/>
              <a:defRPr/>
            </a:pPr>
            <a:endParaRPr lang="zh-CN" altLang="en-US" dirty="0"/>
          </a:p>
        </p:txBody>
      </p:sp>
      <p:sp>
        <p:nvSpPr>
          <p:cNvPr id="98308" name="灯片编号占位符 3"/>
          <p:cNvSpPr>
            <a:spLocks noGrp="1"/>
          </p:cNvSpPr>
          <p:nvPr>
            <p:ph type="sldNum" sz="quarter" idx="12"/>
          </p:nvPr>
        </p:nvSpPr>
        <p:spPr>
          <a:noFill/>
        </p:spPr>
        <p:txBody>
          <a:bodyPr/>
          <a:lstStyle/>
          <a:p>
            <a:fld id="{E9661419-1EFD-47EB-A377-1B4B0E87A75A}" type="slidenum">
              <a:rPr lang="en-US" altLang="zh-CN" smtClean="0">
                <a:ea typeface="黑体" pitchFamily="49" charset="-122"/>
              </a:rPr>
              <a:pPr/>
              <a:t>63</a:t>
            </a:fld>
            <a:endParaRPr lang="en-US" altLang="zh-CN">
              <a:ea typeface="黑体" pitchFamily="49"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一对多</a:t>
            </a:r>
            <a:endParaRPr lang="en-US" dirty="0"/>
          </a:p>
          <a:p>
            <a:pPr lvl="1"/>
            <a:r>
              <a:rPr lang="en-US" u="sng" dirty="0" err="1"/>
              <a:t>为每类单独学习一个分类器</a:t>
            </a:r>
            <a:r>
              <a:rPr lang="zh-CN" altLang="en-US" u="sng" dirty="0"/>
              <a:t>（打分函数）</a:t>
            </a:r>
            <a:endParaRPr lang="en-US" dirty="0"/>
          </a:p>
        </p:txBody>
      </p:sp>
      <mc:AlternateContent xmlns:mc="http://schemas.openxmlformats.org/markup-compatibility/2006">
        <mc:Choice xmlns:a14="http://schemas.microsoft.com/office/drawing/2010/main" Requires="a14">
          <p:sp>
            <p:nvSpPr>
              <p:cNvPr id="38" name="TextBox 37"/>
              <p:cNvSpPr txBox="1"/>
              <p:nvPr/>
            </p:nvSpPr>
            <p:spPr>
              <a:xfrm>
                <a:off x="1569800" y="3835831"/>
                <a:ext cx="6004400" cy="4995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𝑠</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  ∀</m:t>
                      </m:r>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𝑦</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𝑤</m:t>
                          </m:r>
                        </m:e>
                        <m: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𝑖</m:t>
                              </m:r>
                            </m:sub>
                          </m:sSub>
                        </m:sub>
                        <m:sup>
                          <m:r>
                            <a:rPr lang="en-US" sz="2800" b="0" i="1" smtClean="0">
                              <a:latin typeface="Cambria Math" panose="02040503050406030204" pitchFamily="18" charset="0"/>
                            </a:rPr>
                            <m:t>𝑇</m:t>
                          </m:r>
                        </m:sup>
                      </m:sSubSup>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𝑤</m:t>
                          </m:r>
                        </m:e>
                        <m:sub>
                          <m:r>
                            <a:rPr lang="en-US" sz="2800" b="0" i="1" smtClean="0">
                              <a:latin typeface="Cambria Math" panose="02040503050406030204" pitchFamily="18" charset="0"/>
                            </a:rPr>
                            <m:t>𝑦</m:t>
                          </m:r>
                        </m:sub>
                        <m:sup>
                          <m:r>
                            <a:rPr lang="en-US" sz="2800" b="0" i="1" smtClean="0">
                              <a:latin typeface="Cambria Math" panose="02040503050406030204" pitchFamily="18" charset="0"/>
                            </a:rPr>
                            <m:t>𝑇</m:t>
                          </m:r>
                        </m:sup>
                      </m:sSubSup>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+1−</m:t>
                      </m:r>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𝜉</m:t>
                          </m:r>
                        </m:e>
                        <m:sub>
                          <m:r>
                            <a:rPr lang="en-US" sz="2800" b="0" i="1" smtClean="0">
                              <a:latin typeface="Cambria Math" panose="02040503050406030204" pitchFamily="18" charset="0"/>
                            </a:rPr>
                            <m:t>𝑖</m:t>
                          </m:r>
                        </m:sub>
                        <m:sup>
                          <m:r>
                            <a:rPr lang="en-US" sz="2800" b="0" i="1" smtClean="0">
                              <a:latin typeface="Cambria Math" panose="02040503050406030204" pitchFamily="18" charset="0"/>
                            </a:rPr>
                            <m:t>𝑦</m:t>
                          </m:r>
                        </m:sup>
                      </m:sSubSup>
                    </m:oMath>
                  </m:oMathPara>
                </a14:m>
                <a:endParaRPr lang="en-US" sz="2800" dirty="0"/>
              </a:p>
            </p:txBody>
          </p:sp>
        </mc:Choice>
        <mc:Fallback>
          <p:sp>
            <p:nvSpPr>
              <p:cNvPr id="38" name="TextBox 37"/>
              <p:cNvSpPr txBox="1">
                <a:spLocks noRot="1" noChangeAspect="1" noMove="1" noResize="1" noEditPoints="1" noAdjustHandles="1" noChangeArrowheads="1" noChangeShapeType="1" noTextEdit="1"/>
              </p:cNvSpPr>
              <p:nvPr/>
            </p:nvSpPr>
            <p:spPr>
              <a:xfrm>
                <a:off x="1569800" y="3835831"/>
                <a:ext cx="6004400" cy="499560"/>
              </a:xfrm>
              <a:prstGeom prst="rect">
                <a:avLst/>
              </a:prstGeom>
              <a:blipFill>
                <a:blip r:embed="rId2"/>
                <a:stretch>
                  <a:fillRect b="-243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1778382" y="2562669"/>
                <a:ext cx="4879989" cy="11017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𝑚𝑖</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𝑛</m:t>
                          </m:r>
                        </m:e>
                        <m:sub>
                          <m:r>
                            <a:rPr lang="en-US" sz="2800" b="0" i="1" smtClean="0">
                              <a:latin typeface="Cambria Math" panose="02040503050406030204" pitchFamily="18" charset="0"/>
                            </a:rPr>
                            <m:t>𝑤</m:t>
                          </m:r>
                        </m:sub>
                      </m:sSub>
                      <m:nary>
                        <m:naryPr>
                          <m:chr m:val="∑"/>
                          <m:limLoc m:val="subSup"/>
                          <m:supHide m:val="on"/>
                          <m:ctrlPr>
                            <a:rPr lang="en-US" sz="2800" b="0" i="1" smtClean="0">
                              <a:latin typeface="Cambria Math" panose="02040503050406030204" pitchFamily="18" charset="0"/>
                            </a:rPr>
                          </m:ctrlPr>
                        </m:naryPr>
                        <m:sub>
                          <m:r>
                            <m:rPr>
                              <m:brk m:alnAt="9"/>
                            </m:rPr>
                            <a:rPr lang="en-US" sz="2800" b="0" i="1" smtClean="0">
                              <a:latin typeface="Cambria Math" panose="02040503050406030204" pitchFamily="18" charset="0"/>
                            </a:rPr>
                            <m:t>𝑦</m:t>
                          </m:r>
                        </m:sub>
                        <m:sup/>
                        <m:e>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𝑤</m:t>
                              </m:r>
                            </m:e>
                            <m:sub>
                              <m:r>
                                <a:rPr lang="en-US" sz="2800" b="0" i="1" smtClean="0">
                                  <a:latin typeface="Cambria Math" panose="02040503050406030204" pitchFamily="18" charset="0"/>
                                </a:rPr>
                                <m:t>𝑦</m:t>
                              </m:r>
                            </m:sub>
                            <m:sup>
                              <m:r>
                                <a:rPr lang="en-US" sz="2800" b="0" i="1" smtClean="0">
                                  <a:latin typeface="Cambria Math" panose="02040503050406030204" pitchFamily="18" charset="0"/>
                                </a:rPr>
                                <m:t>𝑇</m:t>
                              </m:r>
                            </m:sup>
                          </m:sSubSup>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𝑦</m:t>
                              </m:r>
                            </m:sub>
                          </m:sSub>
                        </m:e>
                      </m:nary>
                      <m:r>
                        <a:rPr lang="en-US" sz="2800" b="0" i="1" smtClean="0">
                          <a:latin typeface="Cambria Math" panose="02040503050406030204" pitchFamily="18" charset="0"/>
                        </a:rPr>
                        <m:t>+</m:t>
                      </m:r>
                      <m:r>
                        <a:rPr lang="en-US" sz="2800" b="0" i="1" smtClean="0">
                          <a:latin typeface="Cambria Math" panose="02040503050406030204" pitchFamily="18" charset="0"/>
                        </a:rPr>
                        <m:t>𝐶</m:t>
                      </m:r>
                      <m:nary>
                        <m:naryPr>
                          <m:chr m:val="∑"/>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𝑖</m:t>
                          </m:r>
                        </m:sub>
                        <m:sup/>
                        <m:e>
                          <m:nary>
                            <m:naryPr>
                              <m:chr m:val="∑"/>
                              <m:supHide m:val="on"/>
                              <m:ctrlPr>
                                <a:rPr lang="en-US" sz="2800" b="0" i="1" smtClean="0">
                                  <a:latin typeface="Cambria Math" panose="02040503050406030204" pitchFamily="18" charset="0"/>
                                </a:rPr>
                              </m:ctrlPr>
                            </m:naryPr>
                            <m:sub>
                              <m:r>
                                <m:rPr>
                                  <m:brk m:alnAt="7"/>
                                </m:rPr>
                                <a:rPr lang="en-US" sz="2800" b="0" i="1" smtClean="0">
                                  <a:latin typeface="Cambria Math" panose="02040503050406030204" pitchFamily="18" charset="0"/>
                                </a:rPr>
                                <m:t>𝑦</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𝑖</m:t>
                                  </m:r>
                                </m:sub>
                              </m:sSub>
                            </m:sub>
                            <m:sup/>
                            <m:e>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𝜉</m:t>
                                  </m:r>
                                </m:e>
                                <m:sub>
                                  <m:r>
                                    <a:rPr lang="en-US" sz="2800" b="0" i="1" smtClean="0">
                                      <a:latin typeface="Cambria Math" panose="02040503050406030204" pitchFamily="18" charset="0"/>
                                    </a:rPr>
                                    <m:t>𝑖</m:t>
                                  </m:r>
                                </m:sub>
                                <m:sup>
                                  <m:r>
                                    <a:rPr lang="en-US" sz="2800" b="0" i="1" smtClean="0">
                                      <a:latin typeface="Cambria Math" panose="02040503050406030204" pitchFamily="18" charset="0"/>
                                    </a:rPr>
                                    <m:t>𝑦</m:t>
                                  </m:r>
                                </m:sup>
                              </m:sSubSup>
                            </m:e>
                          </m:nary>
                        </m:e>
                      </m:nary>
                    </m:oMath>
                  </m:oMathPara>
                </a14:m>
                <a:endParaRPr lang="en-US" sz="2800" dirty="0"/>
              </a:p>
            </p:txBody>
          </p:sp>
        </mc:Choice>
        <mc:Fallback>
          <p:sp>
            <p:nvSpPr>
              <p:cNvPr id="39" name="TextBox 38"/>
              <p:cNvSpPr txBox="1">
                <a:spLocks noRot="1" noChangeAspect="1" noMove="1" noResize="1" noEditPoints="1" noAdjustHandles="1" noChangeArrowheads="1" noChangeShapeType="1" noTextEdit="1"/>
              </p:cNvSpPr>
              <p:nvPr/>
            </p:nvSpPr>
            <p:spPr>
              <a:xfrm>
                <a:off x="1778382" y="2562669"/>
                <a:ext cx="4879989" cy="1101712"/>
              </a:xfrm>
              <a:prstGeom prst="rect">
                <a:avLst/>
              </a:prstGeom>
              <a:blipFill>
                <a:blip r:embed="rId3"/>
                <a:stretch>
                  <a:fillRect l="-7532" t="-137500" r="-6234" b="-186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776462" y="4632616"/>
                <a:ext cx="1136337" cy="4829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𝜉</m:t>
                          </m:r>
                        </m:e>
                        <m:sub>
                          <m:r>
                            <a:rPr lang="en-US" sz="2800" b="0" i="1" smtClean="0">
                              <a:latin typeface="Cambria Math" panose="02040503050406030204" pitchFamily="18" charset="0"/>
                            </a:rPr>
                            <m:t>𝑖</m:t>
                          </m:r>
                        </m:sub>
                        <m:sup>
                          <m:r>
                            <a:rPr lang="en-US" sz="2800" b="0" i="1" smtClean="0">
                              <a:latin typeface="Cambria Math" panose="02040503050406030204" pitchFamily="18" charset="0"/>
                            </a:rPr>
                            <m:t>𝑦</m:t>
                          </m:r>
                        </m:sup>
                      </m:sSubSup>
                      <m:r>
                        <a:rPr lang="en-US" sz="2800" b="0" i="1" smtClean="0">
                          <a:latin typeface="Cambria Math" panose="02040503050406030204" pitchFamily="18" charset="0"/>
                        </a:rPr>
                        <m:t>≥0</m:t>
                      </m:r>
                    </m:oMath>
                  </m:oMathPara>
                </a14:m>
                <a:endParaRPr lang="en-US" sz="2800" dirty="0"/>
              </a:p>
            </p:txBody>
          </p:sp>
        </mc:Choice>
        <mc:Fallback xmlns="">
          <p:sp>
            <p:nvSpPr>
              <p:cNvPr id="40" name="TextBox 39"/>
              <p:cNvSpPr txBox="1">
                <a:spLocks noRot="1" noChangeAspect="1" noMove="1" noResize="1" noEditPoints="1" noAdjustHandles="1" noChangeArrowheads="1" noChangeShapeType="1" noTextEdit="1"/>
              </p:cNvSpPr>
              <p:nvPr/>
            </p:nvSpPr>
            <p:spPr>
              <a:xfrm>
                <a:off x="3776462" y="4632616"/>
                <a:ext cx="1136337" cy="482953"/>
              </a:xfrm>
              <a:prstGeom prst="rect">
                <a:avLst/>
              </a:prstGeom>
              <a:blipFill rotWithShape="0">
                <a:blip r:embed="rId4"/>
                <a:stretch>
                  <a:fillRect/>
                </a:stretch>
              </a:blipFill>
            </p:spPr>
            <p:txBody>
              <a:bodyPr/>
              <a:lstStyle/>
              <a:p>
                <a:r>
                  <a:rPr lang="en-US">
                    <a:noFill/>
                  </a:rPr>
                  <a:t> </a:t>
                </a:r>
              </a:p>
            </p:txBody>
          </p:sp>
        </mc:Fallback>
      </mc:AlternateContent>
      <p:grpSp>
        <p:nvGrpSpPr>
          <p:cNvPr id="11" name="Group 10"/>
          <p:cNvGrpSpPr/>
          <p:nvPr/>
        </p:nvGrpSpPr>
        <p:grpSpPr>
          <a:xfrm>
            <a:off x="5090985" y="4444053"/>
            <a:ext cx="3595816" cy="830801"/>
            <a:chOff x="5090985" y="4378317"/>
            <a:chExt cx="3595816" cy="830801"/>
          </a:xfrm>
        </p:grpSpPr>
        <p:sp>
          <p:nvSpPr>
            <p:cNvPr id="8" name="TextBox 7"/>
            <p:cNvSpPr txBox="1"/>
            <p:nvPr/>
          </p:nvSpPr>
          <p:spPr>
            <a:xfrm>
              <a:off x="5090985" y="4839786"/>
              <a:ext cx="3595816" cy="369332"/>
            </a:xfrm>
            <a:prstGeom prst="rect">
              <a:avLst/>
            </a:prstGeom>
            <a:noFill/>
          </p:spPr>
          <p:txBody>
            <a:bodyPr wrap="square" rtlCol="0">
              <a:spAutoFit/>
            </a:bodyPr>
            <a:lstStyle/>
            <a:p>
              <a:r>
                <a:rPr lang="en-US" b="1" dirty="0" err="1">
                  <a:solidFill>
                    <a:srgbClr val="FF0000"/>
                  </a:solidFill>
                </a:rPr>
                <a:t>所有错误类别的打分</a:t>
              </a:r>
              <a:endParaRPr lang="en-US" b="1" dirty="0">
                <a:solidFill>
                  <a:srgbClr val="FF0000"/>
                </a:solidFill>
              </a:endParaRPr>
            </a:p>
          </p:txBody>
        </p:sp>
        <p:cxnSp>
          <p:nvCxnSpPr>
            <p:cNvPr id="10" name="Straight Arrow Connector 9"/>
            <p:cNvCxnSpPr/>
            <p:nvPr/>
          </p:nvCxnSpPr>
          <p:spPr>
            <a:xfrm flipH="1" flipV="1">
              <a:off x="5741773" y="4378317"/>
              <a:ext cx="278027" cy="4957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Title 11">
            <a:extLst>
              <a:ext uri="{FF2B5EF4-FFF2-40B4-BE49-F238E27FC236}">
                <a16:creationId xmlns:a16="http://schemas.microsoft.com/office/drawing/2014/main" id="{F0DA3D8E-EDE4-FE6B-361B-CC245DAC2612}"/>
              </a:ext>
            </a:extLst>
          </p:cNvPr>
          <p:cNvSpPr>
            <a:spLocks noGrp="1"/>
          </p:cNvSpPr>
          <p:nvPr>
            <p:ph type="title"/>
          </p:nvPr>
        </p:nvSpPr>
        <p:spPr/>
        <p:txBody>
          <a:bodyPr/>
          <a:lstStyle/>
          <a:p>
            <a:r>
              <a:rPr lang="en-US" dirty="0"/>
              <a:t>SVM</a:t>
            </a:r>
            <a:r>
              <a:rPr lang="ja-JP" altLang="en-US"/>
              <a:t>用于求解多类问题</a:t>
            </a:r>
            <a:endParaRPr lang="en-US" dirty="0"/>
          </a:p>
        </p:txBody>
      </p:sp>
    </p:spTree>
    <p:extLst>
      <p:ext uri="{BB962C8B-B14F-4D97-AF65-F5344CB8AC3E}">
        <p14:creationId xmlns:p14="http://schemas.microsoft.com/office/powerpoint/2010/main" val="41575892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SVM</a:t>
            </a:r>
            <a:r>
              <a:rPr lang="zh-CN" altLang="en-US" dirty="0"/>
              <a:t>应用举例：文本分类</a:t>
            </a:r>
          </a:p>
        </p:txBody>
      </p:sp>
      <p:sp>
        <p:nvSpPr>
          <p:cNvPr id="100355" name="内容占位符 2"/>
          <p:cNvSpPr>
            <a:spLocks noGrp="1"/>
          </p:cNvSpPr>
          <p:nvPr>
            <p:ph idx="1"/>
          </p:nvPr>
        </p:nvSpPr>
        <p:spPr>
          <a:xfrm>
            <a:off x="914400" y="1781502"/>
            <a:ext cx="7772400" cy="4238297"/>
          </a:xfrm>
        </p:spPr>
        <p:txBody>
          <a:bodyPr>
            <a:normAutofit/>
          </a:bodyPr>
          <a:lstStyle/>
          <a:p>
            <a:r>
              <a:rPr lang="zh-CN" altLang="en-US" sz="3200" b="1" dirty="0"/>
              <a:t>文本的向量空间模型</a:t>
            </a:r>
            <a:endParaRPr lang="en-US" altLang="zh-CN" sz="3200" b="1" dirty="0"/>
          </a:p>
          <a:p>
            <a:pPr lvl="1"/>
            <a:r>
              <a:rPr lang="zh-CN" altLang="en-US" sz="2800" b="1" dirty="0"/>
              <a:t>文本表达为一个向量</a:t>
            </a:r>
            <a:endParaRPr lang="en-US" altLang="zh-CN" sz="2800" b="1" dirty="0"/>
          </a:p>
          <a:p>
            <a:pPr lvl="1"/>
            <a:r>
              <a:rPr lang="en-US" altLang="zh-CN" sz="2800" b="1" dirty="0"/>
              <a:t>(w</a:t>
            </a:r>
            <a:r>
              <a:rPr lang="en-US" altLang="zh-CN" sz="2800" b="1" baseline="-25000" dirty="0"/>
              <a:t>1,j</a:t>
            </a:r>
            <a:r>
              <a:rPr lang="en-US" altLang="zh-CN" sz="2800" b="1" dirty="0"/>
              <a:t>,w</a:t>
            </a:r>
            <a:r>
              <a:rPr lang="en-US" altLang="zh-CN" sz="2800" b="1" baseline="-25000" dirty="0"/>
              <a:t>2,j</a:t>
            </a:r>
            <a:r>
              <a:rPr lang="en-US" altLang="zh-CN" sz="2800" b="1" dirty="0"/>
              <a:t>,……</a:t>
            </a:r>
            <a:r>
              <a:rPr lang="en-US" altLang="zh-CN" sz="2800" b="1" dirty="0" err="1"/>
              <a:t>w</a:t>
            </a:r>
            <a:r>
              <a:rPr lang="en-US" altLang="zh-CN" sz="2800" b="1" baseline="-25000" dirty="0" err="1"/>
              <a:t>n,j</a:t>
            </a:r>
            <a:r>
              <a:rPr lang="en-US" altLang="zh-CN" sz="2800" b="1" dirty="0"/>
              <a:t>)</a:t>
            </a:r>
            <a:r>
              <a:rPr lang="en-US" altLang="zh-CN" sz="2800" b="1" baseline="30000" dirty="0"/>
              <a:t>T</a:t>
            </a:r>
          </a:p>
          <a:p>
            <a:pPr lvl="1"/>
            <a:r>
              <a:rPr lang="en-US" altLang="zh-CN" sz="2800" b="1" dirty="0" err="1"/>
              <a:t>w</a:t>
            </a:r>
            <a:r>
              <a:rPr lang="en-US" altLang="zh-CN" sz="2800" b="1" baseline="-25000" dirty="0" err="1"/>
              <a:t>ij</a:t>
            </a:r>
            <a:r>
              <a:rPr lang="zh-CN" altLang="en-US" sz="2800" b="1" dirty="0"/>
              <a:t>表示词项</a:t>
            </a:r>
            <a:r>
              <a:rPr lang="en-US" altLang="zh-CN" sz="2800" b="1" dirty="0" err="1"/>
              <a:t>i</a:t>
            </a:r>
            <a:r>
              <a:rPr lang="zh-CN" altLang="en-US" sz="2800" b="1" dirty="0"/>
              <a:t>在文档</a:t>
            </a:r>
            <a:r>
              <a:rPr lang="en-US" altLang="zh-CN" sz="2800" b="1" dirty="0"/>
              <a:t>j</a:t>
            </a:r>
            <a:r>
              <a:rPr lang="zh-CN" altLang="en-US" sz="2800" b="1" dirty="0"/>
              <a:t>中的权重</a:t>
            </a:r>
            <a:endParaRPr lang="en-US" altLang="zh-CN" sz="2800" b="1" dirty="0"/>
          </a:p>
          <a:p>
            <a:pPr lvl="1"/>
            <a:endParaRPr lang="en-US" altLang="zh-CN" sz="2800" b="1" dirty="0"/>
          </a:p>
          <a:p>
            <a:r>
              <a:rPr lang="zh-CN" altLang="en-US" sz="3000" b="1" dirty="0"/>
              <a:t>词项频率</a:t>
            </a:r>
            <a:r>
              <a:rPr lang="en-US" altLang="zh-CN" sz="3000" b="1" dirty="0" err="1"/>
              <a:t>tf</a:t>
            </a:r>
            <a:r>
              <a:rPr lang="en-US" altLang="zh-CN" sz="3000" b="1" baseline="-25000" dirty="0" err="1"/>
              <a:t>ij</a:t>
            </a:r>
            <a:r>
              <a:rPr lang="zh-CN" altLang="en-US" sz="3000" b="1" dirty="0"/>
              <a:t>权重</a:t>
            </a:r>
            <a:endParaRPr lang="en-US" altLang="zh-CN" sz="3000" b="1" dirty="0"/>
          </a:p>
          <a:p>
            <a:endParaRPr lang="en-US" altLang="zh-CN" sz="3000" b="1" dirty="0"/>
          </a:p>
          <a:p>
            <a:r>
              <a:rPr lang="en-US" altLang="zh-CN" sz="3000" b="1" dirty="0" err="1"/>
              <a:t>tf-idf</a:t>
            </a:r>
            <a:r>
              <a:rPr lang="zh-CN" altLang="en-US" sz="3000" b="1" dirty="0"/>
              <a:t>权重</a:t>
            </a:r>
          </a:p>
        </p:txBody>
      </p:sp>
      <p:sp>
        <p:nvSpPr>
          <p:cNvPr id="100356" name="灯片编号占位符 3"/>
          <p:cNvSpPr>
            <a:spLocks noGrp="1"/>
          </p:cNvSpPr>
          <p:nvPr>
            <p:ph type="sldNum" sz="quarter" idx="12"/>
          </p:nvPr>
        </p:nvSpPr>
        <p:spPr>
          <a:noFill/>
        </p:spPr>
        <p:txBody>
          <a:bodyPr/>
          <a:lstStyle/>
          <a:p>
            <a:fld id="{3069B2D2-F90D-45E9-A160-B303533D2C11}" type="slidenum">
              <a:rPr lang="en-US" altLang="zh-CN" smtClean="0">
                <a:ea typeface="黑体" pitchFamily="49" charset="-122"/>
              </a:rPr>
              <a:pPr/>
              <a:t>65</a:t>
            </a:fld>
            <a:endParaRPr lang="en-US" altLang="zh-CN">
              <a:ea typeface="黑体"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101379" name="内容占位符 2"/>
          <p:cNvSpPr>
            <a:spLocks noGrp="1"/>
          </p:cNvSpPr>
          <p:nvPr>
            <p:ph idx="1"/>
          </p:nvPr>
        </p:nvSpPr>
        <p:spPr/>
        <p:txBody>
          <a:bodyPr>
            <a:normAutofit/>
          </a:bodyPr>
          <a:lstStyle/>
          <a:p>
            <a:r>
              <a:rPr lang="en-US" altLang="zh-CN" sz="3200" b="1" dirty="0" err="1"/>
              <a:t>tf</a:t>
            </a:r>
            <a:r>
              <a:rPr lang="en-US" altLang="zh-CN" sz="3200" b="1" baseline="-25000" dirty="0" err="1"/>
              <a:t>ij</a:t>
            </a:r>
            <a:r>
              <a:rPr lang="zh-CN" altLang="en-US" sz="3200" b="1" dirty="0"/>
              <a:t>权重</a:t>
            </a:r>
            <a:endParaRPr lang="en-US" altLang="zh-CN" sz="3200" b="1" dirty="0"/>
          </a:p>
          <a:p>
            <a:endParaRPr lang="en-US" altLang="zh-CN" sz="2800" b="1" dirty="0"/>
          </a:p>
          <a:p>
            <a:pPr lvl="1"/>
            <a:r>
              <a:rPr lang="en-US" altLang="zh-CN" sz="2600" b="1" dirty="0" err="1"/>
              <a:t>w</a:t>
            </a:r>
            <a:r>
              <a:rPr lang="en-US" altLang="zh-CN" sz="2600" b="1" baseline="-25000" dirty="0" err="1"/>
              <a:t>ij</a:t>
            </a:r>
            <a:r>
              <a:rPr lang="en-US" altLang="zh-CN" sz="2600" b="1" dirty="0"/>
              <a:t> =</a:t>
            </a:r>
            <a:r>
              <a:rPr lang="en-US" altLang="zh-CN" sz="2600" b="1" dirty="0" err="1"/>
              <a:t>tf</a:t>
            </a:r>
            <a:r>
              <a:rPr lang="en-US" altLang="zh-CN" sz="2600" b="1" baseline="-25000" dirty="0" err="1"/>
              <a:t>ij</a:t>
            </a:r>
            <a:endParaRPr lang="en-US" altLang="zh-CN" sz="2600" b="1" dirty="0"/>
          </a:p>
          <a:p>
            <a:pPr lvl="1"/>
            <a:endParaRPr lang="en-US" altLang="zh-CN" sz="2800" b="1" dirty="0"/>
          </a:p>
          <a:p>
            <a:pPr lvl="1"/>
            <a:r>
              <a:rPr lang="en-US" altLang="zh-CN" sz="2800" b="1" dirty="0" err="1"/>
              <a:t>tf</a:t>
            </a:r>
            <a:r>
              <a:rPr lang="en-US" altLang="zh-CN" sz="2800" b="1" baseline="-25000" dirty="0" err="1"/>
              <a:t>ij</a:t>
            </a:r>
            <a:r>
              <a:rPr lang="zh-CN" altLang="en-US" sz="2800" b="1" dirty="0"/>
              <a:t>表示第</a:t>
            </a:r>
            <a:r>
              <a:rPr lang="en-US" altLang="zh-CN" sz="2800" b="1" dirty="0" err="1"/>
              <a:t>i</a:t>
            </a:r>
            <a:r>
              <a:rPr lang="zh-CN" altLang="en-US" sz="2800" b="1" dirty="0"/>
              <a:t>个词项在第</a:t>
            </a:r>
            <a:r>
              <a:rPr lang="en-US" altLang="zh-CN" sz="2800" b="1" dirty="0"/>
              <a:t>j</a:t>
            </a:r>
            <a:r>
              <a:rPr lang="zh-CN" altLang="en-US" sz="2800" b="1" dirty="0"/>
              <a:t>个文档中的词频</a:t>
            </a:r>
            <a:endParaRPr lang="en-US" altLang="zh-CN" sz="2800" b="1" dirty="0"/>
          </a:p>
          <a:p>
            <a:pPr lvl="1"/>
            <a:endParaRPr lang="en-US" altLang="zh-CN" sz="2800" b="1" dirty="0"/>
          </a:p>
        </p:txBody>
      </p:sp>
      <p:sp>
        <p:nvSpPr>
          <p:cNvPr id="101380" name="灯片编号占位符 3"/>
          <p:cNvSpPr>
            <a:spLocks noGrp="1"/>
          </p:cNvSpPr>
          <p:nvPr>
            <p:ph type="sldNum" sz="quarter" idx="12"/>
          </p:nvPr>
        </p:nvSpPr>
        <p:spPr>
          <a:noFill/>
        </p:spPr>
        <p:txBody>
          <a:bodyPr/>
          <a:lstStyle/>
          <a:p>
            <a:fld id="{CFCB6F97-DACC-4691-AEC3-BDB631B61DA2}" type="slidenum">
              <a:rPr lang="en-US" altLang="zh-CN" smtClean="0">
                <a:ea typeface="黑体" pitchFamily="49" charset="-122"/>
              </a:rPr>
              <a:pPr/>
              <a:t>66</a:t>
            </a:fld>
            <a:endParaRPr lang="en-US" altLang="zh-CN">
              <a:ea typeface="黑体"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102403" name="内容占位符 2"/>
          <p:cNvSpPr>
            <a:spLocks noGrp="1"/>
          </p:cNvSpPr>
          <p:nvPr>
            <p:ph idx="1"/>
          </p:nvPr>
        </p:nvSpPr>
        <p:spPr/>
        <p:txBody>
          <a:bodyPr>
            <a:normAutofit/>
          </a:bodyPr>
          <a:lstStyle/>
          <a:p>
            <a:r>
              <a:rPr lang="en-US" altLang="zh-CN" sz="3200" b="1" dirty="0" err="1"/>
              <a:t>tf-idf</a:t>
            </a:r>
            <a:r>
              <a:rPr lang="zh-CN" altLang="en-US" sz="3200" b="1" dirty="0"/>
              <a:t>权重</a:t>
            </a:r>
            <a:endParaRPr lang="en-US" altLang="zh-CN" sz="3200" b="1" dirty="0"/>
          </a:p>
          <a:p>
            <a:pPr lvl="1"/>
            <a:r>
              <a:rPr lang="zh-CN" altLang="en-US" sz="2800" b="1" dirty="0"/>
              <a:t>文档频率：</a:t>
            </a:r>
            <a:r>
              <a:rPr lang="en-US" altLang="zh-CN" sz="2800" b="1" dirty="0" err="1"/>
              <a:t>df</a:t>
            </a:r>
            <a:r>
              <a:rPr lang="en-US" altLang="zh-CN" sz="2800" b="1" baseline="-25000" dirty="0" err="1"/>
              <a:t>i</a:t>
            </a:r>
            <a:r>
              <a:rPr lang="en-US" altLang="zh-CN" sz="2800" b="1" dirty="0"/>
              <a:t>=</a:t>
            </a:r>
            <a:r>
              <a:rPr lang="zh-CN" altLang="en-US" sz="2800" b="1" dirty="0"/>
              <a:t>出现词项</a:t>
            </a:r>
            <a:r>
              <a:rPr lang="en-US" altLang="zh-CN" sz="2800" b="1" dirty="0" err="1"/>
              <a:t>i</a:t>
            </a:r>
            <a:r>
              <a:rPr lang="zh-CN" altLang="en-US" sz="2800" b="1" dirty="0"/>
              <a:t>的文档数</a:t>
            </a:r>
            <a:r>
              <a:rPr lang="en-US" altLang="zh-CN" sz="2800" b="1" dirty="0"/>
              <a:t>/N</a:t>
            </a:r>
          </a:p>
          <a:p>
            <a:pPr lvl="2"/>
            <a:r>
              <a:rPr lang="en-US" altLang="zh-CN" sz="2400" b="1" dirty="0"/>
              <a:t>N</a:t>
            </a:r>
            <a:r>
              <a:rPr lang="zh-CN" altLang="en-US" sz="2400" b="1" dirty="0"/>
              <a:t>为训练集的文档总数</a:t>
            </a:r>
            <a:endParaRPr lang="en-US" altLang="zh-CN" sz="2400" b="1" dirty="0"/>
          </a:p>
          <a:p>
            <a:pPr lvl="1"/>
            <a:r>
              <a:rPr lang="zh-CN" altLang="en-US" sz="2800" b="1" dirty="0"/>
              <a:t>逆文档频率：</a:t>
            </a:r>
            <a:r>
              <a:rPr lang="en-US" altLang="zh-CN" sz="2800" b="1" dirty="0" err="1"/>
              <a:t>idf</a:t>
            </a:r>
            <a:r>
              <a:rPr lang="en-US" altLang="zh-CN" sz="2800" b="1" baseline="-25000" dirty="0" err="1"/>
              <a:t>i</a:t>
            </a:r>
            <a:r>
              <a:rPr lang="en-US" altLang="zh-CN" sz="2800" b="1" dirty="0"/>
              <a:t>=log(1/</a:t>
            </a:r>
            <a:r>
              <a:rPr lang="en-US" altLang="zh-CN" sz="2800" b="1" dirty="0" err="1"/>
              <a:t>df</a:t>
            </a:r>
            <a:r>
              <a:rPr lang="en-US" altLang="zh-CN" sz="2800" b="1" baseline="-25000" dirty="0" err="1"/>
              <a:t>i</a:t>
            </a:r>
            <a:r>
              <a:rPr lang="en-US" altLang="zh-CN" sz="2800" b="1" dirty="0"/>
              <a:t>),</a:t>
            </a:r>
          </a:p>
          <a:p>
            <a:endParaRPr lang="en-US" altLang="zh-CN" sz="3200" b="1" dirty="0"/>
          </a:p>
          <a:p>
            <a:r>
              <a:rPr lang="en-US" altLang="zh-CN" sz="3200" b="1" dirty="0"/>
              <a:t>(1)  </a:t>
            </a:r>
            <a:r>
              <a:rPr lang="en-US" altLang="zh-CN" sz="3200" b="1" dirty="0" err="1"/>
              <a:t>w</a:t>
            </a:r>
            <a:r>
              <a:rPr lang="en-US" altLang="zh-CN" sz="3200" b="1" baseline="-25000" dirty="0" err="1"/>
              <a:t>ij</a:t>
            </a:r>
            <a:r>
              <a:rPr lang="en-US" altLang="zh-CN" sz="3200" b="1" dirty="0"/>
              <a:t>= </a:t>
            </a:r>
            <a:r>
              <a:rPr lang="en-US" altLang="zh-CN" sz="3200" b="1" dirty="0" err="1"/>
              <a:t>tf</a:t>
            </a:r>
            <a:r>
              <a:rPr lang="en-US" altLang="zh-CN" sz="3200" b="1" baseline="-25000" dirty="0" err="1"/>
              <a:t>ij</a:t>
            </a:r>
            <a:r>
              <a:rPr lang="en-US" altLang="zh-CN" sz="3200" b="1" dirty="0"/>
              <a:t>*</a:t>
            </a:r>
            <a:r>
              <a:rPr lang="en-US" altLang="zh-CN" sz="3200" b="1" dirty="0" err="1"/>
              <a:t>idf</a:t>
            </a:r>
            <a:r>
              <a:rPr lang="en-US" altLang="zh-CN" sz="3200" b="1" baseline="-25000" dirty="0" err="1"/>
              <a:t>i</a:t>
            </a:r>
            <a:endParaRPr lang="en-US" altLang="zh-CN" sz="3200" b="1" dirty="0"/>
          </a:p>
          <a:p>
            <a:r>
              <a:rPr lang="zh-CN" altLang="en-US" sz="3200" b="1" dirty="0"/>
              <a:t>此外还有很多变形</a:t>
            </a:r>
          </a:p>
        </p:txBody>
      </p:sp>
      <p:sp>
        <p:nvSpPr>
          <p:cNvPr id="102404" name="灯片编号占位符 3"/>
          <p:cNvSpPr>
            <a:spLocks noGrp="1"/>
          </p:cNvSpPr>
          <p:nvPr>
            <p:ph type="sldNum" sz="quarter" idx="12"/>
          </p:nvPr>
        </p:nvSpPr>
        <p:spPr>
          <a:noFill/>
        </p:spPr>
        <p:txBody>
          <a:bodyPr/>
          <a:lstStyle/>
          <a:p>
            <a:fld id="{D4749E89-A326-4764-994A-86FC011A501F}" type="slidenum">
              <a:rPr lang="en-US" altLang="zh-CN" smtClean="0">
                <a:ea typeface="黑体" pitchFamily="49" charset="-122"/>
              </a:rPr>
              <a:pPr/>
              <a:t>67</a:t>
            </a:fld>
            <a:endParaRPr lang="en-US" altLang="zh-CN">
              <a:ea typeface="黑体" pitchFamily="49"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latin typeface="Microsoft YaHei" panose="020B0503020204020204" pitchFamily="34" charset="-122"/>
                <a:ea typeface="Microsoft YaHei" panose="020B0503020204020204" pitchFamily="34" charset="-122"/>
              </a:rPr>
              <a:t>针对文本数据的核函数设计</a:t>
            </a:r>
            <a:endParaRPr lang="en-US" dirty="0">
              <a:latin typeface="Microsoft YaHei" panose="020B0503020204020204" pitchFamily="34" charset="-122"/>
              <a:ea typeface="Microsoft YaHei" panose="020B0503020204020204" pitchFamily="34" charset="-122"/>
            </a:endParaRPr>
          </a:p>
        </p:txBody>
      </p:sp>
      <p:sp>
        <p:nvSpPr>
          <p:cNvPr id="3" name="Content Placeholder 2"/>
          <p:cNvSpPr>
            <a:spLocks noGrp="1"/>
          </p:cNvSpPr>
          <p:nvPr>
            <p:ph idx="1"/>
          </p:nvPr>
        </p:nvSpPr>
        <p:spPr/>
        <p:txBody>
          <a:bodyPr/>
          <a:lstStyle/>
          <a:p>
            <a:r>
              <a:rPr lang="en-US" dirty="0" err="1"/>
              <a:t>树形核函数</a:t>
            </a:r>
            <a:endParaRPr lang="en-US" dirty="0"/>
          </a:p>
        </p:txBody>
      </p:sp>
      <p:pic>
        <p:nvPicPr>
          <p:cNvPr id="8" name="Picture 7"/>
          <p:cNvPicPr>
            <a:picLocks noChangeAspect="1"/>
          </p:cNvPicPr>
          <p:nvPr/>
        </p:nvPicPr>
        <p:blipFill>
          <a:blip r:embed="rId2"/>
          <a:stretch>
            <a:fillRect/>
          </a:stretch>
        </p:blipFill>
        <p:spPr>
          <a:xfrm>
            <a:off x="4941753" y="3055745"/>
            <a:ext cx="3598877" cy="1828800"/>
          </a:xfrm>
          <a:prstGeom prst="rect">
            <a:avLst/>
          </a:prstGeom>
        </p:spPr>
      </p:pic>
      <p:sp>
        <p:nvSpPr>
          <p:cNvPr id="9" name="Rectangle 8"/>
          <p:cNvSpPr/>
          <p:nvPr/>
        </p:nvSpPr>
        <p:spPr>
          <a:xfrm>
            <a:off x="4667250" y="2226850"/>
            <a:ext cx="3709798" cy="369332"/>
          </a:xfrm>
          <a:prstGeom prst="rect">
            <a:avLst/>
          </a:prstGeom>
        </p:spPr>
        <p:txBody>
          <a:bodyPr wrap="none">
            <a:spAutoFit/>
          </a:bodyPr>
          <a:lstStyle/>
          <a:p>
            <a:r>
              <a:rPr lang="en-US" dirty="0"/>
              <a:t>Elon Musk is the CEO of Tesla Motors.</a:t>
            </a:r>
          </a:p>
        </p:txBody>
      </p:sp>
      <p:sp>
        <p:nvSpPr>
          <p:cNvPr id="10" name="Rectangle 9"/>
          <p:cNvSpPr/>
          <p:nvPr/>
        </p:nvSpPr>
        <p:spPr>
          <a:xfrm>
            <a:off x="391297" y="2226850"/>
            <a:ext cx="3625938" cy="646331"/>
          </a:xfrm>
          <a:prstGeom prst="rect">
            <a:avLst/>
          </a:prstGeom>
        </p:spPr>
        <p:txBody>
          <a:bodyPr wrap="square">
            <a:spAutoFit/>
          </a:bodyPr>
          <a:lstStyle/>
          <a:p>
            <a:r>
              <a:rPr lang="en-US" dirty="0"/>
              <a:t>Barack Obama is the president of the United States.</a:t>
            </a:r>
          </a:p>
        </p:txBody>
      </p:sp>
      <p:pic>
        <p:nvPicPr>
          <p:cNvPr id="11" name="Picture 10"/>
          <p:cNvPicPr>
            <a:picLocks noChangeAspect="1"/>
          </p:cNvPicPr>
          <p:nvPr/>
        </p:nvPicPr>
        <p:blipFill>
          <a:blip r:embed="rId3"/>
          <a:stretch>
            <a:fillRect/>
          </a:stretch>
        </p:blipFill>
        <p:spPr>
          <a:xfrm>
            <a:off x="514865" y="3055745"/>
            <a:ext cx="4360985" cy="1828800"/>
          </a:xfrm>
          <a:prstGeom prst="rect">
            <a:avLst/>
          </a:prstGeom>
        </p:spPr>
      </p:pic>
      <p:grpSp>
        <p:nvGrpSpPr>
          <p:cNvPr id="30" name="Group 29"/>
          <p:cNvGrpSpPr/>
          <p:nvPr/>
        </p:nvGrpSpPr>
        <p:grpSpPr>
          <a:xfrm>
            <a:off x="6019800" y="3461645"/>
            <a:ext cx="2094471" cy="1208660"/>
            <a:chOff x="6019800" y="3461645"/>
            <a:chExt cx="2094471" cy="1208660"/>
          </a:xfrm>
        </p:grpSpPr>
        <p:pic>
          <p:nvPicPr>
            <p:cNvPr id="17" name="Picture 16"/>
            <p:cNvPicPr>
              <a:picLocks noChangeAspect="1"/>
            </p:cNvPicPr>
            <p:nvPr/>
          </p:nvPicPr>
          <p:blipFill>
            <a:blip r:embed="rId4"/>
            <a:stretch>
              <a:fillRect/>
            </a:stretch>
          </p:blipFill>
          <p:spPr>
            <a:xfrm>
              <a:off x="6019800" y="3461645"/>
              <a:ext cx="381160" cy="212510"/>
            </a:xfrm>
            <a:prstGeom prst="rect">
              <a:avLst/>
            </a:prstGeom>
          </p:spPr>
        </p:pic>
        <p:pic>
          <p:nvPicPr>
            <p:cNvPr id="18" name="Picture 17"/>
            <p:cNvPicPr>
              <a:picLocks noChangeAspect="1"/>
            </p:cNvPicPr>
            <p:nvPr/>
          </p:nvPicPr>
          <p:blipFill>
            <a:blip r:embed="rId4"/>
            <a:stretch>
              <a:fillRect/>
            </a:stretch>
          </p:blipFill>
          <p:spPr>
            <a:xfrm>
              <a:off x="6907293" y="3461645"/>
              <a:ext cx="381160" cy="212510"/>
            </a:xfrm>
            <a:prstGeom prst="rect">
              <a:avLst/>
            </a:prstGeom>
          </p:spPr>
        </p:pic>
        <p:pic>
          <p:nvPicPr>
            <p:cNvPr id="19" name="Picture 18"/>
            <p:cNvPicPr>
              <a:picLocks noChangeAspect="1"/>
            </p:cNvPicPr>
            <p:nvPr/>
          </p:nvPicPr>
          <p:blipFill>
            <a:blip r:embed="rId4"/>
            <a:stretch>
              <a:fillRect/>
            </a:stretch>
          </p:blipFill>
          <p:spPr>
            <a:xfrm>
              <a:off x="7608619" y="4457795"/>
              <a:ext cx="505652" cy="212510"/>
            </a:xfrm>
            <a:prstGeom prst="rect">
              <a:avLst/>
            </a:prstGeom>
          </p:spPr>
        </p:pic>
        <p:pic>
          <p:nvPicPr>
            <p:cNvPr id="20" name="Picture 19"/>
            <p:cNvPicPr>
              <a:picLocks noChangeAspect="1"/>
            </p:cNvPicPr>
            <p:nvPr/>
          </p:nvPicPr>
          <p:blipFill>
            <a:blip r:embed="rId4"/>
            <a:stretch>
              <a:fillRect/>
            </a:stretch>
          </p:blipFill>
          <p:spPr>
            <a:xfrm>
              <a:off x="6528485" y="4457795"/>
              <a:ext cx="440817" cy="212510"/>
            </a:xfrm>
            <a:prstGeom prst="rect">
              <a:avLst/>
            </a:prstGeom>
          </p:spPr>
        </p:pic>
        <p:pic>
          <p:nvPicPr>
            <p:cNvPr id="21" name="Picture 20"/>
            <p:cNvPicPr>
              <a:picLocks noChangeAspect="1"/>
            </p:cNvPicPr>
            <p:nvPr/>
          </p:nvPicPr>
          <p:blipFill>
            <a:blip r:embed="rId4"/>
            <a:stretch>
              <a:fillRect/>
            </a:stretch>
          </p:blipFill>
          <p:spPr>
            <a:xfrm>
              <a:off x="7026874" y="4051725"/>
              <a:ext cx="274159" cy="212510"/>
            </a:xfrm>
            <a:prstGeom prst="rect">
              <a:avLst/>
            </a:prstGeom>
          </p:spPr>
        </p:pic>
        <p:pic>
          <p:nvPicPr>
            <p:cNvPr id="22" name="Picture 21"/>
            <p:cNvPicPr>
              <a:picLocks noChangeAspect="1"/>
            </p:cNvPicPr>
            <p:nvPr/>
          </p:nvPicPr>
          <p:blipFill>
            <a:blip r:embed="rId4"/>
            <a:stretch>
              <a:fillRect/>
            </a:stretch>
          </p:blipFill>
          <p:spPr>
            <a:xfrm>
              <a:off x="6270803" y="4058602"/>
              <a:ext cx="274159" cy="212510"/>
            </a:xfrm>
            <a:prstGeom prst="rect">
              <a:avLst/>
            </a:prstGeom>
          </p:spPr>
        </p:pic>
        <p:pic>
          <p:nvPicPr>
            <p:cNvPr id="23" name="Picture 22"/>
            <p:cNvPicPr>
              <a:picLocks noChangeAspect="1"/>
            </p:cNvPicPr>
            <p:nvPr/>
          </p:nvPicPr>
          <p:blipFill>
            <a:blip r:embed="rId4"/>
            <a:stretch>
              <a:fillRect/>
            </a:stretch>
          </p:blipFill>
          <p:spPr>
            <a:xfrm>
              <a:off x="6019800" y="3646535"/>
              <a:ext cx="216654" cy="212510"/>
            </a:xfrm>
            <a:prstGeom prst="rect">
              <a:avLst/>
            </a:prstGeom>
          </p:spPr>
        </p:pic>
        <p:pic>
          <p:nvPicPr>
            <p:cNvPr id="24" name="Picture 23"/>
            <p:cNvPicPr>
              <a:picLocks noChangeAspect="1"/>
            </p:cNvPicPr>
            <p:nvPr/>
          </p:nvPicPr>
          <p:blipFill>
            <a:blip r:embed="rId4"/>
            <a:stretch>
              <a:fillRect/>
            </a:stretch>
          </p:blipFill>
          <p:spPr>
            <a:xfrm>
              <a:off x="6246089" y="4230603"/>
              <a:ext cx="216654" cy="212510"/>
            </a:xfrm>
            <a:prstGeom prst="rect">
              <a:avLst/>
            </a:prstGeom>
          </p:spPr>
        </p:pic>
      </p:grpSp>
      <p:grpSp>
        <p:nvGrpSpPr>
          <p:cNvPr id="29" name="Group 28"/>
          <p:cNvGrpSpPr/>
          <p:nvPr/>
        </p:nvGrpSpPr>
        <p:grpSpPr>
          <a:xfrm>
            <a:off x="1539783" y="3461645"/>
            <a:ext cx="2940908" cy="1222233"/>
            <a:chOff x="1540476" y="3461645"/>
            <a:chExt cx="2940908" cy="1222233"/>
          </a:xfrm>
        </p:grpSpPr>
        <p:pic>
          <p:nvPicPr>
            <p:cNvPr id="12" name="Picture 11"/>
            <p:cNvPicPr>
              <a:picLocks noChangeAspect="1"/>
            </p:cNvPicPr>
            <p:nvPr/>
          </p:nvPicPr>
          <p:blipFill>
            <a:blip r:embed="rId4"/>
            <a:stretch>
              <a:fillRect/>
            </a:stretch>
          </p:blipFill>
          <p:spPr>
            <a:xfrm>
              <a:off x="1540476" y="3461645"/>
              <a:ext cx="551935" cy="212510"/>
            </a:xfrm>
            <a:prstGeom prst="rect">
              <a:avLst/>
            </a:prstGeom>
          </p:spPr>
        </p:pic>
        <p:pic>
          <p:nvPicPr>
            <p:cNvPr id="13" name="Picture 12"/>
            <p:cNvPicPr>
              <a:picLocks noChangeAspect="1"/>
            </p:cNvPicPr>
            <p:nvPr/>
          </p:nvPicPr>
          <p:blipFill>
            <a:blip r:embed="rId4"/>
            <a:stretch>
              <a:fillRect/>
            </a:stretch>
          </p:blipFill>
          <p:spPr>
            <a:xfrm>
              <a:off x="2627869" y="3469883"/>
              <a:ext cx="448963" cy="212510"/>
            </a:xfrm>
            <a:prstGeom prst="rect">
              <a:avLst/>
            </a:prstGeom>
          </p:spPr>
        </p:pic>
        <p:pic>
          <p:nvPicPr>
            <p:cNvPr id="14" name="Picture 13"/>
            <p:cNvPicPr>
              <a:picLocks noChangeAspect="1"/>
            </p:cNvPicPr>
            <p:nvPr/>
          </p:nvPicPr>
          <p:blipFill>
            <a:blip r:embed="rId4"/>
            <a:stretch>
              <a:fillRect/>
            </a:stretch>
          </p:blipFill>
          <p:spPr>
            <a:xfrm>
              <a:off x="2590800" y="4070959"/>
              <a:ext cx="729049" cy="212510"/>
            </a:xfrm>
            <a:prstGeom prst="rect">
              <a:avLst/>
            </a:prstGeom>
          </p:spPr>
        </p:pic>
        <p:pic>
          <p:nvPicPr>
            <p:cNvPr id="15" name="Picture 14"/>
            <p:cNvPicPr>
              <a:picLocks noChangeAspect="1"/>
            </p:cNvPicPr>
            <p:nvPr/>
          </p:nvPicPr>
          <p:blipFill>
            <a:blip r:embed="rId4"/>
            <a:stretch>
              <a:fillRect/>
            </a:stretch>
          </p:blipFill>
          <p:spPr>
            <a:xfrm>
              <a:off x="2759675" y="4457795"/>
              <a:ext cx="560174" cy="212510"/>
            </a:xfrm>
            <a:prstGeom prst="rect">
              <a:avLst/>
            </a:prstGeom>
          </p:spPr>
        </p:pic>
        <p:pic>
          <p:nvPicPr>
            <p:cNvPr id="16" name="Picture 15"/>
            <p:cNvPicPr>
              <a:picLocks noChangeAspect="1"/>
            </p:cNvPicPr>
            <p:nvPr/>
          </p:nvPicPr>
          <p:blipFill>
            <a:blip r:embed="rId4"/>
            <a:stretch>
              <a:fillRect/>
            </a:stretch>
          </p:blipFill>
          <p:spPr>
            <a:xfrm>
              <a:off x="3921210" y="4461498"/>
              <a:ext cx="560174" cy="212510"/>
            </a:xfrm>
            <a:prstGeom prst="rect">
              <a:avLst/>
            </a:prstGeom>
          </p:spPr>
        </p:pic>
        <p:pic>
          <p:nvPicPr>
            <p:cNvPr id="25" name="Picture 24"/>
            <p:cNvPicPr>
              <a:picLocks noChangeAspect="1"/>
            </p:cNvPicPr>
            <p:nvPr/>
          </p:nvPicPr>
          <p:blipFill>
            <a:blip r:embed="rId4"/>
            <a:stretch>
              <a:fillRect/>
            </a:stretch>
          </p:blipFill>
          <p:spPr>
            <a:xfrm>
              <a:off x="1803010" y="4241181"/>
              <a:ext cx="216654" cy="212510"/>
            </a:xfrm>
            <a:prstGeom prst="rect">
              <a:avLst/>
            </a:prstGeom>
          </p:spPr>
        </p:pic>
        <p:pic>
          <p:nvPicPr>
            <p:cNvPr id="26" name="Picture 25"/>
            <p:cNvPicPr>
              <a:picLocks noChangeAspect="1"/>
            </p:cNvPicPr>
            <p:nvPr/>
          </p:nvPicPr>
          <p:blipFill>
            <a:blip r:embed="rId4"/>
            <a:stretch>
              <a:fillRect/>
            </a:stretch>
          </p:blipFill>
          <p:spPr>
            <a:xfrm>
              <a:off x="1844198" y="4027463"/>
              <a:ext cx="248213" cy="212510"/>
            </a:xfrm>
            <a:prstGeom prst="rect">
              <a:avLst/>
            </a:prstGeom>
          </p:spPr>
        </p:pic>
        <p:pic>
          <p:nvPicPr>
            <p:cNvPr id="27" name="Picture 26"/>
            <p:cNvPicPr>
              <a:picLocks noChangeAspect="1"/>
            </p:cNvPicPr>
            <p:nvPr/>
          </p:nvPicPr>
          <p:blipFill>
            <a:blip r:embed="rId4"/>
            <a:stretch>
              <a:fillRect/>
            </a:stretch>
          </p:blipFill>
          <p:spPr>
            <a:xfrm>
              <a:off x="1589903" y="3665917"/>
              <a:ext cx="174072" cy="212510"/>
            </a:xfrm>
            <a:prstGeom prst="rect">
              <a:avLst/>
            </a:prstGeom>
          </p:spPr>
        </p:pic>
        <p:pic>
          <p:nvPicPr>
            <p:cNvPr id="28" name="Picture 27"/>
            <p:cNvPicPr>
              <a:picLocks noChangeAspect="1"/>
            </p:cNvPicPr>
            <p:nvPr/>
          </p:nvPicPr>
          <p:blipFill>
            <a:blip r:embed="rId4"/>
            <a:stretch>
              <a:fillRect/>
            </a:stretch>
          </p:blipFill>
          <p:spPr>
            <a:xfrm>
              <a:off x="1997137" y="4471368"/>
              <a:ext cx="268268" cy="212510"/>
            </a:xfrm>
            <a:prstGeom prst="rect">
              <a:avLst/>
            </a:prstGeom>
          </p:spPr>
        </p:pic>
      </p:grpSp>
      <p:grpSp>
        <p:nvGrpSpPr>
          <p:cNvPr id="38" name="Group 37"/>
          <p:cNvGrpSpPr/>
          <p:nvPr/>
        </p:nvGrpSpPr>
        <p:grpSpPr>
          <a:xfrm>
            <a:off x="2349532" y="4670305"/>
            <a:ext cx="4892101" cy="1242669"/>
            <a:chOff x="2349532" y="4670305"/>
            <a:chExt cx="4892101" cy="1242669"/>
          </a:xfrm>
        </p:grpSpPr>
        <p:sp>
          <p:nvSpPr>
            <p:cNvPr id="31" name="TextBox 30"/>
            <p:cNvSpPr txBox="1"/>
            <p:nvPr/>
          </p:nvSpPr>
          <p:spPr>
            <a:xfrm>
              <a:off x="2349532" y="5543642"/>
              <a:ext cx="4892101" cy="369332"/>
            </a:xfrm>
            <a:prstGeom prst="rect">
              <a:avLst/>
            </a:prstGeom>
            <a:noFill/>
          </p:spPr>
          <p:txBody>
            <a:bodyPr wrap="square" rtlCol="0">
              <a:spAutoFit/>
            </a:bodyPr>
            <a:lstStyle/>
            <a:p>
              <a:r>
                <a:rPr lang="en-US" dirty="0" err="1"/>
                <a:t>几乎相同的语法树</a:t>
              </a:r>
              <a:r>
                <a:rPr lang="zh-CN" altLang="en-US" dirty="0"/>
                <a:t>，预示强相关的语义</a:t>
              </a:r>
              <a:endParaRPr lang="en-US" dirty="0"/>
            </a:p>
          </p:txBody>
        </p:sp>
        <p:cxnSp>
          <p:nvCxnSpPr>
            <p:cNvPr id="33" name="Straight Arrow Connector 32"/>
            <p:cNvCxnSpPr/>
            <p:nvPr/>
          </p:nvCxnSpPr>
          <p:spPr>
            <a:xfrm flipH="1" flipV="1">
              <a:off x="3723503" y="4697608"/>
              <a:ext cx="696010" cy="84603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31" idx="0"/>
            </p:cNvCxnSpPr>
            <p:nvPr/>
          </p:nvCxnSpPr>
          <p:spPr>
            <a:xfrm flipV="1">
              <a:off x="4795583" y="4670305"/>
              <a:ext cx="418968" cy="87333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TextBox 38"/>
          <p:cNvSpPr txBox="1"/>
          <p:nvPr/>
        </p:nvSpPr>
        <p:spPr>
          <a:xfrm>
            <a:off x="3220451" y="1827944"/>
            <a:ext cx="2799349" cy="369332"/>
          </a:xfrm>
          <a:prstGeom prst="rect">
            <a:avLst/>
          </a:prstGeom>
          <a:noFill/>
        </p:spPr>
        <p:txBody>
          <a:bodyPr wrap="square" rtlCol="0">
            <a:spAutoFit/>
          </a:bodyPr>
          <a:lstStyle/>
          <a:p>
            <a:r>
              <a:rPr lang="en-US" dirty="0" err="1">
                <a:solidFill>
                  <a:srgbClr val="FF0000"/>
                </a:solidFill>
              </a:rPr>
              <a:t>如何描述这种相似性</a:t>
            </a:r>
            <a:r>
              <a:rPr lang="zh-CN" altLang="en-US" dirty="0">
                <a:solidFill>
                  <a:srgbClr val="FF0000"/>
                </a:solidFill>
              </a:rPr>
              <a:t>？</a:t>
            </a:r>
            <a:endParaRPr lang="en-US" dirty="0">
              <a:solidFill>
                <a:srgbClr val="FF0000"/>
              </a:solidFill>
            </a:endParaRPr>
          </a:p>
        </p:txBody>
      </p:sp>
    </p:spTree>
    <p:extLst>
      <p:ext uri="{BB962C8B-B14F-4D97-AF65-F5344CB8AC3E}">
        <p14:creationId xmlns:p14="http://schemas.microsoft.com/office/powerpoint/2010/main" val="139829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latin typeface="Microsoft YaHei" panose="020B0503020204020204" pitchFamily="34" charset="-122"/>
                <a:ea typeface="Microsoft YaHei" panose="020B0503020204020204" pitchFamily="34" charset="-122"/>
              </a:rPr>
              <a:t>针对文本数据的核函数设计</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树形核函数</a:t>
                </a:r>
              </a:p>
              <a:p>
                <a:pPr lvl="1"/>
                <a14:m>
                  <m:oMath xmlns:m="http://schemas.openxmlformats.org/officeDocument/2006/math">
                    <m:r>
                      <a:rPr lang="en-US" i="1" dirty="0">
                        <a:latin typeface="Cambria Math" panose="02040503050406030204" pitchFamily="18" charset="0"/>
                      </a:rPr>
                      <m:t>𝐾</m:t>
                    </m:r>
                    <m:d>
                      <m:dPr>
                        <m:ctrlPr>
                          <a:rPr lang="en-US" i="1" dirty="0">
                            <a:latin typeface="Cambria Math" panose="02040503050406030204" pitchFamily="18" charset="0"/>
                          </a:rPr>
                        </m:ctrlPr>
                      </m:dPr>
                      <m:e>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𝑦</m:t>
                        </m:r>
                      </m:e>
                    </m:d>
                    <m:r>
                      <a:rPr lang="en-US" i="1" dirty="0">
                        <a:latin typeface="Cambria Math" panose="02040503050406030204" pitchFamily="18" charset="0"/>
                      </a:rPr>
                      <m:t>=</m:t>
                    </m:r>
                    <m:d>
                      <m:dPr>
                        <m:begChr m:val="{"/>
                        <m:endChr m:val=""/>
                        <m:ctrlPr>
                          <a:rPr lang="en-US" i="1" dirty="0" smtClean="0">
                            <a:latin typeface="Cambria Math" panose="02040503050406030204" pitchFamily="18" charset="0"/>
                          </a:rPr>
                        </m:ctrlPr>
                      </m:dPr>
                      <m:e>
                        <m:eqArr>
                          <m:eqArrPr>
                            <m:ctrlPr>
                              <a:rPr lang="en-US" i="1" dirty="0" smtClean="0">
                                <a:latin typeface="Cambria Math" panose="02040503050406030204" pitchFamily="18" charset="0"/>
                              </a:rPr>
                            </m:ctrlPr>
                          </m:eqArrPr>
                          <m:e>
                            <m:r>
                              <a:rPr lang="en-US" b="0" i="1" dirty="0" smtClean="0">
                                <a:latin typeface="Cambria Math" panose="02040503050406030204" pitchFamily="18" charset="0"/>
                              </a:rPr>
                              <m:t>0</m:t>
                            </m:r>
                          </m:e>
                          <m:e>
                            <m:r>
                              <a:rPr lang="en-US" b="0" i="1" dirty="0" smtClean="0">
                                <a:latin typeface="Cambria Math" panose="02040503050406030204" pitchFamily="18" charset="0"/>
                              </a:rPr>
                              <m:t>1+</m:t>
                            </m:r>
                            <m:r>
                              <a:rPr lang="en-US" i="1" dirty="0">
                                <a:latin typeface="Cambria Math" panose="02040503050406030204" pitchFamily="18" charset="0"/>
                              </a:rPr>
                              <m:t>𝐾</m:t>
                            </m:r>
                            <m:d>
                              <m:dPr>
                                <m:ctrlPr>
                                  <a:rPr lang="en-US" i="1" dirty="0">
                                    <a:latin typeface="Cambria Math" panose="02040503050406030204" pitchFamily="18" charset="0"/>
                                  </a:rPr>
                                </m:ctrlPr>
                              </m:dPr>
                              <m:e>
                                <m:r>
                                  <a:rPr lang="en-US" i="1" dirty="0" err="1">
                                    <a:latin typeface="Cambria Math" panose="02040503050406030204" pitchFamily="18" charset="0"/>
                                  </a:rPr>
                                  <m:t>𝑥</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i="1" dirty="0" err="1">
                                    <a:latin typeface="Cambria Math" panose="02040503050406030204" pitchFamily="18" charset="0"/>
                                  </a:rPr>
                                  <m:t>,</m:t>
                                </m:r>
                                <m:r>
                                  <a:rPr lang="en-US" i="1" dirty="0" err="1">
                                    <a:latin typeface="Cambria Math" panose="02040503050406030204" pitchFamily="18" charset="0"/>
                                  </a:rPr>
                                  <m:t>𝑦</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e>
                            </m:d>
                          </m:e>
                        </m:eqArr>
                      </m:e>
                    </m:d>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304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6060989" y="1801446"/>
                <a:ext cx="1775256" cy="523220"/>
              </a:xfrm>
              <a:prstGeom prst="rect">
                <a:avLst/>
              </a:prstGeom>
              <a:noFill/>
            </p:spPr>
            <p:txBody>
              <a:bodyPr wrap="square" rtlCol="0">
                <a:spAutoFit/>
              </a:bodyPr>
              <a:lstStyle/>
              <a:p>
                <a:r>
                  <a:rPr lang="en-US" sz="2800" dirty="0"/>
                  <a:t>If  </a:t>
                </a:r>
                <a14:m>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𝑟</m:t>
                        </m:r>
                      </m:e>
                      <m:sub>
                        <m:r>
                          <a:rPr lang="en-US" sz="2800" b="0" i="1" dirty="0" smtClean="0">
                            <a:latin typeface="Cambria Math" panose="02040503050406030204" pitchFamily="18" charset="0"/>
                          </a:rPr>
                          <m:t>1</m:t>
                        </m:r>
                      </m:sub>
                    </m:sSub>
                    <m:r>
                      <a:rPr lang="en-US" altLang="zh-CN" sz="2800" b="0" i="1" dirty="0" smtClean="0">
                        <a:latin typeface="Cambria Math" panose="02040503050406030204" pitchFamily="18" charset="0"/>
                        <a:ea typeface="Cambria Math" panose="02040503050406030204" pitchFamily="18" charset="0"/>
                      </a:rPr>
                      <m:t>≠</m:t>
                    </m:r>
                    <m:r>
                      <a:rPr lang="zh-CN" altLang="en-US" sz="2800" b="0" i="1" dirty="0" smtClean="0">
                        <a:latin typeface="Cambria Math" panose="02040503050406030204" pitchFamily="18" charset="0"/>
                      </a:rPr>
                      <m:t> </m:t>
                    </m:r>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𝑟</m:t>
                        </m:r>
                      </m:e>
                      <m:sub>
                        <m:r>
                          <a:rPr lang="en-US" sz="2800" b="0" i="1" dirty="0" smtClean="0">
                            <a:latin typeface="Cambria Math" panose="02040503050406030204" pitchFamily="18" charset="0"/>
                          </a:rPr>
                          <m:t>2</m:t>
                        </m:r>
                      </m:sub>
                    </m:sSub>
                  </m:oMath>
                </a14:m>
                <a:endParaRPr lang="en-US" sz="2800" dirty="0"/>
              </a:p>
            </p:txBody>
          </p:sp>
        </mc:Choice>
        <mc:Fallback>
          <p:sp>
            <p:nvSpPr>
              <p:cNvPr id="7" name="TextBox 6"/>
              <p:cNvSpPr txBox="1">
                <a:spLocks noRot="1" noChangeAspect="1" noMove="1" noResize="1" noEditPoints="1" noAdjustHandles="1" noChangeArrowheads="1" noChangeShapeType="1" noTextEdit="1"/>
              </p:cNvSpPr>
              <p:nvPr/>
            </p:nvSpPr>
            <p:spPr>
              <a:xfrm>
                <a:off x="6060989" y="1801446"/>
                <a:ext cx="1775256" cy="523220"/>
              </a:xfrm>
              <a:prstGeom prst="rect">
                <a:avLst/>
              </a:prstGeom>
              <a:blipFill>
                <a:blip r:embed="rId3"/>
                <a:stretch>
                  <a:fillRect l="-7143" t="-12195" b="-36585"/>
                </a:stretch>
              </a:blipFill>
            </p:spPr>
            <p:txBody>
              <a:bodyPr/>
              <a:lstStyle/>
              <a:p>
                <a:r>
                  <a:rPr lang="en-US">
                    <a:noFill/>
                  </a:rPr>
                  <a:t> </a:t>
                </a:r>
              </a:p>
            </p:txBody>
          </p:sp>
        </mc:Fallback>
      </mc:AlternateContent>
      <p:sp>
        <p:nvSpPr>
          <p:cNvPr id="31" name="TextBox 30"/>
          <p:cNvSpPr txBox="1"/>
          <p:nvPr/>
        </p:nvSpPr>
        <p:spPr>
          <a:xfrm>
            <a:off x="6060989" y="2245620"/>
            <a:ext cx="1775256" cy="523220"/>
          </a:xfrm>
          <a:prstGeom prst="rect">
            <a:avLst/>
          </a:prstGeom>
          <a:noFill/>
        </p:spPr>
        <p:txBody>
          <a:bodyPr wrap="square" rtlCol="0">
            <a:spAutoFit/>
          </a:bodyPr>
          <a:lstStyle/>
          <a:p>
            <a:r>
              <a:rPr lang="en-US" sz="2800" dirty="0"/>
              <a:t>otherwise</a:t>
            </a:r>
          </a:p>
        </p:txBody>
      </p:sp>
      <p:grpSp>
        <p:nvGrpSpPr>
          <p:cNvPr id="38" name="Group 37"/>
          <p:cNvGrpSpPr/>
          <p:nvPr/>
        </p:nvGrpSpPr>
        <p:grpSpPr>
          <a:xfrm>
            <a:off x="3905110" y="2715057"/>
            <a:ext cx="3163330" cy="987138"/>
            <a:chOff x="3863546" y="3245377"/>
            <a:chExt cx="3163330" cy="987138"/>
          </a:xfrm>
        </p:grpSpPr>
        <p:sp>
          <p:nvSpPr>
            <p:cNvPr id="32" name="TextBox 31"/>
            <p:cNvSpPr txBox="1"/>
            <p:nvPr/>
          </p:nvSpPr>
          <p:spPr>
            <a:xfrm>
              <a:off x="3863546" y="3863183"/>
              <a:ext cx="3163330" cy="369332"/>
            </a:xfrm>
            <a:prstGeom prst="rect">
              <a:avLst/>
            </a:prstGeom>
            <a:noFill/>
          </p:spPr>
          <p:txBody>
            <a:bodyPr wrap="square" rtlCol="0">
              <a:spAutoFit/>
            </a:bodyPr>
            <a:lstStyle/>
            <a:p>
              <a:r>
                <a:rPr lang="en-US" dirty="0" err="1"/>
                <a:t>递归向下计算</a:t>
              </a:r>
              <a:endParaRPr lang="en-US" dirty="0"/>
            </a:p>
          </p:txBody>
        </p:sp>
        <p:cxnSp>
          <p:nvCxnSpPr>
            <p:cNvPr id="34" name="Straight Arrow Connector 33"/>
            <p:cNvCxnSpPr/>
            <p:nvPr/>
          </p:nvCxnSpPr>
          <p:spPr>
            <a:xfrm flipH="1" flipV="1">
              <a:off x="4267200" y="3277997"/>
              <a:ext cx="304800" cy="58518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4572000" y="3245377"/>
              <a:ext cx="511776" cy="61780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41" name="TextBox 40"/>
          <p:cNvSpPr txBox="1"/>
          <p:nvPr/>
        </p:nvSpPr>
        <p:spPr>
          <a:xfrm>
            <a:off x="6060989" y="1567385"/>
            <a:ext cx="3756454" cy="369332"/>
          </a:xfrm>
          <a:prstGeom prst="rect">
            <a:avLst/>
          </a:prstGeom>
          <a:noFill/>
        </p:spPr>
        <p:txBody>
          <a:bodyPr wrap="square" rtlCol="0">
            <a:spAutoFit/>
          </a:bodyPr>
          <a:lstStyle/>
          <a:p>
            <a:r>
              <a:rPr lang="en-US" dirty="0" err="1"/>
              <a:t>根节点不匹配</a:t>
            </a:r>
            <a:endParaRPr lang="en-US" dirty="0"/>
          </a:p>
        </p:txBody>
      </p:sp>
      <p:sp>
        <p:nvSpPr>
          <p:cNvPr id="50" name="Rectangle 49"/>
          <p:cNvSpPr/>
          <p:nvPr/>
        </p:nvSpPr>
        <p:spPr>
          <a:xfrm>
            <a:off x="5404022" y="5633723"/>
            <a:ext cx="3723503" cy="646331"/>
          </a:xfrm>
          <a:prstGeom prst="rect">
            <a:avLst/>
          </a:prstGeom>
        </p:spPr>
        <p:txBody>
          <a:bodyPr wrap="square">
            <a:spAutoFit/>
          </a:bodyPr>
          <a:lstStyle/>
          <a:p>
            <a:r>
              <a:rPr lang="en-US" sz="1200" i="1" dirty="0" err="1">
                <a:solidFill>
                  <a:srgbClr val="222222"/>
                </a:solidFill>
                <a:latin typeface="Arial" panose="020B0604020202020204" pitchFamily="34" charset="0"/>
              </a:rPr>
              <a:t>Culotta</a:t>
            </a:r>
            <a:r>
              <a:rPr lang="en-US" sz="1200" i="1" dirty="0">
                <a:solidFill>
                  <a:srgbClr val="222222"/>
                </a:solidFill>
                <a:latin typeface="Arial" panose="020B0604020202020204" pitchFamily="34" charset="0"/>
              </a:rPr>
              <a:t>, Aron, and Jeffrey Sorensen. "Dependency tree kernels for relation extraction." Proceedings of the ACL. P423-429, 2004.</a:t>
            </a:r>
            <a:endParaRPr lang="en-US" sz="1200" i="1" dirty="0"/>
          </a:p>
        </p:txBody>
      </p:sp>
      <p:pic>
        <p:nvPicPr>
          <p:cNvPr id="10" name="Picture 9">
            <a:extLst>
              <a:ext uri="{FF2B5EF4-FFF2-40B4-BE49-F238E27FC236}">
                <a16:creationId xmlns:a16="http://schemas.microsoft.com/office/drawing/2014/main" id="{1B7CA4E8-01CE-6F13-0E1D-BDA5E24931C8}"/>
              </a:ext>
            </a:extLst>
          </p:cNvPr>
          <p:cNvPicPr>
            <a:picLocks noChangeAspect="1"/>
          </p:cNvPicPr>
          <p:nvPr/>
        </p:nvPicPr>
        <p:blipFill>
          <a:blip r:embed="rId4"/>
          <a:stretch>
            <a:fillRect/>
          </a:stretch>
        </p:blipFill>
        <p:spPr>
          <a:xfrm>
            <a:off x="1065899" y="3961079"/>
            <a:ext cx="2304020" cy="1304101"/>
          </a:xfrm>
          <a:prstGeom prst="rect">
            <a:avLst/>
          </a:prstGeom>
        </p:spPr>
      </p:pic>
      <p:grpSp>
        <p:nvGrpSpPr>
          <p:cNvPr id="11" name="Group 10">
            <a:extLst>
              <a:ext uri="{FF2B5EF4-FFF2-40B4-BE49-F238E27FC236}">
                <a16:creationId xmlns:a16="http://schemas.microsoft.com/office/drawing/2014/main" id="{2D4E295A-C09A-858C-F204-95267E876040}"/>
              </a:ext>
            </a:extLst>
          </p:cNvPr>
          <p:cNvGrpSpPr/>
          <p:nvPr/>
        </p:nvGrpSpPr>
        <p:grpSpPr>
          <a:xfrm>
            <a:off x="3555657" y="3984892"/>
            <a:ext cx="3696730" cy="1608922"/>
            <a:chOff x="3070140" y="4739701"/>
            <a:chExt cx="3696730" cy="1608922"/>
          </a:xfrm>
        </p:grpSpPr>
        <p:pic>
          <p:nvPicPr>
            <p:cNvPr id="12" name="Picture 11">
              <a:extLst>
                <a:ext uri="{FF2B5EF4-FFF2-40B4-BE49-F238E27FC236}">
                  <a16:creationId xmlns:a16="http://schemas.microsoft.com/office/drawing/2014/main" id="{410A4CC5-74D1-B9D8-D577-1E22BD25EADB}"/>
                </a:ext>
              </a:extLst>
            </p:cNvPr>
            <p:cNvPicPr>
              <a:picLocks noChangeAspect="1"/>
            </p:cNvPicPr>
            <p:nvPr/>
          </p:nvPicPr>
          <p:blipFill>
            <a:blip r:embed="rId5"/>
            <a:stretch>
              <a:fillRect/>
            </a:stretch>
          </p:blipFill>
          <p:spPr>
            <a:xfrm>
              <a:off x="3070140" y="4739701"/>
              <a:ext cx="3696730" cy="1279919"/>
            </a:xfrm>
            <a:prstGeom prst="rect">
              <a:avLst/>
            </a:prstGeom>
          </p:spPr>
        </p:pic>
        <p:sp>
          <p:nvSpPr>
            <p:cNvPr id="13" name="TextBox 12">
              <a:extLst>
                <a:ext uri="{FF2B5EF4-FFF2-40B4-BE49-F238E27FC236}">
                  <a16:creationId xmlns:a16="http://schemas.microsoft.com/office/drawing/2014/main" id="{5B15A8CE-6184-2C3D-178D-5E59A90C06C1}"/>
                </a:ext>
              </a:extLst>
            </p:cNvPr>
            <p:cNvSpPr txBox="1"/>
            <p:nvPr/>
          </p:nvSpPr>
          <p:spPr>
            <a:xfrm>
              <a:off x="3159726" y="6010069"/>
              <a:ext cx="3517557" cy="338554"/>
            </a:xfrm>
            <a:prstGeom prst="rect">
              <a:avLst/>
            </a:prstGeom>
            <a:noFill/>
          </p:spPr>
          <p:txBody>
            <a:bodyPr wrap="square" rtlCol="0">
              <a:spAutoFit/>
            </a:bodyPr>
            <a:lstStyle/>
            <a:p>
              <a:pPr algn="ctr"/>
              <a:r>
                <a:rPr lang="en-US" sz="1600" dirty="0" err="1"/>
                <a:t>实体关系分类任务</a:t>
              </a:r>
              <a:endParaRPr lang="en-US" sz="1600" dirty="0"/>
            </a:p>
          </p:txBody>
        </p:sp>
      </p:grpSp>
    </p:spTree>
    <p:extLst>
      <p:ext uri="{BB962C8B-B14F-4D97-AF65-F5344CB8AC3E}">
        <p14:creationId xmlns:p14="http://schemas.microsoft.com/office/powerpoint/2010/main" val="1471304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实际中的问题</a:t>
            </a:r>
          </a:p>
        </p:txBody>
      </p:sp>
      <p:sp>
        <p:nvSpPr>
          <p:cNvPr id="105475" name="内容占位符 2"/>
          <p:cNvSpPr>
            <a:spLocks noGrp="1"/>
          </p:cNvSpPr>
          <p:nvPr>
            <p:ph idx="1"/>
          </p:nvPr>
        </p:nvSpPr>
        <p:spPr>
          <a:xfrm>
            <a:off x="914400" y="1749972"/>
            <a:ext cx="7772400" cy="4269828"/>
          </a:xfrm>
        </p:spPr>
        <p:txBody>
          <a:bodyPr/>
          <a:lstStyle/>
          <a:p>
            <a:r>
              <a:rPr lang="zh-CN" altLang="en-US" sz="3200" b="1" dirty="0"/>
              <a:t>分类体系的建立</a:t>
            </a:r>
            <a:endParaRPr lang="en-US" altLang="zh-CN" sz="3200" b="1" dirty="0"/>
          </a:p>
          <a:p>
            <a:r>
              <a:rPr lang="zh-CN" altLang="en-US" sz="3200" b="1" dirty="0"/>
              <a:t>数据的收集</a:t>
            </a:r>
            <a:endParaRPr lang="en-US" altLang="zh-CN" sz="3200" b="1" dirty="0"/>
          </a:p>
          <a:p>
            <a:r>
              <a:rPr lang="zh-CN" altLang="en-US" sz="3200" b="1" dirty="0"/>
              <a:t>预处理</a:t>
            </a:r>
            <a:endParaRPr lang="en-US" altLang="zh-CN" sz="3200" b="1" dirty="0"/>
          </a:p>
          <a:p>
            <a:pPr lvl="1"/>
            <a:r>
              <a:rPr lang="zh-CN" altLang="en-US" sz="2800" b="1" dirty="0"/>
              <a:t>分词</a:t>
            </a:r>
            <a:endParaRPr lang="en-US" altLang="zh-CN" sz="2800" b="1" dirty="0"/>
          </a:p>
          <a:p>
            <a:pPr lvl="1"/>
            <a:r>
              <a:rPr lang="zh-CN" altLang="en-US" sz="2800" b="1" dirty="0"/>
              <a:t>停用词（</a:t>
            </a:r>
            <a:r>
              <a:rPr lang="en-US" altLang="zh-CN" sz="2800" b="1" dirty="0"/>
              <a:t>Stop word</a:t>
            </a:r>
            <a:r>
              <a:rPr lang="zh-CN" altLang="en-US" sz="2800" b="1" dirty="0"/>
              <a:t>）处理</a:t>
            </a:r>
            <a:endParaRPr lang="en-US" altLang="zh-CN" sz="2800" b="1" dirty="0"/>
          </a:p>
          <a:p>
            <a:pPr lvl="1"/>
            <a:r>
              <a:rPr lang="zh-CN" altLang="en-US" sz="2800" b="1" dirty="0"/>
              <a:t>词干化（</a:t>
            </a:r>
            <a:r>
              <a:rPr lang="en-US" altLang="zh-CN" sz="2800" b="1" dirty="0"/>
              <a:t>Stemming</a:t>
            </a:r>
            <a:r>
              <a:rPr lang="zh-CN" altLang="en-US" sz="2800" b="1" dirty="0"/>
              <a:t>）</a:t>
            </a:r>
            <a:endParaRPr lang="en-US" altLang="zh-CN" sz="2800" b="1" dirty="0"/>
          </a:p>
          <a:p>
            <a:pPr lvl="1"/>
            <a:r>
              <a:rPr lang="zh-CN" altLang="en-US" sz="2800" b="1" dirty="0"/>
              <a:t>特征选择</a:t>
            </a:r>
            <a:endParaRPr lang="en-US" altLang="zh-CN" sz="2800" b="1" dirty="0"/>
          </a:p>
          <a:p>
            <a:pPr lvl="1"/>
            <a:endParaRPr lang="zh-CN" altLang="en-US" dirty="0"/>
          </a:p>
        </p:txBody>
      </p:sp>
      <p:sp>
        <p:nvSpPr>
          <p:cNvPr id="105476" name="灯片编号占位符 3"/>
          <p:cNvSpPr>
            <a:spLocks noGrp="1"/>
          </p:cNvSpPr>
          <p:nvPr>
            <p:ph type="sldNum" sz="quarter" idx="12"/>
          </p:nvPr>
        </p:nvSpPr>
        <p:spPr>
          <a:noFill/>
        </p:spPr>
        <p:txBody>
          <a:bodyPr/>
          <a:lstStyle/>
          <a:p>
            <a:fld id="{20A58001-6E30-4AAA-9117-CB3AE387B7F0}" type="slidenum">
              <a:rPr lang="en-US" altLang="zh-CN" smtClean="0">
                <a:ea typeface="黑体" pitchFamily="49" charset="-122"/>
              </a:rPr>
              <a:pPr/>
              <a:t>70</a:t>
            </a:fld>
            <a:endParaRPr lang="en-US" altLang="zh-CN">
              <a:ea typeface="黑体"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练习题</a:t>
            </a:r>
          </a:p>
        </p:txBody>
      </p:sp>
      <p:sp>
        <p:nvSpPr>
          <p:cNvPr id="3" name="内容占位符 2"/>
          <p:cNvSpPr>
            <a:spLocks noGrp="1"/>
          </p:cNvSpPr>
          <p:nvPr>
            <p:ph sz="quarter" idx="1"/>
          </p:nvPr>
        </p:nvSpPr>
        <p:spPr/>
        <p:txBody>
          <a:bodyPr/>
          <a:lstStyle/>
          <a:p>
            <a:endParaRPr lang="en-US" altLang="zh-CN" dirty="0"/>
          </a:p>
          <a:p>
            <a:r>
              <a:rPr lang="zh-CN" altLang="en-US" dirty="0"/>
              <a:t>使用工具系统实现基于支持向量机方法的文本分类，并对比采用不同的特征、不同的超参数时，分类性能的优劣。</a:t>
            </a:r>
          </a:p>
        </p:txBody>
      </p:sp>
    </p:spTree>
    <p:extLst>
      <p:ext uri="{BB962C8B-B14F-4D97-AF65-F5344CB8AC3E}">
        <p14:creationId xmlns:p14="http://schemas.microsoft.com/office/powerpoint/2010/main" val="42327122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56690" y="977462"/>
            <a:ext cx="945931" cy="504497"/>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40931" y="4452188"/>
            <a:ext cx="1802524" cy="525518"/>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9941" name="灯片编号占位符 3"/>
          <p:cNvSpPr>
            <a:spLocks noGrp="1"/>
          </p:cNvSpPr>
          <p:nvPr>
            <p:ph type="sldNum" sz="quarter" idx="12"/>
          </p:nvPr>
        </p:nvSpPr>
        <p:spPr>
          <a:noFill/>
        </p:spPr>
        <p:txBody>
          <a:bodyPr/>
          <a:lstStyle/>
          <a:p>
            <a:fld id="{C2A4A4DC-CDB5-4639-81AD-E4C67A2AAC88}" type="slidenum">
              <a:rPr lang="en-US" altLang="zh-CN" smtClean="0">
                <a:ea typeface="黑体" pitchFamily="49" charset="-122"/>
              </a:rPr>
              <a:pPr/>
              <a:t>72</a:t>
            </a:fld>
            <a:endParaRPr lang="en-US" altLang="zh-CN">
              <a:ea typeface="黑体" pitchFamily="49" charset="-122"/>
            </a:endParaRPr>
          </a:p>
        </p:txBody>
      </p:sp>
      <p:graphicFrame>
        <p:nvGraphicFramePr>
          <p:cNvPr id="2" name="Object 2" descr="羊皮纸">
            <a:extLst>
              <a:ext uri="{FF2B5EF4-FFF2-40B4-BE49-F238E27FC236}">
                <a16:creationId xmlns:a16="http://schemas.microsoft.com/office/drawing/2014/main" id="{EB04B707-F090-70E4-7FFF-610DC830210A}"/>
              </a:ext>
            </a:extLst>
          </p:cNvPr>
          <p:cNvGraphicFramePr>
            <a:graphicFrameLocks noChangeAspect="1"/>
          </p:cNvGraphicFramePr>
          <p:nvPr/>
        </p:nvGraphicFramePr>
        <p:xfrm>
          <a:off x="990365" y="141696"/>
          <a:ext cx="5371936" cy="3287304"/>
        </p:xfrm>
        <a:graphic>
          <a:graphicData uri="http://schemas.openxmlformats.org/presentationml/2006/ole">
            <mc:AlternateContent xmlns:mc="http://schemas.openxmlformats.org/markup-compatibility/2006">
              <mc:Choice xmlns:v="urn:schemas-microsoft-com:vml" Requires="v">
                <p:oleObj name="公式" r:id="rId3" imgW="2247840" imgH="1371600" progId="Equation.3">
                  <p:embed/>
                </p:oleObj>
              </mc:Choice>
              <mc:Fallback>
                <p:oleObj name="公式" r:id="rId3" imgW="2247840" imgH="1371600" progId="Equation.3">
                  <p:embed/>
                  <p:pic>
                    <p:nvPicPr>
                      <p:cNvPr id="2" name="Object 2" descr="羊皮纸">
                        <a:extLst>
                          <a:ext uri="{FF2B5EF4-FFF2-40B4-BE49-F238E27FC236}">
                            <a16:creationId xmlns:a16="http://schemas.microsoft.com/office/drawing/2014/main" id="{EB04B707-F090-70E4-7FFF-610DC83021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365" y="141696"/>
                        <a:ext cx="5371936" cy="3287304"/>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43889CB-9ECD-6E6B-1A27-C44EC7265C9C}"/>
                  </a:ext>
                </a:extLst>
              </p:cNvPr>
              <p:cNvSpPr txBox="1"/>
              <p:nvPr/>
            </p:nvSpPr>
            <p:spPr>
              <a:xfrm>
                <a:off x="1225313" y="4193077"/>
                <a:ext cx="5995359" cy="10802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sz="2400" i="1" smtClean="0">
                              <a:latin typeface="Cambria Math" panose="02040503050406030204" pitchFamily="18" charset="0"/>
                            </a:rPr>
                          </m:ctrlPr>
                        </m:funcPr>
                        <m:fName>
                          <m:limLow>
                            <m:limLowPr>
                              <m:ctrlPr>
                                <a:rPr kumimoji="1" lang="en-US" altLang="zh-CN" sz="2400" i="1" smtClean="0">
                                  <a:latin typeface="Cambria Math" panose="02040503050406030204" pitchFamily="18" charset="0"/>
                                </a:rPr>
                              </m:ctrlPr>
                            </m:limLowPr>
                            <m:e>
                              <m:r>
                                <m:rPr>
                                  <m:sty m:val="p"/>
                                </m:rPr>
                                <a:rPr kumimoji="1" lang="en-US" altLang="zh-CN" sz="2400" i="0" smtClean="0">
                                  <a:latin typeface="Cambria Math" panose="02040503050406030204" pitchFamily="18" charset="0"/>
                                </a:rPr>
                                <m:t>min</m:t>
                              </m:r>
                            </m:e>
                            <m:lim>
                              <m:r>
                                <a:rPr kumimoji="1" lang="en-US" altLang="zh-CN" sz="2400" i="1" smtClean="0">
                                  <a:latin typeface="Cambria Math" panose="02040503050406030204" pitchFamily="18" charset="0"/>
                                  <a:ea typeface="Cambria Math" panose="02040503050406030204" pitchFamily="18" charset="0"/>
                                </a:rPr>
                                <m:t>𝛼</m:t>
                              </m:r>
                            </m:lim>
                          </m:limLow>
                        </m:fName>
                        <m:e>
                          <m:f>
                            <m:fPr>
                              <m:ctrlPr>
                                <a:rPr kumimoji="1" lang="en-US" altLang="zh-CN" sz="2400" i="1" smtClean="0">
                                  <a:latin typeface="Cambria Math" panose="02040503050406030204" pitchFamily="18" charset="0"/>
                                </a:rPr>
                              </m:ctrlPr>
                            </m:fPr>
                            <m:num>
                              <m:r>
                                <a:rPr kumimoji="1" lang="en-US" altLang="zh-CN" sz="2400" b="0" i="1" smtClean="0">
                                  <a:latin typeface="Cambria Math" panose="02040503050406030204" pitchFamily="18" charset="0"/>
                                </a:rPr>
                                <m:t>1</m:t>
                              </m:r>
                            </m:num>
                            <m:den>
                              <m:r>
                                <a:rPr kumimoji="1" lang="en-US" altLang="zh-CN" sz="2400" b="0" i="1" smtClean="0">
                                  <a:latin typeface="Cambria Math" panose="02040503050406030204" pitchFamily="18" charset="0"/>
                                </a:rPr>
                                <m:t>2</m:t>
                              </m:r>
                            </m:den>
                          </m:f>
                          <m:nary>
                            <m:naryPr>
                              <m:chr m:val="∑"/>
                              <m:ctrlPr>
                                <a:rPr kumimoji="1" lang="en-US" altLang="zh-CN" sz="2400" i="1" smtClean="0">
                                  <a:latin typeface="Cambria Math" panose="02040503050406030204" pitchFamily="18" charset="0"/>
                                </a:rPr>
                              </m:ctrlPr>
                            </m:naryPr>
                            <m:sub>
                              <m:r>
                                <m:rPr>
                                  <m:brk m:alnAt="23"/>
                                </m:rPr>
                                <a:rPr kumimoji="1" lang="en-US" altLang="zh-CN" sz="2400" b="0" i="1" smtClean="0">
                                  <a:latin typeface="Cambria Math" panose="02040503050406030204" pitchFamily="18" charset="0"/>
                                </a:rPr>
                                <m:t>𝑖</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𝑁</m:t>
                              </m:r>
                            </m:sup>
                            <m:e>
                              <m:nary>
                                <m:naryPr>
                                  <m:chr m:val="∑"/>
                                  <m:ctrlPr>
                                    <a:rPr kumimoji="1" lang="en-US" altLang="zh-CN" sz="2400" i="1" smtClean="0">
                                      <a:latin typeface="Cambria Math" panose="02040503050406030204" pitchFamily="18" charset="0"/>
                                    </a:rPr>
                                  </m:ctrlPr>
                                </m:naryPr>
                                <m:sub>
                                  <m:r>
                                    <m:rPr>
                                      <m:brk m:alnAt="23"/>
                                    </m:rPr>
                                    <a:rPr kumimoji="1" lang="en-US" altLang="zh-CN" sz="2400" b="0" i="1" smtClean="0">
                                      <a:latin typeface="Cambria Math" panose="02040503050406030204" pitchFamily="18" charset="0"/>
                                    </a:rPr>
                                    <m:t>𝑗</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𝑁</m:t>
                                  </m:r>
                                </m:sup>
                                <m:e>
                                  <m:sSub>
                                    <m:sSubPr>
                                      <m:ctrlPr>
                                        <a:rPr kumimoji="1" lang="en-US" altLang="zh-CN" sz="2400" i="1" smtClean="0">
                                          <a:latin typeface="Cambria Math" panose="02040503050406030204" pitchFamily="18" charset="0"/>
                                        </a:rPr>
                                      </m:ctrlPr>
                                    </m:sSubPr>
                                    <m:e>
                                      <m:r>
                                        <a:rPr kumimoji="1" lang="en-US" altLang="zh-CN" sz="2400" i="1" smtClean="0">
                                          <a:latin typeface="Cambria Math" panose="02040503050406030204" pitchFamily="18" charset="0"/>
                                          <a:ea typeface="Cambria Math" panose="02040503050406030204" pitchFamily="18" charset="0"/>
                                        </a:rPr>
                                        <m:t>𝛼</m:t>
                                      </m:r>
                                    </m:e>
                                    <m:sub>
                                      <m:r>
                                        <a:rPr kumimoji="1" lang="en-US" altLang="zh-CN" sz="2400" b="0" i="1" smtClean="0">
                                          <a:latin typeface="Cambria Math" panose="02040503050406030204" pitchFamily="18" charset="0"/>
                                        </a:rPr>
                                        <m:t>𝑖</m:t>
                                      </m:r>
                                    </m:sub>
                                  </m:sSub>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b="0" i="1" smtClean="0">
                                          <a:latin typeface="Cambria Math" panose="02040503050406030204" pitchFamily="18" charset="0"/>
                                          <a:ea typeface="Cambria Math" panose="02040503050406030204" pitchFamily="18" charset="0"/>
                                        </a:rPr>
                                        <m:t>𝑗</m:t>
                                      </m:r>
                                    </m:sub>
                                  </m:sSub>
                                  <m:sSub>
                                    <m:sSubPr>
                                      <m:ctrlPr>
                                        <a:rPr kumimoji="1" lang="en-US" altLang="zh-CN" sz="2400" i="1">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i="1">
                                          <a:latin typeface="Cambria Math" panose="02040503050406030204" pitchFamily="18" charset="0"/>
                                        </a:rPr>
                                        <m:t>𝑖</m:t>
                                      </m:r>
                                    </m:sub>
                                  </m:sSub>
                                  <m:sSub>
                                    <m:sSubPr>
                                      <m:ctrlPr>
                                        <a:rPr kumimoji="1" lang="en-US" altLang="zh-CN" sz="2400" i="1">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b="0" i="1" smtClean="0">
                                          <a:latin typeface="Cambria Math" panose="02040503050406030204" pitchFamily="18" charset="0"/>
                                          <a:ea typeface="Cambria Math" panose="02040503050406030204" pitchFamily="18" charset="0"/>
                                        </a:rPr>
                                        <m:t>𝑗</m:t>
                                      </m:r>
                                    </m:sub>
                                  </m:sSub>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𝜙</m:t>
                                  </m:r>
                                </m:e>
                              </m:nary>
                              <m:d>
                                <m:dPr>
                                  <m:ctrlPr>
                                    <a:rPr kumimoji="1" lang="en-US" altLang="zh-CN" sz="2400" b="0" i="1" smtClean="0">
                                      <a:latin typeface="Cambria Math" panose="02040503050406030204" pitchFamily="18" charset="0"/>
                                    </a:rPr>
                                  </m:ctrlPr>
                                </m:dPr>
                                <m:e>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𝑥</m:t>
                                      </m:r>
                                    </m:e>
                                    <m:sub>
                                      <m:r>
                                        <a:rPr kumimoji="1" lang="en-US" altLang="zh-CN" sz="2400" b="0" i="1" smtClean="0">
                                          <a:latin typeface="Cambria Math" panose="02040503050406030204" pitchFamily="18" charset="0"/>
                                        </a:rPr>
                                        <m:t>𝑖</m:t>
                                      </m:r>
                                    </m:sub>
                                  </m:sSub>
                                </m:e>
                              </m:d>
                              <m:r>
                                <a:rPr kumimoji="1" lang="en-US" altLang="zh-CN" sz="2400" b="0" i="1" smtClean="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𝜙</m:t>
                              </m:r>
                              <m:d>
                                <m:dPr>
                                  <m:ctrlPr>
                                    <a:rPr kumimoji="1" lang="en-US" altLang="zh-CN" sz="2400" b="0" i="1" smtClean="0">
                                      <a:latin typeface="Cambria Math" panose="02040503050406030204" pitchFamily="18" charset="0"/>
                                      <a:ea typeface="Cambria Math" panose="02040503050406030204" pitchFamily="18" charset="0"/>
                                    </a:rPr>
                                  </m:ctrlPr>
                                </m:dPr>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𝑥</m:t>
                                      </m:r>
                                    </m:e>
                                    <m:sub>
                                      <m:r>
                                        <a:rPr kumimoji="1" lang="en-US" altLang="zh-CN" sz="2400" b="0" i="1" smtClean="0">
                                          <a:latin typeface="Cambria Math" panose="02040503050406030204" pitchFamily="18" charset="0"/>
                                        </a:rPr>
                                        <m:t>𝑗</m:t>
                                      </m:r>
                                    </m:sub>
                                  </m:sSub>
                                </m:e>
                              </m:d>
                              <m:r>
                                <a:rPr kumimoji="1" lang="en-US" altLang="zh-CN" sz="2400" b="0" i="1" smtClean="0">
                                  <a:latin typeface="Cambria Math" panose="02040503050406030204" pitchFamily="18" charset="0"/>
                                  <a:ea typeface="Cambria Math" panose="02040503050406030204" pitchFamily="18" charset="0"/>
                                </a:rPr>
                                <m:t>)</m:t>
                              </m:r>
                            </m:e>
                          </m:nary>
                        </m:e>
                      </m:func>
                      <m:r>
                        <a:rPr kumimoji="1" lang="en-US" altLang="zh-CN" sz="2400" b="0" i="1" smtClean="0">
                          <a:latin typeface="Cambria Math" panose="02040503050406030204" pitchFamily="18" charset="0"/>
                        </a:rPr>
                        <m:t>−</m:t>
                      </m:r>
                      <m:nary>
                        <m:naryPr>
                          <m:chr m:val="∑"/>
                          <m:ctrlPr>
                            <a:rPr kumimoji="1" lang="en-US" altLang="zh-CN" sz="2400" b="0" i="1" smtClean="0">
                              <a:latin typeface="Cambria Math" panose="02040503050406030204" pitchFamily="18" charset="0"/>
                            </a:rPr>
                          </m:ctrlPr>
                        </m:naryPr>
                        <m:sub>
                          <m:r>
                            <m:rPr>
                              <m:brk m:alnAt="23"/>
                            </m:rPr>
                            <a:rPr kumimoji="1" lang="en-US" altLang="zh-CN" sz="2400" b="0" i="1" smtClean="0">
                              <a:latin typeface="Cambria Math" panose="02040503050406030204" pitchFamily="18" charset="0"/>
                            </a:rPr>
                            <m:t>𝑖</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𝑁</m:t>
                          </m:r>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e>
                      </m:nary>
                    </m:oMath>
                  </m:oMathPara>
                </a14:m>
                <a:endParaRPr kumimoji="1" lang="zh-CN" altLang="en-US" sz="2400" dirty="0"/>
              </a:p>
            </p:txBody>
          </p:sp>
        </mc:Choice>
        <mc:Fallback xmlns="">
          <p:sp>
            <p:nvSpPr>
              <p:cNvPr id="3" name="文本框 2">
                <a:extLst>
                  <a:ext uri="{FF2B5EF4-FFF2-40B4-BE49-F238E27FC236}">
                    <a16:creationId xmlns:a16="http://schemas.microsoft.com/office/drawing/2014/main" id="{143889CB-9ECD-6E6B-1A27-C44EC7265C9C}"/>
                  </a:ext>
                </a:extLst>
              </p:cNvPr>
              <p:cNvSpPr txBox="1">
                <a:spLocks noRot="1" noChangeAspect="1" noMove="1" noResize="1" noEditPoints="1" noAdjustHandles="1" noChangeArrowheads="1" noChangeShapeType="1" noTextEdit="1"/>
              </p:cNvSpPr>
              <p:nvPr/>
            </p:nvSpPr>
            <p:spPr>
              <a:xfrm>
                <a:off x="1225313" y="4193077"/>
                <a:ext cx="5995359" cy="1080296"/>
              </a:xfrm>
              <a:prstGeom prst="rect">
                <a:avLst/>
              </a:prstGeom>
              <a:blipFill>
                <a:blip r:embed="rId5"/>
                <a:stretch>
                  <a:fillRect l="-5497" t="-111628" r="-6342" b="-1651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0FB2017-CD3F-7952-6B9B-EAD6452B43FB}"/>
                  </a:ext>
                </a:extLst>
              </p:cNvPr>
              <p:cNvSpPr txBox="1"/>
              <p:nvPr/>
            </p:nvSpPr>
            <p:spPr>
              <a:xfrm>
                <a:off x="1225313" y="5288558"/>
                <a:ext cx="2200218"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400" i="1" smtClean="0">
                          <a:latin typeface="Cambria Math" panose="02040503050406030204" pitchFamily="18" charset="0"/>
                        </a:rPr>
                        <m:t>s</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𝑡</m:t>
                      </m:r>
                      <m:r>
                        <a:rPr kumimoji="1" lang="en-US" altLang="zh-CN" sz="2400" b="0" i="1" smtClean="0">
                          <a:latin typeface="Cambria Math" panose="02040503050406030204" pitchFamily="18" charset="0"/>
                        </a:rPr>
                        <m:t>.</m:t>
                      </m:r>
                      <m:r>
                        <a:rPr kumimoji="1" lang="zh-CN" altLang="en-US" sz="2400" b="0" i="1" smtClean="0">
                          <a:latin typeface="Cambria Math" panose="02040503050406030204" pitchFamily="18" charset="0"/>
                        </a:rPr>
                        <m:t>  </m:t>
                      </m:r>
                      <m:nary>
                        <m:naryPr>
                          <m:chr m:val="∑"/>
                          <m:ctrlPr>
                            <a:rPr kumimoji="1" lang="en-US" altLang="zh-CN" sz="2400" b="0" i="1" smtClean="0">
                              <a:latin typeface="Cambria Math" panose="02040503050406030204" pitchFamily="18" charset="0"/>
                            </a:rPr>
                          </m:ctrlPr>
                        </m:naryPr>
                        <m:sub>
                          <m:r>
                            <m:rPr>
                              <m:brk m:alnAt="23"/>
                            </m:rPr>
                            <a:rPr kumimoji="1" lang="en-US" altLang="zh-CN" sz="2400" b="0" i="1" smtClean="0">
                              <a:latin typeface="Cambria Math" panose="02040503050406030204" pitchFamily="18" charset="0"/>
                            </a:rPr>
                            <m:t>𝑖</m:t>
                          </m:r>
                          <m:r>
                            <a:rPr kumimoji="1" lang="en-US" altLang="zh-CN" sz="2400" b="0" i="1" smtClean="0">
                              <a:latin typeface="Cambria Math" panose="02040503050406030204" pitchFamily="18" charset="0"/>
                            </a:rPr>
                            <m:t>=1</m:t>
                          </m:r>
                        </m:sub>
                        <m:sup>
                          <m:r>
                            <a:rPr kumimoji="1" lang="en-US" altLang="zh-CN" sz="2400" b="0" i="1" smtClean="0">
                              <a:latin typeface="Cambria Math" panose="02040503050406030204" pitchFamily="18" charset="0"/>
                            </a:rPr>
                            <m:t>𝑁</m:t>
                          </m:r>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sSub>
                            <m:sSubPr>
                              <m:ctrlPr>
                                <a:rPr kumimoji="1" lang="en-US" altLang="zh-CN" sz="2400" i="1">
                                  <a:latin typeface="Cambria Math" panose="02040503050406030204" pitchFamily="18" charset="0"/>
                                </a:rPr>
                              </m:ctrlPr>
                            </m:sSubPr>
                            <m:e>
                              <m:r>
                                <a:rPr kumimoji="1" lang="en-US" altLang="zh-CN" sz="2400" b="0" i="1" smtClean="0">
                                  <a:latin typeface="Cambria Math" panose="02040503050406030204" pitchFamily="18" charset="0"/>
                                </a:rPr>
                                <m:t>𝑦</m:t>
                              </m:r>
                            </m:e>
                            <m:sub>
                              <m:r>
                                <a:rPr kumimoji="1" lang="en-US" altLang="zh-CN" sz="2400" i="1">
                                  <a:latin typeface="Cambria Math" panose="02040503050406030204" pitchFamily="18" charset="0"/>
                                </a:rPr>
                                <m:t>𝑖</m:t>
                              </m:r>
                            </m:sub>
                          </m:sSub>
                          <m:r>
                            <a:rPr kumimoji="1" lang="en-US" altLang="zh-CN" sz="2400" b="0" i="1" smtClean="0">
                              <a:latin typeface="Cambria Math" panose="02040503050406030204" pitchFamily="18" charset="0"/>
                            </a:rPr>
                            <m:t>=0</m:t>
                          </m:r>
                        </m:e>
                      </m:nary>
                    </m:oMath>
                  </m:oMathPara>
                </a14:m>
                <a:endParaRPr kumimoji="1" lang="zh-CN" altLang="en-US" sz="2400" dirty="0"/>
              </a:p>
            </p:txBody>
          </p:sp>
        </mc:Choice>
        <mc:Fallback xmlns="">
          <p:sp>
            <p:nvSpPr>
              <p:cNvPr id="4" name="文本框 3">
                <a:extLst>
                  <a:ext uri="{FF2B5EF4-FFF2-40B4-BE49-F238E27FC236}">
                    <a16:creationId xmlns:a16="http://schemas.microsoft.com/office/drawing/2014/main" id="{50FB2017-CD3F-7952-6B9B-EAD6452B43FB}"/>
                  </a:ext>
                </a:extLst>
              </p:cNvPr>
              <p:cNvSpPr txBox="1">
                <a:spLocks noRot="1" noChangeAspect="1" noMove="1" noResize="1" noEditPoints="1" noAdjustHandles="1" noChangeArrowheads="1" noChangeShapeType="1" noTextEdit="1"/>
              </p:cNvSpPr>
              <p:nvPr/>
            </p:nvSpPr>
            <p:spPr>
              <a:xfrm>
                <a:off x="1225313" y="5288558"/>
                <a:ext cx="2200218" cy="1038489"/>
              </a:xfrm>
              <a:prstGeom prst="rect">
                <a:avLst/>
              </a:prstGeom>
              <a:blipFill>
                <a:blip r:embed="rId6"/>
                <a:stretch>
                  <a:fillRect l="-25862" t="-114458" r="-2874" b="-1746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32CAC64-B5DD-650E-098F-DB73EFFC35F9}"/>
                  </a:ext>
                </a:extLst>
              </p:cNvPr>
              <p:cNvSpPr txBox="1"/>
              <p:nvPr/>
            </p:nvSpPr>
            <p:spPr>
              <a:xfrm>
                <a:off x="3601057" y="5612138"/>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0</m:t>
                          </m:r>
                          <m:r>
                            <a:rPr kumimoji="1" lang="en-US" altLang="zh-CN" sz="2400" i="1" smtClean="0">
                              <a:latin typeface="Cambria Math" panose="02040503050406030204" pitchFamily="18" charset="0"/>
                              <a:ea typeface="Cambria Math" panose="02040503050406030204" pitchFamily="18" charset="0"/>
                            </a:rPr>
                            <m:t>≤</m:t>
                          </m:r>
                          <m:r>
                            <a:rPr kumimoji="1" lang="en-US" altLang="zh-CN" sz="2400" i="1">
                              <a:latin typeface="Cambria Math" panose="02040503050406030204" pitchFamily="18" charset="0"/>
                              <a:ea typeface="Cambria Math" panose="02040503050406030204" pitchFamily="18" charset="0"/>
                            </a:rPr>
                            <m:t>𝛼</m:t>
                          </m:r>
                        </m:e>
                        <m:sub>
                          <m:r>
                            <a:rPr kumimoji="1" lang="en-US" altLang="zh-CN" sz="2400" i="1">
                              <a:latin typeface="Cambria Math" panose="02040503050406030204" pitchFamily="18" charset="0"/>
                            </a:rPr>
                            <m:t>𝑖</m:t>
                          </m:r>
                        </m:sub>
                      </m:sSub>
                      <m:r>
                        <a:rPr kumimoji="1" lang="en-US" altLang="zh-CN" sz="240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𝐶</m:t>
                      </m:r>
                      <m:r>
                        <a:rPr kumimoji="1" lang="en-US" altLang="zh-CN" sz="2400" b="0" i="1" smtClean="0">
                          <a:latin typeface="Cambria Math" panose="02040503050406030204" pitchFamily="18" charset="0"/>
                          <a:ea typeface="Cambria Math" panose="02040503050406030204" pitchFamily="18" charset="0"/>
                        </a:rPr>
                        <m:t>,</m:t>
                      </m:r>
                      <m:r>
                        <a:rPr kumimoji="1" lang="zh-CN" altLang="en-US" sz="2400" b="0" i="1" smtClean="0">
                          <a:latin typeface="Cambria Math" panose="02040503050406030204" pitchFamily="18" charset="0"/>
                          <a:ea typeface="Cambria Math" panose="02040503050406030204" pitchFamily="18" charset="0"/>
                        </a:rPr>
                        <m:t>  </m:t>
                      </m:r>
                      <m:r>
                        <a:rPr kumimoji="1" lang="en-US" altLang="zh-CN" sz="2400" b="0" i="1" smtClean="0">
                          <a:latin typeface="Cambria Math" panose="02040503050406030204" pitchFamily="18" charset="0"/>
                          <a:ea typeface="Cambria Math" panose="02040503050406030204" pitchFamily="18" charset="0"/>
                        </a:rPr>
                        <m:t>𝑖</m:t>
                      </m:r>
                      <m:r>
                        <a:rPr kumimoji="1" lang="en-US" altLang="zh-CN" sz="2400" b="0" i="1" smtClean="0">
                          <a:latin typeface="Cambria Math" panose="02040503050406030204" pitchFamily="18" charset="0"/>
                          <a:ea typeface="Cambria Math" panose="02040503050406030204" pitchFamily="18" charset="0"/>
                        </a:rPr>
                        <m:t>=1,2,…,</m:t>
                      </m:r>
                      <m:r>
                        <a:rPr kumimoji="1" lang="en-US" altLang="zh-CN" sz="2400" b="0" i="1" smtClean="0">
                          <a:latin typeface="Cambria Math" panose="02040503050406030204" pitchFamily="18" charset="0"/>
                          <a:ea typeface="Cambria Math" panose="02040503050406030204" pitchFamily="18" charset="0"/>
                        </a:rPr>
                        <m:t>𝑁</m:t>
                      </m:r>
                    </m:oMath>
                  </m:oMathPara>
                </a14:m>
                <a:endParaRPr lang="zh-CN" altLang="en-US" sz="2400" dirty="0"/>
              </a:p>
            </p:txBody>
          </p:sp>
        </mc:Choice>
        <mc:Fallback xmlns="">
          <p:sp>
            <p:nvSpPr>
              <p:cNvPr id="8" name="文本框 7">
                <a:extLst>
                  <a:ext uri="{FF2B5EF4-FFF2-40B4-BE49-F238E27FC236}">
                    <a16:creationId xmlns:a16="http://schemas.microsoft.com/office/drawing/2014/main" id="{632CAC64-B5DD-650E-098F-DB73EFFC35F9}"/>
                  </a:ext>
                </a:extLst>
              </p:cNvPr>
              <p:cNvSpPr txBox="1">
                <a:spLocks noRot="1" noChangeAspect="1" noMove="1" noResize="1" noEditPoints="1" noAdjustHandles="1" noChangeArrowheads="1" noChangeShapeType="1" noTextEdit="1"/>
              </p:cNvSpPr>
              <p:nvPr/>
            </p:nvSpPr>
            <p:spPr>
              <a:xfrm>
                <a:off x="3601057" y="5612138"/>
                <a:ext cx="4572000" cy="461665"/>
              </a:xfrm>
              <a:prstGeom prst="rect">
                <a:avLst/>
              </a:prstGeom>
              <a:blipFill>
                <a:blip r:embed="rId7"/>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289C741A-0114-5A0A-A690-BD249121B184}"/>
              </a:ext>
            </a:extLst>
          </p:cNvPr>
          <p:cNvSpPr txBox="1"/>
          <p:nvPr/>
        </p:nvSpPr>
        <p:spPr>
          <a:xfrm>
            <a:off x="990365" y="3555034"/>
            <a:ext cx="5211683" cy="523220"/>
          </a:xfrm>
          <a:prstGeom prst="rect">
            <a:avLst/>
          </a:prstGeom>
          <a:noFill/>
        </p:spPr>
        <p:txBody>
          <a:bodyPr wrap="none" rtlCol="0">
            <a:spAutoFit/>
          </a:bodyPr>
          <a:lstStyle/>
          <a:p>
            <a:r>
              <a:rPr kumimoji="1" lang="zh-CN" altLang="en-US" sz="2800" dirty="0"/>
              <a:t>非线性支持向量机的对偶问题：</a:t>
            </a:r>
          </a:p>
        </p:txBody>
      </p:sp>
    </p:spTree>
    <p:extLst>
      <p:ext uri="{BB962C8B-B14F-4D97-AF65-F5344CB8AC3E}">
        <p14:creationId xmlns:p14="http://schemas.microsoft.com/office/powerpoint/2010/main" val="53401412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等腰三角形 6"/>
          <p:cNvSpPr/>
          <p:nvPr/>
        </p:nvSpPr>
        <p:spPr>
          <a:xfrm>
            <a:off x="5157017" y="3678563"/>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椭圆 12"/>
          <p:cNvSpPr/>
          <p:nvPr/>
        </p:nvSpPr>
        <p:spPr>
          <a:xfrm>
            <a:off x="3252740" y="422524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4" name="椭圆 13"/>
          <p:cNvSpPr/>
          <p:nvPr/>
        </p:nvSpPr>
        <p:spPr>
          <a:xfrm>
            <a:off x="4363852" y="38434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5" name="椭圆 14"/>
          <p:cNvSpPr/>
          <p:nvPr/>
        </p:nvSpPr>
        <p:spPr>
          <a:xfrm>
            <a:off x="3422759" y="38434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6" name="椭圆 15"/>
          <p:cNvSpPr/>
          <p:nvPr/>
        </p:nvSpPr>
        <p:spPr>
          <a:xfrm>
            <a:off x="5265017" y="422524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7" name="椭圆 16"/>
          <p:cNvSpPr/>
          <p:nvPr/>
        </p:nvSpPr>
        <p:spPr>
          <a:xfrm>
            <a:off x="3749099" y="3500728"/>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8" name="椭圆 17"/>
          <p:cNvSpPr/>
          <p:nvPr/>
        </p:nvSpPr>
        <p:spPr>
          <a:xfrm>
            <a:off x="6052185" y="338052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9" name="椭圆 18"/>
          <p:cNvSpPr/>
          <p:nvPr/>
        </p:nvSpPr>
        <p:spPr>
          <a:xfrm>
            <a:off x="5891581" y="374926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0" name="椭圆 19"/>
          <p:cNvSpPr/>
          <p:nvPr/>
        </p:nvSpPr>
        <p:spPr>
          <a:xfrm>
            <a:off x="3869929" y="37894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1" name="等腰三角形 20"/>
          <p:cNvSpPr/>
          <p:nvPr/>
        </p:nvSpPr>
        <p:spPr>
          <a:xfrm>
            <a:off x="5415707" y="3326529"/>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等腰三角形 21"/>
          <p:cNvSpPr/>
          <p:nvPr/>
        </p:nvSpPr>
        <p:spPr>
          <a:xfrm>
            <a:off x="2169720" y="400924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等腰三角形 22"/>
          <p:cNvSpPr/>
          <p:nvPr/>
        </p:nvSpPr>
        <p:spPr>
          <a:xfrm>
            <a:off x="2450583" y="3938971"/>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等腰三角形 23"/>
          <p:cNvSpPr/>
          <p:nvPr/>
        </p:nvSpPr>
        <p:spPr>
          <a:xfrm>
            <a:off x="2427850" y="425438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等腰三角形 24"/>
          <p:cNvSpPr/>
          <p:nvPr/>
        </p:nvSpPr>
        <p:spPr>
          <a:xfrm>
            <a:off x="2779481" y="3878325"/>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等腰三角形 25"/>
          <p:cNvSpPr/>
          <p:nvPr/>
        </p:nvSpPr>
        <p:spPr>
          <a:xfrm>
            <a:off x="4887230" y="3367391"/>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等腰三角形 26"/>
          <p:cNvSpPr/>
          <p:nvPr/>
        </p:nvSpPr>
        <p:spPr>
          <a:xfrm>
            <a:off x="1966790" y="3665576"/>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等腰三角形 27"/>
          <p:cNvSpPr/>
          <p:nvPr/>
        </p:nvSpPr>
        <p:spPr>
          <a:xfrm>
            <a:off x="4255852" y="313342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任意多边形 1"/>
          <p:cNvSpPr/>
          <p:nvPr/>
        </p:nvSpPr>
        <p:spPr>
          <a:xfrm>
            <a:off x="1280160" y="2891099"/>
            <a:ext cx="4772025" cy="1299926"/>
          </a:xfrm>
          <a:custGeom>
            <a:avLst/>
            <a:gdLst>
              <a:gd name="connsiteX0" fmla="*/ 0 w 5821680"/>
              <a:gd name="connsiteY0" fmla="*/ 906780 h 2288435"/>
              <a:gd name="connsiteX1" fmla="*/ 1082040 w 5821680"/>
              <a:gd name="connsiteY1" fmla="*/ 2286000 h 2288435"/>
              <a:gd name="connsiteX2" fmla="*/ 2773680 w 5821680"/>
              <a:gd name="connsiteY2" fmla="*/ 609600 h 2288435"/>
              <a:gd name="connsiteX3" fmla="*/ 4823460 w 5821680"/>
              <a:gd name="connsiteY3" fmla="*/ 1508760 h 2288435"/>
              <a:gd name="connsiteX4" fmla="*/ 5821680 w 5821680"/>
              <a:gd name="connsiteY4" fmla="*/ 0 h 2288435"/>
              <a:gd name="connsiteX5" fmla="*/ 5821680 w 5821680"/>
              <a:gd name="connsiteY5" fmla="*/ 0 h 2288435"/>
              <a:gd name="connsiteX0" fmla="*/ 0 w 5821680"/>
              <a:gd name="connsiteY0" fmla="*/ 906780 h 1767650"/>
              <a:gd name="connsiteX1" fmla="*/ 1097280 w 5821680"/>
              <a:gd name="connsiteY1" fmla="*/ 1760220 h 1767650"/>
              <a:gd name="connsiteX2" fmla="*/ 2773680 w 5821680"/>
              <a:gd name="connsiteY2" fmla="*/ 609600 h 1767650"/>
              <a:gd name="connsiteX3" fmla="*/ 4823460 w 5821680"/>
              <a:gd name="connsiteY3" fmla="*/ 1508760 h 1767650"/>
              <a:gd name="connsiteX4" fmla="*/ 5821680 w 5821680"/>
              <a:gd name="connsiteY4" fmla="*/ 0 h 1767650"/>
              <a:gd name="connsiteX5" fmla="*/ 5821680 w 5821680"/>
              <a:gd name="connsiteY5" fmla="*/ 0 h 1767650"/>
              <a:gd name="connsiteX0" fmla="*/ 0 w 5821680"/>
              <a:gd name="connsiteY0" fmla="*/ 906780 h 1785380"/>
              <a:gd name="connsiteX1" fmla="*/ 1097280 w 5821680"/>
              <a:gd name="connsiteY1" fmla="*/ 1760220 h 1785380"/>
              <a:gd name="connsiteX2" fmla="*/ 2849880 w 5821680"/>
              <a:gd name="connsiteY2" fmla="*/ 1554480 h 1785380"/>
              <a:gd name="connsiteX3" fmla="*/ 4823460 w 5821680"/>
              <a:gd name="connsiteY3" fmla="*/ 1508760 h 1785380"/>
              <a:gd name="connsiteX4" fmla="*/ 5821680 w 5821680"/>
              <a:gd name="connsiteY4" fmla="*/ 0 h 1785380"/>
              <a:gd name="connsiteX5" fmla="*/ 5821680 w 5821680"/>
              <a:gd name="connsiteY5" fmla="*/ 0 h 1785380"/>
              <a:gd name="connsiteX0" fmla="*/ 0 w 6256020"/>
              <a:gd name="connsiteY0" fmla="*/ 853440 h 1788470"/>
              <a:gd name="connsiteX1" fmla="*/ 1531620 w 6256020"/>
              <a:gd name="connsiteY1" fmla="*/ 1760220 h 1788470"/>
              <a:gd name="connsiteX2" fmla="*/ 3284220 w 6256020"/>
              <a:gd name="connsiteY2" fmla="*/ 1554480 h 1788470"/>
              <a:gd name="connsiteX3" fmla="*/ 5257800 w 6256020"/>
              <a:gd name="connsiteY3" fmla="*/ 1508760 h 1788470"/>
              <a:gd name="connsiteX4" fmla="*/ 6256020 w 6256020"/>
              <a:gd name="connsiteY4" fmla="*/ 0 h 1788470"/>
              <a:gd name="connsiteX5" fmla="*/ 6256020 w 6256020"/>
              <a:gd name="connsiteY5" fmla="*/ 0 h 1788470"/>
              <a:gd name="connsiteX0" fmla="*/ 0 w 6256020"/>
              <a:gd name="connsiteY0" fmla="*/ 853440 h 1633761"/>
              <a:gd name="connsiteX1" fmla="*/ 1836420 w 6256020"/>
              <a:gd name="connsiteY1" fmla="*/ 1584960 h 1633761"/>
              <a:gd name="connsiteX2" fmla="*/ 3284220 w 6256020"/>
              <a:gd name="connsiteY2" fmla="*/ 1554480 h 1633761"/>
              <a:gd name="connsiteX3" fmla="*/ 5257800 w 6256020"/>
              <a:gd name="connsiteY3" fmla="*/ 1508760 h 1633761"/>
              <a:gd name="connsiteX4" fmla="*/ 6256020 w 6256020"/>
              <a:gd name="connsiteY4" fmla="*/ 0 h 1633761"/>
              <a:gd name="connsiteX5" fmla="*/ 6256020 w 6256020"/>
              <a:gd name="connsiteY5" fmla="*/ 0 h 1633761"/>
              <a:gd name="connsiteX0" fmla="*/ 0 w 6256020"/>
              <a:gd name="connsiteY0" fmla="*/ 853440 h 1667440"/>
              <a:gd name="connsiteX1" fmla="*/ 1836420 w 6256020"/>
              <a:gd name="connsiteY1" fmla="*/ 1584960 h 1667440"/>
              <a:gd name="connsiteX2" fmla="*/ 3467100 w 6256020"/>
              <a:gd name="connsiteY2" fmla="*/ 1630680 h 1667440"/>
              <a:gd name="connsiteX3" fmla="*/ 5257800 w 6256020"/>
              <a:gd name="connsiteY3" fmla="*/ 1508760 h 1667440"/>
              <a:gd name="connsiteX4" fmla="*/ 6256020 w 6256020"/>
              <a:gd name="connsiteY4" fmla="*/ 0 h 1667440"/>
              <a:gd name="connsiteX5" fmla="*/ 6256020 w 6256020"/>
              <a:gd name="connsiteY5" fmla="*/ 0 h 1667440"/>
              <a:gd name="connsiteX0" fmla="*/ 0 w 6256020"/>
              <a:gd name="connsiteY0" fmla="*/ 853440 h 1687713"/>
              <a:gd name="connsiteX1" fmla="*/ 1836420 w 6256020"/>
              <a:gd name="connsiteY1" fmla="*/ 1584960 h 1687713"/>
              <a:gd name="connsiteX2" fmla="*/ 3467100 w 6256020"/>
              <a:gd name="connsiteY2" fmla="*/ 1630680 h 1687713"/>
              <a:gd name="connsiteX3" fmla="*/ 5501640 w 6256020"/>
              <a:gd name="connsiteY3" fmla="*/ 1097280 h 1687713"/>
              <a:gd name="connsiteX4" fmla="*/ 6256020 w 6256020"/>
              <a:gd name="connsiteY4" fmla="*/ 0 h 1687713"/>
              <a:gd name="connsiteX5" fmla="*/ 6256020 w 6256020"/>
              <a:gd name="connsiteY5" fmla="*/ 0 h 1687713"/>
              <a:gd name="connsiteX0" fmla="*/ 0 w 6256020"/>
              <a:gd name="connsiteY0" fmla="*/ 853440 h 1696130"/>
              <a:gd name="connsiteX1" fmla="*/ 1836420 w 6256020"/>
              <a:gd name="connsiteY1" fmla="*/ 1584960 h 1696130"/>
              <a:gd name="connsiteX2" fmla="*/ 3467100 w 6256020"/>
              <a:gd name="connsiteY2" fmla="*/ 1630680 h 1696130"/>
              <a:gd name="connsiteX3" fmla="*/ 5303520 w 6256020"/>
              <a:gd name="connsiteY3" fmla="*/ 975360 h 1696130"/>
              <a:gd name="connsiteX4" fmla="*/ 6256020 w 6256020"/>
              <a:gd name="connsiteY4" fmla="*/ 0 h 1696130"/>
              <a:gd name="connsiteX5" fmla="*/ 6256020 w 6256020"/>
              <a:gd name="connsiteY5" fmla="*/ 0 h 1696130"/>
              <a:gd name="connsiteX0" fmla="*/ 0 w 6256020"/>
              <a:gd name="connsiteY0" fmla="*/ 853440 h 1681082"/>
              <a:gd name="connsiteX1" fmla="*/ 1836420 w 6256020"/>
              <a:gd name="connsiteY1" fmla="*/ 1584960 h 1681082"/>
              <a:gd name="connsiteX2" fmla="*/ 3467100 w 6256020"/>
              <a:gd name="connsiteY2" fmla="*/ 1630680 h 1681082"/>
              <a:gd name="connsiteX3" fmla="*/ 5303520 w 6256020"/>
              <a:gd name="connsiteY3" fmla="*/ 975360 h 1681082"/>
              <a:gd name="connsiteX4" fmla="*/ 6256020 w 6256020"/>
              <a:gd name="connsiteY4" fmla="*/ 0 h 1681082"/>
              <a:gd name="connsiteX5" fmla="*/ 6256020 w 6256020"/>
              <a:gd name="connsiteY5" fmla="*/ 0 h 1681082"/>
              <a:gd name="connsiteX0" fmla="*/ 0 w 6256020"/>
              <a:gd name="connsiteY0" fmla="*/ 853440 h 1704679"/>
              <a:gd name="connsiteX1" fmla="*/ 1821180 w 6256020"/>
              <a:gd name="connsiteY1" fmla="*/ 1638300 h 1704679"/>
              <a:gd name="connsiteX2" fmla="*/ 3467100 w 6256020"/>
              <a:gd name="connsiteY2" fmla="*/ 1630680 h 1704679"/>
              <a:gd name="connsiteX3" fmla="*/ 5303520 w 6256020"/>
              <a:gd name="connsiteY3" fmla="*/ 975360 h 1704679"/>
              <a:gd name="connsiteX4" fmla="*/ 6256020 w 6256020"/>
              <a:gd name="connsiteY4" fmla="*/ 0 h 1704679"/>
              <a:gd name="connsiteX5" fmla="*/ 6256020 w 6256020"/>
              <a:gd name="connsiteY5" fmla="*/ 0 h 1704679"/>
              <a:gd name="connsiteX0" fmla="*/ 0 w 6362700"/>
              <a:gd name="connsiteY0" fmla="*/ 853440 h 1724957"/>
              <a:gd name="connsiteX1" fmla="*/ 1927860 w 6362700"/>
              <a:gd name="connsiteY1" fmla="*/ 1638300 h 1724957"/>
              <a:gd name="connsiteX2" fmla="*/ 3573780 w 6362700"/>
              <a:gd name="connsiteY2" fmla="*/ 1630680 h 1724957"/>
              <a:gd name="connsiteX3" fmla="*/ 5410200 w 6362700"/>
              <a:gd name="connsiteY3" fmla="*/ 975360 h 1724957"/>
              <a:gd name="connsiteX4" fmla="*/ 6362700 w 6362700"/>
              <a:gd name="connsiteY4" fmla="*/ 0 h 1724957"/>
              <a:gd name="connsiteX5" fmla="*/ 6362700 w 6362700"/>
              <a:gd name="connsiteY5" fmla="*/ 0 h 1724957"/>
              <a:gd name="connsiteX0" fmla="*/ 0 w 6362700"/>
              <a:gd name="connsiteY0" fmla="*/ 853440 h 1724957"/>
              <a:gd name="connsiteX1" fmla="*/ 1927860 w 6362700"/>
              <a:gd name="connsiteY1" fmla="*/ 1638300 h 1724957"/>
              <a:gd name="connsiteX2" fmla="*/ 3573780 w 6362700"/>
              <a:gd name="connsiteY2" fmla="*/ 1630680 h 1724957"/>
              <a:gd name="connsiteX3" fmla="*/ 5410200 w 6362700"/>
              <a:gd name="connsiteY3" fmla="*/ 975360 h 1724957"/>
              <a:gd name="connsiteX4" fmla="*/ 6362700 w 6362700"/>
              <a:gd name="connsiteY4" fmla="*/ 0 h 1724957"/>
              <a:gd name="connsiteX5" fmla="*/ 6362700 w 6362700"/>
              <a:gd name="connsiteY5" fmla="*/ 0 h 1724957"/>
              <a:gd name="connsiteX0" fmla="*/ 0 w 6362700"/>
              <a:gd name="connsiteY0" fmla="*/ 853440 h 1760756"/>
              <a:gd name="connsiteX1" fmla="*/ 1920240 w 6362700"/>
              <a:gd name="connsiteY1" fmla="*/ 1691640 h 1760756"/>
              <a:gd name="connsiteX2" fmla="*/ 3573780 w 6362700"/>
              <a:gd name="connsiteY2" fmla="*/ 1630680 h 1760756"/>
              <a:gd name="connsiteX3" fmla="*/ 5410200 w 6362700"/>
              <a:gd name="connsiteY3" fmla="*/ 975360 h 1760756"/>
              <a:gd name="connsiteX4" fmla="*/ 6362700 w 6362700"/>
              <a:gd name="connsiteY4" fmla="*/ 0 h 1760756"/>
              <a:gd name="connsiteX5" fmla="*/ 6362700 w 6362700"/>
              <a:gd name="connsiteY5" fmla="*/ 0 h 1760756"/>
              <a:gd name="connsiteX0" fmla="*/ 0 w 6362700"/>
              <a:gd name="connsiteY0" fmla="*/ 853440 h 1730921"/>
              <a:gd name="connsiteX1" fmla="*/ 1920240 w 6362700"/>
              <a:gd name="connsiteY1" fmla="*/ 1691640 h 1730921"/>
              <a:gd name="connsiteX2" fmla="*/ 3573780 w 6362700"/>
              <a:gd name="connsiteY2" fmla="*/ 1630680 h 1730921"/>
              <a:gd name="connsiteX3" fmla="*/ 5410200 w 6362700"/>
              <a:gd name="connsiteY3" fmla="*/ 975360 h 1730921"/>
              <a:gd name="connsiteX4" fmla="*/ 6362700 w 6362700"/>
              <a:gd name="connsiteY4" fmla="*/ 0 h 1730921"/>
              <a:gd name="connsiteX5" fmla="*/ 6362700 w 6362700"/>
              <a:gd name="connsiteY5" fmla="*/ 0 h 1730921"/>
              <a:gd name="connsiteX0" fmla="*/ 0 w 6362700"/>
              <a:gd name="connsiteY0" fmla="*/ 853440 h 1733235"/>
              <a:gd name="connsiteX1" fmla="*/ 1920240 w 6362700"/>
              <a:gd name="connsiteY1" fmla="*/ 1691640 h 1733235"/>
              <a:gd name="connsiteX2" fmla="*/ 3573780 w 6362700"/>
              <a:gd name="connsiteY2" fmla="*/ 1630680 h 1733235"/>
              <a:gd name="connsiteX3" fmla="*/ 5341620 w 6362700"/>
              <a:gd name="connsiteY3" fmla="*/ 929640 h 1733235"/>
              <a:gd name="connsiteX4" fmla="*/ 6362700 w 6362700"/>
              <a:gd name="connsiteY4" fmla="*/ 0 h 1733235"/>
              <a:gd name="connsiteX5" fmla="*/ 6362700 w 6362700"/>
              <a:gd name="connsiteY5" fmla="*/ 0 h 173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62700" h="1733235">
                <a:moveTo>
                  <a:pt x="0" y="853440"/>
                </a:moveTo>
                <a:cubicBezTo>
                  <a:pt x="469900" y="1445895"/>
                  <a:pt x="1309370" y="1630680"/>
                  <a:pt x="1920240" y="1691640"/>
                </a:cubicBezTo>
                <a:cubicBezTo>
                  <a:pt x="2531110" y="1752600"/>
                  <a:pt x="3003550" y="1757680"/>
                  <a:pt x="3573780" y="1630680"/>
                </a:cubicBezTo>
                <a:cubicBezTo>
                  <a:pt x="4144010" y="1503680"/>
                  <a:pt x="4876800" y="1201420"/>
                  <a:pt x="5341620" y="929640"/>
                </a:cubicBezTo>
                <a:cubicBezTo>
                  <a:pt x="5806440" y="657860"/>
                  <a:pt x="6192520" y="154940"/>
                  <a:pt x="6362700" y="0"/>
                </a:cubicBezTo>
                <a:lnTo>
                  <a:pt x="6362700" y="0"/>
                </a:ln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nvSpPr>
        <p:spPr>
          <a:xfrm>
            <a:off x="2395490" y="4776438"/>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0" name="椭圆 29"/>
          <p:cNvSpPr/>
          <p:nvPr/>
        </p:nvSpPr>
        <p:spPr>
          <a:xfrm>
            <a:off x="1631925" y="411724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1" name="椭圆 30"/>
          <p:cNvSpPr/>
          <p:nvPr/>
        </p:nvSpPr>
        <p:spPr>
          <a:xfrm>
            <a:off x="1896854" y="4553424"/>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2" name="椭圆 31"/>
          <p:cNvSpPr/>
          <p:nvPr/>
        </p:nvSpPr>
        <p:spPr>
          <a:xfrm>
            <a:off x="2813282" y="493697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3" name="椭圆 32"/>
          <p:cNvSpPr/>
          <p:nvPr/>
        </p:nvSpPr>
        <p:spPr>
          <a:xfrm>
            <a:off x="4760595" y="411203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4" name="椭圆 33"/>
          <p:cNvSpPr/>
          <p:nvPr/>
        </p:nvSpPr>
        <p:spPr>
          <a:xfrm>
            <a:off x="5674411" y="406324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5" name="椭圆 34"/>
          <p:cNvSpPr/>
          <p:nvPr/>
        </p:nvSpPr>
        <p:spPr>
          <a:xfrm>
            <a:off x="2984104" y="4553752"/>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6" name="椭圆 35"/>
          <p:cNvSpPr/>
          <p:nvPr/>
        </p:nvSpPr>
        <p:spPr>
          <a:xfrm>
            <a:off x="3896744" y="433324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7" name="椭圆 36"/>
          <p:cNvSpPr/>
          <p:nvPr/>
        </p:nvSpPr>
        <p:spPr>
          <a:xfrm>
            <a:off x="4475291" y="433829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8" name="椭圆 37"/>
          <p:cNvSpPr/>
          <p:nvPr/>
        </p:nvSpPr>
        <p:spPr>
          <a:xfrm>
            <a:off x="4502106" y="488210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9" name="椭圆 38"/>
          <p:cNvSpPr/>
          <p:nvPr/>
        </p:nvSpPr>
        <p:spPr>
          <a:xfrm>
            <a:off x="3869929" y="474520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0" name="等腰三角形 39"/>
          <p:cNvSpPr/>
          <p:nvPr/>
        </p:nvSpPr>
        <p:spPr>
          <a:xfrm>
            <a:off x="3035858" y="3367391"/>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1" name="等腰三角形 40"/>
          <p:cNvSpPr/>
          <p:nvPr/>
        </p:nvSpPr>
        <p:spPr>
          <a:xfrm>
            <a:off x="3621709" y="300334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2" name="等腰三角形 41"/>
          <p:cNvSpPr/>
          <p:nvPr/>
        </p:nvSpPr>
        <p:spPr>
          <a:xfrm>
            <a:off x="2725481" y="3548778"/>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等腰三角形 42"/>
          <p:cNvSpPr/>
          <p:nvPr/>
        </p:nvSpPr>
        <p:spPr>
          <a:xfrm>
            <a:off x="3178577" y="2891098"/>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等腰三角形 43"/>
          <p:cNvSpPr/>
          <p:nvPr/>
        </p:nvSpPr>
        <p:spPr>
          <a:xfrm>
            <a:off x="4621838" y="2837098"/>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5" name="等腰三角形 44"/>
          <p:cNvSpPr/>
          <p:nvPr/>
        </p:nvSpPr>
        <p:spPr>
          <a:xfrm>
            <a:off x="5652003" y="2837098"/>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6" name="椭圆 45"/>
          <p:cNvSpPr/>
          <p:nvPr/>
        </p:nvSpPr>
        <p:spPr>
          <a:xfrm>
            <a:off x="2744033" y="471408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7" name="标题 1">
            <a:extLst>
              <a:ext uri="{FF2B5EF4-FFF2-40B4-BE49-F238E27FC236}">
                <a16:creationId xmlns:a16="http://schemas.microsoft.com/office/drawing/2014/main" id="{76CD45F9-01CE-417A-B951-FA1F5E2DC94C}"/>
              </a:ext>
            </a:extLst>
          </p:cNvPr>
          <p:cNvSpPr>
            <a:spLocks noGrp="1"/>
          </p:cNvSpPr>
          <p:nvPr>
            <p:ph type="title"/>
          </p:nvPr>
        </p:nvSpPr>
        <p:spPr>
          <a:xfrm>
            <a:off x="914400" y="274638"/>
            <a:ext cx="7772400" cy="1143000"/>
          </a:xfrm>
        </p:spPr>
        <p:txBody>
          <a:bodyPr/>
          <a:lstStyle/>
          <a:p>
            <a:pPr>
              <a:defRPr/>
            </a:pPr>
            <a:r>
              <a:rPr lang="zh-CN" altLang="en-US" dirty="0"/>
              <a:t>不同</a:t>
            </a:r>
            <a:r>
              <a:rPr lang="en-US" altLang="zh-CN" dirty="0"/>
              <a:t>σ</a:t>
            </a:r>
            <a:r>
              <a:rPr lang="zh-CN" altLang="en-US" dirty="0"/>
              <a:t>值下的分界面示意图</a:t>
            </a:r>
          </a:p>
        </p:txBody>
      </p:sp>
      <p:sp>
        <p:nvSpPr>
          <p:cNvPr id="48" name="内容占位符 2">
            <a:extLst>
              <a:ext uri="{FF2B5EF4-FFF2-40B4-BE49-F238E27FC236}">
                <a16:creationId xmlns:a16="http://schemas.microsoft.com/office/drawing/2014/main" id="{22996990-B622-4336-A643-955935CBEF56}"/>
              </a:ext>
            </a:extLst>
          </p:cNvPr>
          <p:cNvSpPr>
            <a:spLocks noGrp="1"/>
          </p:cNvSpPr>
          <p:nvPr>
            <p:ph idx="1"/>
          </p:nvPr>
        </p:nvSpPr>
        <p:spPr>
          <a:xfrm>
            <a:off x="914400" y="1710750"/>
            <a:ext cx="7772400" cy="4175234"/>
          </a:xfrm>
        </p:spPr>
        <p:txBody>
          <a:bodyPr/>
          <a:lstStyle/>
          <a:p>
            <a:pPr>
              <a:defRPr/>
            </a:pPr>
            <a:r>
              <a:rPr lang="en-US" altLang="zh-CN" dirty="0"/>
              <a:t>σ</a:t>
            </a:r>
            <a:r>
              <a:rPr lang="zh-CN" altLang="en-US" dirty="0"/>
              <a:t>值比较大时</a:t>
            </a:r>
            <a:r>
              <a:rPr lang="en-US" altLang="zh-CN" dirty="0"/>
              <a:t>——</a:t>
            </a:r>
            <a:r>
              <a:rPr lang="zh-CN" altLang="en-US" dirty="0"/>
              <a:t>欠拟合</a:t>
            </a:r>
          </a:p>
        </p:txBody>
      </p:sp>
    </p:spTree>
    <p:extLst>
      <p:ext uri="{BB962C8B-B14F-4D97-AF65-F5344CB8AC3E}">
        <p14:creationId xmlns:p14="http://schemas.microsoft.com/office/powerpoint/2010/main" val="8841724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等腰三角形 6"/>
          <p:cNvSpPr/>
          <p:nvPr/>
        </p:nvSpPr>
        <p:spPr>
          <a:xfrm>
            <a:off x="5157017" y="371756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椭圆 12"/>
          <p:cNvSpPr/>
          <p:nvPr/>
        </p:nvSpPr>
        <p:spPr>
          <a:xfrm>
            <a:off x="3252740" y="424753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4" name="椭圆 13"/>
          <p:cNvSpPr/>
          <p:nvPr/>
        </p:nvSpPr>
        <p:spPr>
          <a:xfrm>
            <a:off x="4363852" y="386572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5" name="椭圆 14"/>
          <p:cNvSpPr/>
          <p:nvPr/>
        </p:nvSpPr>
        <p:spPr>
          <a:xfrm>
            <a:off x="3422759" y="386572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6" name="椭圆 15"/>
          <p:cNvSpPr/>
          <p:nvPr/>
        </p:nvSpPr>
        <p:spPr>
          <a:xfrm>
            <a:off x="5265017" y="424753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7" name="椭圆 16"/>
          <p:cNvSpPr/>
          <p:nvPr/>
        </p:nvSpPr>
        <p:spPr>
          <a:xfrm>
            <a:off x="3749099" y="352302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8" name="椭圆 17"/>
          <p:cNvSpPr/>
          <p:nvPr/>
        </p:nvSpPr>
        <p:spPr>
          <a:xfrm>
            <a:off x="6052185" y="3402828"/>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9" name="椭圆 18"/>
          <p:cNvSpPr/>
          <p:nvPr/>
        </p:nvSpPr>
        <p:spPr>
          <a:xfrm>
            <a:off x="5891581" y="377156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0" name="椭圆 19"/>
          <p:cNvSpPr/>
          <p:nvPr/>
        </p:nvSpPr>
        <p:spPr>
          <a:xfrm>
            <a:off x="3869929" y="381172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1" name="等腰三角形 20"/>
          <p:cNvSpPr/>
          <p:nvPr/>
        </p:nvSpPr>
        <p:spPr>
          <a:xfrm>
            <a:off x="5415707" y="3348828"/>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等腰三角形 21"/>
          <p:cNvSpPr/>
          <p:nvPr/>
        </p:nvSpPr>
        <p:spPr>
          <a:xfrm>
            <a:off x="2169720" y="4031539"/>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等腰三角形 22"/>
          <p:cNvSpPr/>
          <p:nvPr/>
        </p:nvSpPr>
        <p:spPr>
          <a:xfrm>
            <a:off x="2450583" y="396127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等腰三角形 23"/>
          <p:cNvSpPr/>
          <p:nvPr/>
        </p:nvSpPr>
        <p:spPr>
          <a:xfrm>
            <a:off x="2427850" y="4276683"/>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等腰三角形 24"/>
          <p:cNvSpPr/>
          <p:nvPr/>
        </p:nvSpPr>
        <p:spPr>
          <a:xfrm>
            <a:off x="2779481" y="390062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等腰三角形 25"/>
          <p:cNvSpPr/>
          <p:nvPr/>
        </p:nvSpPr>
        <p:spPr>
          <a:xfrm>
            <a:off x="4887230" y="338969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等腰三角形 26"/>
          <p:cNvSpPr/>
          <p:nvPr/>
        </p:nvSpPr>
        <p:spPr>
          <a:xfrm>
            <a:off x="1966790" y="3687875"/>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等腰三角形 27"/>
          <p:cNvSpPr/>
          <p:nvPr/>
        </p:nvSpPr>
        <p:spPr>
          <a:xfrm>
            <a:off x="4255852" y="3155726"/>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nvSpPr>
        <p:spPr>
          <a:xfrm>
            <a:off x="2395490" y="479873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0" name="椭圆 29"/>
          <p:cNvSpPr/>
          <p:nvPr/>
        </p:nvSpPr>
        <p:spPr>
          <a:xfrm>
            <a:off x="1631925" y="413953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1" name="椭圆 30"/>
          <p:cNvSpPr/>
          <p:nvPr/>
        </p:nvSpPr>
        <p:spPr>
          <a:xfrm>
            <a:off x="1896854" y="4575723"/>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2" name="椭圆 31"/>
          <p:cNvSpPr/>
          <p:nvPr/>
        </p:nvSpPr>
        <p:spPr>
          <a:xfrm>
            <a:off x="2813282" y="495927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3" name="椭圆 32"/>
          <p:cNvSpPr/>
          <p:nvPr/>
        </p:nvSpPr>
        <p:spPr>
          <a:xfrm>
            <a:off x="4760595" y="413433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4" name="椭圆 33"/>
          <p:cNvSpPr/>
          <p:nvPr/>
        </p:nvSpPr>
        <p:spPr>
          <a:xfrm>
            <a:off x="5674411" y="408553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5" name="椭圆 34"/>
          <p:cNvSpPr/>
          <p:nvPr/>
        </p:nvSpPr>
        <p:spPr>
          <a:xfrm>
            <a:off x="2984104" y="457605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6" name="椭圆 35"/>
          <p:cNvSpPr/>
          <p:nvPr/>
        </p:nvSpPr>
        <p:spPr>
          <a:xfrm>
            <a:off x="3896744" y="4355539"/>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7" name="椭圆 36"/>
          <p:cNvSpPr/>
          <p:nvPr/>
        </p:nvSpPr>
        <p:spPr>
          <a:xfrm>
            <a:off x="4475291" y="436059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8" name="椭圆 37"/>
          <p:cNvSpPr/>
          <p:nvPr/>
        </p:nvSpPr>
        <p:spPr>
          <a:xfrm>
            <a:off x="4502106" y="4904404"/>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9" name="椭圆 38"/>
          <p:cNvSpPr/>
          <p:nvPr/>
        </p:nvSpPr>
        <p:spPr>
          <a:xfrm>
            <a:off x="3869929" y="476750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0" name="等腰三角形 39"/>
          <p:cNvSpPr/>
          <p:nvPr/>
        </p:nvSpPr>
        <p:spPr>
          <a:xfrm>
            <a:off x="3035858" y="338969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1" name="等腰三角形 40"/>
          <p:cNvSpPr/>
          <p:nvPr/>
        </p:nvSpPr>
        <p:spPr>
          <a:xfrm>
            <a:off x="3621709" y="3025643"/>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2" name="等腰三角形 41"/>
          <p:cNvSpPr/>
          <p:nvPr/>
        </p:nvSpPr>
        <p:spPr>
          <a:xfrm>
            <a:off x="2725481" y="357107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等腰三角形 42"/>
          <p:cNvSpPr/>
          <p:nvPr/>
        </p:nvSpPr>
        <p:spPr>
          <a:xfrm>
            <a:off x="3178577" y="291339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等腰三角形 43"/>
          <p:cNvSpPr/>
          <p:nvPr/>
        </p:nvSpPr>
        <p:spPr>
          <a:xfrm>
            <a:off x="4621838" y="285939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5" name="等腰三角形 44"/>
          <p:cNvSpPr/>
          <p:nvPr/>
        </p:nvSpPr>
        <p:spPr>
          <a:xfrm>
            <a:off x="5652003" y="285939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 name="椭圆 2"/>
          <p:cNvSpPr/>
          <p:nvPr/>
        </p:nvSpPr>
        <p:spPr>
          <a:xfrm>
            <a:off x="1667821" y="3456828"/>
            <a:ext cx="1440180" cy="96600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6" name="椭圆 45"/>
          <p:cNvSpPr/>
          <p:nvPr/>
        </p:nvSpPr>
        <p:spPr>
          <a:xfrm>
            <a:off x="4157324" y="2531684"/>
            <a:ext cx="1700708" cy="139309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7" name="椭圆 46"/>
          <p:cNvSpPr/>
          <p:nvPr/>
        </p:nvSpPr>
        <p:spPr>
          <a:xfrm>
            <a:off x="2779481" y="2691602"/>
            <a:ext cx="1051856" cy="96600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9" name="椭圆 48"/>
          <p:cNvSpPr/>
          <p:nvPr/>
        </p:nvSpPr>
        <p:spPr>
          <a:xfrm>
            <a:off x="2744033" y="4736384"/>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8" name="标题 1">
            <a:extLst>
              <a:ext uri="{FF2B5EF4-FFF2-40B4-BE49-F238E27FC236}">
                <a16:creationId xmlns:a16="http://schemas.microsoft.com/office/drawing/2014/main" id="{CD7CA75C-F50F-4C00-8D90-1D3995720888}"/>
              </a:ext>
            </a:extLst>
          </p:cNvPr>
          <p:cNvSpPr txBox="1">
            <a:spLocks/>
          </p:cNvSpPr>
          <p:nvPr/>
        </p:nvSpPr>
        <p:spPr>
          <a:xfrm>
            <a:off x="914400" y="257911"/>
            <a:ext cx="7772400" cy="1143000"/>
          </a:xfrm>
          <a:prstGeom prst="rect">
            <a:avLst/>
          </a:prstGeom>
        </p:spPr>
        <p:txBody>
          <a:bodyPr bIns="91440" anchor="b" anchorCtr="0">
            <a:norm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a:defRPr/>
            </a:pPr>
            <a:r>
              <a:rPr lang="zh-CN" altLang="en-US"/>
              <a:t>不同</a:t>
            </a:r>
            <a:r>
              <a:rPr lang="en-US" altLang="zh-CN"/>
              <a:t>σ</a:t>
            </a:r>
            <a:r>
              <a:rPr lang="zh-CN" altLang="en-US"/>
              <a:t>值下的分界面示意图</a:t>
            </a:r>
            <a:endParaRPr lang="zh-CN" altLang="en-US" dirty="0"/>
          </a:p>
        </p:txBody>
      </p:sp>
      <p:sp>
        <p:nvSpPr>
          <p:cNvPr id="50" name="内容占位符 2">
            <a:extLst>
              <a:ext uri="{FF2B5EF4-FFF2-40B4-BE49-F238E27FC236}">
                <a16:creationId xmlns:a16="http://schemas.microsoft.com/office/drawing/2014/main" id="{ADDE09E4-5FA2-46AB-8E76-D73738DC87C8}"/>
              </a:ext>
            </a:extLst>
          </p:cNvPr>
          <p:cNvSpPr txBox="1">
            <a:spLocks/>
          </p:cNvSpPr>
          <p:nvPr/>
        </p:nvSpPr>
        <p:spPr>
          <a:xfrm>
            <a:off x="914400" y="1694023"/>
            <a:ext cx="7772400" cy="4175234"/>
          </a:xfrm>
          <a:prstGeom prst="rect">
            <a:avLst/>
          </a:prstGeom>
        </p:spPr>
        <p:txBody>
          <a:bodyPr vert="horz">
            <a:normAutofit/>
          </a:bodyPr>
          <a:lstStyle>
            <a:lvl1pPr marL="274320" indent="-274320" algn="l" rtl="0" eaLnBrk="1" latinLnBrk="0" hangingPunct="1">
              <a:spcBef>
                <a:spcPts val="580"/>
              </a:spcBef>
              <a:buClr>
                <a:schemeClr val="accent1"/>
              </a:buClr>
              <a:buSzPct val="85000"/>
              <a:buFontTx/>
              <a:buBlip>
                <a:blip r:embed="rId2"/>
              </a:buBlip>
              <a:defRPr kumimoji="0" sz="2600" kern="1200">
                <a:solidFill>
                  <a:schemeClr val="tx1"/>
                </a:solidFill>
                <a:latin typeface="+mn-lt"/>
                <a:ea typeface="+mn-ea"/>
                <a:cs typeface="+mn-cs"/>
              </a:defRPr>
            </a:lvl1pPr>
            <a:lvl2pPr marL="548640" indent="-228600" algn="l" rtl="0" eaLnBrk="1" latinLnBrk="0" hangingPunct="1">
              <a:spcBef>
                <a:spcPts val="370"/>
              </a:spcBef>
              <a:buClr>
                <a:srgbClr val="503DDB"/>
              </a:buClr>
              <a:buSzPct val="45000"/>
              <a:buFont typeface="Wingdings" pitchFamily="2" charset="2"/>
              <a:buChar char="q"/>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defRPr/>
            </a:pPr>
            <a:r>
              <a:rPr lang="en-US" altLang="zh-CN" dirty="0"/>
              <a:t>σ</a:t>
            </a:r>
            <a:r>
              <a:rPr lang="zh-CN" altLang="en-US" dirty="0"/>
              <a:t>值比较小时</a:t>
            </a:r>
            <a:r>
              <a:rPr lang="en-US" altLang="zh-CN" dirty="0"/>
              <a:t>——</a:t>
            </a:r>
            <a:r>
              <a:rPr lang="zh-CN" altLang="en-US" dirty="0"/>
              <a:t>过拟合</a:t>
            </a:r>
          </a:p>
        </p:txBody>
      </p:sp>
    </p:spTree>
    <p:extLst>
      <p:ext uri="{BB962C8B-B14F-4D97-AF65-F5344CB8AC3E}">
        <p14:creationId xmlns:p14="http://schemas.microsoft.com/office/powerpoint/2010/main" val="2097395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等腰三角形 6"/>
          <p:cNvSpPr/>
          <p:nvPr/>
        </p:nvSpPr>
        <p:spPr>
          <a:xfrm>
            <a:off x="5157017" y="3589349"/>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椭圆 12"/>
          <p:cNvSpPr/>
          <p:nvPr/>
        </p:nvSpPr>
        <p:spPr>
          <a:xfrm>
            <a:off x="3252740" y="41360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4" name="椭圆 13"/>
          <p:cNvSpPr/>
          <p:nvPr/>
        </p:nvSpPr>
        <p:spPr>
          <a:xfrm>
            <a:off x="4363852" y="3754212"/>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5" name="椭圆 14"/>
          <p:cNvSpPr/>
          <p:nvPr/>
        </p:nvSpPr>
        <p:spPr>
          <a:xfrm>
            <a:off x="3422759" y="3754212"/>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6" name="椭圆 15"/>
          <p:cNvSpPr/>
          <p:nvPr/>
        </p:nvSpPr>
        <p:spPr>
          <a:xfrm>
            <a:off x="5265017" y="41360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7" name="椭圆 16"/>
          <p:cNvSpPr/>
          <p:nvPr/>
        </p:nvSpPr>
        <p:spPr>
          <a:xfrm>
            <a:off x="3749099" y="3411514"/>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8" name="椭圆 17"/>
          <p:cNvSpPr/>
          <p:nvPr/>
        </p:nvSpPr>
        <p:spPr>
          <a:xfrm>
            <a:off x="6052185" y="3291315"/>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19" name="椭圆 18"/>
          <p:cNvSpPr/>
          <p:nvPr/>
        </p:nvSpPr>
        <p:spPr>
          <a:xfrm>
            <a:off x="5891581" y="366004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0" name="椭圆 19"/>
          <p:cNvSpPr/>
          <p:nvPr/>
        </p:nvSpPr>
        <p:spPr>
          <a:xfrm>
            <a:off x="3869929" y="3700212"/>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21" name="等腰三角形 20"/>
          <p:cNvSpPr/>
          <p:nvPr/>
        </p:nvSpPr>
        <p:spPr>
          <a:xfrm>
            <a:off x="5415707" y="3237315"/>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等腰三角形 21"/>
          <p:cNvSpPr/>
          <p:nvPr/>
        </p:nvSpPr>
        <p:spPr>
          <a:xfrm>
            <a:off x="2169720" y="3920026"/>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等腰三角形 22"/>
          <p:cNvSpPr/>
          <p:nvPr/>
        </p:nvSpPr>
        <p:spPr>
          <a:xfrm>
            <a:off x="2450583" y="384975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等腰三角形 23"/>
          <p:cNvSpPr/>
          <p:nvPr/>
        </p:nvSpPr>
        <p:spPr>
          <a:xfrm>
            <a:off x="2427850" y="416517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等腰三角形 24"/>
          <p:cNvSpPr/>
          <p:nvPr/>
        </p:nvSpPr>
        <p:spPr>
          <a:xfrm>
            <a:off x="2779481" y="3789111"/>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等腰三角形 25"/>
          <p:cNvSpPr/>
          <p:nvPr/>
        </p:nvSpPr>
        <p:spPr>
          <a:xfrm>
            <a:off x="4887230" y="327817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等腰三角形 26"/>
          <p:cNvSpPr/>
          <p:nvPr/>
        </p:nvSpPr>
        <p:spPr>
          <a:xfrm>
            <a:off x="1966790" y="3576362"/>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等腰三角形 27"/>
          <p:cNvSpPr/>
          <p:nvPr/>
        </p:nvSpPr>
        <p:spPr>
          <a:xfrm>
            <a:off x="4255852" y="3044213"/>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任意多边形 1"/>
          <p:cNvSpPr/>
          <p:nvPr/>
        </p:nvSpPr>
        <p:spPr>
          <a:xfrm>
            <a:off x="1685925" y="2801885"/>
            <a:ext cx="4366260" cy="1716326"/>
          </a:xfrm>
          <a:custGeom>
            <a:avLst/>
            <a:gdLst>
              <a:gd name="connsiteX0" fmla="*/ 0 w 5821680"/>
              <a:gd name="connsiteY0" fmla="*/ 906780 h 2288435"/>
              <a:gd name="connsiteX1" fmla="*/ 1082040 w 5821680"/>
              <a:gd name="connsiteY1" fmla="*/ 2286000 h 2288435"/>
              <a:gd name="connsiteX2" fmla="*/ 2773680 w 5821680"/>
              <a:gd name="connsiteY2" fmla="*/ 609600 h 2288435"/>
              <a:gd name="connsiteX3" fmla="*/ 4823460 w 5821680"/>
              <a:gd name="connsiteY3" fmla="*/ 1508760 h 2288435"/>
              <a:gd name="connsiteX4" fmla="*/ 5821680 w 5821680"/>
              <a:gd name="connsiteY4" fmla="*/ 0 h 2288435"/>
              <a:gd name="connsiteX5" fmla="*/ 5821680 w 5821680"/>
              <a:gd name="connsiteY5" fmla="*/ 0 h 2288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21680" h="2288435">
                <a:moveTo>
                  <a:pt x="0" y="906780"/>
                </a:moveTo>
                <a:cubicBezTo>
                  <a:pt x="309880" y="1621155"/>
                  <a:pt x="619760" y="2335530"/>
                  <a:pt x="1082040" y="2286000"/>
                </a:cubicBezTo>
                <a:cubicBezTo>
                  <a:pt x="1544320" y="2236470"/>
                  <a:pt x="2150110" y="739140"/>
                  <a:pt x="2773680" y="609600"/>
                </a:cubicBezTo>
                <a:cubicBezTo>
                  <a:pt x="3397250" y="480060"/>
                  <a:pt x="4315460" y="1610360"/>
                  <a:pt x="4823460" y="1508760"/>
                </a:cubicBezTo>
                <a:cubicBezTo>
                  <a:pt x="5331460" y="1407160"/>
                  <a:pt x="5821680" y="0"/>
                  <a:pt x="5821680" y="0"/>
                </a:cubicBezTo>
                <a:lnTo>
                  <a:pt x="5821680" y="0"/>
                </a:ln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nvSpPr>
        <p:spPr>
          <a:xfrm>
            <a:off x="2395490" y="4687224"/>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0" name="椭圆 29"/>
          <p:cNvSpPr/>
          <p:nvPr/>
        </p:nvSpPr>
        <p:spPr>
          <a:xfrm>
            <a:off x="1631925" y="40280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1" name="椭圆 30"/>
          <p:cNvSpPr/>
          <p:nvPr/>
        </p:nvSpPr>
        <p:spPr>
          <a:xfrm>
            <a:off x="1896854" y="4464210"/>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2" name="椭圆 31"/>
          <p:cNvSpPr/>
          <p:nvPr/>
        </p:nvSpPr>
        <p:spPr>
          <a:xfrm>
            <a:off x="2813282" y="484775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3" name="椭圆 32"/>
          <p:cNvSpPr/>
          <p:nvPr/>
        </p:nvSpPr>
        <p:spPr>
          <a:xfrm>
            <a:off x="4760595" y="402281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4" name="椭圆 33"/>
          <p:cNvSpPr/>
          <p:nvPr/>
        </p:nvSpPr>
        <p:spPr>
          <a:xfrm>
            <a:off x="5674411" y="39740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5" name="椭圆 34"/>
          <p:cNvSpPr/>
          <p:nvPr/>
        </p:nvSpPr>
        <p:spPr>
          <a:xfrm>
            <a:off x="2984104" y="4464538"/>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6" name="椭圆 35"/>
          <p:cNvSpPr/>
          <p:nvPr/>
        </p:nvSpPr>
        <p:spPr>
          <a:xfrm>
            <a:off x="3896744" y="4244026"/>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7" name="椭圆 36"/>
          <p:cNvSpPr/>
          <p:nvPr/>
        </p:nvSpPr>
        <p:spPr>
          <a:xfrm>
            <a:off x="4475291" y="424907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8" name="椭圆 37"/>
          <p:cNvSpPr/>
          <p:nvPr/>
        </p:nvSpPr>
        <p:spPr>
          <a:xfrm>
            <a:off x="4502106" y="479289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39" name="椭圆 38"/>
          <p:cNvSpPr/>
          <p:nvPr/>
        </p:nvSpPr>
        <p:spPr>
          <a:xfrm>
            <a:off x="3869929" y="4655987"/>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0" name="等腰三角形 39"/>
          <p:cNvSpPr/>
          <p:nvPr/>
        </p:nvSpPr>
        <p:spPr>
          <a:xfrm>
            <a:off x="3035858" y="3278177"/>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1" name="等腰三角形 40"/>
          <p:cNvSpPr/>
          <p:nvPr/>
        </p:nvSpPr>
        <p:spPr>
          <a:xfrm>
            <a:off x="3621709" y="2914130"/>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2" name="等腰三角形 41"/>
          <p:cNvSpPr/>
          <p:nvPr/>
        </p:nvSpPr>
        <p:spPr>
          <a:xfrm>
            <a:off x="2725481" y="345956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等腰三角形 42"/>
          <p:cNvSpPr/>
          <p:nvPr/>
        </p:nvSpPr>
        <p:spPr>
          <a:xfrm>
            <a:off x="3178577" y="280188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等腰三角形 43"/>
          <p:cNvSpPr/>
          <p:nvPr/>
        </p:nvSpPr>
        <p:spPr>
          <a:xfrm>
            <a:off x="4621838" y="274788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5" name="等腰三角形 44"/>
          <p:cNvSpPr/>
          <p:nvPr/>
        </p:nvSpPr>
        <p:spPr>
          <a:xfrm>
            <a:off x="5652003" y="2747884"/>
            <a:ext cx="108000" cy="108000"/>
          </a:xfrm>
          <a:prstGeom prst="triangl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6" name="椭圆 45"/>
          <p:cNvSpPr/>
          <p:nvPr/>
        </p:nvSpPr>
        <p:spPr>
          <a:xfrm>
            <a:off x="2744033" y="4624871"/>
            <a:ext cx="108000" cy="10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27000" rIns="27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47" name="标题 1">
            <a:extLst>
              <a:ext uri="{FF2B5EF4-FFF2-40B4-BE49-F238E27FC236}">
                <a16:creationId xmlns:a16="http://schemas.microsoft.com/office/drawing/2014/main" id="{83212F4C-B79E-4DC1-9792-717ED458CE83}"/>
              </a:ext>
            </a:extLst>
          </p:cNvPr>
          <p:cNvSpPr txBox="1">
            <a:spLocks/>
          </p:cNvSpPr>
          <p:nvPr/>
        </p:nvSpPr>
        <p:spPr>
          <a:xfrm>
            <a:off x="914400" y="257911"/>
            <a:ext cx="7772400" cy="1143000"/>
          </a:xfrm>
          <a:prstGeom prst="rect">
            <a:avLst/>
          </a:prstGeom>
        </p:spPr>
        <p:txBody>
          <a:bodyPr bIns="91440" anchor="b" anchorCtr="0">
            <a:normAutofit/>
          </a:bodyPr>
          <a:lstStyle>
            <a:lvl1pPr algn="l" rtl="0" eaLnBrk="1" latinLnBrk="0" hangingPunct="1">
              <a:spcBef>
                <a:spcPct val="0"/>
              </a:spcBef>
              <a:buNone/>
              <a:defRPr kumimoji="0" sz="3200" b="1" kern="1200">
                <a:solidFill>
                  <a:srgbClr val="C00000"/>
                </a:solidFill>
                <a:latin typeface="Times New Roman" pitchFamily="18" charset="0"/>
                <a:ea typeface="+mj-ea"/>
                <a:cs typeface="Times New Roman" pitchFamily="18" charset="0"/>
              </a:defRPr>
            </a:lvl1pPr>
          </a:lstStyle>
          <a:p>
            <a:pPr>
              <a:defRPr/>
            </a:pPr>
            <a:r>
              <a:rPr lang="zh-CN" altLang="en-US"/>
              <a:t>不同</a:t>
            </a:r>
            <a:r>
              <a:rPr lang="en-US" altLang="zh-CN"/>
              <a:t>σ</a:t>
            </a:r>
            <a:r>
              <a:rPr lang="zh-CN" altLang="en-US"/>
              <a:t>值下的分界面示意图</a:t>
            </a:r>
            <a:endParaRPr lang="zh-CN" altLang="en-US" dirty="0"/>
          </a:p>
        </p:txBody>
      </p:sp>
      <p:sp>
        <p:nvSpPr>
          <p:cNvPr id="48" name="内容占位符 2">
            <a:extLst>
              <a:ext uri="{FF2B5EF4-FFF2-40B4-BE49-F238E27FC236}">
                <a16:creationId xmlns:a16="http://schemas.microsoft.com/office/drawing/2014/main" id="{06F2F103-D155-44D0-8CCA-D531DE613626}"/>
              </a:ext>
            </a:extLst>
          </p:cNvPr>
          <p:cNvSpPr txBox="1">
            <a:spLocks/>
          </p:cNvSpPr>
          <p:nvPr/>
        </p:nvSpPr>
        <p:spPr>
          <a:xfrm>
            <a:off x="914400" y="1694023"/>
            <a:ext cx="7772400" cy="4175234"/>
          </a:xfrm>
          <a:prstGeom prst="rect">
            <a:avLst/>
          </a:prstGeom>
        </p:spPr>
        <p:txBody>
          <a:bodyPr vert="horz">
            <a:normAutofit/>
          </a:bodyPr>
          <a:lstStyle>
            <a:lvl1pPr marL="274320" indent="-274320" algn="l" rtl="0" eaLnBrk="1" latinLnBrk="0" hangingPunct="1">
              <a:spcBef>
                <a:spcPts val="580"/>
              </a:spcBef>
              <a:buClr>
                <a:schemeClr val="accent1"/>
              </a:buClr>
              <a:buSzPct val="85000"/>
              <a:buFontTx/>
              <a:buBlip>
                <a:blip r:embed="rId2"/>
              </a:buBlip>
              <a:defRPr kumimoji="0" sz="2600" kern="1200">
                <a:solidFill>
                  <a:schemeClr val="tx1"/>
                </a:solidFill>
                <a:latin typeface="+mn-lt"/>
                <a:ea typeface="+mn-ea"/>
                <a:cs typeface="+mn-cs"/>
              </a:defRPr>
            </a:lvl1pPr>
            <a:lvl2pPr marL="548640" indent="-228600" algn="l" rtl="0" eaLnBrk="1" latinLnBrk="0" hangingPunct="1">
              <a:spcBef>
                <a:spcPts val="370"/>
              </a:spcBef>
              <a:buClr>
                <a:srgbClr val="503DDB"/>
              </a:buClr>
              <a:buSzPct val="45000"/>
              <a:buFont typeface="Wingdings" pitchFamily="2" charset="2"/>
              <a:buChar char="q"/>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defRPr/>
            </a:pPr>
            <a:r>
              <a:rPr lang="en-US" altLang="zh-CN" dirty="0"/>
              <a:t>σ</a:t>
            </a:r>
            <a:r>
              <a:rPr lang="zh-CN" altLang="en-US" dirty="0"/>
              <a:t>值合适时</a:t>
            </a:r>
            <a:r>
              <a:rPr lang="en-US" altLang="zh-CN" dirty="0"/>
              <a:t>——</a:t>
            </a:r>
            <a:r>
              <a:rPr lang="zh-CN" altLang="en-US" dirty="0"/>
              <a:t>恰拟合</a:t>
            </a:r>
          </a:p>
        </p:txBody>
      </p:sp>
    </p:spTree>
    <p:extLst>
      <p:ext uri="{BB962C8B-B14F-4D97-AF65-F5344CB8AC3E}">
        <p14:creationId xmlns:p14="http://schemas.microsoft.com/office/powerpoint/2010/main" val="37422478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209192</TotalTime>
  <Words>4702</Words>
  <Application>Microsoft Macintosh PowerPoint</Application>
  <PresentationFormat>On-screen Show (4:3)</PresentationFormat>
  <Paragraphs>696</Paragraphs>
  <Slides>75</Slides>
  <Notes>47</Notes>
  <HiddenSlides>3</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88" baseType="lpstr">
      <vt:lpstr>Microsoft YaHei</vt:lpstr>
      <vt:lpstr>黑体</vt:lpstr>
      <vt:lpstr>宋体</vt:lpstr>
      <vt:lpstr>Arial</vt:lpstr>
      <vt:lpstr>Calibri</vt:lpstr>
      <vt:lpstr>Cambria Math</vt:lpstr>
      <vt:lpstr>Franklin Gothic Book</vt:lpstr>
      <vt:lpstr>Perpetua</vt:lpstr>
      <vt:lpstr>Times New Roman</vt:lpstr>
      <vt:lpstr>Wingdings</vt:lpstr>
      <vt:lpstr>Wingdings 2</vt:lpstr>
      <vt:lpstr>Equity</vt:lpstr>
      <vt:lpstr>公式</vt:lpstr>
      <vt:lpstr>第四章 统计机器学习方法</vt:lpstr>
      <vt:lpstr>PowerPoint Presentation</vt:lpstr>
      <vt:lpstr>什么是统计机器学习？</vt:lpstr>
      <vt:lpstr>PowerPoint Presentation</vt:lpstr>
      <vt:lpstr>如何形式化定义学习？</vt:lpstr>
      <vt:lpstr>PowerPoint Presentation</vt:lpstr>
      <vt:lpstr>PowerPoint Presentation</vt:lpstr>
      <vt:lpstr>统计机器学习的应用</vt:lpstr>
      <vt:lpstr>4.1 支持向量机（SVM）</vt:lpstr>
      <vt:lpstr>前情回顾：强化学习方法</vt:lpstr>
      <vt:lpstr>前情回顾：统计机器学习</vt:lpstr>
      <vt:lpstr>线性可分支持向量机</vt:lpstr>
      <vt:lpstr>PowerPoint Presentation</vt:lpstr>
      <vt:lpstr>最优分界面</vt:lpstr>
      <vt:lpstr>最优分界面</vt:lpstr>
      <vt:lpstr>函数间隔</vt:lpstr>
      <vt:lpstr>间隔最大化</vt:lpstr>
      <vt:lpstr>PowerPoint Presentation</vt:lpstr>
      <vt:lpstr>最优分界面</vt:lpstr>
      <vt:lpstr>学习的对偶算法</vt:lpstr>
      <vt:lpstr>PowerPoint Presentation</vt:lpstr>
      <vt:lpstr>PowerPoint Presentation</vt:lpstr>
      <vt:lpstr>PowerPoint Presentation</vt:lpstr>
      <vt:lpstr>如何求得w*、b*?</vt:lpstr>
      <vt:lpstr>PowerPoint Presentation</vt:lpstr>
      <vt:lpstr>PowerPoint Presentation</vt:lpstr>
      <vt:lpstr>回顾：如何求得w*、b*?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线性支持向量机</vt:lpstr>
      <vt:lpstr>线性支持向量机</vt:lpstr>
      <vt:lpstr>回顾：线性可分支持向量机</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线性不可分问题</vt:lpstr>
      <vt:lpstr>线性不可分问题</vt:lpstr>
      <vt:lpstr>PowerPoint Presentation</vt:lpstr>
      <vt:lpstr>线性不可分问题</vt:lpstr>
      <vt:lpstr>前情回顾：最大间隔分类器</vt:lpstr>
      <vt:lpstr>前情回顾：线性支持向量机</vt:lpstr>
      <vt:lpstr>前情回顾：线性支持向量机</vt:lpstr>
      <vt:lpstr>在对偶空间探索特征映射</vt:lpstr>
      <vt:lpstr>核技巧应用于支持向量机</vt:lpstr>
      <vt:lpstr>核函数</vt:lpstr>
      <vt:lpstr>PowerPoint Presentation</vt:lpstr>
      <vt:lpstr>PowerPoint Presentation</vt:lpstr>
      <vt:lpstr>基于核方法的非线性支持向量机</vt:lpstr>
      <vt:lpstr>PowerPoint Presentation</vt:lpstr>
      <vt:lpstr>常用的核函数</vt:lpstr>
      <vt:lpstr>一个非线性分类的例子</vt:lpstr>
      <vt:lpstr>序列最小最优化算法SMO</vt:lpstr>
      <vt:lpstr>SVM用于求解多类问题</vt:lpstr>
      <vt:lpstr>SVM用于求解多类问题</vt:lpstr>
      <vt:lpstr>SVM应用举例：文本分类</vt:lpstr>
      <vt:lpstr>PowerPoint Presentation</vt:lpstr>
      <vt:lpstr>PowerPoint Presentation</vt:lpstr>
      <vt:lpstr>针对文本数据的核函数设计</vt:lpstr>
      <vt:lpstr>针对文本数据的核函数设计</vt:lpstr>
      <vt:lpstr>实际中的问题</vt:lpstr>
      <vt:lpstr>练习题</vt:lpstr>
      <vt:lpstr>PowerPoint Presentation</vt:lpstr>
      <vt:lpstr>不同σ值下的分界面示意图</vt:lpstr>
      <vt:lpstr>PowerPoint Presentation</vt:lpstr>
      <vt:lpstr>PowerPoint Presentation</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Infinite SVM: a DP Mixture of Large-margin Kernel Machines</dc:title>
  <dc:creator>SCS</dc:creator>
  <cp:lastModifiedBy>hongning wang</cp:lastModifiedBy>
  <cp:revision>7150</cp:revision>
  <dcterms:created xsi:type="dcterms:W3CDTF">2011-04-24T18:48:21Z</dcterms:created>
  <dcterms:modified xsi:type="dcterms:W3CDTF">2026-06-01T08:57:19Z</dcterms:modified>
</cp:coreProperties>
</file>